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2026-09-16 00:33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inside the workload: sidecar, user simulator, IBAC judge</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three benchmarks and the REST flow that drives them</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difficulty ladder · 7.2 what each stresses · 7.3 the traps</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2414016"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414016" y="4407408"/>
            <a:ext cx="5907024"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6.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305972">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305972">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305972">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305972">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305972">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305972">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305972">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305972">
                <a:tc>
                  <a:txBody>
                    <a:bodyPr/>
                    <a:lstStyle/>
                    <a:p>
                      <a:pPr algn="l"/>
                      <a:r>
                        <a:rPr sz="1100" b="1" i="0">
                          <a:solidFill>
                            <a:srgbClr val="1F2A37"/>
                          </a:solidFill>
                          <a:latin typeface="Calibri"/>
                        </a:rPr>
                        <a:t>LLM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29.2</a:t>
                      </a:r>
                    </a:p>
                  </a:txBody>
                  <a:tcPr marL="63500" marR="63500" marT="12700" marB="12700" anchor="ctr">
                    <a:solidFill>
                      <a:srgbClr val="FFFFFF"/>
                    </a:solidFill>
                  </a:tcPr>
                </a:tc>
              </a:tr>
              <a:tr h="305972">
                <a:tc>
                  <a:txBody>
                    <a:bodyPr/>
                    <a:lstStyle/>
                    <a:p>
                      <a:pPr algn="l"/>
                      <a:r>
                        <a:rPr sz="1100" b="1" i="0">
                          <a:solidFill>
                            <a:srgbClr val="1F2A37"/>
                          </a:solidFill>
                          <a:latin typeface="Calibri"/>
                        </a:rPr>
                        <a:t>Tool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14.6</a:t>
                      </a:r>
                    </a:p>
                  </a:txBody>
                  <a:tcPr marL="63500" marR="63500" marT="12700" marB="12700" anchor="ctr">
                    <a:solidFill>
                      <a:srgbClr val="F4F6F8"/>
                    </a:solidFill>
                  </a:tcPr>
                </a:tc>
              </a:tr>
              <a:tr h="305972">
                <a:tc>
                  <a:txBody>
                    <a:bodyPr/>
                    <a:lstStyle/>
                    <a:p>
                      <a:pPr algn="l"/>
                      <a:r>
                        <a:rPr sz="1100" b="1" i="0">
                          <a:solidFill>
                            <a:srgbClr val="1F2A37"/>
                          </a:solidFill>
                          <a:latin typeface="Calibri"/>
                        </a:rPr>
                        <a:t>Median task latency</a:t>
                      </a:r>
                    </a:p>
                  </a:txBody>
                  <a:tcPr marL="63500" marR="63500" marT="12700" marB="12700" anchor="ctr">
                    <a:solidFill>
                      <a:srgbClr val="FFFFFF"/>
                    </a:solidFill>
                  </a:tcPr>
                </a:tc>
                <a:tc>
                  <a:txBody>
                    <a:bodyPr/>
                    <a:lstStyle/>
                    <a:p>
                      <a:pPr algn="ctr"/>
                      <a:r>
                        <a:rPr sz="1100" b="0" i="0">
                          <a:solidFill>
                            <a:srgbClr val="1F2A37"/>
                          </a:solidFill>
                          <a:latin typeface="Calibri"/>
                        </a:rPr>
                        <a:t>4.9 s</a:t>
                      </a:r>
                    </a:p>
                  </a:txBody>
                  <a:tcPr marL="63500" marR="63500" marT="12700" marB="12700" anchor="ctr">
                    <a:solidFill>
                      <a:srgbClr val="FFFFFF"/>
                    </a:solidFill>
                  </a:tcPr>
                </a:tc>
                <a:tc>
                  <a:txBody>
                    <a:bodyPr/>
                    <a:lstStyle/>
                    <a:p>
                      <a:pPr algn="ctr"/>
                      <a:r>
                        <a:rPr sz="1100" b="0" i="0">
                          <a:solidFill>
                            <a:srgbClr val="1F2A37"/>
                          </a:solidFill>
                          <a:latin typeface="Calibri"/>
                        </a:rPr>
                        <a:t>84 s</a:t>
                      </a:r>
                    </a:p>
                  </a:txBody>
                  <a:tcPr marL="63500" marR="63500" marT="12700" marB="12700" anchor="ctr">
                    <a:solidFill>
                      <a:srgbClr val="FFFFFF"/>
                    </a:solidFill>
                  </a:tcPr>
                </a:tc>
                <a:tc>
                  <a:txBody>
                    <a:bodyPr/>
                    <a:lstStyle/>
                    <a:p>
                      <a:pPr algn="ctr"/>
                      <a:r>
                        <a:rPr sz="1100" b="0" i="0">
                          <a:solidFill>
                            <a:srgbClr val="1F2A37"/>
                          </a:solidFill>
                          <a:latin typeface="Calibri"/>
                        </a:rPr>
                        <a:t>264 s</a:t>
                      </a:r>
                    </a:p>
                  </a:txBody>
                  <a:tcPr marL="63500" marR="63500" marT="12700" marB="12700" anchor="ctr">
                    <a:solidFill>
                      <a:srgbClr val="FFFFFF"/>
                    </a:solidFill>
                  </a:tcPr>
                </a:tc>
              </a:tr>
              <a:tr h="305972">
                <a:tc>
                  <a:txBody>
                    <a:bodyPr/>
                    <a:lstStyle/>
                    <a:p>
                      <a:pPr algn="l"/>
                      <a:r>
                        <a:rPr sz="1100" b="1" i="0">
                          <a:solidFill>
                            <a:srgbClr val="1F2A37"/>
                          </a:solidFill>
                          <a:latin typeface="Calibri"/>
                        </a:rPr>
                        <a:t>Slowest task seen</a:t>
                      </a:r>
                    </a:p>
                  </a:txBody>
                  <a:tcPr marL="63500" marR="63500" marT="12700" marB="12700" anchor="ctr">
                    <a:solidFill>
                      <a:srgbClr val="F4F6F8"/>
                    </a:solidFill>
                  </a:tcPr>
                </a:tc>
                <a:tc>
                  <a:txBody>
                    <a:bodyPr/>
                    <a:lstStyle/>
                    <a:p>
                      <a:pPr algn="ctr"/>
                      <a:r>
                        <a:rPr sz="1100" b="0" i="0">
                          <a:solidFill>
                            <a:srgbClr val="1F2A37"/>
                          </a:solidFill>
                          <a:latin typeface="Calibri"/>
                        </a:rPr>
                        <a:t>39 s</a:t>
                      </a:r>
                    </a:p>
                  </a:txBody>
                  <a:tcPr marL="63500" marR="63500" marT="12700" marB="12700" anchor="ctr">
                    <a:solidFill>
                      <a:srgbClr val="F4F6F8"/>
                    </a:solidFill>
                  </a:tcPr>
                </a:tc>
                <a:tc>
                  <a:txBody>
                    <a:bodyPr/>
                    <a:lstStyle/>
                    <a:p>
                      <a:pPr algn="ctr"/>
                      <a:r>
                        <a:rPr sz="1100" b="0" i="0">
                          <a:solidFill>
                            <a:srgbClr val="1F2A37"/>
                          </a:solidFill>
                          <a:latin typeface="Calibri"/>
                        </a:rPr>
                        <a:t>136 s</a:t>
                      </a:r>
                    </a:p>
                  </a:txBody>
                  <a:tcPr marL="63500" marR="63500" marT="12700" marB="12700" anchor="ctr">
                    <a:solidFill>
                      <a:srgbClr val="F4F6F8"/>
                    </a:solidFill>
                  </a:tcPr>
                </a:tc>
                <a:tc>
                  <a:txBody>
                    <a:bodyPr/>
                    <a:lstStyle/>
                    <a:p>
                      <a:pPr algn="ctr"/>
                      <a:r>
                        <a:rPr sz="1100" b="0" i="0">
                          <a:solidFill>
                            <a:srgbClr val="1F2A37"/>
                          </a:solidFill>
                          <a:latin typeface="Calibri"/>
                        </a:rPr>
                        <a:t>592 s</a:t>
                      </a:r>
                    </a:p>
                  </a:txBody>
                  <a:tcPr marL="63500" marR="63500" marT="12700" marB="12700" anchor="ctr">
                    <a:solidFill>
                      <a:srgbClr val="F4F6F8"/>
                    </a:solidFill>
                  </a:tcPr>
                </a:tc>
              </a:tr>
              <a:tr h="305972">
                <a:tc>
                  <a:txBody>
                    <a:bodyPr/>
                    <a:lstStyle/>
                    <a:p>
                      <a:pPr algn="l"/>
                      <a:r>
                        <a:rPr sz="1100" b="1" i="0">
                          <a:solidFill>
                            <a:srgbClr val="1F2A37"/>
                          </a:solidFill>
                          <a:latin typeface="Calibri"/>
                        </a:rPr>
                        <a:t>Model we use</a:t>
                      </a:r>
                    </a:p>
                  </a:txBody>
                  <a:tcPr marL="63500" marR="63500" marT="12700" marB="12700" anchor="ctr">
                    <a:solidFill>
                      <a:srgbClr val="FFFFFF"/>
                    </a:solidFill>
                  </a:tcPr>
                </a:tc>
                <a:tc>
                  <a:txBody>
                    <a:bodyPr/>
                    <a:lstStyle/>
                    <a:p>
                      <a:pPr algn="ctr"/>
                      <a:r>
                        <a:rPr sz="1100" b="0" i="0">
                          <a:solidFill>
                            <a:srgbClr val="1F2A37"/>
                          </a:solidFill>
                          <a:latin typeface="Calibri"/>
                        </a:rPr>
                        <a:t>gpt-5-mini</a:t>
                      </a:r>
                    </a:p>
                  </a:txBody>
                  <a:tcPr marL="63500" marR="63500" marT="12700" marB="12700" anchor="ctr">
                    <a:solidFill>
                      <a:srgbClr val="FFFFFF"/>
                    </a:solidFill>
                  </a:tcPr>
                </a:tc>
                <a:tc>
                  <a:txBody>
                    <a:bodyPr/>
                    <a:lstStyle/>
                    <a:p>
                      <a:pPr algn="ctr"/>
                      <a:r>
                        <a:rPr sz="1100" b="0" i="0">
                          <a:solidFill>
                            <a:srgbClr val="1F2A37"/>
                          </a:solidFill>
                          <a:latin typeface="Calibri"/>
                        </a:rPr>
                        <a:t>claude-sonnet-5</a:t>
                      </a:r>
                    </a:p>
                  </a:txBody>
                  <a:tcPr marL="63500" marR="63500" marT="12700" marB="12700" anchor="ctr">
                    <a:solidFill>
                      <a:srgbClr val="FFFFFF"/>
                    </a:solidFill>
                  </a:tcPr>
                </a:tc>
                <a:tc>
                  <a:txBody>
                    <a:bodyPr/>
                    <a:lstStyle/>
                    <a:p>
                      <a:pPr algn="ctr"/>
                      <a:r>
                        <a:rPr sz="1100" b="0" i="0">
                          <a:solidFill>
                            <a:srgbClr val="1F2A37"/>
                          </a:solidFill>
                          <a:latin typeface="Calibri"/>
                        </a:rPr>
                        <a:t>gemini-2.5-pro</a:t>
                      </a:r>
                    </a:p>
                  </a:txBody>
                  <a:tcPr marL="63500" marR="63500" marT="12700" marB="12700" anchor="ctr">
                    <a:solidFill>
                      <a:srgbClr val="FFFFFF"/>
                    </a:solidFill>
                  </a:tcPr>
                </a:tc>
              </a:tr>
              <a:tr h="305975">
                <a:tc>
                  <a:txBody>
                    <a:bodyPr/>
                    <a:lstStyle/>
                    <a:p>
                      <a:pPr algn="l"/>
                      <a:r>
                        <a:rPr sz="1100" b="1" i="0">
                          <a:solidFill>
                            <a:srgbClr val="1F2A37"/>
                          </a:solidFill>
                          <a:latin typeface="Calibri"/>
                        </a:rPr>
                        <a:t>Task pool</a:t>
                      </a:r>
                    </a:p>
                  </a:txBody>
                  <a:tcPr marL="63500" marR="63500" marT="12700" marB="12700" anchor="ctr">
                    <a:solidFill>
                      <a:srgbClr val="F4F6F8"/>
                    </a:solidFill>
                  </a:tcPr>
                </a:tc>
                <a:tc>
                  <a:txBody>
                    <a:bodyPr/>
                    <a:lstStyle/>
                    <a:p>
                      <a:pPr algn="ctr"/>
                      <a:r>
                        <a:rPr sz="1100" b="0" i="0">
                          <a:solidFill>
                            <a:srgbClr val="1F2A37"/>
                          </a:solidFill>
                          <a:latin typeface="Calibri"/>
                        </a:rPr>
                        <a:t>8.5K (HuggingFace)</a:t>
                      </a:r>
                    </a:p>
                  </a:txBody>
                  <a:tcPr marL="63500" marR="63500" marT="12700" marB="12700" anchor="ctr">
                    <a:solidFill>
                      <a:srgbClr val="F4F6F8"/>
                    </a:solidFill>
                  </a:tcPr>
                </a:tc>
                <a:tc>
                  <a:txBody>
                    <a:bodyPr/>
                    <a:lstStyle/>
                    <a:p>
                      <a:pPr algn="ctr"/>
                      <a:r>
                        <a:rPr sz="1100" b="0" i="0">
                          <a:solidFill>
                            <a:srgbClr val="1F2A37"/>
                          </a:solidFill>
                          <a:latin typeface="Calibri"/>
                        </a:rPr>
                        <a:t>114 (retail domain)</a:t>
                      </a:r>
                    </a:p>
                  </a:txBody>
                  <a:tcPr marL="63500" marR="63500" marT="12700" marB="12700" anchor="ctr">
                    <a:solidFill>
                      <a:srgbClr val="F4F6F8"/>
                    </a:solidFill>
                  </a:tcPr>
                </a:tc>
                <a:tc>
                  <a:txBody>
                    <a:bodyPr/>
                    <a:lstStyle/>
                    <a:p>
                      <a:pPr algn="ctr"/>
                      <a:r>
                        <a:rPr sz="1100" b="0" i="0">
                          <a:solidFill>
                            <a:srgbClr val="1F2A37"/>
                          </a:solidFill>
                          <a:latin typeface="Calibri"/>
                        </a:rPr>
                        <a:t>grouped scenarios</a:t>
                      </a:r>
                    </a:p>
                  </a:txBody>
                  <a:tcPr marL="63500" marR="63500" marT="12700" marB="12700" anchor="ctr">
                    <a:solidFill>
                      <a:srgbClr val="F4F6F8"/>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A 50-task gsm8k run is a minute; a 20-task appworld run is 30-45 minutes and millions of tokens.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31546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315468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315468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graphicFrame>
        <p:nvGraphicFramePr>
          <p:cNvPr id="12" name="Table 11"/>
          <p:cNvGraphicFramePr>
            <a:graphicFrameLocks noGrp="1"/>
          </p:cNvGraphicFramePr>
          <p:nvPr/>
        </p:nvGraphicFramePr>
        <p:xfrm>
          <a:off x="411480" y="5212080"/>
          <a:ext cx="11338560" cy="1325880"/>
        </p:xfrm>
        <a:graphic>
          <a:graphicData uri="http://schemas.openxmlformats.org/drawingml/2006/table">
            <a:tbl>
              <a:tblPr firstRow="1">
                <a:tableStyleId>{5C22544A-7EE6-4342-B048-85BDC9FD1C3A}</a:tableStyleId>
              </a:tblPr>
              <a:tblGrid>
                <a:gridCol w="6766560"/>
                <a:gridCol w="4572000"/>
              </a:tblGrid>
              <a:tr h="265176">
                <a:tc>
                  <a:txBody>
                    <a:bodyPr/>
                    <a:lstStyle/>
                    <a:p>
                      <a:pPr algn="l"/>
                      <a:r>
                        <a:rPr sz="1100" b="1" i="0">
                          <a:solidFill>
                            <a:srgbClr val="FFFFFF"/>
                          </a:solidFill>
                          <a:latin typeface="Calibri"/>
                        </a:rPr>
                        <a:t>If you want to …</a:t>
                      </a:r>
                    </a:p>
                  </a:txBody>
                  <a:tcPr marL="63500" marR="63500" marT="12700" marB="12700" anchor="ctr">
                    <a:solidFill>
                      <a:srgbClr val="1B3A5C"/>
                    </a:solidFill>
                  </a:tcPr>
                </a:tc>
                <a:tc>
                  <a:txBody>
                    <a:bodyPr/>
                    <a:lstStyle/>
                    <a:p>
                      <a:pPr algn="ctr"/>
                      <a:r>
                        <a:rPr sz="1100" b="1" i="0">
                          <a:solidFill>
                            <a:srgbClr val="FFFFFF"/>
                          </a:solidFill>
                          <a:latin typeface="Calibri"/>
                        </a:rPr>
                        <a:t>use</a:t>
                      </a:r>
                    </a:p>
                  </a:txBody>
                  <a:tcPr marL="63500" marR="63500" marT="12700" marB="12700" anchor="ctr">
                    <a:solidFill>
                      <a:srgbClr val="1B3A5C"/>
                    </a:solidFill>
                  </a:tcPr>
                </a:tc>
              </a:tr>
              <a:tr h="265176">
                <a:tc>
                  <a:txBody>
                    <a:bodyPr/>
                    <a:lstStyle/>
                    <a:p>
                      <a:pPr algn="l"/>
                      <a:r>
                        <a:rPr sz="110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100" b="0" i="0">
                          <a:solidFill>
                            <a:srgbClr val="1F2A37"/>
                          </a:solidFill>
                          <a:latin typeface="Calibri"/>
                        </a:rPr>
                        <a:t>gsm8k, 1–10 tasks</a:t>
                      </a:r>
                    </a:p>
                  </a:txBody>
                  <a:tcPr marL="63500" marR="63500" marT="12700" marB="12700" anchor="ctr">
                    <a:solidFill>
                      <a:srgbClr val="FFFFFF"/>
                    </a:solidFill>
                  </a:tcPr>
                </a:tc>
              </a:tr>
              <a:tr h="265176">
                <a:tc>
                  <a:txBody>
                    <a:bodyPr/>
                    <a:lstStyle/>
                    <a:p>
                      <a:pPr algn="l"/>
                      <a:r>
                        <a:rPr sz="110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100" b="0" i="0">
                          <a:solidFill>
                            <a:srgbClr val="1F2A37"/>
                          </a:solidFill>
                          <a:latin typeface="Calibri"/>
                        </a:rPr>
                        <a:t>gsm8k, 50 tasks at max_parallel_sessions=4</a:t>
                      </a:r>
                    </a:p>
                  </a:txBody>
                  <a:tcPr marL="63500" marR="63500" marT="12700" marB="12700" anchor="ctr">
                    <a:solidFill>
                      <a:srgbClr val="F4F6F8"/>
                    </a:solidFill>
                  </a:tcPr>
                </a:tc>
              </a:tr>
              <a:tr h="265176">
                <a:tc>
                  <a:txBody>
                    <a:bodyPr/>
                    <a:lstStyle/>
                    <a:p>
                      <a:pPr algn="l"/>
                      <a:r>
                        <a:rPr sz="110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100" b="0" i="0">
                          <a:solidFill>
                            <a:srgbClr val="1F2A37"/>
                          </a:solidFill>
                          <a:latin typeface="Calibri"/>
                        </a:rPr>
                        <a:t>tau2 — it discriminates; gsm8k saturates at ~1.0</a:t>
                      </a:r>
                    </a:p>
                  </a:txBody>
                  <a:tcPr marL="63500" marR="63500" marT="12700" marB="12700" anchor="ctr">
                    <a:solidFill>
                      <a:srgbClr val="FFFFFF"/>
                    </a:solidFill>
                  </a:tcPr>
                </a:tc>
              </a:tr>
              <a:tr h="265176">
                <a:tc>
                  <a:txBody>
                    <a:bodyPr/>
                    <a:lstStyle/>
                    <a:p>
                      <a:pPr algn="l"/>
                      <a:r>
                        <a:rPr sz="110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100" b="0" i="0">
                          <a:solidFill>
                            <a:srgbClr val="1F2A37"/>
                          </a:solidFill>
                          <a:latin typeface="Calibri"/>
                        </a:rPr>
                        <a:t>appworld</a:t>
                      </a:r>
                    </a:p>
                  </a:txBody>
                  <a:tcPr marL="63500" marR="63500" marT="12700" marB="12700" anchor="ctr">
                    <a:solidFill>
                      <a:srgbClr val="F4F6F8"/>
                    </a:solidFill>
                  </a:tcPr>
                </a:tc>
              </a:tr>
            </a:tbl>
          </a:graphicData>
        </a:graphic>
      </p:graphicFrame>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27 of 33 legs. gsm8k's prompt is near-constant while answer length swings; only long-horizon appworld inverts it. Do not infer a direction — read the CV.</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