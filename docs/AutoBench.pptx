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AutoBench">
    <p:spTree>
      <p:nvGrpSpPr>
        <p:cNvPr id="1" name=""/>
        <p:cNvGrpSpPr/>
        <p:nvPr/>
      </p:nvGrpSpPr>
      <p:grpSpPr/>
      <p:sp>
        <p:nvSpPr>
          <p:cNvPr id="2" name="Rectangle 1"/>
          <p:cNvSpPr/>
          <p:nvPr/>
        </p:nvSpPr>
        <p:spPr>
          <a:xfrm>
            <a:off x="0" y="0"/>
            <a:ext cx="12192000" cy="6858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77639"/>
            <a:ext cx="12192000" cy="914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03120"/>
            <a:ext cx="10515600" cy="1280160"/>
          </a:xfrm>
          <a:prstGeom prst="rect">
            <a:avLst/>
          </a:prstGeom>
          <a:noFill/>
        </p:spPr>
        <p:txBody>
          <a:bodyPr wrap="square" anchor="ctr">
            <a:spAutoFit/>
          </a:bodyPr>
          <a:lstStyle/>
          <a:p>
            <a:pPr algn="l">
              <a:spcAft>
                <a:spcPts val="300"/>
              </a:spcAft>
            </a:pPr>
            <a:r>
              <a:rPr sz="4400" b="1" i="0">
                <a:solidFill>
                  <a:srgbClr val="FFFFFF"/>
                </a:solidFill>
                <a:latin typeface="Calibri"/>
              </a:rPr>
              <a:t>AutoBench</a:t>
            </a:r>
          </a:p>
        </p:txBody>
      </p:sp>
      <p:sp>
        <p:nvSpPr>
          <p:cNvPr id="5" name="TextBox 4"/>
          <p:cNvSpPr txBox="1"/>
          <p:nvPr/>
        </p:nvSpPr>
        <p:spPr>
          <a:xfrm>
            <a:off x="822960" y="3200400"/>
            <a:ext cx="10515600" cy="731520"/>
          </a:xfrm>
          <a:prstGeom prst="rect">
            <a:avLst/>
          </a:prstGeom>
          <a:noFill/>
        </p:spPr>
        <p:txBody>
          <a:bodyPr wrap="square" anchor="t">
            <a:spAutoFit/>
          </a:bodyPr>
          <a:lstStyle/>
          <a:p>
            <a:pPr algn="l">
              <a:spcAft>
                <a:spcPts val="300"/>
              </a:spcAft>
            </a:pPr>
            <a:r>
              <a:rPr sz="2200" b="0" i="0">
                <a:solidFill>
                  <a:srgbClr val="C9D9EC"/>
                </a:solidFill>
                <a:latin typeface="Calibri"/>
              </a:rPr>
              <a:t>Architecture &amp; Design Overview</a:t>
            </a:r>
          </a:p>
        </p:txBody>
      </p:sp>
      <p:sp>
        <p:nvSpPr>
          <p:cNvPr id="6" name="TextBox 5"/>
          <p:cNvSpPr txBox="1"/>
          <p:nvPr/>
        </p:nvSpPr>
        <p:spPr>
          <a:xfrm>
            <a:off x="822960" y="4297680"/>
            <a:ext cx="10515600" cy="1280160"/>
          </a:xfrm>
          <a:prstGeom prst="rect">
            <a:avLst/>
          </a:prstGeom>
          <a:noFill/>
        </p:spPr>
        <p:txBody>
          <a:bodyPr wrap="square" anchor="t">
            <a:spAutoFit/>
          </a:bodyPr>
          <a:lstStyle/>
          <a:p>
            <a:pPr algn="l">
              <a:spcAft>
                <a:spcPts val="300"/>
              </a:spcAft>
            </a:pPr>
            <a:r>
              <a:rPr sz="1600" b="0" i="0">
                <a:solidFill>
                  <a:srgbClr val="D8E3F0"/>
                </a:solidFill>
                <a:latin typeface="Calibri"/>
              </a:rPr>
              <a:t>A pure-Python, HTTP-only service that deploys and evaluates agent benchmarks</a:t>
            </a:r>
          </a:p>
          <a:p>
            <a:pPr algn="l">
              <a:spcAft>
                <a:spcPts val="300"/>
              </a:spcAft>
            </a:pPr>
            <a:r>
              <a:rPr sz="1600" b="0" i="0">
                <a:solidFill>
                  <a:srgbClr val="D8E3F0"/>
                </a:solidFill>
                <a:latin typeface="Calibri"/>
              </a:rPr>
              <a:t>across multiple cluster-specific Rossoctl instances.</a:t>
            </a:r>
          </a:p>
        </p:txBody>
      </p:sp>
      <p:sp>
        <p:nvSpPr>
          <p:cNvPr id="7" name="TextBox 6"/>
          <p:cNvSpPr txBox="1"/>
          <p:nvPr/>
        </p:nvSpPr>
        <p:spPr>
          <a:xfrm>
            <a:off x="822960" y="5715000"/>
            <a:ext cx="10515600" cy="365760"/>
          </a:xfrm>
          <a:prstGeom prst="rect">
            <a:avLst/>
          </a:prstGeom>
          <a:noFill/>
        </p:spPr>
        <p:txBody>
          <a:bodyPr wrap="square" anchor="t">
            <a:spAutoFit/>
          </a:bodyPr>
          <a:lstStyle/>
          <a:p>
            <a:pPr algn="l">
              <a:spcAft>
                <a:spcPts val="300"/>
              </a:spcAft>
            </a:pPr>
            <a:r>
              <a:rPr sz="1200" b="0" i="0">
                <a:solidFill>
                  <a:srgbClr val="9AB4D0"/>
                </a:solidFill>
                <a:latin typeface="Calibri"/>
              </a:rPr>
              <a:t>Last modified 2026-09-17 01:07 EDT</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FFFFF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Agenda">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Agenda</a:t>
            </a:r>
          </a:p>
          <a:p>
            <a:r>
              <a:rPr sz="1400" b="0" i="0">
                <a:solidFill>
                  <a:srgbClr val="C9D9EC"/>
                </a:solidFill>
                <a:latin typeface="Calibri"/>
              </a:rPr>
              <a:t>What this deck covers, in order</a:t>
            </a:r>
          </a:p>
        </p:txBody>
      </p:sp>
      <p:sp>
        <p:nvSpPr>
          <p:cNvPr id="3" name="Oval 2"/>
          <p:cNvSpPr/>
          <p:nvPr/>
        </p:nvSpPr>
        <p:spPr>
          <a:xfrm>
            <a:off x="685800" y="1353312"/>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a:t>
            </a:r>
          </a:p>
        </p:txBody>
      </p:sp>
      <p:sp>
        <p:nvSpPr>
          <p:cNvPr id="4" name="TextBox 3"/>
          <p:cNvSpPr txBox="1"/>
          <p:nvPr/>
        </p:nvSpPr>
        <p:spPr>
          <a:xfrm>
            <a:off x="1280160" y="1298448"/>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Overview &amp; key design decisions</a:t>
            </a:r>
          </a:p>
        </p:txBody>
      </p:sp>
      <p:sp>
        <p:nvSpPr>
          <p:cNvPr id="5" name="TextBox 4"/>
          <p:cNvSpPr txBox="1"/>
          <p:nvPr/>
        </p:nvSpPr>
        <p:spPr>
          <a:xfrm>
            <a:off x="1280160" y="1600200"/>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what the Service is, and the seven choices that shape it</a:t>
            </a:r>
          </a:p>
        </p:txBody>
      </p:sp>
      <p:sp>
        <p:nvSpPr>
          <p:cNvPr id="6" name="Oval 5"/>
          <p:cNvSpPr/>
          <p:nvPr/>
        </p:nvSpPr>
        <p:spPr>
          <a:xfrm>
            <a:off x="685800" y="2304288"/>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2</a:t>
            </a:r>
          </a:p>
        </p:txBody>
      </p:sp>
      <p:sp>
        <p:nvSpPr>
          <p:cNvPr id="7" name="TextBox 6"/>
          <p:cNvSpPr txBox="1"/>
          <p:nvPr/>
        </p:nvSpPr>
        <p:spPr>
          <a:xfrm>
            <a:off x="1280160" y="2249424"/>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Auto-benchmarking design motif</a:t>
            </a:r>
          </a:p>
        </p:txBody>
      </p:sp>
      <p:sp>
        <p:nvSpPr>
          <p:cNvPr id="8" name="TextBox 7"/>
          <p:cNvSpPr txBox="1"/>
          <p:nvPr/>
        </p:nvSpPr>
        <p:spPr>
          <a:xfrm>
            <a:off x="1280160" y="2551176"/>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the shape of the system, before the wiring detail</a:t>
            </a:r>
          </a:p>
        </p:txBody>
      </p:sp>
      <p:sp>
        <p:nvSpPr>
          <p:cNvPr id="9" name="Oval 8"/>
          <p:cNvSpPr/>
          <p:nvPr/>
        </p:nvSpPr>
        <p:spPr>
          <a:xfrm>
            <a:off x="685800" y="3255264"/>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3</a:t>
            </a:r>
          </a:p>
        </p:txBody>
      </p:sp>
      <p:sp>
        <p:nvSpPr>
          <p:cNvPr id="10" name="TextBox 9"/>
          <p:cNvSpPr txBox="1"/>
          <p:nvPr/>
        </p:nvSpPr>
        <p:spPr>
          <a:xfrm>
            <a:off x="1280160" y="3200400"/>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Architecture</a:t>
            </a:r>
          </a:p>
        </p:txBody>
      </p:sp>
      <p:sp>
        <p:nvSpPr>
          <p:cNvPr id="11" name="TextBox 10"/>
          <p:cNvSpPr txBox="1"/>
          <p:nvPr/>
        </p:nvSpPr>
        <p:spPr>
          <a:xfrm>
            <a:off x="1280160" y="3502152"/>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client, Service, and the per-cluster instance selected by JWT iss</a:t>
            </a:r>
          </a:p>
        </p:txBody>
      </p:sp>
      <p:sp>
        <p:nvSpPr>
          <p:cNvPr id="12" name="Oval 11"/>
          <p:cNvSpPr/>
          <p:nvPr/>
        </p:nvSpPr>
        <p:spPr>
          <a:xfrm>
            <a:off x="685800" y="4206240"/>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4</a:t>
            </a:r>
          </a:p>
        </p:txBody>
      </p:sp>
      <p:sp>
        <p:nvSpPr>
          <p:cNvPr id="13" name="TextBox 12"/>
          <p:cNvSpPr txBox="1"/>
          <p:nvPr/>
        </p:nvSpPr>
        <p:spPr>
          <a:xfrm>
            <a:off x="1280160" y="4151376"/>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Architecture with workload specific components</a:t>
            </a:r>
          </a:p>
        </p:txBody>
      </p:sp>
      <p:sp>
        <p:nvSpPr>
          <p:cNvPr id="14" name="TextBox 13"/>
          <p:cNvSpPr txBox="1"/>
          <p:nvPr/>
        </p:nvSpPr>
        <p:spPr>
          <a:xfrm>
            <a:off x="1280160" y="4453128"/>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4.1 inside the workload: sidecar, user simulator, IBAC judge · 4.2 how interception is wired</a:t>
            </a:r>
          </a:p>
        </p:txBody>
      </p:sp>
      <p:sp>
        <p:nvSpPr>
          <p:cNvPr id="15" name="Oval 14"/>
          <p:cNvSpPr/>
          <p:nvPr/>
        </p:nvSpPr>
        <p:spPr>
          <a:xfrm>
            <a:off x="685800" y="5157216"/>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5</a:t>
            </a:r>
          </a:p>
        </p:txBody>
      </p:sp>
      <p:sp>
        <p:nvSpPr>
          <p:cNvPr id="16" name="TextBox 15"/>
          <p:cNvSpPr txBox="1"/>
          <p:nvPr/>
        </p:nvSpPr>
        <p:spPr>
          <a:xfrm>
            <a:off x="1280160" y="5102352"/>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The two-token auth model</a:t>
            </a:r>
          </a:p>
        </p:txBody>
      </p:sp>
      <p:sp>
        <p:nvSpPr>
          <p:cNvPr id="17" name="TextBox 16"/>
          <p:cNvSpPr txBox="1"/>
          <p:nvPr/>
        </p:nvSpPr>
        <p:spPr>
          <a:xfrm>
            <a:off x="1280160" y="5404104"/>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why the caller's token is never forwarded upstream</a:t>
            </a:r>
          </a:p>
        </p:txBody>
      </p:sp>
      <p:sp>
        <p:nvSpPr>
          <p:cNvPr id="18" name="Oval 17"/>
          <p:cNvSpPr/>
          <p:nvPr/>
        </p:nvSpPr>
        <p:spPr>
          <a:xfrm>
            <a:off x="6492240" y="1353312"/>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6</a:t>
            </a:r>
          </a:p>
        </p:txBody>
      </p:sp>
      <p:sp>
        <p:nvSpPr>
          <p:cNvPr id="19" name="TextBox 18"/>
          <p:cNvSpPr txBox="1"/>
          <p:nvPr/>
        </p:nvSpPr>
        <p:spPr>
          <a:xfrm>
            <a:off x="7086600" y="1298448"/>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Benchmark catalog &amp; run lifecycle</a:t>
            </a:r>
          </a:p>
        </p:txBody>
      </p:sp>
      <p:sp>
        <p:nvSpPr>
          <p:cNvPr id="20" name="TextBox 19"/>
          <p:cNvSpPr txBox="1"/>
          <p:nvPr/>
        </p:nvSpPr>
        <p:spPr>
          <a:xfrm>
            <a:off x="7086600" y="1600200"/>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6.1 the three benchmarks and the REST flow that drives them · 6.2 what each image bakes in</a:t>
            </a:r>
          </a:p>
        </p:txBody>
      </p:sp>
      <p:sp>
        <p:nvSpPr>
          <p:cNvPr id="21" name="Oval 20"/>
          <p:cNvSpPr/>
          <p:nvPr/>
        </p:nvSpPr>
        <p:spPr>
          <a:xfrm>
            <a:off x="6492240" y="2304288"/>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7</a:t>
            </a:r>
          </a:p>
        </p:txBody>
      </p:sp>
      <p:sp>
        <p:nvSpPr>
          <p:cNvPr id="22" name="TextBox 21"/>
          <p:cNvSpPr txBox="1"/>
          <p:nvPr/>
        </p:nvSpPr>
        <p:spPr>
          <a:xfrm>
            <a:off x="7086600" y="2249424"/>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The three benchmarks — what they measure</a:t>
            </a:r>
          </a:p>
        </p:txBody>
      </p:sp>
      <p:sp>
        <p:nvSpPr>
          <p:cNvPr id="23" name="TextBox 22"/>
          <p:cNvSpPr txBox="1"/>
          <p:nvPr/>
        </p:nvSpPr>
        <p:spPr>
          <a:xfrm>
            <a:off x="7086600" y="2551176"/>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7.1 the ladder · 7.2 what each stresses · 7.3 the traps · 7.4 picking one · 7.5 what it costs</a:t>
            </a:r>
          </a:p>
        </p:txBody>
      </p:sp>
      <p:sp>
        <p:nvSpPr>
          <p:cNvPr id="24" name="Oval 23"/>
          <p:cNvSpPr/>
          <p:nvPr/>
        </p:nvSpPr>
        <p:spPr>
          <a:xfrm>
            <a:off x="6492240" y="3255264"/>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8</a:t>
            </a:r>
          </a:p>
        </p:txBody>
      </p:sp>
      <p:sp>
        <p:nvSpPr>
          <p:cNvPr id="25" name="TextBox 24"/>
          <p:cNvSpPr txBox="1"/>
          <p:nvPr/>
        </p:nvSpPr>
        <p:spPr>
          <a:xfrm>
            <a:off x="7086600" y="3200400"/>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The canonical 12-run matrix</a:t>
            </a:r>
          </a:p>
        </p:txBody>
      </p:sp>
      <p:sp>
        <p:nvSpPr>
          <p:cNvPr id="26" name="TextBox 25"/>
          <p:cNvSpPr txBox="1"/>
          <p:nvPr/>
        </p:nvSpPr>
        <p:spPr>
          <a:xfrm>
            <a:off x="7086600" y="3502152"/>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8.1 what the 12 runs parameterize · 8.2 what they measured</a:t>
            </a:r>
          </a:p>
        </p:txBody>
      </p:sp>
      <p:sp>
        <p:nvSpPr>
          <p:cNvPr id="27" name="Oval 26"/>
          <p:cNvSpPr/>
          <p:nvPr/>
        </p:nvSpPr>
        <p:spPr>
          <a:xfrm>
            <a:off x="6492240" y="4206240"/>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9</a:t>
            </a:r>
          </a:p>
        </p:txBody>
      </p:sp>
      <p:sp>
        <p:nvSpPr>
          <p:cNvPr id="28" name="TextBox 27"/>
          <p:cNvSpPr txBox="1"/>
          <p:nvPr/>
        </p:nvSpPr>
        <p:spPr>
          <a:xfrm>
            <a:off x="7086600" y="4151376"/>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Cross-platform &amp; plugin overhead</a:t>
            </a:r>
          </a:p>
        </p:txBody>
      </p:sp>
      <p:sp>
        <p:nvSpPr>
          <p:cNvPr id="29" name="TextBox 28"/>
          <p:cNvSpPr txBox="1"/>
          <p:nvPr/>
        </p:nvSpPr>
        <p:spPr>
          <a:xfrm>
            <a:off x="7086600" y="4453128"/>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9.1 OpenShift vs KinD, like-for-like · 9.2 what AuthBridge costs</a:t>
            </a:r>
          </a:p>
        </p:txBody>
      </p:sp>
      <p:sp>
        <p:nvSpPr>
          <p:cNvPr id="30" name="Oval 29"/>
          <p:cNvSpPr/>
          <p:nvPr/>
        </p:nvSpPr>
        <p:spPr>
          <a:xfrm>
            <a:off x="6492240" y="5157216"/>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10</a:t>
            </a:r>
          </a:p>
        </p:txBody>
      </p:sp>
      <p:sp>
        <p:nvSpPr>
          <p:cNvPr id="31" name="TextBox 30"/>
          <p:cNvSpPr txBox="1"/>
          <p:nvPr/>
        </p:nvSpPr>
        <p:spPr>
          <a:xfrm>
            <a:off x="7086600" y="5102352"/>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What the Service can &amp; cannot enact</a:t>
            </a:r>
          </a:p>
        </p:txBody>
      </p:sp>
      <p:sp>
        <p:nvSpPr>
          <p:cNvPr id="32" name="TextBox 31"/>
          <p:cNvSpPr txBox="1"/>
          <p:nvPr/>
        </p:nvSpPr>
        <p:spPr>
          <a:xfrm>
            <a:off x="7086600" y="5404104"/>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the HTTP-only boundary, made explicit</a:t>
            </a:r>
          </a:p>
        </p:txBody>
      </p:sp>
      <p:cxnSp>
        <p:nvCxnSpPr>
          <p:cNvPr id="33" name="Connector 32"/>
          <p:cNvCxnSpPr/>
          <p:nvPr/>
        </p:nvCxnSpPr>
        <p:spPr>
          <a:xfrm>
            <a:off x="6080760" y="1280160"/>
            <a:ext cx="0" cy="425196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1. Overview &amp; Key Design Decision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1.  Overview &amp; Key Design Decisions</a:t>
            </a:r>
          </a:p>
        </p:txBody>
      </p:sp>
      <p:sp>
        <p:nvSpPr>
          <p:cNvPr id="3" name="Rectangle 2"/>
          <p:cNvSpPr/>
          <p:nvPr/>
        </p:nvSpPr>
        <p:spPr>
          <a:xfrm>
            <a:off x="411480" y="1143000"/>
            <a:ext cx="5394960" cy="50292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600" b="1" i="0">
                <a:solidFill>
                  <a:srgbClr val="FFFFFF"/>
                </a:solidFill>
                <a:latin typeface="Calibri"/>
              </a:rPr>
              <a:t>What it is</a:t>
            </a:r>
          </a:p>
        </p:txBody>
      </p:sp>
      <p:sp>
        <p:nvSpPr>
          <p:cNvPr id="4" name="TextBox 3"/>
          <p:cNvSpPr txBox="1"/>
          <p:nvPr/>
        </p:nvSpPr>
        <p:spPr>
          <a:xfrm>
            <a:off x="457200" y="1783080"/>
            <a:ext cx="5349240" cy="4480560"/>
          </a:xfrm>
          <a:prstGeom prst="rect">
            <a:avLst/>
          </a:prstGeom>
          <a:noFill/>
        </p:spPr>
        <p:txBody>
          <a:bodyPr wrap="square" anchor="t">
            <a:spAutoFit/>
          </a:bodyPr>
          <a:lstStyle/>
          <a:p>
            <a:pPr algn="l">
              <a:spcAft>
                <a:spcPts val="300"/>
              </a:spcAft>
            </a:pPr>
            <a:r>
              <a:rPr sz="1400" b="0" i="0">
                <a:solidFill>
                  <a:srgbClr val="1F2A37"/>
                </a:solidFill>
                <a:latin typeface="Calibri"/>
              </a:rPr>
              <a:t>Deploys a benchmark's MCP tool + A2A agent, runs the evaluation, reads results, and exports them — all over HTTP.</a:t>
            </a:r>
          </a:p>
          <a:p>
            <a:pPr algn="l">
              <a:spcAft>
                <a:spcPts val="300"/>
              </a:spcAft>
            </a:pPr>
            <a:r>
              <a:rPr sz="1400" b="1" i="0">
                <a:solidFill>
                  <a:srgbClr val="2E6FB5"/>
                </a:solidFill>
                <a:latin typeface="Calibri"/>
              </a:rPr>
              <a:t>Objectives</a:t>
            </a:r>
          </a:p>
          <a:p>
            <a:pPr algn="l" lvl="1">
              <a:spcAft>
                <a:spcPts val="300"/>
              </a:spcAft>
            </a:pPr>
            <a:r>
              <a:rPr sz="1350" b="0" i="0">
                <a:solidFill>
                  <a:srgbClr val="1F2A37"/>
                </a:solidFill>
                <a:latin typeface="Calibri"/>
              </a:rPr>
              <a:t>• Automate benchmarking lifecycle operations</a:t>
            </a:r>
          </a:p>
          <a:p>
            <a:pPr algn="l" lvl="1">
              <a:spcAft>
                <a:spcPts val="300"/>
              </a:spcAft>
            </a:pPr>
            <a:r>
              <a:rPr sz="1350" b="0" i="0">
                <a:solidFill>
                  <a:srgbClr val="1F2A37"/>
                </a:solidFill>
                <a:latin typeface="Calibri"/>
              </a:rPr>
              <a:t>• Cross-user/cluster sharing of benchmark run results</a:t>
            </a:r>
          </a:p>
          <a:p>
            <a:pPr algn="l" lvl="1">
              <a:spcAft>
                <a:spcPts val="300"/>
              </a:spcAft>
            </a:pPr>
            <a:r>
              <a:rPr sz="1350" b="0" i="0">
                <a:solidFill>
                  <a:srgbClr val="1F2A37"/>
                </a:solidFill>
                <a:latin typeface="Calibri"/>
              </a:rPr>
              <a:t>• Easy to configure in-cluster &amp; cross-cluster benchmark runs</a:t>
            </a:r>
          </a:p>
          <a:p>
            <a:pPr algn="l" lvl="1">
              <a:spcAft>
                <a:spcPts val="300"/>
              </a:spcAft>
            </a:pPr>
            <a:r>
              <a:rPr sz="1350" b="0" i="0">
                <a:solidFill>
                  <a:srgbClr val="1F2A37"/>
                </a:solidFill>
                <a:latin typeface="Calibri"/>
              </a:rPr>
              <a:t>• Asynchronous parallel benchmark runs</a:t>
            </a:r>
          </a:p>
          <a:p>
            <a:pPr algn="l" lvl="1">
              <a:spcAft>
                <a:spcPts val="300"/>
              </a:spcAft>
            </a:pPr>
            <a:r>
              <a:rPr sz="1350" b="0" i="0">
                <a:solidFill>
                  <a:srgbClr val="1F2A37"/>
                </a:solidFill>
                <a:latin typeface="Calibri"/>
              </a:rPr>
              <a:t>• Secure, scalable, auditable &amp; resilient</a:t>
            </a:r>
          </a:p>
          <a:p>
            <a:pPr algn="l">
              <a:spcAft>
                <a:spcPts val="300"/>
              </a:spcAft>
            </a:pPr>
            <a:r>
              <a:rPr sz="1400" b="1" i="0">
                <a:solidFill>
                  <a:srgbClr val="2E6FB5"/>
                </a:solidFill>
                <a:latin typeface="Calibri"/>
              </a:rPr>
              <a:t>3 benchmarks</a:t>
            </a:r>
          </a:p>
          <a:p>
            <a:pPr algn="l" lvl="1">
              <a:spcAft>
                <a:spcPts val="300"/>
              </a:spcAft>
            </a:pPr>
            <a:r>
              <a:rPr sz="1300" b="0" i="0">
                <a:solidFill>
                  <a:srgbClr val="1F2A37"/>
                </a:solidFill>
                <a:latin typeface="Calibri"/>
              </a:rPr>
              <a:t>• gsm8k — single-turn: one prompt in, one answer out, no dialogue partner</a:t>
            </a:r>
          </a:p>
          <a:p>
            <a:pPr algn="l" lvl="1">
              <a:spcAft>
                <a:spcPts val="300"/>
              </a:spcAft>
            </a:pPr>
            <a:r>
              <a:rPr sz="1300" b="0" i="0">
                <a:solidFill>
                  <a:srgbClr val="1F2A37"/>
                </a:solidFill>
                <a:latin typeface="Calibri"/>
              </a:rPr>
              <a:t>• tau2 — multi-turn: a server-side user simulator LLM plays the customer</a:t>
            </a:r>
          </a:p>
          <a:p>
            <a:pPr algn="l" lvl="1">
              <a:spcAft>
                <a:spcPts val="300"/>
              </a:spcAft>
            </a:pPr>
            <a:r>
              <a:rPr sz="1300" b="0" i="0">
                <a:solidFill>
                  <a:srgbClr val="1F2A37"/>
                </a:solidFill>
                <a:latin typeface="Calibri"/>
              </a:rPr>
              <a:t>• appworld — long-horizon: many API calls across simulated apps</a:t>
            </a:r>
          </a:p>
          <a:p>
            <a:pPr algn="l">
              <a:spcAft>
                <a:spcPts val="300"/>
              </a:spcAft>
            </a:pPr>
            <a:r>
              <a:rPr sz="1400" b="1" i="0">
                <a:solidFill>
                  <a:srgbClr val="2E6FB5"/>
                </a:solidFill>
                <a:latin typeface="Calibri"/>
              </a:rPr>
              <a:t>Client contract</a:t>
            </a:r>
          </a:p>
          <a:p>
            <a:pPr algn="l" lvl="1">
              <a:spcAft>
                <a:spcPts val="300"/>
              </a:spcAft>
            </a:pPr>
            <a:r>
              <a:rPr sz="1350" b="0" i="0">
                <a:solidFill>
                  <a:srgbClr val="1F2A37"/>
                </a:solidFill>
                <a:latin typeface="Calibri"/>
              </a:rPr>
              <a:t>• Point at a hostname, send Authorization: Bearer &lt;caller JWT&gt; — same from kind to prod</a:t>
            </a:r>
          </a:p>
        </p:txBody>
      </p:sp>
      <p:sp>
        <p:nvSpPr>
          <p:cNvPr id="5" name="Rectangle 4"/>
          <p:cNvSpPr/>
          <p:nvPr/>
        </p:nvSpPr>
        <p:spPr>
          <a:xfrm>
            <a:off x="6035040" y="1143000"/>
            <a:ext cx="5715000" cy="50292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600" b="1" i="0">
                <a:solidFill>
                  <a:srgbClr val="FFFFFF"/>
                </a:solidFill>
                <a:latin typeface="Calibri"/>
              </a:rPr>
              <a:t>Key design decisions</a:t>
            </a:r>
          </a:p>
        </p:txBody>
      </p:sp>
      <p:sp>
        <p:nvSpPr>
          <p:cNvPr id="6" name="Rounded Rectangle 5"/>
          <p:cNvSpPr/>
          <p:nvPr/>
        </p:nvSpPr>
        <p:spPr>
          <a:xfrm>
            <a:off x="6035040" y="178308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Pure-Python, HTTPS-only to Rossoctl</a:t>
            </a:r>
          </a:p>
          <a:p>
            <a:pPr algn="l"/>
            <a:r>
              <a:rPr sz="1050" b="0" i="0">
                <a:solidFill>
                  <a:srgbClr val="3A4654"/>
                </a:solidFill>
                <a:latin typeface="Calibri"/>
              </a:rPr>
              <a:t>No shell-out: smaller image, no injection surface, structured errors, testable.</a:t>
            </a:r>
          </a:p>
        </p:txBody>
      </p:sp>
      <p:sp>
        <p:nvSpPr>
          <p:cNvPr id="7" name="Rounded Rectangle 6"/>
          <p:cNvSpPr/>
          <p:nvPr/>
        </p:nvSpPr>
        <p:spPr>
          <a:xfrm>
            <a:off x="6035040" y="242316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Two-token auth model</a:t>
            </a:r>
          </a:p>
          <a:p>
            <a:pPr algn="l"/>
            <a:r>
              <a:rPr sz="1050" b="0" i="0">
                <a:solidFill>
                  <a:srgbClr val="3A4654"/>
                </a:solidFill>
                <a:latin typeface="Calibri"/>
              </a:rPr>
              <a:t>Caller JWT attributes + routes only (never forwarded); Service mints its own benchmarker (ROPC) token to Rossoctl.</a:t>
            </a:r>
          </a:p>
        </p:txBody>
      </p:sp>
      <p:sp>
        <p:nvSpPr>
          <p:cNvPr id="8" name="Rounded Rectangle 7"/>
          <p:cNvSpPr/>
          <p:nvPr/>
        </p:nvSpPr>
        <p:spPr>
          <a:xfrm>
            <a:off x="6035040" y="306324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iss is the trust anchor</a:t>
            </a:r>
          </a:p>
          <a:p>
            <a:pPr algn="l"/>
            <a:r>
              <a:rPr sz="1050" b="0" i="0">
                <a:solidFill>
                  <a:srgbClr val="3A4654"/>
                </a:solidFill>
                <a:latin typeface="Calibri"/>
              </a:rPr>
              <a:t>The JWT issuer selects the per-instance config — no separate instance argument, so no confused-deputy escape.</a:t>
            </a:r>
          </a:p>
        </p:txBody>
      </p:sp>
      <p:sp>
        <p:nvSpPr>
          <p:cNvPr id="9" name="Rounded Rectangle 8"/>
          <p:cNvSpPr/>
          <p:nvPr/>
        </p:nvSpPr>
        <p:spPr>
          <a:xfrm>
            <a:off x="6035040" y="370332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Per-request ROPC login</a:t>
            </a:r>
          </a:p>
          <a:p>
            <a:pPr algn="l"/>
            <a:r>
              <a:rPr sz="1050" b="0" i="0">
                <a:solidFill>
                  <a:srgbClr val="3A4654"/>
                </a:solidFill>
                <a:latin typeface="Calibri"/>
              </a:rPr>
              <a:t>Fresh Service token every request — no expiry handling.</a:t>
            </a:r>
          </a:p>
        </p:txBody>
      </p:sp>
      <p:sp>
        <p:nvSpPr>
          <p:cNvPr id="10" name="Rounded Rectangle 9"/>
          <p:cNvSpPr/>
          <p:nvPr/>
        </p:nvSpPr>
        <p:spPr>
          <a:xfrm>
            <a:off x="6035040" y="434340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iss-keyed per-instance config</a:t>
            </a:r>
          </a:p>
          <a:p>
            <a:pPr algn="l"/>
            <a:r>
              <a:rPr sz="1050" b="0" i="0">
                <a:solidFill>
                  <a:srgbClr val="3A4654"/>
                </a:solidFill>
                <a:latin typeface="Calibri"/>
              </a:rPr>
              <a:t>One file per issuer: Rossoctl URL, benchmarker cred, MLflow/S3, optional Keycloak backchannel + workload route templates.</a:t>
            </a:r>
          </a:p>
        </p:txBody>
      </p:sp>
      <p:sp>
        <p:nvSpPr>
          <p:cNvPr id="11" name="Rounded Rectangle 10"/>
          <p:cNvSpPr/>
          <p:nvPr/>
        </p:nvSpPr>
        <p:spPr>
          <a:xfrm>
            <a:off x="6035040" y="498348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Enact only what the API allows</a:t>
            </a:r>
          </a:p>
          <a:p>
            <a:pPr algn="l"/>
            <a:r>
              <a:rPr sz="1050" b="0" i="0">
                <a:solidFill>
                  <a:srgbClr val="3A4654"/>
                </a:solidFill>
                <a:latin typeface="Calibri"/>
              </a:rPr>
              <a:t>Deploy/run/report/export — now including AuthBridge plugin presets (layer-3). Only workload Secrets remain out-of-band: prechecked and reported (424), never silently ignored.</a:t>
            </a:r>
          </a:p>
        </p:txBody>
      </p:sp>
      <p:sp>
        <p:nvSpPr>
          <p:cNvPr id="12" name="Rounded Rectangle 11"/>
          <p:cNvSpPr/>
          <p:nvPr/>
        </p:nvSpPr>
        <p:spPr>
          <a:xfrm>
            <a:off x="6035040" y="562356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MLflow with Service; S3 in the cloud</a:t>
            </a:r>
          </a:p>
          <a:p>
            <a:pPr algn="l"/>
            <a:r>
              <a:rPr sz="1050" b="0" i="0">
                <a:solidFill>
                  <a:srgbClr val="3A4654"/>
                </a:solidFill>
                <a:latin typeface="Calibri"/>
              </a:rPr>
              <a:t>MLflow is co-located with the Service (per-service traces it emits + reads), not in the workload cluster; S3 is an external cloud service — the shared cross-service sink.</a:t>
            </a:r>
          </a:p>
        </p:txBody>
      </p:sp>
      <p:sp>
        <p:nvSpPr>
          <p:cNvPr id="13" name="TextBox 12"/>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2. Auto-Benchmarking Design Motif">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2.  Auto-Benchmarking Design Motif</a:t>
            </a:r>
          </a:p>
          <a:p>
            <a:r>
              <a:rPr sz="1400" b="0" i="0">
                <a:solidFill>
                  <a:srgbClr val="C9D9EC"/>
                </a:solidFill>
                <a:latin typeface="Calibri"/>
              </a:rPr>
              <a:t>One client, one Service, N workload deployments — and every result ends up in one place</a:t>
            </a:r>
          </a:p>
        </p:txBody>
      </p:sp>
      <p:sp>
        <p:nvSpPr>
          <p:cNvPr id="3" name="Rounded Rectangle 2"/>
          <p:cNvSpPr/>
          <p:nvPr/>
        </p:nvSpPr>
        <p:spPr>
          <a:xfrm>
            <a:off x="365760" y="1188720"/>
            <a:ext cx="2560320" cy="777240"/>
          </a:xfrm>
          <a:prstGeom prst="round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Client</a:t>
            </a:r>
          </a:p>
        </p:txBody>
      </p:sp>
      <p:sp>
        <p:nvSpPr>
          <p:cNvPr id="4" name="Rounded Rectangle 3"/>
          <p:cNvSpPr/>
          <p:nvPr/>
        </p:nvSpPr>
        <p:spPr>
          <a:xfrm>
            <a:off x="365760" y="2240280"/>
            <a:ext cx="2560320" cy="1691640"/>
          </a:xfrm>
          <a:prstGeom prst="round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Service</a:t>
            </a:r>
          </a:p>
        </p:txBody>
      </p:sp>
      <p:sp>
        <p:nvSpPr>
          <p:cNvPr id="5" name="Rounded Rectangle 4"/>
          <p:cNvSpPr/>
          <p:nvPr/>
        </p:nvSpPr>
        <p:spPr>
          <a:xfrm>
            <a:off x="365760" y="4343400"/>
            <a:ext cx="1325880" cy="868680"/>
          </a:xfrm>
          <a:prstGeom prst="roundRect">
            <a:avLst/>
          </a:prstGeom>
          <a:solidFill>
            <a:srgbClr val="6B6B6B"/>
          </a:solidFill>
          <a:ln w="1270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50" b="1" i="0">
                <a:solidFill>
                  <a:srgbClr val="FFFFFF"/>
                </a:solidFill>
                <a:latin typeface="Calibri"/>
              </a:rPr>
              <a:t>Shared store of benchmark run results</a:t>
            </a:r>
          </a:p>
        </p:txBody>
      </p:sp>
      <p:sp>
        <p:nvSpPr>
          <p:cNvPr id="6" name="Rounded Rectangle 5"/>
          <p:cNvSpPr/>
          <p:nvPr/>
        </p:nvSpPr>
        <p:spPr>
          <a:xfrm>
            <a:off x="1783080" y="4343400"/>
            <a:ext cx="1325880" cy="86868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FFFFFF"/>
                </a:solidFill>
                <a:latin typeface="Calibri"/>
              </a:rPr>
              <a:t>Experiment Tracker</a:t>
            </a:r>
          </a:p>
        </p:txBody>
      </p:sp>
      <p:sp>
        <p:nvSpPr>
          <p:cNvPr id="7" name="Rounded Rectangle 6"/>
          <p:cNvSpPr/>
          <p:nvPr/>
        </p:nvSpPr>
        <p:spPr>
          <a:xfrm>
            <a:off x="3849624" y="1243584"/>
            <a:ext cx="8001000" cy="3977639"/>
          </a:xfrm>
          <a:prstGeom prst="round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76472" y="1170432"/>
            <a:ext cx="8001000" cy="3977639"/>
          </a:xfrm>
          <a:prstGeom prst="roundRect">
            <a:avLst/>
          </a:prstGeom>
          <a:solidFill>
            <a:srgbClr val="E3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097280"/>
            <a:ext cx="8001000" cy="3977639"/>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86200" y="1188720"/>
            <a:ext cx="7680960" cy="365760"/>
          </a:xfrm>
          <a:prstGeom prst="rect">
            <a:avLst/>
          </a:prstGeom>
          <a:noFill/>
        </p:spPr>
        <p:txBody>
          <a:bodyPr wrap="square" anchor="t">
            <a:spAutoFit/>
          </a:bodyPr>
          <a:lstStyle/>
          <a:p>
            <a:pPr algn="l">
              <a:spcAft>
                <a:spcPts val="300"/>
              </a:spcAft>
            </a:pPr>
            <a:r>
              <a:rPr sz="1300" b="1" i="0">
                <a:solidFill>
                  <a:srgbClr val="1B3A5C"/>
                </a:solidFill>
                <a:latin typeface="Calibri"/>
              </a:rPr>
              <a:t>Workload Deployment Instances</a:t>
            </a:r>
          </a:p>
        </p:txBody>
      </p:sp>
      <p:sp>
        <p:nvSpPr>
          <p:cNvPr id="11" name="Rounded Rectangle 10"/>
          <p:cNvSpPr/>
          <p:nvPr/>
        </p:nvSpPr>
        <p:spPr>
          <a:xfrm>
            <a:off x="3977639" y="2377440"/>
            <a:ext cx="2331720" cy="1234440"/>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Deployment helper for harnessed benchmark workload</a:t>
            </a:r>
          </a:p>
        </p:txBody>
      </p:sp>
      <p:sp>
        <p:nvSpPr>
          <p:cNvPr id="12" name="Rounded Rectangle 11"/>
          <p:cNvSpPr/>
          <p:nvPr/>
        </p:nvSpPr>
        <p:spPr>
          <a:xfrm>
            <a:off x="8366760" y="2103120"/>
            <a:ext cx="3154680" cy="146304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3D6E70"/>
                </a:solidFill>
                <a:latin typeface="Calibri"/>
              </a:rPr>
              <a:t>Harnessed benchmark workload</a:t>
            </a:r>
          </a:p>
        </p:txBody>
      </p:sp>
      <p:sp>
        <p:nvSpPr>
          <p:cNvPr id="13" name="Rounded Rectangle 12"/>
          <p:cNvSpPr/>
          <p:nvPr/>
        </p:nvSpPr>
        <p:spPr>
          <a:xfrm>
            <a:off x="5623560" y="4315968"/>
            <a:ext cx="2468880" cy="64008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Telemetry Collector</a:t>
            </a:r>
          </a:p>
        </p:txBody>
      </p:sp>
      <p:cxnSp>
        <p:nvCxnSpPr>
          <p:cNvPr id="14" name="Connector 13"/>
          <p:cNvCxnSpPr/>
          <p:nvPr/>
        </p:nvCxnSpPr>
        <p:spPr>
          <a:xfrm>
            <a:off x="1645920" y="1965960"/>
            <a:ext cx="0" cy="2743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755647" y="198424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16" name="Connector 15"/>
          <p:cNvCxnSpPr/>
          <p:nvPr/>
        </p:nvCxnSpPr>
        <p:spPr>
          <a:xfrm>
            <a:off x="2926080" y="2880360"/>
            <a:ext cx="1051559"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3337560" y="258775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18" name="Connector 17"/>
          <p:cNvCxnSpPr/>
          <p:nvPr/>
        </p:nvCxnSpPr>
        <p:spPr>
          <a:xfrm>
            <a:off x="6309360" y="2743200"/>
            <a:ext cx="2057400"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7214616" y="245059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0" name="Connector 19"/>
          <p:cNvCxnSpPr/>
          <p:nvPr/>
        </p:nvCxnSpPr>
        <p:spPr>
          <a:xfrm flipV="1">
            <a:off x="2926080" y="3383280"/>
            <a:ext cx="5440680" cy="365759"/>
          </a:xfrm>
          <a:prstGeom prst="line">
            <a:avLst/>
          </a:prstGeom>
          <a:ln w="25400">
            <a:solidFill>
              <a:srgbClr val="3D6E7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6922008" y="3346704"/>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2" name="Connector 21"/>
          <p:cNvCxnSpPr/>
          <p:nvPr/>
        </p:nvCxnSpPr>
        <p:spPr>
          <a:xfrm>
            <a:off x="214884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202996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4" name="Connector 23"/>
          <p:cNvCxnSpPr/>
          <p:nvPr/>
        </p:nvCxnSpPr>
        <p:spPr>
          <a:xfrm flipH="1">
            <a:off x="8092440" y="3566160"/>
            <a:ext cx="640080" cy="749808"/>
          </a:xfrm>
          <a:prstGeom prst="line">
            <a:avLst/>
          </a:prstGeom>
          <a:ln w="25400">
            <a:solidFill>
              <a:srgbClr val="3D6E70"/>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02752" y="380390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a:t>
            </a:r>
          </a:p>
        </p:txBody>
      </p:sp>
      <p:cxnSp>
        <p:nvCxnSpPr>
          <p:cNvPr id="26" name="Connector 25"/>
          <p:cNvCxnSpPr/>
          <p:nvPr/>
        </p:nvCxnSpPr>
        <p:spPr>
          <a:xfrm flipH="1">
            <a:off x="3108960" y="4636008"/>
            <a:ext cx="2514600" cy="137160"/>
          </a:xfrm>
          <a:prstGeom prst="line">
            <a:avLst/>
          </a:prstGeom>
          <a:ln w="25400">
            <a:solidFill>
              <a:srgbClr val="6B6B6B"/>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215384" y="4549140"/>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6b</a:t>
            </a:r>
          </a:p>
        </p:txBody>
      </p:sp>
      <p:cxnSp>
        <p:nvCxnSpPr>
          <p:cNvPr id="28" name="Connector 27"/>
          <p:cNvCxnSpPr/>
          <p:nvPr/>
        </p:nvCxnSpPr>
        <p:spPr>
          <a:xfrm flipV="1">
            <a:off x="278892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267004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0" name="Connector 29"/>
          <p:cNvCxnSpPr/>
          <p:nvPr/>
        </p:nvCxnSpPr>
        <p:spPr>
          <a:xfrm>
            <a:off x="960120" y="3931920"/>
            <a:ext cx="0" cy="41148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640080"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t>
            </a:r>
          </a:p>
        </p:txBody>
      </p:sp>
      <p:sp>
        <p:nvSpPr>
          <p:cNvPr id="32" name="Rounded Rectangle 31"/>
          <p:cNvSpPr/>
          <p:nvPr/>
        </p:nvSpPr>
        <p:spPr>
          <a:xfrm>
            <a:off x="365760" y="5349240"/>
            <a:ext cx="11430000" cy="1051560"/>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5440680"/>
            <a:ext cx="5486400" cy="914400"/>
          </a:xfrm>
          <a:prstGeom prst="rect">
            <a:avLst/>
          </a:prstGeom>
          <a:noFill/>
        </p:spPr>
        <p:txBody>
          <a:bodyPr wrap="square">
            <a:spAutoFit/>
          </a:bodyPr>
          <a:lstStyle/>
          <a:p>
            <a:pPr>
              <a:spcAft>
                <a:spcPts val="0"/>
              </a:spcAft>
            </a:pPr>
            <a:r>
              <a:rPr sz="1100" b="0" i="0">
                <a:solidFill>
                  <a:srgbClr val="1F2A37"/>
                </a:solidFill>
                <a:latin typeface="Calibri"/>
              </a:rPr>
              <a:t>1  Client → Service</a:t>
            </a:r>
          </a:p>
          <a:p>
            <a:pPr>
              <a:spcAft>
                <a:spcPts val="0"/>
              </a:spcAft>
            </a:pPr>
            <a:r>
              <a:rPr sz="1100" b="0" i="0">
                <a:solidFill>
                  <a:srgbClr val="1F2A37"/>
                </a:solidFill>
                <a:latin typeface="Calibri"/>
              </a:rPr>
              <a:t>2  Service → deployment helper:  create the harnessed workload</a:t>
            </a:r>
          </a:p>
          <a:p>
            <a:pPr>
              <a:spcAft>
                <a:spcPts val="0"/>
              </a:spcAft>
            </a:pPr>
            <a:r>
              <a:rPr sz="1100" b="0" i="0">
                <a:solidFill>
                  <a:srgbClr val="1F2A37"/>
                </a:solidFill>
                <a:latin typeface="Calibri"/>
              </a:rPr>
              <a:t>3  helper → harnessed workload</a:t>
            </a:r>
          </a:p>
          <a:p>
            <a:pPr>
              <a:spcAft>
                <a:spcPts val="0"/>
              </a:spcAft>
            </a:pPr>
            <a:r>
              <a:rPr sz="1100" b="0" i="0">
                <a:solidFill>
                  <a:srgbClr val="1F2A37"/>
                </a:solidFill>
                <a:latin typeface="Calibri"/>
              </a:rPr>
              <a:t>4  Service → harnessed workload:  run and monitor benchmark execution</a:t>
            </a:r>
          </a:p>
        </p:txBody>
      </p:sp>
      <p:sp>
        <p:nvSpPr>
          <p:cNvPr id="34" name="TextBox 33"/>
          <p:cNvSpPr txBox="1"/>
          <p:nvPr/>
        </p:nvSpPr>
        <p:spPr>
          <a:xfrm>
            <a:off x="6126480" y="5440680"/>
            <a:ext cx="5486400" cy="914400"/>
          </a:xfrm>
          <a:prstGeom prst="rect">
            <a:avLst/>
          </a:prstGeom>
          <a:noFill/>
        </p:spPr>
        <p:txBody>
          <a:bodyPr wrap="square">
            <a:spAutoFit/>
          </a:bodyPr>
          <a:lstStyle/>
          <a:p>
            <a:pPr>
              <a:spcAft>
                <a:spcPts val="0"/>
              </a:spcAft>
            </a:pPr>
            <a:r>
              <a:rPr sz="1100" b="0" i="0">
                <a:solidFill>
                  <a:srgbClr val="1F2A37"/>
                </a:solidFill>
                <a:latin typeface="Calibri"/>
              </a:rPr>
              <a:t>5  Service → Experiment Tracker:  emit the trace</a:t>
            </a:r>
          </a:p>
          <a:p>
            <a:pPr>
              <a:spcAft>
                <a:spcPts val="0"/>
              </a:spcAft>
            </a:pPr>
            <a:r>
              <a:rPr sz="1100" b="0" i="0">
                <a:solidFill>
                  <a:srgbClr val="1F2A37"/>
                </a:solidFill>
                <a:latin typeface="Calibri"/>
              </a:rPr>
              <a:t>6a workload → Telemetry Collector  ·  6b collector → Tracker</a:t>
            </a:r>
          </a:p>
          <a:p>
            <a:pPr>
              <a:spcAft>
                <a:spcPts val="0"/>
              </a:spcAft>
            </a:pPr>
            <a:r>
              <a:rPr sz="1100" b="0" i="0">
                <a:solidFill>
                  <a:srgbClr val="1F2A37"/>
                </a:solidFill>
                <a:latin typeface="Calibri"/>
              </a:rPr>
              <a:t>7  Experiment Tracker → Service:  read the records back</a:t>
            </a:r>
          </a:p>
          <a:p>
            <a:pPr>
              <a:spcAft>
                <a:spcPts val="0"/>
              </a:spcAft>
            </a:pPr>
            <a:r>
              <a:rPr sz="1100" b="0" i="0">
                <a:solidFill>
                  <a:srgbClr val="1F2A37"/>
                </a:solidFill>
                <a:latin typeface="Calibri"/>
              </a:rPr>
              <a:t>8  Service → shared store:  export the run's artifacts</a:t>
            </a:r>
          </a:p>
        </p:txBody>
      </p:sp>
      <p:sp>
        <p:nvSpPr>
          <p:cNvPr id="35" name="TextBox 3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3. Implementation Architecture: Kubernetes-Based Benchmark Workload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3.  Implementation Architecture: Kubernetes-Based Benchmark Workloads</a:t>
            </a:r>
          </a:p>
          <a:p>
            <a:r>
              <a:rPr sz="1400" b="0" i="0">
                <a:solidFill>
                  <a:srgbClr val="C9D9EC"/>
                </a:solidFill>
                <a:latin typeface="Calibri"/>
              </a:rPr>
              <a:t>Relations between client, service, cluster-specific Keycloak / Rossoctl / workload, MLflow &amp; S3</a:t>
            </a:r>
          </a:p>
        </p:txBody>
      </p:sp>
      <p:sp>
        <p:nvSpPr>
          <p:cNvPr id="3" name="Rounded Rectangle 2"/>
          <p:cNvSpPr/>
          <p:nvPr/>
        </p:nvSpPr>
        <p:spPr>
          <a:xfrm>
            <a:off x="365760" y="1188720"/>
            <a:ext cx="2560320" cy="777240"/>
          </a:xfrm>
          <a:prstGeom prst="round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Client</a:t>
            </a:r>
          </a:p>
          <a:p>
            <a:pPr algn="ctr"/>
            <a:r>
              <a:rPr sz="1050" b="0" i="0">
                <a:solidFill>
                  <a:srgbClr val="E6F0E6"/>
                </a:solidFill>
                <a:latin typeface="Calibri"/>
              </a:rPr>
              <a:t>off-cluster (host / CI)</a:t>
            </a:r>
          </a:p>
        </p:txBody>
      </p:sp>
      <p:sp>
        <p:nvSpPr>
          <p:cNvPr id="4" name="Rounded Rectangle 3"/>
          <p:cNvSpPr/>
          <p:nvPr/>
        </p:nvSpPr>
        <p:spPr>
          <a:xfrm>
            <a:off x="365760" y="2240280"/>
            <a:ext cx="2560320" cy="1691640"/>
          </a:xfrm>
          <a:prstGeom prst="roundRect">
            <a:avLst/>
          </a:prstGeom>
          <a:solidFill>
            <a:srgbClr val="2E6FB5"/>
          </a:solidFill>
          <a:ln>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lIns="101600" tIns="88900"/>
          <a:lstStyle/>
          <a:p>
            <a:pPr algn="ctr"/>
            <a:r>
              <a:rPr sz="1350" b="1" i="0">
                <a:solidFill>
                  <a:srgbClr val="FFFFFF"/>
                </a:solidFill>
                <a:latin typeface="Calibri"/>
              </a:rPr>
              <a:t>AutoBench Service</a:t>
            </a:r>
          </a:p>
          <a:p>
            <a:pPr algn="l" lvl="1"/>
            <a:r>
              <a:rPr sz="1000" b="0" i="0">
                <a:solidFill>
                  <a:srgbClr val="FFFFFF"/>
                </a:solidFill>
                <a:latin typeface="Calibri"/>
              </a:rPr>
              <a:t>• pure-Python · async</a:t>
            </a:r>
          </a:p>
          <a:p>
            <a:pPr algn="l" lvl="1"/>
            <a:r>
              <a:rPr sz="1000" b="0" i="0">
                <a:solidFill>
                  <a:srgbClr val="FFFFFF"/>
                </a:solidFill>
                <a:latin typeface="Calibri"/>
              </a:rPr>
              <a:t>• iss-keyed InstanceRegistry</a:t>
            </a:r>
          </a:p>
          <a:p>
            <a:pPr algn="l" lvl="1"/>
            <a:r>
              <a:rPr sz="1000" b="0" i="0">
                <a:solidFill>
                  <a:srgbClr val="FFFFFF"/>
                </a:solidFill>
                <a:latin typeface="Calibri"/>
              </a:rPr>
              <a:t>• per-request ROPC login</a:t>
            </a:r>
          </a:p>
          <a:p>
            <a:pPr algn="l" lvl="1"/>
            <a:r>
              <a:rPr sz="1000" b="0" i="0">
                <a:solidFill>
                  <a:srgbClr val="FFFFFF"/>
                </a:solidFill>
                <a:latin typeface="Calibri"/>
              </a:rPr>
              <a:t>• deploy / run / report</a:t>
            </a:r>
          </a:p>
        </p:txBody>
      </p:sp>
      <p:sp>
        <p:nvSpPr>
          <p:cNvPr id="5" name="Rounded Rectangle 4"/>
          <p:cNvSpPr/>
          <p:nvPr/>
        </p:nvSpPr>
        <p:spPr>
          <a:xfrm>
            <a:off x="365760" y="4343400"/>
            <a:ext cx="1234440" cy="868680"/>
          </a:xfrm>
          <a:prstGeom prst="roundRect">
            <a:avLst/>
          </a:prstGeom>
          <a:solidFill>
            <a:srgbClr val="6B6B6B"/>
          </a:solidFill>
          <a:ln w="1270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S3</a:t>
            </a:r>
          </a:p>
          <a:p>
            <a:pPr algn="ctr"/>
            <a:r>
              <a:rPr sz="1000" b="0" i="0">
                <a:solidFill>
                  <a:srgbClr val="EEEFF1"/>
                </a:solidFill>
                <a:latin typeface="Calibri"/>
              </a:rPr>
              <a:t>cloud (external)</a:t>
            </a:r>
          </a:p>
        </p:txBody>
      </p:sp>
      <p:sp>
        <p:nvSpPr>
          <p:cNvPr id="6" name="Rounded Rectangle 5"/>
          <p:cNvSpPr/>
          <p:nvPr/>
        </p:nvSpPr>
        <p:spPr>
          <a:xfrm>
            <a:off x="1691640" y="4343400"/>
            <a:ext cx="1234440" cy="86868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MLflow</a:t>
            </a:r>
          </a:p>
          <a:p>
            <a:pPr algn="ctr"/>
            <a:r>
              <a:rPr sz="1000" b="0" i="0">
                <a:solidFill>
                  <a:srgbClr val="EEEFF1"/>
                </a:solidFill>
                <a:latin typeface="Calibri"/>
              </a:rPr>
              <a:t>same cluster as Service</a:t>
            </a:r>
          </a:p>
        </p:txBody>
      </p:sp>
      <p:sp>
        <p:nvSpPr>
          <p:cNvPr id="7" name="Rounded Rectangle 6"/>
          <p:cNvSpPr/>
          <p:nvPr/>
        </p:nvSpPr>
        <p:spPr>
          <a:xfrm>
            <a:off x="3849624" y="1243584"/>
            <a:ext cx="8001000" cy="3977639"/>
          </a:xfrm>
          <a:prstGeom prst="round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76472" y="1170432"/>
            <a:ext cx="8001000" cy="3977639"/>
          </a:xfrm>
          <a:prstGeom prst="roundRect">
            <a:avLst/>
          </a:prstGeom>
          <a:solidFill>
            <a:srgbClr val="E3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097280"/>
            <a:ext cx="8001000" cy="3977639"/>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0" y="1170432"/>
            <a:ext cx="7680960" cy="365760"/>
          </a:xfrm>
          <a:prstGeom prst="rect">
            <a:avLst/>
          </a:prstGeom>
          <a:noFill/>
        </p:spPr>
        <p:txBody>
          <a:bodyPr wrap="square" anchor="t">
            <a:spAutoFit/>
          </a:bodyPr>
          <a:lstStyle/>
          <a:p>
            <a:pPr algn="l">
              <a:spcAft>
                <a:spcPts val="300"/>
              </a:spcAft>
            </a:pPr>
            <a:r>
              <a:rPr sz="1250" b="1" i="0">
                <a:solidFill>
                  <a:srgbClr val="1B3A5C"/>
                </a:solidFill>
                <a:latin typeface="Calibri"/>
              </a:rPr>
              <a:t>Per-cluster instance — selected by JWT  iss   (ykt3 · kind · …)</a:t>
            </a:r>
          </a:p>
        </p:txBody>
      </p:sp>
      <p:sp>
        <p:nvSpPr>
          <p:cNvPr id="11" name="Rounded Rectangle 10"/>
          <p:cNvSpPr/>
          <p:nvPr/>
        </p:nvSpPr>
        <p:spPr>
          <a:xfrm>
            <a:off x="3977639" y="1783080"/>
            <a:ext cx="2331720" cy="914400"/>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Keycloak</a:t>
            </a:r>
          </a:p>
          <a:p>
            <a:pPr algn="ctr"/>
            <a:r>
              <a:rPr sz="1000" b="0" i="0">
                <a:solidFill>
                  <a:srgbClr val="FBEEE4"/>
                </a:solidFill>
                <a:latin typeface="Calibri"/>
              </a:rPr>
              <a:t>issuer + backchannel</a:t>
            </a:r>
          </a:p>
        </p:txBody>
      </p:sp>
      <p:sp>
        <p:nvSpPr>
          <p:cNvPr id="12" name="Rounded Rectangle 11"/>
          <p:cNvSpPr/>
          <p:nvPr/>
        </p:nvSpPr>
        <p:spPr>
          <a:xfrm>
            <a:off x="3977639" y="2926080"/>
            <a:ext cx="2331720" cy="1005840"/>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Rossoctl</a:t>
            </a:r>
          </a:p>
          <a:p>
            <a:pPr algn="ctr"/>
            <a:r>
              <a:rPr sz="1000" b="0" i="0">
                <a:solidFill>
                  <a:srgbClr val="F1E8F6"/>
                </a:solidFill>
                <a:latin typeface="Calibri"/>
              </a:rPr>
              <a:t>backend API (server-side ops)</a:t>
            </a:r>
          </a:p>
        </p:txBody>
      </p:sp>
      <p:sp>
        <p:nvSpPr>
          <p:cNvPr id="13" name="Rounded Rectangle 12"/>
          <p:cNvSpPr/>
          <p:nvPr/>
        </p:nvSpPr>
        <p:spPr>
          <a:xfrm>
            <a:off x="8366760" y="1783080"/>
            <a:ext cx="3154680" cy="214884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1847088"/>
            <a:ext cx="2971800" cy="320040"/>
          </a:xfrm>
          <a:prstGeom prst="rect">
            <a:avLst/>
          </a:prstGeom>
          <a:noFill/>
        </p:spPr>
        <p:txBody>
          <a:bodyPr wrap="square" anchor="t">
            <a:spAutoFit/>
          </a:bodyPr>
          <a:lstStyle/>
          <a:p>
            <a:pPr algn="l">
              <a:spcAft>
                <a:spcPts val="300"/>
              </a:spcAft>
            </a:pPr>
            <a:r>
              <a:rPr sz="1200" b="1" i="0">
                <a:solidFill>
                  <a:srgbClr val="3D6E70"/>
                </a:solidFill>
                <a:latin typeface="Calibri"/>
              </a:rPr>
              <a:t>Benchmark Workload</a:t>
            </a:r>
          </a:p>
        </p:txBody>
      </p:sp>
      <p:sp>
        <p:nvSpPr>
          <p:cNvPr id="15" name="Rounded Rectangle 14"/>
          <p:cNvSpPr/>
          <p:nvPr/>
        </p:nvSpPr>
        <p:spPr>
          <a:xfrm>
            <a:off x="8549640" y="2212848"/>
            <a:ext cx="2788920"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MCP tool</a:t>
            </a:r>
          </a:p>
          <a:p>
            <a:pPr algn="ctr"/>
            <a:r>
              <a:rPr sz="950" b="0" i="0">
                <a:solidFill>
                  <a:srgbClr val="E4F0F0"/>
                </a:solidFill>
                <a:latin typeface="Calibri"/>
              </a:rPr>
              <a:t>exgentic-mcp-&lt;benchmark&gt;</a:t>
            </a:r>
          </a:p>
        </p:txBody>
      </p:sp>
      <p:sp>
        <p:nvSpPr>
          <p:cNvPr id="16" name="Rounded Rectangle 15"/>
          <p:cNvSpPr/>
          <p:nvPr/>
        </p:nvSpPr>
        <p:spPr>
          <a:xfrm>
            <a:off x="8549640" y="3063240"/>
            <a:ext cx="2788920"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A2A agent</a:t>
            </a:r>
          </a:p>
          <a:p>
            <a:pPr algn="ctr"/>
            <a:r>
              <a:rPr sz="950" b="0" i="0">
                <a:solidFill>
                  <a:srgbClr val="E4F0F0"/>
                </a:solidFill>
                <a:latin typeface="Calibri"/>
              </a:rPr>
              <a:t>exgentic-a2a-tool_calling-&lt;b&gt;</a:t>
            </a:r>
          </a:p>
        </p:txBody>
      </p:sp>
      <p:sp>
        <p:nvSpPr>
          <p:cNvPr id="17" name="Rounded Rectangle 16"/>
          <p:cNvSpPr/>
          <p:nvPr/>
        </p:nvSpPr>
        <p:spPr>
          <a:xfrm>
            <a:off x="5623560" y="4315968"/>
            <a:ext cx="2468880" cy="64008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OTEL collector</a:t>
            </a:r>
          </a:p>
          <a:p>
            <a:pPr algn="ctr"/>
            <a:r>
              <a:rPr sz="950" b="0" i="0">
                <a:solidFill>
                  <a:srgbClr val="E4F0F0"/>
                </a:solidFill>
                <a:latin typeface="Calibri"/>
              </a:rPr>
              <a:t>forwards agent spans → MLflow</a:t>
            </a:r>
          </a:p>
        </p:txBody>
      </p:sp>
      <p:cxnSp>
        <p:nvCxnSpPr>
          <p:cNvPr id="18" name="Connector 17"/>
          <p:cNvCxnSpPr/>
          <p:nvPr/>
        </p:nvCxnSpPr>
        <p:spPr>
          <a:xfrm>
            <a:off x="2926080" y="1554480"/>
            <a:ext cx="1051559" cy="5029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282696" y="166420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20" name="Connector 19"/>
          <p:cNvCxnSpPr/>
          <p:nvPr/>
        </p:nvCxnSpPr>
        <p:spPr>
          <a:xfrm>
            <a:off x="1645920" y="1965960"/>
            <a:ext cx="0" cy="2743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1755647" y="198424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22" name="Connector 21"/>
          <p:cNvCxnSpPr/>
          <p:nvPr/>
        </p:nvCxnSpPr>
        <p:spPr>
          <a:xfrm flipV="1">
            <a:off x="2926080" y="2377440"/>
            <a:ext cx="1051559" cy="13716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337560" y="231343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4" name="Connector 23"/>
          <p:cNvCxnSpPr/>
          <p:nvPr/>
        </p:nvCxnSpPr>
        <p:spPr>
          <a:xfrm>
            <a:off x="2926080" y="3246120"/>
            <a:ext cx="1051559" cy="9144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37560" y="31546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6" name="Connector 25"/>
          <p:cNvCxnSpPr/>
          <p:nvPr/>
        </p:nvCxnSpPr>
        <p:spPr>
          <a:xfrm flipV="1">
            <a:off x="6309360" y="2944368"/>
            <a:ext cx="2057400" cy="301752"/>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6784848" y="30403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8" name="Connector 27"/>
          <p:cNvCxnSpPr/>
          <p:nvPr/>
        </p:nvCxnSpPr>
        <p:spPr>
          <a:xfrm flipV="1">
            <a:off x="2926080" y="2807208"/>
            <a:ext cx="0" cy="896112"/>
          </a:xfrm>
          <a:prstGeom prst="line">
            <a:avLst/>
          </a:prstGeom>
          <a:ln w="25400">
            <a:solidFill>
              <a:srgbClr val="3D6E70"/>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926080" y="2807208"/>
            <a:ext cx="3383280" cy="0"/>
          </a:xfrm>
          <a:prstGeom prst="line">
            <a:avLst/>
          </a:prstGeom>
          <a:ln w="25400">
            <a:solidFill>
              <a:srgbClr val="3D6E70"/>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309360" y="2807208"/>
            <a:ext cx="2057400" cy="256032"/>
          </a:xfrm>
          <a:prstGeom prst="line">
            <a:avLst/>
          </a:prstGeom>
          <a:ln w="25400">
            <a:solidFill>
              <a:srgbClr val="3D6E7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4498848" y="268833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t>
            </a:r>
          </a:p>
        </p:txBody>
      </p:sp>
      <p:cxnSp>
        <p:nvCxnSpPr>
          <p:cNvPr id="32" name="Connector 31"/>
          <p:cNvCxnSpPr/>
          <p:nvPr/>
        </p:nvCxnSpPr>
        <p:spPr>
          <a:xfrm>
            <a:off x="196596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84708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4" name="Connector 33"/>
          <p:cNvCxnSpPr/>
          <p:nvPr/>
        </p:nvCxnSpPr>
        <p:spPr>
          <a:xfrm flipH="1">
            <a:off x="7955279" y="3794760"/>
            <a:ext cx="777241" cy="521208"/>
          </a:xfrm>
          <a:prstGeom prst="line">
            <a:avLst/>
          </a:prstGeom>
          <a:ln w="25400">
            <a:solidFill>
              <a:srgbClr val="3D6E70"/>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8119872" y="394106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a:t>
            </a:r>
          </a:p>
        </p:txBody>
      </p:sp>
      <p:cxnSp>
        <p:nvCxnSpPr>
          <p:cNvPr id="36" name="Connector 35"/>
          <p:cNvCxnSpPr/>
          <p:nvPr/>
        </p:nvCxnSpPr>
        <p:spPr>
          <a:xfrm flipH="1">
            <a:off x="2926080" y="4636008"/>
            <a:ext cx="2697480" cy="155448"/>
          </a:xfrm>
          <a:prstGeom prst="line">
            <a:avLst/>
          </a:prstGeom>
          <a:ln w="25400">
            <a:solidFill>
              <a:srgbClr val="6B6B6B"/>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4096512" y="455828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8b</a:t>
            </a:r>
          </a:p>
        </p:txBody>
      </p:sp>
      <p:cxnSp>
        <p:nvCxnSpPr>
          <p:cNvPr id="38" name="Connector 37"/>
          <p:cNvCxnSpPr/>
          <p:nvPr/>
        </p:nvCxnSpPr>
        <p:spPr>
          <a:xfrm flipV="1">
            <a:off x="265176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253288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9</a:t>
            </a:r>
          </a:p>
        </p:txBody>
      </p:sp>
      <p:cxnSp>
        <p:nvCxnSpPr>
          <p:cNvPr id="40" name="Connector 39"/>
          <p:cNvCxnSpPr/>
          <p:nvPr/>
        </p:nvCxnSpPr>
        <p:spPr>
          <a:xfrm>
            <a:off x="1005840" y="3931920"/>
            <a:ext cx="0" cy="41148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649224" y="3977639"/>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10</a:t>
            </a:r>
          </a:p>
        </p:txBody>
      </p:sp>
      <p:sp>
        <p:nvSpPr>
          <p:cNvPr id="42" name="Rounded Rectangle 41"/>
          <p:cNvSpPr/>
          <p:nvPr/>
        </p:nvSpPr>
        <p:spPr>
          <a:xfrm>
            <a:off x="365760" y="5303520"/>
            <a:ext cx="11430000" cy="1234440"/>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376672"/>
            <a:ext cx="5486400" cy="1115568"/>
          </a:xfrm>
          <a:prstGeom prst="rect">
            <a:avLst/>
          </a:prstGeom>
          <a:noFill/>
        </p:spPr>
        <p:txBody>
          <a:bodyPr wrap="square">
            <a:spAutoFit/>
          </a:bodyPr>
          <a:lstStyle/>
          <a:p>
            <a:pPr>
              <a:spcAft>
                <a:spcPts val="0"/>
              </a:spcAft>
            </a:pPr>
            <a:r>
              <a:rPr sz="1050" b="0" i="0">
                <a:solidFill>
                  <a:srgbClr val="1F2A37"/>
                </a:solidFill>
                <a:latin typeface="Calibri"/>
              </a:rPr>
              <a:t>1  Client logs in to Keycloak (ROPC) → caller JWT</a:t>
            </a:r>
          </a:p>
          <a:p>
            <a:pPr>
              <a:spcAft>
                <a:spcPts val="0"/>
              </a:spcAft>
            </a:pPr>
            <a:r>
              <a:rPr sz="1050" b="0" i="0">
                <a:solidFill>
                  <a:srgbClr val="1F2A37"/>
                </a:solidFill>
                <a:latin typeface="Calibri"/>
              </a:rPr>
              <a:t>2  Client → Service:  Authorization: Bearer &lt;caller JWT&gt;</a:t>
            </a:r>
          </a:p>
          <a:p>
            <a:pPr>
              <a:spcAft>
                <a:spcPts val="0"/>
              </a:spcAft>
            </a:pPr>
            <a:r>
              <a:rPr sz="1050" b="0" i="0">
                <a:solidFill>
                  <a:srgbClr val="1F2A37"/>
                </a:solidFill>
                <a:latin typeface="Calibri"/>
              </a:rPr>
              <a:t>3  Service validates JWT (JWKS) + mints its own</a:t>
            </a:r>
          </a:p>
          <a:p>
            <a:pPr>
              <a:spcAft>
                <a:spcPts val="0"/>
              </a:spcAft>
            </a:pPr>
            <a:r>
              <a:rPr sz="1050" b="0" i="0">
                <a:solidFill>
                  <a:srgbClr val="1F2A37"/>
                </a:solidFill>
                <a:latin typeface="Calibri"/>
              </a:rPr>
              <a:t>      benchmarker token (ROPC, via backchannel)</a:t>
            </a:r>
          </a:p>
          <a:p>
            <a:pPr>
              <a:spcAft>
                <a:spcPts val="0"/>
              </a:spcAft>
            </a:pPr>
            <a:r>
              <a:rPr sz="1050" b="0" i="0">
                <a:solidFill>
                  <a:srgbClr val="1F2A37"/>
                </a:solidFill>
                <a:latin typeface="Calibri"/>
              </a:rPr>
              <a:t>4  Service → Rossoctl: deploy / list agents + tools</a:t>
            </a:r>
          </a:p>
          <a:p>
            <a:pPr>
              <a:spcAft>
                <a:spcPts val="0"/>
              </a:spcAft>
            </a:pPr>
            <a:r>
              <a:rPr sz="1050" b="0" i="0">
                <a:solidFill>
                  <a:srgbClr val="1F2A37"/>
                </a:solidFill>
                <a:latin typeface="Calibri"/>
              </a:rPr>
              <a:t>5  Rossoctl creates the MCP tool + A2A agent in-cluster</a:t>
            </a:r>
          </a:p>
        </p:txBody>
      </p:sp>
      <p:sp>
        <p:nvSpPr>
          <p:cNvPr id="44" name="TextBox 43"/>
          <p:cNvSpPr txBox="1"/>
          <p:nvPr/>
        </p:nvSpPr>
        <p:spPr>
          <a:xfrm>
            <a:off x="6126480" y="5376672"/>
            <a:ext cx="5486400" cy="1115568"/>
          </a:xfrm>
          <a:prstGeom prst="rect">
            <a:avLst/>
          </a:prstGeom>
          <a:noFill/>
        </p:spPr>
        <p:txBody>
          <a:bodyPr wrap="square">
            <a:spAutoFit/>
          </a:bodyPr>
          <a:lstStyle/>
          <a:p>
            <a:pPr>
              <a:spcAft>
                <a:spcPts val="0"/>
              </a:spcAft>
            </a:pPr>
            <a:r>
              <a:rPr sz="1050" b="0" i="0">
                <a:solidFill>
                  <a:srgbClr val="1F2A37"/>
                </a:solidFill>
                <a:latin typeface="Calibri"/>
              </a:rPr>
              <a:t>6  Service drives the MCP session + the A2A call itself;</a:t>
            </a:r>
          </a:p>
          <a:p>
            <a:pPr>
              <a:spcAft>
                <a:spcPts val="0"/>
              </a:spcAft>
            </a:pPr>
            <a:r>
              <a:rPr sz="1050" b="0" i="0">
                <a:solidFill>
                  <a:srgbClr val="1F2A37"/>
                </a:solidFill>
                <a:latin typeface="Calibri"/>
              </a:rPr>
              <a:t>      the agent only issues execute_tool inside that session</a:t>
            </a:r>
          </a:p>
          <a:p>
            <a:pPr>
              <a:spcAft>
                <a:spcPts val="0"/>
              </a:spcAft>
            </a:pPr>
            <a:r>
              <a:rPr sz="1050" b="0" i="0">
                <a:solidFill>
                  <a:srgbClr val="1F2A37"/>
                </a:solidFill>
                <a:latin typeface="Calibri"/>
              </a:rPr>
              <a:t>7  Service emits the Agent.Session trace → MLflow (first)</a:t>
            </a:r>
          </a:p>
          <a:p>
            <a:pPr>
              <a:spcAft>
                <a:spcPts val="0"/>
              </a:spcAft>
            </a:pPr>
            <a:r>
              <a:rPr sz="1050" b="0" i="0">
                <a:solidFill>
                  <a:srgbClr val="1F2A37"/>
                </a:solidFill>
                <a:latin typeface="Calibri"/>
              </a:rPr>
              <a:t>8a A2A agent → OTEL collector   ·   8b collector → MLflow</a:t>
            </a:r>
          </a:p>
          <a:p>
            <a:pPr>
              <a:spcAft>
                <a:spcPts val="0"/>
              </a:spcAft>
            </a:pPr>
            <a:r>
              <a:rPr sz="1050" b="0" i="0">
                <a:solidFill>
                  <a:srgbClr val="1F2A37"/>
                </a:solidFill>
                <a:latin typeface="Calibri"/>
              </a:rPr>
              <a:t>      (optional workload spans — off by default)</a:t>
            </a:r>
          </a:p>
          <a:p>
            <a:pPr>
              <a:spcAft>
                <a:spcPts val="0"/>
              </a:spcAft>
            </a:pPr>
            <a:r>
              <a:rPr sz="1050" b="0" i="0">
                <a:solidFill>
                  <a:srgbClr val="1F2A37"/>
                </a:solidFill>
                <a:latin typeface="Calibri"/>
              </a:rPr>
              <a:t>9  Service reads back Agent.Session traces (MLflow)</a:t>
            </a:r>
          </a:p>
          <a:p>
            <a:pPr>
              <a:spcAft>
                <a:spcPts val="0"/>
              </a:spcAft>
            </a:pPr>
            <a:r>
              <a:rPr sz="1050" b="0" i="0">
                <a:solidFill>
                  <a:srgbClr val="1F2A37"/>
                </a:solidFill>
                <a:latin typeface="Calibri"/>
              </a:rPr>
              <a:t>10  Service exports run.json / report.* (S3)</a:t>
            </a:r>
          </a:p>
        </p:txBody>
      </p:sp>
      <p:sp>
        <p:nvSpPr>
          <p:cNvPr id="45" name="TextBox 4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4.1 Architecture with Workload Specific Component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4.1  Architecture with Workload Specific Components</a:t>
            </a:r>
          </a:p>
          <a:p>
            <a:r>
              <a:rPr sz="1400" b="0" i="0">
                <a:solidFill>
                  <a:srgbClr val="C9D9EC"/>
                </a:solidFill>
                <a:latin typeface="Calibri"/>
              </a:rPr>
              <a:t>Inside the Benchmark Workload — what every benchmark has, and what only some of them add</a:t>
            </a:r>
          </a:p>
        </p:txBody>
      </p:sp>
      <p:sp>
        <p:nvSpPr>
          <p:cNvPr id="3" name="Rounded Rectangle 2"/>
          <p:cNvSpPr/>
          <p:nvPr/>
        </p:nvSpPr>
        <p:spPr>
          <a:xfrm>
            <a:off x="411480" y="1097280"/>
            <a:ext cx="11338560" cy="54864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LLM gateway (per instance)   ·   ete-litellm   ·   external for OCP / internal vpc-int for KinD</a:t>
            </a:r>
          </a:p>
        </p:txBody>
      </p:sp>
      <p:sp>
        <p:nvSpPr>
          <p:cNvPr id="4" name="Rounded Rectangle 3"/>
          <p:cNvSpPr/>
          <p:nvPr/>
        </p:nvSpPr>
        <p:spPr>
          <a:xfrm>
            <a:off x="411480" y="2148840"/>
            <a:ext cx="1920240" cy="685800"/>
          </a:xfrm>
          <a:prstGeom prst="roundRect">
            <a:avLst/>
          </a:prstGeom>
          <a:solidFill>
            <a:srgbClr val="B55A2E"/>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i="0">
                <a:solidFill>
                  <a:srgbClr val="FFFFFF"/>
                </a:solidFill>
                <a:latin typeface="Calibri"/>
              </a:rPr>
              <a:t>IBAC judge</a:t>
            </a:r>
          </a:p>
          <a:p>
            <a:pPr algn="ctr"/>
            <a:r>
              <a:rPr sz="850" b="0" i="0">
                <a:solidFill>
                  <a:srgbClr val="FBEEE4"/>
                </a:solidFill>
                <a:latin typeface="Calibri"/>
              </a:rPr>
              <a:t>an LLM call</a:t>
            </a:r>
          </a:p>
        </p:txBody>
      </p:sp>
      <p:sp>
        <p:nvSpPr>
          <p:cNvPr id="5" name="Rounded Rectangle 4"/>
          <p:cNvSpPr/>
          <p:nvPr/>
        </p:nvSpPr>
        <p:spPr>
          <a:xfrm>
            <a:off x="411480" y="3063240"/>
            <a:ext cx="1920240" cy="777240"/>
          </a:xfrm>
          <a:prstGeom prst="round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FFFFFF"/>
                </a:solidFill>
                <a:latin typeface="Calibri"/>
              </a:rPr>
              <a:t>AutoBench Service</a:t>
            </a:r>
          </a:p>
        </p:txBody>
      </p:sp>
      <p:sp>
        <p:nvSpPr>
          <p:cNvPr id="6" name="Rounded Rectangle 5"/>
          <p:cNvSpPr/>
          <p:nvPr/>
        </p:nvSpPr>
        <p:spPr>
          <a:xfrm>
            <a:off x="2487168" y="1783080"/>
            <a:ext cx="9262872" cy="3017520"/>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51760" y="4553712"/>
            <a:ext cx="8869680" cy="201168"/>
          </a:xfrm>
          <a:prstGeom prst="rect">
            <a:avLst/>
          </a:prstGeom>
          <a:noFill/>
        </p:spPr>
        <p:txBody>
          <a:bodyPr wrap="square" anchor="t">
            <a:spAutoFit/>
          </a:bodyPr>
          <a:lstStyle/>
          <a:p>
            <a:pPr algn="l">
              <a:spcAft>
                <a:spcPts val="300"/>
              </a:spcAft>
            </a:pPr>
            <a:r>
              <a:rPr sz="1100" b="1" i="0">
                <a:solidFill>
                  <a:srgbClr val="1B3A5C"/>
                </a:solidFill>
                <a:latin typeface="Calibri"/>
              </a:rPr>
              <a:t>Benchmark Workload — one per benchmark, namespace team1</a:t>
            </a:r>
          </a:p>
        </p:txBody>
      </p:sp>
      <p:sp>
        <p:nvSpPr>
          <p:cNvPr id="8" name="Rounded Rectangle 7"/>
          <p:cNvSpPr/>
          <p:nvPr/>
        </p:nvSpPr>
        <p:spPr>
          <a:xfrm>
            <a:off x="2743200" y="2103120"/>
            <a:ext cx="4160520" cy="219456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52928" y="2121408"/>
            <a:ext cx="3931920" cy="219456"/>
          </a:xfrm>
          <a:prstGeom prst="rect">
            <a:avLst/>
          </a:prstGeom>
          <a:noFill/>
        </p:spPr>
        <p:txBody>
          <a:bodyPr wrap="square" anchor="t">
            <a:spAutoFit/>
          </a:bodyPr>
          <a:lstStyle/>
          <a:p>
            <a:pPr algn="l">
              <a:spcAft>
                <a:spcPts val="300"/>
              </a:spcAft>
            </a:pPr>
            <a:r>
              <a:rPr sz="1100" b="1" i="0">
                <a:solidFill>
                  <a:srgbClr val="3D6E70"/>
                </a:solidFill>
                <a:latin typeface="Calibri"/>
              </a:rPr>
              <a:t>A2A agent pod</a:t>
            </a:r>
          </a:p>
        </p:txBody>
      </p:sp>
      <p:sp>
        <p:nvSpPr>
          <p:cNvPr id="10" name="Rounded Rectangle 9"/>
          <p:cNvSpPr/>
          <p:nvPr/>
        </p:nvSpPr>
        <p:spPr>
          <a:xfrm>
            <a:off x="2852928" y="2359152"/>
            <a:ext cx="3941063"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agent container</a:t>
            </a:r>
          </a:p>
          <a:p>
            <a:pPr algn="ctr"/>
            <a:r>
              <a:rPr sz="900" b="0" i="0">
                <a:solidFill>
                  <a:srgbClr val="E4F0F0"/>
                </a:solidFill>
                <a:latin typeface="Calibri"/>
              </a:rPr>
              <a:t>exgentic-a2a-tool_calling-&lt;b&gt;  ·  the LLM loop</a:t>
            </a:r>
          </a:p>
        </p:txBody>
      </p:sp>
      <p:sp>
        <p:nvSpPr>
          <p:cNvPr id="11" name="Rounded Rectangle 10"/>
          <p:cNvSpPr/>
          <p:nvPr/>
        </p:nvSpPr>
        <p:spPr>
          <a:xfrm>
            <a:off x="2852928" y="3383280"/>
            <a:ext cx="3941063" cy="731520"/>
          </a:xfrm>
          <a:prstGeom prst="roundRect">
            <a:avLst/>
          </a:prstGeom>
          <a:solidFill>
            <a:srgbClr val="8E44AD"/>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AuthBridge sidecar</a:t>
            </a:r>
          </a:p>
          <a:p>
            <a:pPr algn="ctr"/>
            <a:r>
              <a:rPr sz="900" b="0" i="0">
                <a:solidFill>
                  <a:srgbClr val="F1E8F6"/>
                </a:solidFill>
                <a:latin typeface="Calibri"/>
              </a:rPr>
              <a:t>proxy  ·  only with --plugin-preset</a:t>
            </a:r>
          </a:p>
        </p:txBody>
      </p:sp>
      <p:sp>
        <p:nvSpPr>
          <p:cNvPr id="12" name="Rounded Rectangle 11"/>
          <p:cNvSpPr/>
          <p:nvPr/>
        </p:nvSpPr>
        <p:spPr>
          <a:xfrm>
            <a:off x="7498079" y="2103120"/>
            <a:ext cx="4114800" cy="219456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07808" y="2121408"/>
            <a:ext cx="3840480" cy="219456"/>
          </a:xfrm>
          <a:prstGeom prst="rect">
            <a:avLst/>
          </a:prstGeom>
          <a:noFill/>
        </p:spPr>
        <p:txBody>
          <a:bodyPr wrap="square" anchor="t">
            <a:spAutoFit/>
          </a:bodyPr>
          <a:lstStyle/>
          <a:p>
            <a:pPr algn="l">
              <a:spcAft>
                <a:spcPts val="300"/>
              </a:spcAft>
            </a:pPr>
            <a:r>
              <a:rPr sz="1100" b="1" i="0">
                <a:solidFill>
                  <a:srgbClr val="3D6E70"/>
                </a:solidFill>
                <a:latin typeface="Calibri"/>
              </a:rPr>
              <a:t>MCP tool pod</a:t>
            </a:r>
          </a:p>
        </p:txBody>
      </p:sp>
      <p:sp>
        <p:nvSpPr>
          <p:cNvPr id="14" name="Rounded Rectangle 13"/>
          <p:cNvSpPr/>
          <p:nvPr/>
        </p:nvSpPr>
        <p:spPr>
          <a:xfrm>
            <a:off x="7607808" y="2359152"/>
            <a:ext cx="3895344" cy="731520"/>
          </a:xfrm>
          <a:prstGeom prst="roundRect">
            <a:avLst/>
          </a:prstGeom>
          <a:solidFill>
            <a:srgbClr val="3D6E70"/>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user simulator LLM</a:t>
            </a:r>
          </a:p>
          <a:p>
            <a:pPr algn="ctr"/>
            <a:r>
              <a:rPr sz="900" b="0" i="0">
                <a:solidFill>
                  <a:srgbClr val="E4F0F0"/>
                </a:solidFill>
                <a:latin typeface="Calibri"/>
              </a:rPr>
              <a:t>tau2 only  ·  plays the customer</a:t>
            </a:r>
          </a:p>
        </p:txBody>
      </p:sp>
      <p:sp>
        <p:nvSpPr>
          <p:cNvPr id="15" name="Rounded Rectangle 14"/>
          <p:cNvSpPr/>
          <p:nvPr/>
        </p:nvSpPr>
        <p:spPr>
          <a:xfrm>
            <a:off x="7607808" y="3383280"/>
            <a:ext cx="3895344"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MCP server</a:t>
            </a:r>
          </a:p>
          <a:p>
            <a:pPr algn="ctr"/>
            <a:r>
              <a:rPr sz="900" b="0" i="0">
                <a:solidFill>
                  <a:srgbClr val="E4F0F0"/>
                </a:solidFill>
                <a:latin typeface="Calibri"/>
              </a:rPr>
              <a:t>exgentic-mcp-&lt;benchmark&gt;  ·  tasks + evaluation</a:t>
            </a:r>
          </a:p>
        </p:txBody>
      </p:sp>
      <p:cxnSp>
        <p:nvCxnSpPr>
          <p:cNvPr id="16" name="Connector 15"/>
          <p:cNvCxnSpPr/>
          <p:nvPr/>
        </p:nvCxnSpPr>
        <p:spPr>
          <a:xfrm flipV="1">
            <a:off x="2331720" y="2852928"/>
            <a:ext cx="521208" cy="274320"/>
          </a:xfrm>
          <a:prstGeom prst="line">
            <a:avLst/>
          </a:prstGeom>
          <a:ln w="25400">
            <a:solidFill>
              <a:srgbClr val="2E6FB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2478024" y="287121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18" name="Connector 17"/>
          <p:cNvCxnSpPr/>
          <p:nvPr/>
        </p:nvCxnSpPr>
        <p:spPr>
          <a:xfrm>
            <a:off x="1371600" y="3840480"/>
            <a:ext cx="0" cy="566928"/>
          </a:xfrm>
          <a:prstGeom prst="line">
            <a:avLst/>
          </a:prstGeom>
          <a:ln w="25400">
            <a:solidFill>
              <a:srgbClr val="2E6FB5"/>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371600" y="4407408"/>
            <a:ext cx="6949440" cy="0"/>
          </a:xfrm>
          <a:prstGeom prst="line">
            <a:avLst/>
          </a:prstGeom>
          <a:ln w="25400">
            <a:solidFill>
              <a:srgbClr val="2E6FB5"/>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8321040" y="4114800"/>
            <a:ext cx="0" cy="292608"/>
          </a:xfrm>
          <a:prstGeom prst="line">
            <a:avLst/>
          </a:prstGeom>
          <a:ln w="25400">
            <a:solidFill>
              <a:srgbClr val="2E6FB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5367528" y="428853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22" name="Connector 21"/>
          <p:cNvCxnSpPr/>
          <p:nvPr/>
        </p:nvCxnSpPr>
        <p:spPr>
          <a:xfrm flipV="1">
            <a:off x="4800600" y="1645920"/>
            <a:ext cx="0" cy="713232"/>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681728" y="18288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4" name="Connector 23"/>
          <p:cNvCxnSpPr/>
          <p:nvPr/>
        </p:nvCxnSpPr>
        <p:spPr>
          <a:xfrm flipV="1">
            <a:off x="9555480" y="1645920"/>
            <a:ext cx="0" cy="713232"/>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9436608" y="18288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6" name="Connector 25"/>
          <p:cNvCxnSpPr/>
          <p:nvPr/>
        </p:nvCxnSpPr>
        <p:spPr>
          <a:xfrm>
            <a:off x="4800600" y="3090672"/>
            <a:ext cx="0" cy="292608"/>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020056" y="3118104"/>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8" name="Connector 27"/>
          <p:cNvCxnSpPr/>
          <p:nvPr/>
        </p:nvCxnSpPr>
        <p:spPr>
          <a:xfrm>
            <a:off x="6793992" y="3749039"/>
            <a:ext cx="813816"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086600" y="3630167"/>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t>
            </a:r>
          </a:p>
        </p:txBody>
      </p:sp>
      <p:cxnSp>
        <p:nvCxnSpPr>
          <p:cNvPr id="30" name="Connector 29"/>
          <p:cNvCxnSpPr/>
          <p:nvPr/>
        </p:nvCxnSpPr>
        <p:spPr>
          <a:xfrm flipH="1" flipV="1">
            <a:off x="2331720" y="2697480"/>
            <a:ext cx="521208" cy="914400"/>
          </a:xfrm>
          <a:prstGeom prst="line">
            <a:avLst/>
          </a:prstGeom>
          <a:ln w="25400">
            <a:solidFill>
              <a:srgbClr val="B55A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2578608" y="32004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2" name="Connector 31"/>
          <p:cNvCxnSpPr/>
          <p:nvPr/>
        </p:nvCxnSpPr>
        <p:spPr>
          <a:xfrm flipV="1">
            <a:off x="1371600" y="1645920"/>
            <a:ext cx="0" cy="502920"/>
          </a:xfrm>
          <a:prstGeom prst="line">
            <a:avLst/>
          </a:prstGeom>
          <a:ln w="25400">
            <a:solidFill>
              <a:srgbClr val="B55A2E"/>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252728" y="17830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t>
            </a:r>
          </a:p>
        </p:txBody>
      </p:sp>
      <p:sp>
        <p:nvSpPr>
          <p:cNvPr id="34" name="Rounded Rectangle 33"/>
          <p:cNvSpPr/>
          <p:nvPr/>
        </p:nvSpPr>
        <p:spPr>
          <a:xfrm>
            <a:off x="411480" y="4937760"/>
            <a:ext cx="6720840" cy="1719072"/>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4992624"/>
            <a:ext cx="6400800" cy="256032"/>
          </a:xfrm>
          <a:prstGeom prst="rect">
            <a:avLst/>
          </a:prstGeom>
          <a:noFill/>
        </p:spPr>
        <p:txBody>
          <a:bodyPr wrap="square" anchor="t">
            <a:spAutoFit/>
          </a:bodyPr>
          <a:lstStyle/>
          <a:p>
            <a:pPr algn="l">
              <a:spcAft>
                <a:spcPts val="300"/>
              </a:spcAft>
            </a:pPr>
            <a:r>
              <a:rPr sz="1150" b="1" i="0">
                <a:solidFill>
                  <a:srgbClr val="1B3A5C"/>
                </a:solidFill>
                <a:latin typeface="Calibri"/>
              </a:rPr>
              <a:t>Which components a benchmark actually gets</a:t>
            </a:r>
          </a:p>
        </p:txBody>
      </p:sp>
      <p:sp>
        <p:nvSpPr>
          <p:cNvPr id="36" name="TextBox 35"/>
          <p:cNvSpPr txBox="1"/>
          <p:nvPr/>
        </p:nvSpPr>
        <p:spPr>
          <a:xfrm>
            <a:off x="566928" y="5303520"/>
            <a:ext cx="1051560" cy="256032"/>
          </a:xfrm>
          <a:prstGeom prst="rect">
            <a:avLst/>
          </a:prstGeom>
          <a:noFill/>
        </p:spPr>
        <p:txBody>
          <a:bodyPr wrap="square" anchor="t">
            <a:spAutoFit/>
          </a:bodyPr>
          <a:lstStyle/>
          <a:p>
            <a:pPr algn="l">
              <a:spcAft>
                <a:spcPts val="300"/>
              </a:spcAft>
            </a:pPr>
            <a:r>
              <a:rPr sz="1000" b="1" i="0">
                <a:solidFill>
                  <a:srgbClr val="1B3A5C"/>
                </a:solidFill>
                <a:latin typeface="Calibri"/>
              </a:rPr>
              <a:t>benchmark</a:t>
            </a:r>
          </a:p>
        </p:txBody>
      </p:sp>
      <p:sp>
        <p:nvSpPr>
          <p:cNvPr id="37" name="TextBox 36"/>
          <p:cNvSpPr txBox="1"/>
          <p:nvPr/>
        </p:nvSpPr>
        <p:spPr>
          <a:xfrm>
            <a:off x="1645920" y="5303520"/>
            <a:ext cx="2286000" cy="256032"/>
          </a:xfrm>
          <a:prstGeom prst="rect">
            <a:avLst/>
          </a:prstGeom>
          <a:noFill/>
        </p:spPr>
        <p:txBody>
          <a:bodyPr wrap="square" anchor="t">
            <a:spAutoFit/>
          </a:bodyPr>
          <a:lstStyle/>
          <a:p>
            <a:pPr algn="l">
              <a:spcAft>
                <a:spcPts val="300"/>
              </a:spcAft>
            </a:pPr>
            <a:r>
              <a:rPr sz="1000" b="1" i="0">
                <a:solidFill>
                  <a:srgbClr val="1B3A5C"/>
                </a:solidFill>
                <a:latin typeface="Calibri"/>
              </a:rPr>
              <a:t>MCP tool image</a:t>
            </a:r>
          </a:p>
        </p:txBody>
      </p:sp>
      <p:sp>
        <p:nvSpPr>
          <p:cNvPr id="38" name="TextBox 37"/>
          <p:cNvSpPr txBox="1"/>
          <p:nvPr/>
        </p:nvSpPr>
        <p:spPr>
          <a:xfrm>
            <a:off x="3977639" y="5303520"/>
            <a:ext cx="1965960" cy="256032"/>
          </a:xfrm>
          <a:prstGeom prst="rect">
            <a:avLst/>
          </a:prstGeom>
          <a:noFill/>
        </p:spPr>
        <p:txBody>
          <a:bodyPr wrap="square" anchor="t">
            <a:spAutoFit/>
          </a:bodyPr>
          <a:lstStyle/>
          <a:p>
            <a:pPr algn="l">
              <a:spcAft>
                <a:spcPts val="300"/>
              </a:spcAft>
            </a:pPr>
            <a:r>
              <a:rPr sz="1000" b="1" i="0">
                <a:solidFill>
                  <a:srgbClr val="1B3A5C"/>
                </a:solidFill>
                <a:latin typeface="Calibri"/>
              </a:rPr>
              <a:t>LLMs per task</a:t>
            </a:r>
          </a:p>
        </p:txBody>
      </p:sp>
      <p:sp>
        <p:nvSpPr>
          <p:cNvPr id="39" name="TextBox 38"/>
          <p:cNvSpPr txBox="1"/>
          <p:nvPr/>
        </p:nvSpPr>
        <p:spPr>
          <a:xfrm>
            <a:off x="5989320" y="5303520"/>
            <a:ext cx="1051560" cy="256032"/>
          </a:xfrm>
          <a:prstGeom prst="rect">
            <a:avLst/>
          </a:prstGeom>
          <a:noFill/>
        </p:spPr>
        <p:txBody>
          <a:bodyPr wrap="square" anchor="t">
            <a:spAutoFit/>
          </a:bodyPr>
          <a:lstStyle/>
          <a:p>
            <a:pPr algn="l">
              <a:spcAft>
                <a:spcPts val="300"/>
              </a:spcAft>
            </a:pPr>
            <a:r>
              <a:rPr sz="1000" b="1" i="0">
                <a:solidFill>
                  <a:srgbClr val="1B3A5C"/>
                </a:solidFill>
                <a:latin typeface="Calibri"/>
              </a:rPr>
              <a:t>tool calls</a:t>
            </a:r>
          </a:p>
        </p:txBody>
      </p:sp>
      <p:sp>
        <p:nvSpPr>
          <p:cNvPr id="40" name="TextBox 39"/>
          <p:cNvSpPr txBox="1"/>
          <p:nvPr/>
        </p:nvSpPr>
        <p:spPr>
          <a:xfrm>
            <a:off x="566928" y="5550408"/>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gsm8k</a:t>
            </a:r>
          </a:p>
        </p:txBody>
      </p:sp>
      <p:sp>
        <p:nvSpPr>
          <p:cNvPr id="41" name="TextBox 40"/>
          <p:cNvSpPr txBox="1"/>
          <p:nvPr/>
        </p:nvSpPr>
        <p:spPr>
          <a:xfrm>
            <a:off x="1645920" y="5550408"/>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exgentic-mcp-gsm8k</a:t>
            </a:r>
          </a:p>
        </p:txBody>
      </p:sp>
      <p:sp>
        <p:nvSpPr>
          <p:cNvPr id="42" name="TextBox 41"/>
          <p:cNvSpPr txBox="1"/>
          <p:nvPr/>
        </p:nvSpPr>
        <p:spPr>
          <a:xfrm>
            <a:off x="3977639" y="5550408"/>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(agent)</a:t>
            </a:r>
          </a:p>
        </p:txBody>
      </p:sp>
      <p:sp>
        <p:nvSpPr>
          <p:cNvPr id="43" name="TextBox 42"/>
          <p:cNvSpPr txBox="1"/>
          <p:nvPr/>
        </p:nvSpPr>
        <p:spPr>
          <a:xfrm>
            <a:off x="5989320" y="5550408"/>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a:t>
            </a:r>
          </a:p>
        </p:txBody>
      </p:sp>
      <p:sp>
        <p:nvSpPr>
          <p:cNvPr id="44" name="TextBox 43"/>
          <p:cNvSpPr txBox="1"/>
          <p:nvPr/>
        </p:nvSpPr>
        <p:spPr>
          <a:xfrm>
            <a:off x="566928" y="5797296"/>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tau2</a:t>
            </a:r>
          </a:p>
        </p:txBody>
      </p:sp>
      <p:sp>
        <p:nvSpPr>
          <p:cNvPr id="45" name="TextBox 44"/>
          <p:cNvSpPr txBox="1"/>
          <p:nvPr/>
        </p:nvSpPr>
        <p:spPr>
          <a:xfrm>
            <a:off x="1645920" y="5797296"/>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exgentic-mcp-tau2</a:t>
            </a:r>
          </a:p>
        </p:txBody>
      </p:sp>
      <p:sp>
        <p:nvSpPr>
          <p:cNvPr id="46" name="TextBox 45"/>
          <p:cNvSpPr txBox="1"/>
          <p:nvPr/>
        </p:nvSpPr>
        <p:spPr>
          <a:xfrm>
            <a:off x="3977639" y="5797296"/>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2  (+ user simulator)</a:t>
            </a:r>
          </a:p>
        </p:txBody>
      </p:sp>
      <p:sp>
        <p:nvSpPr>
          <p:cNvPr id="47" name="TextBox 46"/>
          <p:cNvSpPr txBox="1"/>
          <p:nvPr/>
        </p:nvSpPr>
        <p:spPr>
          <a:xfrm>
            <a:off x="5989320" y="5797296"/>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~11</a:t>
            </a:r>
          </a:p>
        </p:txBody>
      </p:sp>
      <p:sp>
        <p:nvSpPr>
          <p:cNvPr id="48" name="TextBox 47"/>
          <p:cNvSpPr txBox="1"/>
          <p:nvPr/>
        </p:nvSpPr>
        <p:spPr>
          <a:xfrm>
            <a:off x="566928" y="6044184"/>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appworld</a:t>
            </a:r>
          </a:p>
        </p:txBody>
      </p:sp>
      <p:sp>
        <p:nvSpPr>
          <p:cNvPr id="49" name="TextBox 48"/>
          <p:cNvSpPr txBox="1"/>
          <p:nvPr/>
        </p:nvSpPr>
        <p:spPr>
          <a:xfrm>
            <a:off x="1645920" y="6044184"/>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exgentic-mcp-appworld</a:t>
            </a:r>
          </a:p>
        </p:txBody>
      </p:sp>
      <p:sp>
        <p:nvSpPr>
          <p:cNvPr id="50" name="TextBox 49"/>
          <p:cNvSpPr txBox="1"/>
          <p:nvPr/>
        </p:nvSpPr>
        <p:spPr>
          <a:xfrm>
            <a:off x="3977639" y="6044184"/>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(agent)</a:t>
            </a:r>
          </a:p>
        </p:txBody>
      </p:sp>
      <p:sp>
        <p:nvSpPr>
          <p:cNvPr id="51" name="TextBox 50"/>
          <p:cNvSpPr txBox="1"/>
          <p:nvPr/>
        </p:nvSpPr>
        <p:spPr>
          <a:xfrm>
            <a:off x="5989320" y="6044184"/>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~15</a:t>
            </a:r>
          </a:p>
        </p:txBody>
      </p:sp>
      <p:sp>
        <p:nvSpPr>
          <p:cNvPr id="52" name="TextBox 51"/>
          <p:cNvSpPr txBox="1"/>
          <p:nvPr/>
        </p:nvSpPr>
        <p:spPr>
          <a:xfrm>
            <a:off x="566928" y="6291072"/>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 any preset</a:t>
            </a:r>
          </a:p>
        </p:txBody>
      </p:sp>
      <p:sp>
        <p:nvSpPr>
          <p:cNvPr id="53" name="TextBox 52"/>
          <p:cNvSpPr txBox="1"/>
          <p:nvPr/>
        </p:nvSpPr>
        <p:spPr>
          <a:xfrm>
            <a:off x="1645920" y="6291072"/>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unchanged</a:t>
            </a:r>
          </a:p>
        </p:txBody>
      </p:sp>
      <p:sp>
        <p:nvSpPr>
          <p:cNvPr id="54" name="TextBox 53"/>
          <p:cNvSpPr txBox="1"/>
          <p:nvPr/>
        </p:nvSpPr>
        <p:spPr>
          <a:xfrm>
            <a:off x="3977639" y="6291072"/>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IBAC judge call per action</a:t>
            </a:r>
          </a:p>
        </p:txBody>
      </p:sp>
      <p:sp>
        <p:nvSpPr>
          <p:cNvPr id="55" name="TextBox 54"/>
          <p:cNvSpPr txBox="1"/>
          <p:nvPr/>
        </p:nvSpPr>
        <p:spPr>
          <a:xfrm>
            <a:off x="5989320" y="6291072"/>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a:t>
            </a:r>
          </a:p>
        </p:txBody>
      </p:sp>
      <p:sp>
        <p:nvSpPr>
          <p:cNvPr id="56" name="Rounded Rectangle 55"/>
          <p:cNvSpPr/>
          <p:nvPr/>
        </p:nvSpPr>
        <p:spPr>
          <a:xfrm>
            <a:off x="7360920" y="4937760"/>
            <a:ext cx="4389120" cy="1719072"/>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16368" y="4992624"/>
            <a:ext cx="4114800" cy="1645920"/>
          </a:xfrm>
          <a:prstGeom prst="rect">
            <a:avLst/>
          </a:prstGeom>
          <a:noFill/>
        </p:spPr>
        <p:txBody>
          <a:bodyPr wrap="square">
            <a:spAutoFit/>
          </a:bodyPr>
          <a:lstStyle/>
          <a:p>
            <a:pPr>
              <a:spcAft>
                <a:spcPts val="0"/>
              </a:spcAft>
            </a:pPr>
            <a:r>
              <a:rPr sz="950" b="0" i="0">
                <a:solidFill>
                  <a:srgbClr val="1F2A37"/>
                </a:solidFill>
                <a:latin typeface="Calibri"/>
              </a:rPr>
              <a:t>1  Service → agent:  send_prompt, once per task</a:t>
            </a:r>
          </a:p>
          <a:p>
            <a:pPr>
              <a:spcAft>
                <a:spcPts val="0"/>
              </a:spcAft>
            </a:pPr>
            <a:r>
              <a:rPr sz="950" b="0" i="0">
                <a:solidFill>
                  <a:srgbClr val="1F2A37"/>
                </a:solidFill>
                <a:latin typeface="Calibri"/>
              </a:rPr>
              <a:t>2  Service → MCP server:  list_tasks, create_session,</a:t>
            </a:r>
          </a:p>
          <a:p>
            <a:pPr>
              <a:spcAft>
                <a:spcPts val="0"/>
              </a:spcAft>
            </a:pPr>
            <a:r>
              <a:rPr sz="950" b="0" i="0">
                <a:solidFill>
                  <a:srgbClr val="1F2A37"/>
                </a:solidFill>
                <a:latin typeface="Calibri"/>
              </a:rPr>
              <a:t>      evaluate_session, delete_session  (the verdict)</a:t>
            </a:r>
          </a:p>
          <a:p>
            <a:pPr>
              <a:spcAft>
                <a:spcPts val="0"/>
              </a:spcAft>
            </a:pPr>
            <a:r>
              <a:rPr sz="950" b="0" i="0">
                <a:solidFill>
                  <a:srgbClr val="1F2A37"/>
                </a:solidFill>
                <a:latin typeface="Calibri"/>
              </a:rPr>
              <a:t>3  agent → gateway:  N real chat calls per task</a:t>
            </a:r>
          </a:p>
          <a:p>
            <a:pPr>
              <a:spcAft>
                <a:spcPts val="0"/>
              </a:spcAft>
            </a:pPr>
            <a:r>
              <a:rPr sz="950" b="0" i="0">
                <a:solidFill>
                  <a:srgbClr val="1F2A37"/>
                </a:solidFill>
                <a:latin typeface="Calibri"/>
              </a:rPr>
              <a:t>4  tau2 only:  the user simulator is a 2nd LLM</a:t>
            </a:r>
          </a:p>
          <a:p>
            <a:pPr>
              <a:spcAft>
                <a:spcPts val="0"/>
              </a:spcAft>
            </a:pPr>
            <a:r>
              <a:rPr sz="950" b="0" i="0">
                <a:solidFill>
                  <a:srgbClr val="1F2A37"/>
                </a:solidFill>
                <a:latin typeface="Calibri"/>
              </a:rPr>
              <a:t>5  with a preset:  the agent's MCP calls go via the sidecar</a:t>
            </a:r>
          </a:p>
          <a:p>
            <a:pPr>
              <a:spcAft>
                <a:spcPts val="0"/>
              </a:spcAft>
            </a:pPr>
            <a:r>
              <a:rPr sz="950" b="0" i="0">
                <a:solidFill>
                  <a:srgbClr val="1F2A37"/>
                </a:solidFill>
                <a:latin typeface="Calibri"/>
              </a:rPr>
              <a:t>6  sidecar → MCP server, once authorized</a:t>
            </a:r>
          </a:p>
          <a:p>
            <a:pPr>
              <a:spcAft>
                <a:spcPts val="0"/>
              </a:spcAft>
            </a:pPr>
            <a:r>
              <a:rPr sz="950" b="0" i="0">
                <a:solidFill>
                  <a:srgbClr val="1F2A37"/>
                </a:solidFill>
                <a:latin typeface="Calibri"/>
              </a:rPr>
              <a:t>7  sidecar → judge, per isAction call</a:t>
            </a:r>
          </a:p>
          <a:p>
            <a:pPr>
              <a:spcAft>
                <a:spcPts val="0"/>
              </a:spcAft>
            </a:pPr>
            <a:r>
              <a:rPr sz="950" b="0" i="0">
                <a:solidFill>
                  <a:srgbClr val="1F2A37"/>
                </a:solidFill>
                <a:latin typeface="Calibri"/>
              </a:rPr>
              <a:t>8  the judge is itself an LLM call</a:t>
            </a:r>
          </a:p>
          <a:p>
            <a:pPr>
              <a:spcAft>
                <a:spcPts val="0"/>
              </a:spcAft>
            </a:pPr>
            <a:r>
              <a:rPr sz="950" b="0" i="0">
                <a:solidFill>
                  <a:srgbClr val="1F2A37"/>
                </a:solidFill>
                <a:latin typeface="Calibri"/>
              </a:rPr>
              <a:t>Dashed outline = present only in some configurations.</a:t>
            </a:r>
          </a:p>
          <a:p>
            <a:pPr>
              <a:spcAft>
                <a:spcPts val="0"/>
              </a:spcAft>
            </a:pPr>
            <a:r>
              <a:rPr sz="950" b="0" i="0">
                <a:solidFill>
                  <a:srgbClr val="1F2A37"/>
                </a:solidFill>
                <a:latin typeface="Calibri"/>
              </a:rPr>
              <a:t>No preset: 5 + 6 become one direct agent → MCP call.</a:t>
            </a:r>
          </a:p>
        </p:txBody>
      </p:sp>
      <p:sp>
        <p:nvSpPr>
          <p:cNvPr id="58" name="TextBox 5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4.2 How Interception Is Wired — and How It Silently Isn't">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4.2  How Interception Is Wired — and How It Silently Isn't</a:t>
            </a:r>
          </a:p>
          <a:p>
            <a:r>
              <a:rPr sz="1400" b="0" i="0">
                <a:solidFill>
                  <a:srgbClr val="C9D9EC"/>
                </a:solidFill>
                <a:latin typeface="Calibri"/>
              </a:rPr>
              <a:t>The sidecar sees traffic only because of two env vars; a plausible config takes it back out of the path</a:t>
            </a:r>
          </a:p>
        </p:txBody>
      </p:sp>
      <p:sp>
        <p:nvSpPr>
          <p:cNvPr id="3" name="Rounded Rectangle 2"/>
          <p:cNvSpPr/>
          <p:nvPr/>
        </p:nvSpPr>
        <p:spPr>
          <a:xfrm>
            <a:off x="411480" y="1115568"/>
            <a:ext cx="11365992" cy="1371600"/>
          </a:xfrm>
          <a:prstGeom prst="roundRect">
            <a:avLst/>
          </a:prstGeom>
          <a:solidFill>
            <a:srgbClr val="F1E8F6"/>
          </a:solidFill>
          <a:ln>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70432"/>
            <a:ext cx="11064240" cy="237744"/>
          </a:xfrm>
          <a:prstGeom prst="rect">
            <a:avLst/>
          </a:prstGeom>
          <a:noFill/>
        </p:spPr>
        <p:txBody>
          <a:bodyPr wrap="square" anchor="t">
            <a:spAutoFit/>
          </a:bodyPr>
          <a:lstStyle/>
          <a:p>
            <a:pPr algn="l">
              <a:spcAft>
                <a:spcPts val="300"/>
              </a:spcAft>
            </a:pPr>
            <a:r>
              <a:rPr sz="1150" b="1" i="0">
                <a:solidFill>
                  <a:srgbClr val="1B3A5C"/>
                </a:solidFill>
                <a:latin typeface="Calibri"/>
              </a:rPr>
              <a:t>Interception is a blanket forward proxy plus an allowlist — not a tool-aware hook. Three settings decide what the sidecar actually sees:</a:t>
            </a:r>
          </a:p>
        </p:txBody>
      </p:sp>
      <p:sp>
        <p:nvSpPr>
          <p:cNvPr id="5" name="Rounded Rectangle 4"/>
          <p:cNvSpPr/>
          <p:nvPr/>
        </p:nvSpPr>
        <p:spPr>
          <a:xfrm>
            <a:off x="566928" y="1463040"/>
            <a:ext cx="3529584"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HTTP_PROXY = HTTPS_PROXY = http://127.0.0.1:8081</a:t>
            </a:r>
          </a:p>
          <a:p>
            <a:pPr algn="ctr"/>
            <a:r>
              <a:rPr sz="800" b="0" i="0">
                <a:solidFill>
                  <a:srgbClr val="3A4654"/>
                </a:solidFill>
                <a:latin typeface="Calibri"/>
              </a:rPr>
              <a:t>the OPERATOR injects this into the agent pod when AuthBridge is enabled — 127.0.0.1:8081 IS the sidecar, so by default every outbound HTTP call the agent makes is captured</a:t>
            </a:r>
          </a:p>
        </p:txBody>
      </p:sp>
      <p:sp>
        <p:nvSpPr>
          <p:cNvPr id="6" name="Rounded Rectangle 5"/>
          <p:cNvSpPr/>
          <p:nvPr/>
        </p:nvSpPr>
        <p:spPr>
          <a:xfrm>
            <a:off x="4224528" y="1463040"/>
            <a:ext cx="3529584"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no_proxy = LLM gateway, OTEL collector, Keycloak</a:t>
            </a:r>
          </a:p>
          <a:p>
            <a:pPr algn="ctr"/>
            <a:r>
              <a:rPr sz="800" b="0" i="0">
                <a:solidFill>
                  <a:srgbClr val="3A4654"/>
                </a:solidFill>
                <a:latin typeface="Calibri"/>
              </a:rPr>
              <a:t>instance config — the hosts that stay DIRECT. This is the only reason flow 3, the agent's own chat calls, does not go through the sidecar</a:t>
            </a:r>
          </a:p>
        </p:txBody>
      </p:sp>
      <p:sp>
        <p:nvSpPr>
          <p:cNvPr id="7" name="Rounded Rectangle 6"/>
          <p:cNvSpPr/>
          <p:nvPr/>
        </p:nvSpPr>
        <p:spPr>
          <a:xfrm>
            <a:off x="7882127" y="1463040"/>
            <a:ext cx="3730752"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judge_inference: false</a:t>
            </a:r>
          </a:p>
          <a:p>
            <a:pPr algn="ctr"/>
            <a:r>
              <a:rPr sz="800" b="0" i="0">
                <a:solidFill>
                  <a:srgbClr val="3A4654"/>
                </a:solidFill>
                <a:latin typeface="Calibri"/>
              </a:rPr>
              <a:t>IBAC's own default — even proxied inference is not judged. BOTH this and no_proxy would have to change for the agent's model calls to be authorized</a:t>
            </a:r>
          </a:p>
        </p:txBody>
      </p:sp>
      <p:sp>
        <p:nvSpPr>
          <p:cNvPr id="8" name="Rounded Rectangle 7"/>
          <p:cNvSpPr/>
          <p:nvPr/>
        </p:nvSpPr>
        <p:spPr>
          <a:xfrm>
            <a:off x="411480" y="2596896"/>
            <a:ext cx="5532120" cy="1444752"/>
          </a:xfrm>
          <a:prstGeom prst="roundRect">
            <a:avLst/>
          </a:prstGeom>
          <a:solidFill>
            <a:srgbClr val="E9F3E8"/>
          </a:solidFill>
          <a:ln>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651760"/>
            <a:ext cx="5221224" cy="237744"/>
          </a:xfrm>
          <a:prstGeom prst="rect">
            <a:avLst/>
          </a:prstGeom>
          <a:noFill/>
        </p:spPr>
        <p:txBody>
          <a:bodyPr wrap="square" anchor="t">
            <a:spAutoFit/>
          </a:bodyPr>
          <a:lstStyle/>
          <a:p>
            <a:pPr algn="l">
              <a:spcAft>
                <a:spcPts val="300"/>
              </a:spcAft>
            </a:pPr>
            <a:r>
              <a:rPr sz="1200" b="1" i="0">
                <a:solidFill>
                  <a:srgbClr val="5B8C5A"/>
                </a:solidFill>
                <a:latin typeface="Calibri"/>
              </a:rPr>
              <a:t>✓  Through the sidecar</a:t>
            </a:r>
          </a:p>
        </p:txBody>
      </p:sp>
      <p:sp>
        <p:nvSpPr>
          <p:cNvPr id="10" name="TextBox 9"/>
          <p:cNvSpPr txBox="1"/>
          <p:nvPr/>
        </p:nvSpPr>
        <p:spPr>
          <a:xfrm>
            <a:off x="566928" y="2926080"/>
            <a:ext cx="5221224" cy="1060704"/>
          </a:xfrm>
          <a:prstGeom prst="rect">
            <a:avLst/>
          </a:prstGeom>
          <a:noFill/>
        </p:spPr>
        <p:txBody>
          <a:bodyPr wrap="square" anchor="t">
            <a:spAutoFit/>
          </a:bodyPr>
          <a:lstStyle/>
          <a:p>
            <a:pPr algn="l">
              <a:spcAft>
                <a:spcPts val="300"/>
              </a:spcAft>
            </a:pPr>
            <a:r>
              <a:rPr sz="1050" b="0" i="0">
                <a:solidFill>
                  <a:srgbClr val="1F2A37"/>
                </a:solidFill>
                <a:latin typeface="Calibri"/>
              </a:rPr>
              <a:t>•  agent → MCP tool calls  (flows 5 → 6) — the interception point</a:t>
            </a:r>
          </a:p>
          <a:p>
            <a:pPr algn="l">
              <a:spcAft>
                <a:spcPts val="300"/>
              </a:spcAft>
            </a:pPr>
            <a:r>
              <a:rPr sz="1050" b="0" i="0">
                <a:solidFill>
                  <a:srgbClr val="1F2A37"/>
                </a:solidFill>
                <a:latin typeface="Calibri"/>
              </a:rPr>
              <a:t>•  tools/call → isAction=true → one IBAC judge call each  (flow 7)</a:t>
            </a:r>
          </a:p>
          <a:p>
            <a:pPr algn="l">
              <a:spcAft>
                <a:spcPts val="300"/>
              </a:spcAft>
            </a:pPr>
            <a:r>
              <a:rPr sz="1050" b="0" i="0">
                <a:solidFill>
                  <a:srgbClr val="1F2A37"/>
                </a:solidFill>
                <a:latin typeface="Calibri"/>
              </a:rPr>
              <a:t>•  inbound A2A message/stream → a2a-parser, isAction=false,</a:t>
            </a:r>
          </a:p>
          <a:p>
            <a:pPr algn="l">
              <a:spcAft>
                <a:spcPts val="300"/>
              </a:spcAft>
            </a:pPr>
            <a:r>
              <a:rPr sz="1050" b="0" i="0">
                <a:solidFill>
                  <a:srgbClr val="1F2A37"/>
                </a:solidFill>
                <a:latin typeface="Calibri"/>
              </a:rPr>
              <a:t>    so the Service's send_prompt is logged but never judged</a:t>
            </a:r>
          </a:p>
        </p:txBody>
      </p:sp>
      <p:sp>
        <p:nvSpPr>
          <p:cNvPr id="11" name="Rounded Rectangle 10"/>
          <p:cNvSpPr/>
          <p:nvPr/>
        </p:nvSpPr>
        <p:spPr>
          <a:xfrm>
            <a:off x="6245352" y="2596896"/>
            <a:ext cx="5532120" cy="1444752"/>
          </a:xfrm>
          <a:prstGeom prst="roundRect">
            <a:avLst/>
          </a:prstGeom>
          <a:solidFill>
            <a:srgbClr val="EEEFF1"/>
          </a:solidFill>
          <a:ln>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651760"/>
            <a:ext cx="5221224" cy="237744"/>
          </a:xfrm>
          <a:prstGeom prst="rect">
            <a:avLst/>
          </a:prstGeom>
          <a:noFill/>
        </p:spPr>
        <p:txBody>
          <a:bodyPr wrap="square" anchor="t">
            <a:spAutoFit/>
          </a:bodyPr>
          <a:lstStyle/>
          <a:p>
            <a:pPr algn="l">
              <a:spcAft>
                <a:spcPts val="300"/>
              </a:spcAft>
            </a:pPr>
            <a:r>
              <a:rPr sz="1200" b="1" i="0">
                <a:solidFill>
                  <a:srgbClr val="6B6B6B"/>
                </a:solidFill>
                <a:latin typeface="Calibri"/>
              </a:rPr>
              <a:t>✗  Direct — the plugins never see it</a:t>
            </a:r>
          </a:p>
        </p:txBody>
      </p:sp>
      <p:sp>
        <p:nvSpPr>
          <p:cNvPr id="13" name="TextBox 12"/>
          <p:cNvSpPr txBox="1"/>
          <p:nvPr/>
        </p:nvSpPr>
        <p:spPr>
          <a:xfrm>
            <a:off x="6400800" y="2926080"/>
            <a:ext cx="5221224" cy="1060704"/>
          </a:xfrm>
          <a:prstGeom prst="rect">
            <a:avLst/>
          </a:prstGeom>
          <a:noFill/>
        </p:spPr>
        <p:txBody>
          <a:bodyPr wrap="square" anchor="t">
            <a:spAutoFit/>
          </a:bodyPr>
          <a:lstStyle/>
          <a:p>
            <a:pPr algn="l">
              <a:spcAft>
                <a:spcPts val="300"/>
              </a:spcAft>
            </a:pPr>
            <a:r>
              <a:rPr sz="1050" b="0" i="0">
                <a:solidFill>
                  <a:srgbClr val="1F2A37"/>
                </a:solidFill>
                <a:latin typeface="Calibri"/>
              </a:rPr>
              <a:t>•  agent → LLM gateway  (flow 3) — named in no_proxy, and</a:t>
            </a:r>
          </a:p>
          <a:p>
            <a:pPr algn="l">
              <a:spcAft>
                <a:spcPts val="300"/>
              </a:spcAft>
            </a:pPr>
            <a:r>
              <a:rPr sz="1050" b="0" i="0">
                <a:solidFill>
                  <a:srgbClr val="1F2A37"/>
                </a:solidFill>
                <a:latin typeface="Calibri"/>
              </a:rPr>
              <a:t>    judge_inference: false would exempt it even if proxied</a:t>
            </a:r>
          </a:p>
          <a:p>
            <a:pPr algn="l">
              <a:spcAft>
                <a:spcPts val="300"/>
              </a:spcAft>
            </a:pPr>
            <a:r>
              <a:rPr sz="1050" b="0" i="0">
                <a:solidFill>
                  <a:srgbClr val="1F2A37"/>
                </a:solidFill>
                <a:latin typeface="Calibri"/>
              </a:rPr>
              <a:t>•  Service → MCP server  (flow 2) — a different pod; the Service</a:t>
            </a:r>
          </a:p>
          <a:p>
            <a:pPr algn="l">
              <a:spcAft>
                <a:spcPts val="300"/>
              </a:spcAft>
            </a:pPr>
            <a:r>
              <a:rPr sz="1050" b="0" i="0">
                <a:solidFill>
                  <a:srgbClr val="1F2A37"/>
                </a:solidFill>
                <a:latin typeface="Calibri"/>
              </a:rPr>
              <a:t>    does not dial through the agent's proxy</a:t>
            </a:r>
          </a:p>
          <a:p>
            <a:pPr algn="l">
              <a:spcAft>
                <a:spcPts val="300"/>
              </a:spcAft>
            </a:pPr>
            <a:r>
              <a:rPr sz="1050" b="0" i="0">
                <a:solidFill>
                  <a:srgbClr val="1F2A37"/>
                </a:solidFill>
                <a:latin typeface="Calibri"/>
              </a:rPr>
              <a:t>•  MCP tool → gateway  (flow 4, tau2's user simulator) — different pod</a:t>
            </a:r>
          </a:p>
        </p:txBody>
      </p:sp>
      <p:sp>
        <p:nvSpPr>
          <p:cNvPr id="14" name="Rounded Rectangle 13"/>
          <p:cNvSpPr/>
          <p:nvPr/>
        </p:nvSpPr>
        <p:spPr>
          <a:xfrm>
            <a:off x="411480" y="4151376"/>
            <a:ext cx="11365992" cy="1517904"/>
          </a:xfrm>
          <a:prstGeom prst="roundRect">
            <a:avLst/>
          </a:prstGeom>
          <a:solidFill>
            <a:srgbClr val="FBEEE4"/>
          </a:solidFill>
          <a:ln>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206240"/>
            <a:ext cx="11064240" cy="237744"/>
          </a:xfrm>
          <a:prstGeom prst="rect">
            <a:avLst/>
          </a:prstGeom>
          <a:noFill/>
        </p:spPr>
        <p:txBody>
          <a:bodyPr wrap="square" anchor="t">
            <a:spAutoFit/>
          </a:bodyPr>
          <a:lstStyle/>
          <a:p>
            <a:pPr algn="l">
              <a:spcAft>
                <a:spcPts val="300"/>
              </a:spcAft>
            </a:pPr>
            <a:r>
              <a:rPr sz="1150" b="1" i="0">
                <a:solidFill>
                  <a:srgbClr val="1B3A5C"/>
                </a:solidFill>
                <a:latin typeface="Calibri"/>
              </a:rPr>
              <a:t>A ready sidecar proves nothing about enforcement — the double bypass we actually shipped:</a:t>
            </a:r>
          </a:p>
        </p:txBody>
      </p:sp>
      <p:sp>
        <p:nvSpPr>
          <p:cNvPr id="16" name="Rounded Rectangle 15"/>
          <p:cNvSpPr/>
          <p:nvPr/>
        </p:nvSpPr>
        <p:spPr>
          <a:xfrm>
            <a:off x="566928"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1.  workload_llm.disable_proxy: true makes the SERVICE inject HTTP_PROXY="" first</a:t>
            </a:r>
          </a:p>
        </p:txBody>
      </p:sp>
      <p:sp>
        <p:nvSpPr>
          <p:cNvPr id="17" name="Rounded Rectangle 16"/>
          <p:cNvSpPr/>
          <p:nvPr/>
        </p:nvSpPr>
        <p:spPr>
          <a:xfrm>
            <a:off x="3364992"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2.  the operator adds a var only when ABSENT → it skips HTTP_PROXY, but still sets HTTPS_PROXY</a:t>
            </a:r>
          </a:p>
        </p:txBody>
      </p:sp>
      <p:sp>
        <p:nvSpPr>
          <p:cNvPr id="18" name="Rounded Rectangle 17"/>
          <p:cNvSpPr/>
          <p:nvPr/>
        </p:nvSpPr>
        <p:spPr>
          <a:xfrm>
            <a:off x="6163056"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3.  MCP_URL is http:// → tool calls take the empty HTTP_PROXY and go direct</a:t>
            </a:r>
          </a:p>
        </p:txBody>
      </p:sp>
      <p:sp>
        <p:nvSpPr>
          <p:cNvPr id="19" name="Rounded Rectangle 18"/>
          <p:cNvSpPr/>
          <p:nvPr/>
        </p:nvSpPr>
        <p:spPr>
          <a:xfrm>
            <a:off x="8961120" y="4498848"/>
            <a:ext cx="2651760"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4.  no_proxy carried .svc.cluster.local → the same calls are excluded a second time</a:t>
            </a:r>
          </a:p>
        </p:txBody>
      </p:sp>
      <p:sp>
        <p:nvSpPr>
          <p:cNvPr id="20" name="Rounded Rectangle 19"/>
          <p:cNvSpPr/>
          <p:nvPr/>
        </p:nvSpPr>
        <p:spPr>
          <a:xfrm>
            <a:off x="566928" y="5321808"/>
            <a:ext cx="11045952" cy="29260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50" b="1" i="0">
                <a:solidFill>
                  <a:srgbClr val="FFFFFF"/>
                </a:solidFill>
                <a:latin typeface="Calibri"/>
              </a:rPr>
              <a:t>Result: sidecar ready = True, pipeline ConfigMap rendered, plugins loaded — and the judge called ZERO times, on both clusters.</a:t>
            </a:r>
          </a:p>
        </p:txBody>
      </p:sp>
      <p:sp>
        <p:nvSpPr>
          <p:cNvPr id="21" name="Rounded Rectangle 20"/>
          <p:cNvSpPr/>
          <p:nvPr/>
        </p:nvSpPr>
        <p:spPr>
          <a:xfrm>
            <a:off x="411480" y="5779008"/>
            <a:ext cx="11365992" cy="768096"/>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77800" rIns="177800"/>
          <a:lstStyle/>
          <a:p>
            <a:pPr algn="ctr"/>
            <a:r>
              <a:rPr sz="1100" b="0" i="0">
                <a:solidFill>
                  <a:srgbClr val="1F2A37"/>
                </a:solidFill>
                <a:latin typeface="Calibri"/>
              </a:rPr>
              <a:t>Verify by COUNTING judge chat completions across a run. IBAC emits no log line of its own, so a healthy sidecar log proves nothing — and initialize / tools/list are isAction=false and legitimately never reach the judge, so a zero count only means something if real tool calls occurred.   Working config: leave disable_proxy off, keep the NAMED hosts in no_proxy, drop the WILDCARDS (.svc, .svc.cluster.local).</a:t>
            </a:r>
          </a:p>
        </p:txBody>
      </p:sp>
      <p:sp>
        <p:nvSpPr>
          <p:cNvPr id="22" name="TextBox 21"/>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5. The Two-Token Auth Model">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5.  The Two-Token Auth Model</a:t>
            </a:r>
          </a:p>
          <a:p>
            <a:r>
              <a:rPr sz="1400" b="0" i="0">
                <a:solidFill>
                  <a:srgbClr val="C9D9EC"/>
                </a:solidFill>
                <a:latin typeface="Calibri"/>
              </a:rPr>
              <a:t>Why the caller's token is never forwarded upstream</a:t>
            </a:r>
          </a:p>
        </p:txBody>
      </p:sp>
      <p:sp>
        <p:nvSpPr>
          <p:cNvPr id="3" name="Rectangle 2"/>
          <p:cNvSpPr/>
          <p:nvPr/>
        </p:nvSpPr>
        <p:spPr>
          <a:xfrm>
            <a:off x="457200" y="1280160"/>
            <a:ext cx="5394960" cy="457200"/>
          </a:xfrm>
          <a:prstGeom prst="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Caller JWT  (inbound)</a:t>
            </a:r>
          </a:p>
        </p:txBody>
      </p:sp>
      <p:sp>
        <p:nvSpPr>
          <p:cNvPr id="4" name="TextBox 3"/>
          <p:cNvSpPr txBox="1"/>
          <p:nvPr/>
        </p:nvSpPr>
        <p:spPr>
          <a:xfrm>
            <a:off x="548640" y="1828800"/>
            <a:ext cx="5303520" cy="3291840"/>
          </a:xfrm>
          <a:prstGeom prst="rect">
            <a:avLst/>
          </a:prstGeom>
          <a:noFill/>
        </p:spPr>
        <p:txBody>
          <a:bodyPr wrap="square" anchor="t">
            <a:spAutoFit/>
          </a:bodyPr>
          <a:lstStyle/>
          <a:p>
            <a:pPr algn="l">
              <a:spcAft>
                <a:spcPts val="300"/>
              </a:spcAft>
            </a:pPr>
            <a:r>
              <a:rPr sz="1350" b="0" i="0">
                <a:solidFill>
                  <a:srgbClr val="1F2A37"/>
                </a:solidFill>
                <a:latin typeface="Calibri"/>
              </a:rPr>
              <a:t>Presented by the client as Authorization: Bearer.</a:t>
            </a:r>
          </a:p>
          <a:p>
            <a:pPr algn="l" lvl="1">
              <a:spcAft>
                <a:spcPts val="300"/>
              </a:spcAft>
            </a:pPr>
            <a:r>
              <a:rPr sz="1300" b="0" i="0">
                <a:solidFill>
                  <a:srgbClr val="1F2A37"/>
                </a:solidFill>
                <a:latin typeface="Calibri"/>
              </a:rPr>
              <a:t>• Used ONLY to attribute (preferred_username) and route (iss → instance)</a:t>
            </a:r>
          </a:p>
          <a:p>
            <a:pPr algn="l" lvl="1">
              <a:spcAft>
                <a:spcPts val="300"/>
              </a:spcAft>
            </a:pPr>
            <a:r>
              <a:rPr sz="1300" b="0" i="0">
                <a:solidFill>
                  <a:srgbClr val="1F2A37"/>
                </a:solidFill>
                <a:latin typeface="Calibri"/>
              </a:rPr>
              <a:t>• Signature validated via the issuer's JWKS</a:t>
            </a:r>
          </a:p>
          <a:p>
            <a:pPr algn="l" lvl="1">
              <a:spcAft>
                <a:spcPts val="300"/>
              </a:spcAft>
            </a:pPr>
            <a:r>
              <a:rPr sz="1300" b="0" i="0">
                <a:solidFill>
                  <a:srgbClr val="1F2A37"/>
                </a:solidFill>
                <a:latin typeface="Calibri"/>
              </a:rPr>
              <a:t>• aud / exp deliberately lenient in the dev/ops context</a:t>
            </a:r>
          </a:p>
          <a:p>
            <a:pPr algn="l" lvl="1">
              <a:spcAft>
                <a:spcPts val="300"/>
              </a:spcAft>
            </a:pPr>
            <a:r>
              <a:rPr sz="1300" b="1" i="0">
                <a:solidFill>
                  <a:srgbClr val="B55A2E"/>
                </a:solidFill>
                <a:latin typeface="Calibri"/>
              </a:rPr>
              <a:t>• NEVER forwarded to Rossoctl</a:t>
            </a:r>
          </a:p>
          <a:p>
            <a:pPr algn="l">
              <a:spcAft>
                <a:spcPts val="300"/>
              </a:spcAft>
            </a:pPr>
            <a:r>
              <a:rPr sz="1350" b="1" i="0">
                <a:solidFill>
                  <a:srgbClr val="5B8C5A"/>
                </a:solidFill>
                <a:latin typeface="Calibri"/>
              </a:rPr>
              <a:t>benchmarker is special:</a:t>
            </a:r>
          </a:p>
          <a:p>
            <a:pPr algn="l" lvl="1">
              <a:spcAft>
                <a:spcPts val="300"/>
              </a:spcAft>
            </a:pPr>
            <a:r>
              <a:rPr sz="1300" b="0" i="0">
                <a:solidFill>
                  <a:srgbClr val="1F2A37"/>
                </a:solidFill>
                <a:latin typeface="Calibri"/>
              </a:rPr>
              <a:t>• A caller JWT with preferred_username == benchmarker authorizes config ops (GET/PUT /config)</a:t>
            </a:r>
          </a:p>
        </p:txBody>
      </p:sp>
      <p:sp>
        <p:nvSpPr>
          <p:cNvPr id="5" name="Rectangle 4"/>
          <p:cNvSpPr/>
          <p:nvPr/>
        </p:nvSpPr>
        <p:spPr>
          <a:xfrm>
            <a:off x="6309360" y="1280160"/>
            <a:ext cx="5394960" cy="457200"/>
          </a:xfrm>
          <a:prstGeom prst="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Service token  (outbound)</a:t>
            </a:r>
          </a:p>
        </p:txBody>
      </p:sp>
      <p:sp>
        <p:nvSpPr>
          <p:cNvPr id="6" name="TextBox 5"/>
          <p:cNvSpPr txBox="1"/>
          <p:nvPr/>
        </p:nvSpPr>
        <p:spPr>
          <a:xfrm>
            <a:off x="6400800" y="1828800"/>
            <a:ext cx="5303520" cy="3291840"/>
          </a:xfrm>
          <a:prstGeom prst="rect">
            <a:avLst/>
          </a:prstGeom>
          <a:noFill/>
        </p:spPr>
        <p:txBody>
          <a:bodyPr wrap="square" anchor="t">
            <a:spAutoFit/>
          </a:bodyPr>
          <a:lstStyle/>
          <a:p>
            <a:pPr algn="l">
              <a:spcAft>
                <a:spcPts val="300"/>
              </a:spcAft>
            </a:pPr>
            <a:r>
              <a:rPr sz="1350" b="0" i="0">
                <a:solidFill>
                  <a:srgbClr val="1F2A37"/>
                </a:solidFill>
                <a:latin typeface="Calibri"/>
              </a:rPr>
              <a:t>Minted by the Service per request via ROPC (password grant) using the instance's benchmarker credential.</a:t>
            </a:r>
          </a:p>
          <a:p>
            <a:pPr algn="l" lvl="1">
              <a:spcAft>
                <a:spcPts val="300"/>
              </a:spcAft>
            </a:pPr>
            <a:r>
              <a:rPr sz="1300" b="0" i="0">
                <a:solidFill>
                  <a:srgbClr val="1F2A37"/>
                </a:solidFill>
                <a:latin typeface="Calibri"/>
              </a:rPr>
              <a:t>• Always fresh → no expiry handling</a:t>
            </a:r>
          </a:p>
          <a:p>
            <a:pPr algn="l" lvl="1">
              <a:spcAft>
                <a:spcPts val="300"/>
              </a:spcAft>
            </a:pPr>
            <a:r>
              <a:rPr sz="1300" b="0" i="0">
                <a:solidFill>
                  <a:srgbClr val="1F2A37"/>
                </a:solidFill>
                <a:latin typeface="Calibri"/>
              </a:rPr>
              <a:t>• Presented to Rossoctl for all cluster-facing ops</a:t>
            </a:r>
          </a:p>
          <a:p>
            <a:pPr algn="l" lvl="1">
              <a:spcAft>
                <a:spcPts val="300"/>
              </a:spcAft>
            </a:pPr>
            <a:r>
              <a:rPr sz="1300" b="1" i="0">
                <a:solidFill>
                  <a:srgbClr val="2E6FB5"/>
                </a:solidFill>
                <a:latin typeface="Calibri"/>
              </a:rPr>
              <a:t>• The Service acts under its OWN identity, not the caller's</a:t>
            </a:r>
          </a:p>
          <a:p>
            <a:pPr algn="l">
              <a:spcAft>
                <a:spcPts val="300"/>
              </a:spcAft>
            </a:pPr>
            <a:r>
              <a:rPr sz="1350" b="1" i="0">
                <a:solidFill>
                  <a:srgbClr val="2E6FB5"/>
                </a:solidFill>
                <a:latin typeface="Calibri"/>
              </a:rPr>
              <a:t>Backchannel split (iss ≠ dialed host):</a:t>
            </a:r>
          </a:p>
          <a:p>
            <a:pPr algn="l" lvl="1">
              <a:spcAft>
                <a:spcPts val="300"/>
              </a:spcAft>
            </a:pPr>
            <a:r>
              <a:rPr sz="1300" b="0" i="0">
                <a:solidFill>
                  <a:srgbClr val="1F2A37"/>
                </a:solidFill>
                <a:latin typeface="Calibri"/>
              </a:rPr>
              <a:t>• When the iss host is unreachable (in-cluster kind), JWKS + token come from a configured backchannel URL; iss is matched, never dialed</a:t>
            </a:r>
          </a:p>
        </p:txBody>
      </p:sp>
      <p:sp>
        <p:nvSpPr>
          <p:cNvPr id="7" name="Rounded Rectangle 6"/>
          <p:cNvSpPr/>
          <p:nvPr/>
        </p:nvSpPr>
        <p:spPr>
          <a:xfrm>
            <a:off x="1463040" y="5212080"/>
            <a:ext cx="9235440" cy="100584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1F2A37"/>
                </a:solidFill>
                <a:latin typeface="Calibri"/>
              </a:rPr>
              <a:t>Implication:  at the Rossoctl / cluster layer every action appears as the Service's identity — so per-user attribution &amp; audit live in the Service, keyed on (iss, preferred_username).</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6.1 Benchmark Catalog &amp; Run Lifecycle">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6.1  Benchmark Catalog &amp; Run Lifecycle</a:t>
            </a:r>
          </a:p>
        </p:txBody>
      </p:sp>
      <p:sp>
        <p:nvSpPr>
          <p:cNvPr id="3" name="Rectangle 2"/>
          <p:cNvSpPr/>
          <p:nvPr/>
        </p:nvSpPr>
        <p:spPr>
          <a:xfrm>
            <a:off x="411480" y="1143000"/>
            <a:ext cx="5257800"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Catalog (static registry)</a:t>
            </a:r>
          </a:p>
        </p:txBody>
      </p:sp>
      <p:sp>
        <p:nvSpPr>
          <p:cNvPr id="4" name="Rounded Rectangle 3"/>
          <p:cNvSpPr/>
          <p:nvPr/>
        </p:nvSpPr>
        <p:spPr>
          <a:xfrm>
            <a:off x="411480" y="1783080"/>
            <a:ext cx="5257800" cy="91440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3D6E70"/>
                </a:solidFill>
                <a:latin typeface="Calibri"/>
              </a:rPr>
              <a:t>gsm8k</a:t>
            </a:r>
          </a:p>
          <a:p>
            <a:pPr algn="l"/>
            <a:r>
              <a:rPr sz="1150" b="0" i="0">
                <a:solidFill>
                  <a:srgbClr val="1F2A37"/>
                </a:solidFill>
                <a:latin typeface="Calibri"/>
              </a:rPr>
              <a:t>single-turn · needs hf-secret + openai-secret</a:t>
            </a:r>
          </a:p>
        </p:txBody>
      </p:sp>
      <p:sp>
        <p:nvSpPr>
          <p:cNvPr id="5" name="Rounded Rectangle 4"/>
          <p:cNvSpPr/>
          <p:nvPr/>
        </p:nvSpPr>
        <p:spPr>
          <a:xfrm>
            <a:off x="411480" y="2834640"/>
            <a:ext cx="5257800" cy="91440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8E44AD"/>
                </a:solidFill>
                <a:latin typeface="Calibri"/>
              </a:rPr>
              <a:t>tau2</a:t>
            </a:r>
          </a:p>
          <a:p>
            <a:pPr algn="l"/>
            <a:r>
              <a:rPr sz="1150" b="0" i="0">
                <a:solidFill>
                  <a:srgbClr val="1F2A37"/>
                </a:solidFill>
                <a:latin typeface="Calibri"/>
              </a:rPr>
              <a:t>multi-turn · user-simulator LLM runs server-side in the MCP pod · raise timeout</a:t>
            </a:r>
          </a:p>
        </p:txBody>
      </p:sp>
      <p:sp>
        <p:nvSpPr>
          <p:cNvPr id="6" name="Rounded Rectangle 5"/>
          <p:cNvSpPr/>
          <p:nvPr/>
        </p:nvSpPr>
        <p:spPr>
          <a:xfrm>
            <a:off x="411480" y="3886200"/>
            <a:ext cx="525780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B55A2E"/>
                </a:solidFill>
                <a:latin typeface="Calibri"/>
              </a:rPr>
              <a:t>appworld</a:t>
            </a:r>
          </a:p>
          <a:p>
            <a:pPr algn="l"/>
            <a:r>
              <a:rPr sz="1150" b="0" i="0">
                <a:solidFill>
                  <a:srgbClr val="1F2A37"/>
                </a:solidFill>
                <a:latin typeface="Calibri"/>
              </a:rPr>
              <a:t>long-horizon across simulated apps · runs e2e · raise task_timeout_seconds</a:t>
            </a:r>
          </a:p>
        </p:txBody>
      </p:sp>
      <p:sp>
        <p:nvSpPr>
          <p:cNvPr id="7" name="Rectangle 6"/>
          <p:cNvSpPr/>
          <p:nvPr/>
        </p:nvSpPr>
        <p:spPr>
          <a:xfrm>
            <a:off x="5989320" y="1143000"/>
            <a:ext cx="5760720"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Lifecycle (REST)</a:t>
            </a:r>
          </a:p>
        </p:txBody>
      </p:sp>
      <p:sp>
        <p:nvSpPr>
          <p:cNvPr id="8" name="Rounded Rectangle 7"/>
          <p:cNvSpPr/>
          <p:nvPr/>
        </p:nvSpPr>
        <p:spPr>
          <a:xfrm>
            <a:off x="6309360" y="17830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POST /benchmarks/{n}/deploy</a:t>
            </a:r>
          </a:p>
          <a:p>
            <a:pPr algn="l"/>
            <a:r>
              <a:rPr sz="1050" b="0" i="0">
                <a:solidFill>
                  <a:srgbClr val="3A4654"/>
                </a:solidFill>
                <a:latin typeface="Calibri"/>
              </a:rPr>
              <a:t>create MCP tool + A2A agent → 201</a:t>
            </a:r>
          </a:p>
        </p:txBody>
      </p:sp>
      <p:cxnSp>
        <p:nvCxnSpPr>
          <p:cNvPr id="9" name="Connector 8"/>
          <p:cNvCxnSpPr/>
          <p:nvPr/>
        </p:nvCxnSpPr>
        <p:spPr>
          <a:xfrm>
            <a:off x="6172200" y="20848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309360" y="24688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/benchmarks/{n}/status</a:t>
            </a:r>
          </a:p>
          <a:p>
            <a:pPr algn="l"/>
            <a:r>
              <a:rPr sz="1050" b="0" i="0">
                <a:solidFill>
                  <a:srgbClr val="3A4654"/>
                </a:solidFill>
                <a:latin typeface="Calibri"/>
              </a:rPr>
              <a:t>poll until tool_ready &amp; agent_ready</a:t>
            </a:r>
          </a:p>
        </p:txBody>
      </p:sp>
      <p:cxnSp>
        <p:nvCxnSpPr>
          <p:cNvPr id="11" name="Connector 10"/>
          <p:cNvCxnSpPr/>
          <p:nvPr/>
        </p:nvCxnSpPr>
        <p:spPr>
          <a:xfrm>
            <a:off x="6172200" y="27706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309360" y="31546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POST /benchmarks/{n}/runs</a:t>
            </a:r>
          </a:p>
          <a:p>
            <a:pPr algn="l"/>
            <a:r>
              <a:rPr sz="1050" b="0" i="0">
                <a:solidFill>
                  <a:srgbClr val="3A4654"/>
                </a:solidFill>
                <a:latin typeface="Calibri"/>
              </a:rPr>
              <a:t>precheck → 202 run_id  (409 not deployed · 424 secret missing)</a:t>
            </a:r>
          </a:p>
        </p:txBody>
      </p:sp>
      <p:cxnSp>
        <p:nvCxnSpPr>
          <p:cNvPr id="13" name="Connector 12"/>
          <p:cNvCxnSpPr/>
          <p:nvPr/>
        </p:nvCxnSpPr>
        <p:spPr>
          <a:xfrm>
            <a:off x="6172200" y="34564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309360" y="38404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…/runs/{id}</a:t>
            </a:r>
          </a:p>
          <a:p>
            <a:pPr algn="l"/>
            <a:r>
              <a:rPr sz="1050" b="0" i="0">
                <a:solidFill>
                  <a:srgbClr val="3A4654"/>
                </a:solidFill>
                <a:latin typeface="Calibri"/>
              </a:rPr>
              <a:t>poll pending → running → succeeded / failed</a:t>
            </a:r>
          </a:p>
        </p:txBody>
      </p:sp>
      <p:cxnSp>
        <p:nvCxnSpPr>
          <p:cNvPr id="15" name="Connector 14"/>
          <p:cNvCxnSpPr/>
          <p:nvPr/>
        </p:nvCxnSpPr>
        <p:spPr>
          <a:xfrm>
            <a:off x="6172200" y="41422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45262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…/runs/{id}/report</a:t>
            </a:r>
          </a:p>
          <a:p>
            <a:pPr algn="l"/>
            <a:r>
              <a:rPr sz="1050" b="0" i="0">
                <a:solidFill>
                  <a:srgbClr val="3A4654"/>
                </a:solidFill>
                <a:latin typeface="Calibri"/>
              </a:rPr>
              <a:t>MLflow records + artifacts  (409 if MLflow unset)</a:t>
            </a:r>
          </a:p>
        </p:txBody>
      </p:sp>
      <p:cxnSp>
        <p:nvCxnSpPr>
          <p:cNvPr id="17" name="Connector 16"/>
          <p:cNvCxnSpPr/>
          <p:nvPr/>
        </p:nvCxnSpPr>
        <p:spPr>
          <a:xfrm>
            <a:off x="6172200" y="48280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52120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download from S3</a:t>
            </a:r>
          </a:p>
          <a:p>
            <a:pPr algn="l"/>
            <a:r>
              <a:rPr sz="1050" b="0" i="0">
                <a:solidFill>
                  <a:srgbClr val="3A4654"/>
                </a:solidFill>
                <a:latin typeface="Calibri"/>
              </a:rPr>
              <a:t>run.json · report.* · token_report.* · span_report.* · manifest.json</a:t>
            </a:r>
          </a:p>
        </p:txBody>
      </p:sp>
      <p:cxnSp>
        <p:nvCxnSpPr>
          <p:cNvPr id="19" name="Connector 18"/>
          <p:cNvCxnSpPr/>
          <p:nvPr/>
        </p:nvCxnSpPr>
        <p:spPr>
          <a:xfrm>
            <a:off x="6144768" y="1920240"/>
            <a:ext cx="0" cy="3931920"/>
          </a:xfrm>
          <a:prstGeom prst="line">
            <a:avLst/>
          </a:prstGeom>
          <a:ln w="1905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6.2 What Each Benchmark Bakes In — and What It Needs From U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6.2  What Each Benchmark Bakes In — and What It Needs From Us</a:t>
            </a:r>
          </a:p>
          <a:p>
            <a:r>
              <a:rPr sz="1400" b="0" i="0">
                <a:solidFill>
                  <a:srgbClr val="C9D9EC"/>
                </a:solidFill>
                <a:latin typeface="Calibri"/>
              </a:rPr>
              <a:t>The MCP image carries the benchmark itself; only the credentials and quirk overrides come from tool_env</a:t>
            </a:r>
          </a:p>
        </p:txBody>
      </p:sp>
      <p:graphicFrame>
        <p:nvGraphicFramePr>
          <p:cNvPr id="3" name="Table 2"/>
          <p:cNvGraphicFramePr>
            <a:graphicFrameLocks noGrp="1"/>
          </p:cNvGraphicFramePr>
          <p:nvPr/>
        </p:nvGraphicFramePr>
        <p:xfrm>
          <a:off x="411480" y="1188720"/>
          <a:ext cx="11338559" cy="2103120"/>
        </p:xfrm>
        <a:graphic>
          <a:graphicData uri="http://schemas.openxmlformats.org/drawingml/2006/table">
            <a:tbl>
              <a:tblPr firstRow="1">
                <a:tableStyleId>{5C22544A-7EE6-4342-B048-85BDC9FD1C3A}</a:tableStyleId>
              </a:tblPr>
              <a:tblGrid>
                <a:gridCol w="1280160"/>
                <a:gridCol w="2514600"/>
                <a:gridCol w="3749039"/>
                <a:gridCol w="3794760"/>
              </a:tblGrid>
              <a:tr h="525780">
                <a:tc>
                  <a:txBody>
                    <a:bodyPr/>
                    <a:lstStyle/>
                    <a:p>
                      <a:pPr algn="l"/>
                      <a:r>
                        <a:rPr sz="1150" b="1" i="0">
                          <a:solidFill>
                            <a:srgbClr val="FFFFFF"/>
                          </a:solidFill>
                          <a:latin typeface="Calibri"/>
                        </a:rPr>
                        <a:t/>
                      </a:r>
                    </a:p>
                  </a:txBody>
                  <a:tcPr marL="63500" marR="63500" marT="12700" marB="12700" anchor="ctr">
                    <a:solidFill>
                      <a:srgbClr val="1B3A5C"/>
                    </a:solidFill>
                  </a:tcPr>
                </a:tc>
                <a:tc>
                  <a:txBody>
                    <a:bodyPr/>
                    <a:lstStyle/>
                    <a:p>
                      <a:pPr algn="ctr"/>
                      <a:r>
                        <a:rPr sz="1150" b="1" i="0">
                          <a:solidFill>
                            <a:srgbClr val="FFFFFF"/>
                          </a:solidFill>
                          <a:latin typeface="Calibri"/>
                        </a:rPr>
                        <a:t>MCP tool image</a:t>
                      </a:r>
                    </a:p>
                  </a:txBody>
                  <a:tcPr marL="63500" marR="63500" marT="12700" marB="12700" anchor="ctr">
                    <a:solidFill>
                      <a:srgbClr val="1B3A5C"/>
                    </a:solidFill>
                  </a:tcPr>
                </a:tc>
                <a:tc>
                  <a:txBody>
                    <a:bodyPr/>
                    <a:lstStyle/>
                    <a:p>
                      <a:pPr algn="ctr"/>
                      <a:r>
                        <a:rPr sz="1150" b="1" i="0">
                          <a:solidFill>
                            <a:srgbClr val="FFFFFF"/>
                          </a:solidFill>
                          <a:latin typeface="Calibri"/>
                        </a:rPr>
                        <a:t>what the image bakes in</a:t>
                      </a:r>
                    </a:p>
                  </a:txBody>
                  <a:tcPr marL="63500" marR="63500" marT="12700" marB="12700" anchor="ctr">
                    <a:solidFill>
                      <a:srgbClr val="1B3A5C"/>
                    </a:solidFill>
                  </a:tcPr>
                </a:tc>
                <a:tc>
                  <a:txBody>
                    <a:bodyPr/>
                    <a:lstStyle/>
                    <a:p>
                      <a:pPr algn="ctr"/>
                      <a:r>
                        <a:rPr sz="1150" b="1" i="0">
                          <a:solidFill>
                            <a:srgbClr val="FFFFFF"/>
                          </a:solidFill>
                          <a:latin typeface="Calibri"/>
                        </a:rPr>
                        <a:t>what tool_env must add</a:t>
                      </a:r>
                    </a:p>
                  </a:txBody>
                  <a:tcPr marL="63500" marR="63500" marT="12700" marB="12700" anchor="ctr">
                    <a:solidFill>
                      <a:srgbClr val="1B3A5C"/>
                    </a:solidFill>
                  </a:tcPr>
                </a:tc>
              </a:tr>
              <a:tr h="525780">
                <a:tc>
                  <a:txBody>
                    <a:bodyPr/>
                    <a:lstStyle/>
                    <a:p>
                      <a:pPr algn="l"/>
                      <a:r>
                        <a:rPr sz="1150" b="1" i="0">
                          <a:solidFill>
                            <a:srgbClr val="1F2A37"/>
                          </a:solidFill>
                          <a:latin typeface="Calibri"/>
                        </a:rPr>
                        <a:t>gsm8k</a:t>
                      </a:r>
                    </a:p>
                  </a:txBody>
                  <a:tcPr marL="63500" marR="63500" marT="12700" marB="12700" anchor="ctr">
                    <a:solidFill>
                      <a:srgbClr val="FFFFFF"/>
                    </a:solidFill>
                  </a:tcPr>
                </a:tc>
                <a:tc>
                  <a:txBody>
                    <a:bodyPr/>
                    <a:lstStyle/>
                    <a:p>
                      <a:pPr algn="ctr"/>
                      <a:r>
                        <a:rPr sz="1150" b="0" i="0">
                          <a:solidFill>
                            <a:srgbClr val="1F2A37"/>
                          </a:solidFill>
                          <a:latin typeface="Calibri"/>
                        </a:rPr>
                        <a:t>exgentic-mcp-gsm8k</a:t>
                      </a:r>
                    </a:p>
                  </a:txBody>
                  <a:tcPr marL="63500" marR="63500" marT="12700" marB="12700" anchor="ctr">
                    <a:solidFill>
                      <a:srgbClr val="FFFFFF"/>
                    </a:solidFill>
                  </a:tcPr>
                </a:tc>
                <a:tc>
                  <a:txBody>
                    <a:bodyPr/>
                    <a:lstStyle/>
                    <a:p>
                      <a:pPr algn="ctr"/>
                      <a:r>
                        <a:rPr sz="1150" b="0" i="0">
                          <a:solidFill>
                            <a:srgbClr val="1F2A37"/>
                          </a:solidFill>
                          <a:latin typeface="Calibri"/>
                        </a:rPr>
                        <a:t>the HuggingFace dataset loader — 8.5K problems, fetched at pod startup</a:t>
                      </a:r>
                    </a:p>
                  </a:txBody>
                  <a:tcPr marL="63500" marR="63500" marT="12700" marB="12700" anchor="ctr">
                    <a:solidFill>
                      <a:srgbClr val="FFFFFF"/>
                    </a:solidFill>
                  </a:tcPr>
                </a:tc>
                <a:tc>
                  <a:txBody>
                    <a:bodyPr/>
                    <a:lstStyle/>
                    <a:p>
                      <a:pPr algn="ctr"/>
                      <a:r>
                        <a:rPr sz="1150" b="0" i="0">
                          <a:solidFill>
                            <a:srgbClr val="1F2A37"/>
                          </a:solidFill>
                          <a:latin typeface="Calibri"/>
                        </a:rPr>
                        <a:t>HF_TOKEN (from hf-secret), plus EXGENTIC_SET_BENCHMARK_RUNNER=direct</a:t>
                      </a:r>
                    </a:p>
                  </a:txBody>
                  <a:tcPr marL="63500" marR="63500" marT="12700" marB="12700" anchor="ctr">
                    <a:solidFill>
                      <a:srgbClr val="FFFFFF"/>
                    </a:solidFill>
                  </a:tcPr>
                </a:tc>
              </a:tr>
              <a:tr h="525780">
                <a:tc>
                  <a:txBody>
                    <a:bodyPr/>
                    <a:lstStyle/>
                    <a:p>
                      <a:pPr algn="l"/>
                      <a:r>
                        <a:rPr sz="1150" b="1" i="0">
                          <a:solidFill>
                            <a:srgbClr val="1F2A37"/>
                          </a:solidFill>
                          <a:latin typeface="Calibri"/>
                        </a:rPr>
                        <a:t>tau2</a:t>
                      </a:r>
                    </a:p>
                  </a:txBody>
                  <a:tcPr marL="63500" marR="63500" marT="12700" marB="12700" anchor="ctr">
                    <a:solidFill>
                      <a:srgbClr val="F4F6F8"/>
                    </a:solidFill>
                  </a:tcPr>
                </a:tc>
                <a:tc>
                  <a:txBody>
                    <a:bodyPr/>
                    <a:lstStyle/>
                    <a:p>
                      <a:pPr algn="ctr"/>
                      <a:r>
                        <a:rPr sz="1150" b="0" i="0">
                          <a:solidFill>
                            <a:srgbClr val="1F2A37"/>
                          </a:solidFill>
                          <a:latin typeface="Calibri"/>
                        </a:rPr>
                        <a:t>exgentic-mcp-tau2</a:t>
                      </a:r>
                    </a:p>
                  </a:txBody>
                  <a:tcPr marL="63500" marR="63500" marT="12700" marB="12700" anchor="ctr">
                    <a:solidFill>
                      <a:srgbClr val="F4F6F8"/>
                    </a:solidFill>
                  </a:tcPr>
                </a:tc>
                <a:tc>
                  <a:txBody>
                    <a:bodyPr/>
                    <a:lstStyle/>
                    <a:p>
                      <a:pPr algn="ctr"/>
                      <a:r>
                        <a:rPr sz="1150" b="0" i="0">
                          <a:solidFill>
                            <a:srgbClr val="1F2A37"/>
                          </a:solidFill>
                          <a:latin typeface="Calibri"/>
                        </a:rPr>
                        <a:t>the tau2-bench library + its retail domain (114 tasks), and a user-simulator LLM</a:t>
                      </a:r>
                    </a:p>
                  </a:txBody>
                  <a:tcPr marL="63500" marR="63500" marT="12700" marB="12700" anchor="ctr">
                    <a:solidFill>
                      <a:srgbClr val="F4F6F8"/>
                    </a:solidFill>
                  </a:tcPr>
                </a:tc>
                <a:tc>
                  <a:txBody>
                    <a:bodyPr/>
                    <a:lstStyle/>
                    <a:p>
                      <a:pPr algn="ctr"/>
                      <a:r>
                        <a:rPr sz="1150" b="0" i="0">
                          <a:solidFill>
                            <a:srgbClr val="1F2A37"/>
                          </a:solidFill>
                          <a:latin typeface="Calibri"/>
                        </a:rPr>
                        <a:t>OPENAI_API_KEY (from openai-secret) + EXGENTIC_SET_BENCHMARK_ACTION_TIMEOUT=1000 — the simulator makes its own inference calls (flow 4)</a:t>
                      </a:r>
                    </a:p>
                  </a:txBody>
                  <a:tcPr marL="63500" marR="63500" marT="12700" marB="12700" anchor="ctr">
                    <a:solidFill>
                      <a:srgbClr val="F4F6F8"/>
                    </a:solidFill>
                  </a:tcPr>
                </a:tc>
              </a:tr>
              <a:tr h="525780">
                <a:tc>
                  <a:txBody>
                    <a:bodyPr/>
                    <a:lstStyle/>
                    <a:p>
                      <a:pPr algn="l"/>
                      <a:r>
                        <a:rPr sz="1150" b="1" i="0">
                          <a:solidFill>
                            <a:srgbClr val="1F2A37"/>
                          </a:solidFill>
                          <a:latin typeface="Calibri"/>
                        </a:rPr>
                        <a:t>appworld</a:t>
                      </a:r>
                    </a:p>
                  </a:txBody>
                  <a:tcPr marL="63500" marR="63500" marT="12700" marB="12700" anchor="ctr">
                    <a:solidFill>
                      <a:srgbClr val="FFFFFF"/>
                    </a:solidFill>
                  </a:tcPr>
                </a:tc>
                <a:tc>
                  <a:txBody>
                    <a:bodyPr/>
                    <a:lstStyle/>
                    <a:p>
                      <a:pPr algn="ctr"/>
                      <a:r>
                        <a:rPr sz="1150" b="0" i="0">
                          <a:solidFill>
                            <a:srgbClr val="1F2A37"/>
                          </a:solidFill>
                          <a:latin typeface="Calibri"/>
                        </a:rPr>
                        <a:t>exgentic-mcp-appworld</a:t>
                      </a:r>
                    </a:p>
                  </a:txBody>
                  <a:tcPr marL="63500" marR="63500" marT="12700" marB="12700" anchor="ctr">
                    <a:solidFill>
                      <a:srgbClr val="FFFFFF"/>
                    </a:solidFill>
                  </a:tcPr>
                </a:tc>
                <a:tc>
                  <a:txBody>
                    <a:bodyPr/>
                    <a:lstStyle/>
                    <a:p>
                      <a:pPr algn="ctr"/>
                      <a:r>
                        <a:rPr sz="1150" b="0" i="0">
                          <a:solidFill>
                            <a:srgbClr val="1F2A37"/>
                          </a:solidFill>
                          <a:latin typeface="Calibri"/>
                        </a:rPr>
                        <a:t>the whole app-suite sandbox (exgentic install --benchmark appworld)</a:t>
                      </a:r>
                    </a:p>
                  </a:txBody>
                  <a:tcPr marL="63500" marR="63500" marT="12700" marB="12700" anchor="ctr">
                    <a:solidFill>
                      <a:srgbClr val="FFFFFF"/>
                    </a:solidFill>
                  </a:tcPr>
                </a:tc>
                <a:tc>
                  <a:txBody>
                    <a:bodyPr/>
                    <a:lstStyle/>
                    <a:p>
                      <a:pPr algn="ctr"/>
                      <a:r>
                        <a:rPr sz="1150" b="0" i="0">
                          <a:solidFill>
                            <a:srgbClr val="1F2A37"/>
                          </a:solidFill>
                          <a:latin typeface="Calibri"/>
                        </a:rPr>
                        <a:t>nothing beyond BENCHMARK_NAME — upstream's .env.appworld is explicitly empty</a:t>
                      </a:r>
                    </a:p>
                  </a:txBody>
                  <a:tcPr marL="63500" marR="63500" marT="12700" marB="12700" anchor="ctr">
                    <a:solidFill>
                      <a:srgbClr val="FFFFFF"/>
                    </a:solidFill>
                  </a:tcPr>
                </a:tc>
              </a:tr>
            </a:tbl>
          </a:graphicData>
        </a:graphic>
      </p:graphicFrame>
      <p:sp>
        <p:nvSpPr>
          <p:cNvPr id="4" name="Rounded Rectangle 3"/>
          <p:cNvSpPr/>
          <p:nvPr/>
        </p:nvSpPr>
        <p:spPr>
          <a:xfrm>
            <a:off x="411480" y="3566160"/>
            <a:ext cx="5532120" cy="109728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3D6E70"/>
                </a:solidFill>
                <a:latin typeface="Calibri"/>
              </a:rPr>
              <a:t>One agent image serves all three</a:t>
            </a:r>
          </a:p>
          <a:p>
            <a:pPr algn="ctr"/>
            <a:r>
              <a:rPr sz="1100" b="0" i="0">
                <a:solidFill>
                  <a:srgbClr val="1F2A37"/>
                </a:solidFill>
                <a:latin typeface="Calibri"/>
              </a:rPr>
              <a:t>exgentic-a2a-tool_calling:latest is the only key in every agents={...} map; per benchmark it only gains a -&lt;benchmark&gt; name suffix. So the benchmark lives in the MCP pod, and the subject under test is the same binary every time.</a:t>
            </a:r>
          </a:p>
        </p:txBody>
      </p:sp>
      <p:sp>
        <p:nvSpPr>
          <p:cNvPr id="5" name="Rounded Rectangle 4"/>
          <p:cNvSpPr/>
          <p:nvPr/>
        </p:nvSpPr>
        <p:spPr>
          <a:xfrm>
            <a:off x="6217920" y="3566160"/>
            <a:ext cx="5532120" cy="10972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2E6FB5"/>
                </a:solidFill>
                <a:latin typeface="Calibri"/>
              </a:rPr>
              <a:t>The LLM base is never baked in</a:t>
            </a:r>
          </a:p>
          <a:p>
            <a:pPr algn="ctr"/>
            <a:r>
              <a:rPr sz="1100" b="0" i="0">
                <a:solidFill>
                  <a:srgbClr val="1F2A37"/>
                </a:solidFill>
                <a:latin typeface="Calibri"/>
              </a:rPr>
              <a:t>OPENAI_API_BASE is injected per deploy from the instance's workload_llm.api_base, and tau2's simulator model from the run's model — a deploy with no gateway configured is rejected with 422 rather than defaulting.</a:t>
            </a:r>
          </a:p>
        </p:txBody>
      </p:sp>
      <p:sp>
        <p:nvSpPr>
          <p:cNvPr id="6" name="Rounded Rectangle 5"/>
          <p:cNvSpPr/>
          <p:nvPr/>
        </p:nvSpPr>
        <p:spPr>
          <a:xfrm>
            <a:off x="411480" y="4892040"/>
            <a:ext cx="11338560" cy="141732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50" b="1" i="0">
                <a:solidFill>
                  <a:srgbClr val="1F2A37"/>
                </a:solidFill>
                <a:latin typeface="Calibri"/>
              </a:rPr>
              <a:t>Two traps in that last column:  appworld REJECTS the same action-timeout override tau2 needs and crashes at startup with "Unknown benchmark override 'action_timeout'" — the env is per-benchmark, not a shared default.  And hf-secret must EXIST for gsm8k even though the dataset is public: without it the MCP pod sits in CreateContainerConfigError and the agent crash-loops.  Missing secrets surface as a 424 on the run precheck, naming exactly what to provision.</a:t>
            </a:r>
          </a:p>
        </p:txBody>
      </p:sp>
      <p:sp>
        <p:nvSpPr>
          <p:cNvPr id="7" name="TextBox 6"/>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7.1 The Three Benchmarks — a Difficulty Ladder">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7.1  The Three Benchmarks — a Difficulty Ladder</a:t>
            </a:r>
          </a:p>
          <a:p>
            <a:r>
              <a:rPr sz="1400" b="0" i="0">
                <a:solidFill>
                  <a:srgbClr val="C9D9EC"/>
                </a:solidFill>
                <a:latin typeface="Calibri"/>
              </a:rPr>
              <a:t>Not interchangeable suites: each costs ~an order of magnitude more than the last</a:t>
            </a:r>
          </a:p>
        </p:txBody>
      </p:sp>
      <p:graphicFrame>
        <p:nvGraphicFramePr>
          <p:cNvPr id="3" name="Table 2"/>
          <p:cNvGraphicFramePr>
            <a:graphicFrameLocks noGrp="1"/>
          </p:cNvGraphicFramePr>
          <p:nvPr/>
        </p:nvGraphicFramePr>
        <p:xfrm>
          <a:off x="411480" y="1188720"/>
          <a:ext cx="11338560" cy="3977639"/>
        </p:xfrm>
        <a:graphic>
          <a:graphicData uri="http://schemas.openxmlformats.org/drawingml/2006/table">
            <a:tbl>
              <a:tblPr firstRow="1">
                <a:tableStyleId>{5C22544A-7EE6-4342-B048-85BDC9FD1C3A}</a:tableStyleId>
              </a:tblPr>
              <a:tblGrid>
                <a:gridCol w="2286000"/>
                <a:gridCol w="3017520"/>
                <a:gridCol w="3017520"/>
                <a:gridCol w="3017520"/>
              </a:tblGrid>
              <a:tr h="305972">
                <a:tc>
                  <a:txBody>
                    <a:bodyPr/>
                    <a:lstStyle/>
                    <a:p>
                      <a:pPr algn="l"/>
                      <a:r>
                        <a:rPr sz="1100" b="1" i="0">
                          <a:solidFill>
                            <a:srgbClr val="FFFFFF"/>
                          </a:solidFill>
                          <a:latin typeface="Calibri"/>
                        </a:rPr>
                        <a:t/>
                      </a:r>
                    </a:p>
                  </a:txBody>
                  <a:tcPr marL="63500" marR="63500" marT="12700" marB="12700" anchor="ctr">
                    <a:solidFill>
                      <a:srgbClr val="1B3A5C"/>
                    </a:solidFill>
                  </a:tcPr>
                </a:tc>
                <a:tc>
                  <a:txBody>
                    <a:bodyPr/>
                    <a:lstStyle/>
                    <a:p>
                      <a:pPr algn="ctr"/>
                      <a:r>
                        <a:rPr sz="1100" b="1" i="0">
                          <a:solidFill>
                            <a:srgbClr val="FFFFFF"/>
                          </a:solidFill>
                          <a:latin typeface="Calibri"/>
                        </a:rPr>
                        <a:t>gsm8k</a:t>
                      </a:r>
                    </a:p>
                  </a:txBody>
                  <a:tcPr marL="63500" marR="63500" marT="12700" marB="12700" anchor="ctr">
                    <a:solidFill>
                      <a:srgbClr val="1B3A5C"/>
                    </a:solidFill>
                  </a:tcPr>
                </a:tc>
                <a:tc>
                  <a:txBody>
                    <a:bodyPr/>
                    <a:lstStyle/>
                    <a:p>
                      <a:pPr algn="ctr"/>
                      <a:r>
                        <a:rPr sz="1100" b="1" i="0">
                          <a:solidFill>
                            <a:srgbClr val="FFFFFF"/>
                          </a:solidFill>
                          <a:latin typeface="Calibri"/>
                        </a:rPr>
                        <a:t>tau2</a:t>
                      </a:r>
                    </a:p>
                  </a:txBody>
                  <a:tcPr marL="63500" marR="63500" marT="12700" marB="12700" anchor="ctr">
                    <a:solidFill>
                      <a:srgbClr val="1B3A5C"/>
                    </a:solidFill>
                  </a:tcPr>
                </a:tc>
                <a:tc>
                  <a:txBody>
                    <a:bodyPr/>
                    <a:lstStyle/>
                    <a:p>
                      <a:pPr algn="ctr"/>
                      <a:r>
                        <a:rPr sz="1100" b="1" i="0">
                          <a:solidFill>
                            <a:srgbClr val="FFFFFF"/>
                          </a:solidFill>
                          <a:latin typeface="Calibri"/>
                        </a:rPr>
                        <a:t>appworld</a:t>
                      </a:r>
                    </a:p>
                  </a:txBody>
                  <a:tcPr marL="63500" marR="63500" marT="12700" marB="12700" anchor="ctr">
                    <a:solidFill>
                      <a:srgbClr val="1B3A5C"/>
                    </a:solidFill>
                  </a:tcPr>
                </a:tc>
              </a:tr>
              <a:tr h="305972">
                <a:tc>
                  <a:txBody>
                    <a:bodyPr/>
                    <a:lstStyle/>
                    <a:p>
                      <a:pPr algn="l"/>
                      <a:r>
                        <a:rPr sz="1100" b="1" i="0">
                          <a:solidFill>
                            <a:srgbClr val="1F2A37"/>
                          </a:solidFill>
                          <a:latin typeface="Calibri"/>
                        </a:rPr>
                        <a:t>What it tests</a:t>
                      </a:r>
                    </a:p>
                  </a:txBody>
                  <a:tcPr marL="63500" marR="63500" marT="12700" marB="12700" anchor="ctr">
                    <a:solidFill>
                      <a:srgbClr val="FFFFFF"/>
                    </a:solidFill>
                  </a:tcPr>
                </a:tc>
                <a:tc>
                  <a:txBody>
                    <a:bodyPr/>
                    <a:lstStyle/>
                    <a:p>
                      <a:pPr algn="ctr"/>
                      <a:r>
                        <a:rPr sz="1100" b="0" i="0">
                          <a:solidFill>
                            <a:srgbClr val="1F2A37"/>
                          </a:solidFill>
                          <a:latin typeface="Calibri"/>
                        </a:rPr>
                        <a:t>multi-step arithmetic</a:t>
                      </a:r>
                    </a:p>
                  </a:txBody>
                  <a:tcPr marL="63500" marR="63500" marT="12700" marB="12700" anchor="ctr">
                    <a:solidFill>
                      <a:srgbClr val="FFFFFF"/>
                    </a:solidFill>
                  </a:tcPr>
                </a:tc>
                <a:tc>
                  <a:txBody>
                    <a:bodyPr/>
                    <a:lstStyle/>
                    <a:p>
                      <a:pPr algn="ctr"/>
                      <a:r>
                        <a:rPr sz="1100" b="0" i="0">
                          <a:solidFill>
                            <a:srgbClr val="1F2A37"/>
                          </a:solidFill>
                          <a:latin typeface="Calibri"/>
                        </a:rPr>
                        <a:t>multi-turn dialogue + tools</a:t>
                      </a:r>
                    </a:p>
                  </a:txBody>
                  <a:tcPr marL="63500" marR="63500" marT="12700" marB="12700" anchor="ctr">
                    <a:solidFill>
                      <a:srgbClr val="FFFFFF"/>
                    </a:solidFill>
                  </a:tcPr>
                </a:tc>
                <a:tc>
                  <a:txBody>
                    <a:bodyPr/>
                    <a:lstStyle/>
                    <a:p>
                      <a:pPr algn="ctr"/>
                      <a:r>
                        <a:rPr sz="1100" b="0" i="0">
                          <a:solidFill>
                            <a:srgbClr val="1F2A37"/>
                          </a:solidFill>
                          <a:latin typeface="Calibri"/>
                        </a:rPr>
                        <a:t>long-horizon app automation</a:t>
                      </a:r>
                    </a:p>
                  </a:txBody>
                  <a:tcPr marL="63500" marR="63500" marT="12700" marB="12700" anchor="ctr">
                    <a:solidFill>
                      <a:srgbClr val="FFFFFF"/>
                    </a:solidFill>
                  </a:tcPr>
                </a:tc>
              </a:tr>
              <a:tr h="305972">
                <a:tc>
                  <a:txBody>
                    <a:bodyPr/>
                    <a:lstStyle/>
                    <a:p>
                      <a:pPr algn="l"/>
                      <a:r>
                        <a:rPr sz="1100" b="1" i="0">
                          <a:solidFill>
                            <a:srgbClr val="1F2A37"/>
                          </a:solidFill>
                          <a:latin typeface="Calibri"/>
                        </a:rPr>
                        <a:t>Task rows measured</a:t>
                      </a:r>
                    </a:p>
                  </a:txBody>
                  <a:tcPr marL="63500" marR="63500" marT="12700" marB="12700" anchor="ctr">
                    <a:solidFill>
                      <a:srgbClr val="F4F6F8"/>
                    </a:solidFill>
                  </a:tcPr>
                </a:tc>
                <a:tc>
                  <a:txBody>
                    <a:bodyPr/>
                    <a:lstStyle/>
                    <a:p>
                      <a:pPr algn="ctr"/>
                      <a:r>
                        <a:rPr sz="1100" b="0" i="0">
                          <a:solidFill>
                            <a:srgbClr val="1F2A37"/>
                          </a:solidFill>
                          <a:latin typeface="Calibri"/>
                        </a:rPr>
                        <a:t>172 of 172</a:t>
                      </a:r>
                    </a:p>
                  </a:txBody>
                  <a:tcPr marL="63500" marR="63500" marT="12700" marB="12700" anchor="ctr">
                    <a:solidFill>
                      <a:srgbClr val="F4F6F8"/>
                    </a:solidFill>
                  </a:tcPr>
                </a:tc>
                <a:tc>
                  <a:txBody>
                    <a:bodyPr/>
                    <a:lstStyle/>
                    <a:p>
                      <a:pPr algn="ctr"/>
                      <a:r>
                        <a:rPr sz="1100" b="0" i="0">
                          <a:solidFill>
                            <a:srgbClr val="1F2A37"/>
                          </a:solidFill>
                          <a:latin typeface="Calibri"/>
                        </a:rPr>
                        <a:t>60 of 60</a:t>
                      </a:r>
                    </a:p>
                  </a:txBody>
                  <a:tcPr marL="63500" marR="63500" marT="12700" marB="12700" anchor="ctr">
                    <a:solidFill>
                      <a:srgbClr val="F4F6F8"/>
                    </a:solidFill>
                  </a:tcPr>
                </a:tc>
                <a:tc>
                  <a:txBody>
                    <a:bodyPr/>
                    <a:lstStyle/>
                    <a:p>
                      <a:pPr algn="ctr"/>
                      <a:r>
                        <a:rPr sz="1100" b="0" i="0">
                          <a:solidFill>
                            <a:srgbClr val="1F2A37"/>
                          </a:solidFill>
                          <a:latin typeface="Calibri"/>
                        </a:rPr>
                        <a:t>35 of 50 (15 timed out)</a:t>
                      </a:r>
                    </a:p>
                  </a:txBody>
                  <a:tcPr marL="63500" marR="63500" marT="12700" marB="12700" anchor="ctr">
                    <a:solidFill>
                      <a:srgbClr val="F4F6F8"/>
                    </a:solidFill>
                  </a:tcPr>
                </a:tc>
              </a:tr>
              <a:tr h="305972">
                <a:tc>
                  <a:txBody>
                    <a:bodyPr/>
                    <a:lstStyle/>
                    <a:p>
                      <a:pPr algn="l"/>
                      <a:r>
                        <a:rPr sz="1100" b="1" i="0">
                          <a:solidFill>
                            <a:srgbClr val="1F2A37"/>
                          </a:solidFill>
                          <a:latin typeface="Calibri"/>
                        </a:rPr>
                        <a:t>Rows with lost telemetry</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r>
              <a:tr h="305972">
                <a:tc>
                  <a:txBody>
                    <a:bodyPr/>
                    <a:lstStyle/>
                    <a:p>
                      <a:pPr algn="l"/>
                      <a:r>
                        <a:rPr sz="1100" b="1" i="0">
                          <a:solidFill>
                            <a:srgbClr val="1F2A37"/>
                          </a:solidFill>
                          <a:latin typeface="Calibri"/>
                        </a:rPr>
                        <a:t>Pass rate</a:t>
                      </a:r>
                    </a:p>
                  </a:txBody>
                  <a:tcPr marL="63500" marR="63500" marT="12700" marB="12700" anchor="ctr">
                    <a:solidFill>
                      <a:srgbClr val="F4F6F8"/>
                    </a:solidFill>
                  </a:tcPr>
                </a:tc>
                <a:tc>
                  <a:txBody>
                    <a:bodyPr/>
                    <a:lstStyle/>
                    <a:p>
                      <a:pPr algn="ctr"/>
                      <a:r>
                        <a:rPr sz="1100" b="0" i="0">
                          <a:solidFill>
                            <a:srgbClr val="1F2A37"/>
                          </a:solidFill>
                          <a:latin typeface="Calibri"/>
                        </a:rPr>
                        <a:t>0.97</a:t>
                      </a:r>
                    </a:p>
                  </a:txBody>
                  <a:tcPr marL="63500" marR="63500" marT="12700" marB="12700" anchor="ctr">
                    <a:solidFill>
                      <a:srgbClr val="F4F6F8"/>
                    </a:solidFill>
                  </a:tcPr>
                </a:tc>
                <a:tc>
                  <a:txBody>
                    <a:bodyPr/>
                    <a:lstStyle/>
                    <a:p>
                      <a:pPr algn="ctr"/>
                      <a:r>
                        <a:rPr sz="1100" b="0" i="0">
                          <a:solidFill>
                            <a:srgbClr val="1F2A37"/>
                          </a:solidFill>
                          <a:latin typeface="Calibri"/>
                        </a:rPr>
                        <a:t>0.83</a:t>
                      </a:r>
                    </a:p>
                  </a:txBody>
                  <a:tcPr marL="63500" marR="63500" marT="12700" marB="12700" anchor="ctr">
                    <a:solidFill>
                      <a:srgbClr val="F4F6F8"/>
                    </a:solidFill>
                  </a:tcPr>
                </a:tc>
                <a:tc>
                  <a:txBody>
                    <a:bodyPr/>
                    <a:lstStyle/>
                    <a:p>
                      <a:pPr algn="ctr"/>
                      <a:r>
                        <a:rPr sz="1100" b="0" i="0">
                          <a:solidFill>
                            <a:srgbClr val="1F2A37"/>
                          </a:solidFill>
                          <a:latin typeface="Calibri"/>
                        </a:rPr>
                        <a:t>0.00</a:t>
                      </a:r>
                    </a:p>
                  </a:txBody>
                  <a:tcPr marL="63500" marR="63500" marT="12700" marB="12700" anchor="ctr">
                    <a:solidFill>
                      <a:srgbClr val="F4F6F8"/>
                    </a:solidFill>
                  </a:tcPr>
                </a:tc>
              </a:tr>
              <a:tr h="305972">
                <a:tc>
                  <a:txBody>
                    <a:bodyPr/>
                    <a:lstStyle/>
                    <a:p>
                      <a:pPr algn="l"/>
                      <a:r>
                        <a:rPr sz="1100" b="1" i="0">
                          <a:solidFill>
                            <a:srgbClr val="1F2A37"/>
                          </a:solidFill>
                          <a:latin typeface="Calibri"/>
                        </a:rPr>
                        <a:t>Input tokens / task</a:t>
                      </a:r>
                    </a:p>
                  </a:txBody>
                  <a:tcPr marL="63500" marR="63500" marT="12700" marB="12700" anchor="ctr">
                    <a:solidFill>
                      <a:srgbClr val="FFFFFF"/>
                    </a:solidFill>
                  </a:tcPr>
                </a:tc>
                <a:tc>
                  <a:txBody>
                    <a:bodyPr/>
                    <a:lstStyle/>
                    <a:p>
                      <a:pPr algn="ctr"/>
                      <a:r>
                        <a:rPr sz="1100" b="0" i="0">
                          <a:solidFill>
                            <a:srgbClr val="1F2A37"/>
                          </a:solidFill>
                          <a:latin typeface="Calibri"/>
                        </a:rPr>
                        <a:t>341</a:t>
                      </a:r>
                    </a:p>
                  </a:txBody>
                  <a:tcPr marL="63500" marR="63500" marT="12700" marB="12700" anchor="ctr">
                    <a:solidFill>
                      <a:srgbClr val="FFFFFF"/>
                    </a:solidFill>
                  </a:tcPr>
                </a:tc>
                <a:tc>
                  <a:txBody>
                    <a:bodyPr/>
                    <a:lstStyle/>
                    <a:p>
                      <a:pPr algn="ctr"/>
                      <a:r>
                        <a:rPr sz="1100" b="0" i="0">
                          <a:solidFill>
                            <a:srgbClr val="1F2A37"/>
                          </a:solidFill>
                          <a:latin typeface="Calibri"/>
                        </a:rPr>
                        <a:t>90,902</a:t>
                      </a:r>
                    </a:p>
                  </a:txBody>
                  <a:tcPr marL="63500" marR="63500" marT="12700" marB="12700" anchor="ctr">
                    <a:solidFill>
                      <a:srgbClr val="FFFFFF"/>
                    </a:solidFill>
                  </a:tcPr>
                </a:tc>
                <a:tc>
                  <a:txBody>
                    <a:bodyPr/>
                    <a:lstStyle/>
                    <a:p>
                      <a:pPr algn="ctr"/>
                      <a:r>
                        <a:rPr sz="1100" b="0" i="0">
                          <a:solidFill>
                            <a:srgbClr val="1F2A37"/>
                          </a:solidFill>
                          <a:latin typeface="Calibri"/>
                        </a:rPr>
                        <a:t>269,953</a:t>
                      </a:r>
                    </a:p>
                  </a:txBody>
                  <a:tcPr marL="63500" marR="63500" marT="12700" marB="12700" anchor="ctr">
                    <a:solidFill>
                      <a:srgbClr val="FFFFFF"/>
                    </a:solidFill>
                  </a:tcPr>
                </a:tc>
              </a:tr>
              <a:tr h="305972">
                <a:tc>
                  <a:txBody>
                    <a:bodyPr/>
                    <a:lstStyle/>
                    <a:p>
                      <a:pPr algn="l"/>
                      <a:r>
                        <a:rPr sz="1100" b="1" i="0">
                          <a:solidFill>
                            <a:srgbClr val="1F2A37"/>
                          </a:solidFill>
                          <a:latin typeface="Calibri"/>
                        </a:rPr>
                        <a:t>Output tokens / task</a:t>
                      </a:r>
                    </a:p>
                  </a:txBody>
                  <a:tcPr marL="63500" marR="63500" marT="12700" marB="12700" anchor="ctr">
                    <a:solidFill>
                      <a:srgbClr val="F4F6F8"/>
                    </a:solidFill>
                  </a:tcPr>
                </a:tc>
                <a:tc>
                  <a:txBody>
                    <a:bodyPr/>
                    <a:lstStyle/>
                    <a:p>
                      <a:pPr algn="ctr"/>
                      <a:r>
                        <a:rPr sz="1100" b="0" i="0">
                          <a:solidFill>
                            <a:srgbClr val="1F2A37"/>
                          </a:solidFill>
                          <a:latin typeface="Calibri"/>
                        </a:rPr>
                        <a:t>180</a:t>
                      </a:r>
                    </a:p>
                  </a:txBody>
                  <a:tcPr marL="63500" marR="63500" marT="12700" marB="12700" anchor="ctr">
                    <a:solidFill>
                      <a:srgbClr val="F4F6F8"/>
                    </a:solidFill>
                  </a:tcPr>
                </a:tc>
                <a:tc>
                  <a:txBody>
                    <a:bodyPr/>
                    <a:lstStyle/>
                    <a:p>
                      <a:pPr algn="ctr"/>
                      <a:r>
                        <a:rPr sz="1100" b="0" i="0">
                          <a:solidFill>
                            <a:srgbClr val="1F2A37"/>
                          </a:solidFill>
                          <a:latin typeface="Calibri"/>
                        </a:rPr>
                        <a:t>2,061</a:t>
                      </a:r>
                    </a:p>
                  </a:txBody>
                  <a:tcPr marL="63500" marR="63500" marT="12700" marB="12700" anchor="ctr">
                    <a:solidFill>
                      <a:srgbClr val="F4F6F8"/>
                    </a:solidFill>
                  </a:tcPr>
                </a:tc>
                <a:tc>
                  <a:txBody>
                    <a:bodyPr/>
                    <a:lstStyle/>
                    <a:p>
                      <a:pPr algn="ctr"/>
                      <a:r>
                        <a:rPr sz="1100" b="0" i="0">
                          <a:solidFill>
                            <a:srgbClr val="1F2A37"/>
                          </a:solidFill>
                          <a:latin typeface="Calibri"/>
                        </a:rPr>
                        <a:t>25,140</a:t>
                      </a:r>
                    </a:p>
                  </a:txBody>
                  <a:tcPr marL="63500" marR="63500" marT="12700" marB="12700" anchor="ctr">
                    <a:solidFill>
                      <a:srgbClr val="F4F6F8"/>
                    </a:solidFill>
                  </a:tcPr>
                </a:tc>
              </a:tr>
              <a:tr h="305972">
                <a:tc>
                  <a:txBody>
                    <a:bodyPr/>
                    <a:lstStyle/>
                    <a:p>
                      <a:pPr algn="l"/>
                      <a:r>
                        <a:rPr sz="1100" b="1" i="0">
                          <a:solidFill>
                            <a:srgbClr val="1F2A37"/>
                          </a:solidFill>
                          <a:latin typeface="Calibri"/>
                        </a:rPr>
                        <a:t>LLM calls / task</a:t>
                      </a:r>
                    </a:p>
                  </a:txBody>
                  <a:tcPr marL="63500" marR="63500" marT="12700" marB="12700" anchor="ctr">
                    <a:solidFill>
                      <a:srgbClr val="FFFFFF"/>
                    </a:solidFill>
                  </a:tcPr>
                </a:tc>
                <a:tc>
                  <a:txBody>
                    <a:bodyPr/>
                    <a:lstStyle/>
                    <a:p>
                      <a:pPr algn="ctr"/>
                      <a:r>
                        <a:rPr sz="1100" b="0" i="0">
                          <a:solidFill>
                            <a:srgbClr val="1F2A37"/>
                          </a:solidFill>
                          <a:latin typeface="Calibri"/>
                        </a:rPr>
                        <a:t>1.1</a:t>
                      </a:r>
                    </a:p>
                  </a:txBody>
                  <a:tcPr marL="63500" marR="63500" marT="12700" marB="12700" anchor="ctr">
                    <a:solidFill>
                      <a:srgbClr val="FFFFFF"/>
                    </a:solidFill>
                  </a:tcPr>
                </a:tc>
                <a:tc>
                  <a:txBody>
                    <a:bodyPr/>
                    <a:lstStyle/>
                    <a:p>
                      <a:pPr algn="ctr"/>
                      <a:r>
                        <a:rPr sz="1100" b="0" i="0">
                          <a:solidFill>
                            <a:srgbClr val="1F2A37"/>
                          </a:solidFill>
                          <a:latin typeface="Calibri"/>
                        </a:rPr>
                        <a:t>11.4</a:t>
                      </a:r>
                    </a:p>
                  </a:txBody>
                  <a:tcPr marL="63500" marR="63500" marT="12700" marB="12700" anchor="ctr">
                    <a:solidFill>
                      <a:srgbClr val="FFFFFF"/>
                    </a:solidFill>
                  </a:tcPr>
                </a:tc>
                <a:tc>
                  <a:txBody>
                    <a:bodyPr/>
                    <a:lstStyle/>
                    <a:p>
                      <a:pPr algn="ctr"/>
                      <a:r>
                        <a:rPr sz="1100" b="0" i="0">
                          <a:solidFill>
                            <a:srgbClr val="1F2A37"/>
                          </a:solidFill>
                          <a:latin typeface="Calibri"/>
                        </a:rPr>
                        <a:t>29.2</a:t>
                      </a:r>
                    </a:p>
                  </a:txBody>
                  <a:tcPr marL="63500" marR="63500" marT="12700" marB="12700" anchor="ctr">
                    <a:solidFill>
                      <a:srgbClr val="FFFFFF"/>
                    </a:solidFill>
                  </a:tcPr>
                </a:tc>
              </a:tr>
              <a:tr h="305972">
                <a:tc>
                  <a:txBody>
                    <a:bodyPr/>
                    <a:lstStyle/>
                    <a:p>
                      <a:pPr algn="l"/>
                      <a:r>
                        <a:rPr sz="1100" b="1" i="0">
                          <a:solidFill>
                            <a:srgbClr val="1F2A37"/>
                          </a:solidFill>
                          <a:latin typeface="Calibri"/>
                        </a:rPr>
                        <a:t>Tool calls / task</a:t>
                      </a:r>
                    </a:p>
                  </a:txBody>
                  <a:tcPr marL="63500" marR="63500" marT="12700" marB="12700" anchor="ctr">
                    <a:solidFill>
                      <a:srgbClr val="F4F6F8"/>
                    </a:solidFill>
                  </a:tcPr>
                </a:tc>
                <a:tc>
                  <a:txBody>
                    <a:bodyPr/>
                    <a:lstStyle/>
                    <a:p>
                      <a:pPr algn="ctr"/>
                      <a:r>
                        <a:rPr sz="1100" b="0" i="0">
                          <a:solidFill>
                            <a:srgbClr val="1F2A37"/>
                          </a:solidFill>
                          <a:latin typeface="Calibri"/>
                        </a:rPr>
                        <a:t>1.1</a:t>
                      </a:r>
                    </a:p>
                  </a:txBody>
                  <a:tcPr marL="63500" marR="63500" marT="12700" marB="12700" anchor="ctr">
                    <a:solidFill>
                      <a:srgbClr val="F4F6F8"/>
                    </a:solidFill>
                  </a:tcPr>
                </a:tc>
                <a:tc>
                  <a:txBody>
                    <a:bodyPr/>
                    <a:lstStyle/>
                    <a:p>
                      <a:pPr algn="ctr"/>
                      <a:r>
                        <a:rPr sz="1100" b="0" i="0">
                          <a:solidFill>
                            <a:srgbClr val="1F2A37"/>
                          </a:solidFill>
                          <a:latin typeface="Calibri"/>
                        </a:rPr>
                        <a:t>11.4</a:t>
                      </a:r>
                    </a:p>
                  </a:txBody>
                  <a:tcPr marL="63500" marR="63500" marT="12700" marB="12700" anchor="ctr">
                    <a:solidFill>
                      <a:srgbClr val="F4F6F8"/>
                    </a:solidFill>
                  </a:tcPr>
                </a:tc>
                <a:tc>
                  <a:txBody>
                    <a:bodyPr/>
                    <a:lstStyle/>
                    <a:p>
                      <a:pPr algn="ctr"/>
                      <a:r>
                        <a:rPr sz="1100" b="0" i="0">
                          <a:solidFill>
                            <a:srgbClr val="1F2A37"/>
                          </a:solidFill>
                          <a:latin typeface="Calibri"/>
                        </a:rPr>
                        <a:t>14.6</a:t>
                      </a:r>
                    </a:p>
                  </a:txBody>
                  <a:tcPr marL="63500" marR="63500" marT="12700" marB="12700" anchor="ctr">
                    <a:solidFill>
                      <a:srgbClr val="F4F6F8"/>
                    </a:solidFill>
                  </a:tcPr>
                </a:tc>
              </a:tr>
              <a:tr h="305972">
                <a:tc>
                  <a:txBody>
                    <a:bodyPr/>
                    <a:lstStyle/>
                    <a:p>
                      <a:pPr algn="l"/>
                      <a:r>
                        <a:rPr sz="1100" b="1" i="0">
                          <a:solidFill>
                            <a:srgbClr val="1F2A37"/>
                          </a:solidFill>
                          <a:latin typeface="Calibri"/>
                        </a:rPr>
                        <a:t>Median task latency</a:t>
                      </a:r>
                    </a:p>
                  </a:txBody>
                  <a:tcPr marL="63500" marR="63500" marT="12700" marB="12700" anchor="ctr">
                    <a:solidFill>
                      <a:srgbClr val="FFFFFF"/>
                    </a:solidFill>
                  </a:tcPr>
                </a:tc>
                <a:tc>
                  <a:txBody>
                    <a:bodyPr/>
                    <a:lstStyle/>
                    <a:p>
                      <a:pPr algn="ctr"/>
                      <a:r>
                        <a:rPr sz="1100" b="0" i="0">
                          <a:solidFill>
                            <a:srgbClr val="1F2A37"/>
                          </a:solidFill>
                          <a:latin typeface="Calibri"/>
                        </a:rPr>
                        <a:t>4.9 s</a:t>
                      </a:r>
                    </a:p>
                  </a:txBody>
                  <a:tcPr marL="63500" marR="63500" marT="12700" marB="12700" anchor="ctr">
                    <a:solidFill>
                      <a:srgbClr val="FFFFFF"/>
                    </a:solidFill>
                  </a:tcPr>
                </a:tc>
                <a:tc>
                  <a:txBody>
                    <a:bodyPr/>
                    <a:lstStyle/>
                    <a:p>
                      <a:pPr algn="ctr"/>
                      <a:r>
                        <a:rPr sz="1100" b="0" i="0">
                          <a:solidFill>
                            <a:srgbClr val="1F2A37"/>
                          </a:solidFill>
                          <a:latin typeface="Calibri"/>
                        </a:rPr>
                        <a:t>84 s</a:t>
                      </a:r>
                    </a:p>
                  </a:txBody>
                  <a:tcPr marL="63500" marR="63500" marT="12700" marB="12700" anchor="ctr">
                    <a:solidFill>
                      <a:srgbClr val="FFFFFF"/>
                    </a:solidFill>
                  </a:tcPr>
                </a:tc>
                <a:tc>
                  <a:txBody>
                    <a:bodyPr/>
                    <a:lstStyle/>
                    <a:p>
                      <a:pPr algn="ctr"/>
                      <a:r>
                        <a:rPr sz="1100" b="0" i="0">
                          <a:solidFill>
                            <a:srgbClr val="1F2A37"/>
                          </a:solidFill>
                          <a:latin typeface="Calibri"/>
                        </a:rPr>
                        <a:t>264 s</a:t>
                      </a:r>
                    </a:p>
                  </a:txBody>
                  <a:tcPr marL="63500" marR="63500" marT="12700" marB="12700" anchor="ctr">
                    <a:solidFill>
                      <a:srgbClr val="FFFFFF"/>
                    </a:solidFill>
                  </a:tcPr>
                </a:tc>
              </a:tr>
              <a:tr h="305972">
                <a:tc>
                  <a:txBody>
                    <a:bodyPr/>
                    <a:lstStyle/>
                    <a:p>
                      <a:pPr algn="l"/>
                      <a:r>
                        <a:rPr sz="1100" b="1" i="0">
                          <a:solidFill>
                            <a:srgbClr val="1F2A37"/>
                          </a:solidFill>
                          <a:latin typeface="Calibri"/>
                        </a:rPr>
                        <a:t>Slowest task seen</a:t>
                      </a:r>
                    </a:p>
                  </a:txBody>
                  <a:tcPr marL="63500" marR="63500" marT="12700" marB="12700" anchor="ctr">
                    <a:solidFill>
                      <a:srgbClr val="F4F6F8"/>
                    </a:solidFill>
                  </a:tcPr>
                </a:tc>
                <a:tc>
                  <a:txBody>
                    <a:bodyPr/>
                    <a:lstStyle/>
                    <a:p>
                      <a:pPr algn="ctr"/>
                      <a:r>
                        <a:rPr sz="1100" b="0" i="0">
                          <a:solidFill>
                            <a:srgbClr val="1F2A37"/>
                          </a:solidFill>
                          <a:latin typeface="Calibri"/>
                        </a:rPr>
                        <a:t>39 s</a:t>
                      </a:r>
                    </a:p>
                  </a:txBody>
                  <a:tcPr marL="63500" marR="63500" marT="12700" marB="12700" anchor="ctr">
                    <a:solidFill>
                      <a:srgbClr val="F4F6F8"/>
                    </a:solidFill>
                  </a:tcPr>
                </a:tc>
                <a:tc>
                  <a:txBody>
                    <a:bodyPr/>
                    <a:lstStyle/>
                    <a:p>
                      <a:pPr algn="ctr"/>
                      <a:r>
                        <a:rPr sz="1100" b="0" i="0">
                          <a:solidFill>
                            <a:srgbClr val="1F2A37"/>
                          </a:solidFill>
                          <a:latin typeface="Calibri"/>
                        </a:rPr>
                        <a:t>136 s</a:t>
                      </a:r>
                    </a:p>
                  </a:txBody>
                  <a:tcPr marL="63500" marR="63500" marT="12700" marB="12700" anchor="ctr">
                    <a:solidFill>
                      <a:srgbClr val="F4F6F8"/>
                    </a:solidFill>
                  </a:tcPr>
                </a:tc>
                <a:tc>
                  <a:txBody>
                    <a:bodyPr/>
                    <a:lstStyle/>
                    <a:p>
                      <a:pPr algn="ctr"/>
                      <a:r>
                        <a:rPr sz="1100" b="0" i="0">
                          <a:solidFill>
                            <a:srgbClr val="1F2A37"/>
                          </a:solidFill>
                          <a:latin typeface="Calibri"/>
                        </a:rPr>
                        <a:t>592 s</a:t>
                      </a:r>
                    </a:p>
                  </a:txBody>
                  <a:tcPr marL="63500" marR="63500" marT="12700" marB="12700" anchor="ctr">
                    <a:solidFill>
                      <a:srgbClr val="F4F6F8"/>
                    </a:solidFill>
                  </a:tcPr>
                </a:tc>
              </a:tr>
              <a:tr h="305972">
                <a:tc>
                  <a:txBody>
                    <a:bodyPr/>
                    <a:lstStyle/>
                    <a:p>
                      <a:pPr algn="l"/>
                      <a:r>
                        <a:rPr sz="1100" b="1" i="0">
                          <a:solidFill>
                            <a:srgbClr val="1F2A37"/>
                          </a:solidFill>
                          <a:latin typeface="Calibri"/>
                        </a:rPr>
                        <a:t>Model we use</a:t>
                      </a:r>
                    </a:p>
                  </a:txBody>
                  <a:tcPr marL="63500" marR="63500" marT="12700" marB="12700" anchor="ctr">
                    <a:solidFill>
                      <a:srgbClr val="FFFFFF"/>
                    </a:solidFill>
                  </a:tcPr>
                </a:tc>
                <a:tc>
                  <a:txBody>
                    <a:bodyPr/>
                    <a:lstStyle/>
                    <a:p>
                      <a:pPr algn="ctr"/>
                      <a:r>
                        <a:rPr sz="1100" b="0" i="0">
                          <a:solidFill>
                            <a:srgbClr val="1F2A37"/>
                          </a:solidFill>
                          <a:latin typeface="Calibri"/>
                        </a:rPr>
                        <a:t>gpt-5-mini</a:t>
                      </a:r>
                    </a:p>
                  </a:txBody>
                  <a:tcPr marL="63500" marR="63500" marT="12700" marB="12700" anchor="ctr">
                    <a:solidFill>
                      <a:srgbClr val="FFFFFF"/>
                    </a:solidFill>
                  </a:tcPr>
                </a:tc>
                <a:tc>
                  <a:txBody>
                    <a:bodyPr/>
                    <a:lstStyle/>
                    <a:p>
                      <a:pPr algn="ctr"/>
                      <a:r>
                        <a:rPr sz="1100" b="0" i="0">
                          <a:solidFill>
                            <a:srgbClr val="1F2A37"/>
                          </a:solidFill>
                          <a:latin typeface="Calibri"/>
                        </a:rPr>
                        <a:t>claude-sonnet-5</a:t>
                      </a:r>
                    </a:p>
                  </a:txBody>
                  <a:tcPr marL="63500" marR="63500" marT="12700" marB="12700" anchor="ctr">
                    <a:solidFill>
                      <a:srgbClr val="FFFFFF"/>
                    </a:solidFill>
                  </a:tcPr>
                </a:tc>
                <a:tc>
                  <a:txBody>
                    <a:bodyPr/>
                    <a:lstStyle/>
                    <a:p>
                      <a:pPr algn="ctr"/>
                      <a:r>
                        <a:rPr sz="1100" b="0" i="0">
                          <a:solidFill>
                            <a:srgbClr val="1F2A37"/>
                          </a:solidFill>
                          <a:latin typeface="Calibri"/>
                        </a:rPr>
                        <a:t>gemini-2.5-pro</a:t>
                      </a:r>
                    </a:p>
                  </a:txBody>
                  <a:tcPr marL="63500" marR="63500" marT="12700" marB="12700" anchor="ctr">
                    <a:solidFill>
                      <a:srgbClr val="FFFFFF"/>
                    </a:solidFill>
                  </a:tcPr>
                </a:tc>
              </a:tr>
              <a:tr h="305975">
                <a:tc>
                  <a:txBody>
                    <a:bodyPr/>
                    <a:lstStyle/>
                    <a:p>
                      <a:pPr algn="l"/>
                      <a:r>
                        <a:rPr sz="1100" b="1" i="0">
                          <a:solidFill>
                            <a:srgbClr val="1F2A37"/>
                          </a:solidFill>
                          <a:latin typeface="Calibri"/>
                        </a:rPr>
                        <a:t>Task pool</a:t>
                      </a:r>
                    </a:p>
                  </a:txBody>
                  <a:tcPr marL="63500" marR="63500" marT="12700" marB="12700" anchor="ctr">
                    <a:solidFill>
                      <a:srgbClr val="F4F6F8"/>
                    </a:solidFill>
                  </a:tcPr>
                </a:tc>
                <a:tc>
                  <a:txBody>
                    <a:bodyPr/>
                    <a:lstStyle/>
                    <a:p>
                      <a:pPr algn="ctr"/>
                      <a:r>
                        <a:rPr sz="1100" b="0" i="0">
                          <a:solidFill>
                            <a:srgbClr val="1F2A37"/>
                          </a:solidFill>
                          <a:latin typeface="Calibri"/>
                        </a:rPr>
                        <a:t>8.5K (HuggingFace)</a:t>
                      </a:r>
                    </a:p>
                  </a:txBody>
                  <a:tcPr marL="63500" marR="63500" marT="12700" marB="12700" anchor="ctr">
                    <a:solidFill>
                      <a:srgbClr val="F4F6F8"/>
                    </a:solidFill>
                  </a:tcPr>
                </a:tc>
                <a:tc>
                  <a:txBody>
                    <a:bodyPr/>
                    <a:lstStyle/>
                    <a:p>
                      <a:pPr algn="ctr"/>
                      <a:r>
                        <a:rPr sz="1100" b="0" i="0">
                          <a:solidFill>
                            <a:srgbClr val="1F2A37"/>
                          </a:solidFill>
                          <a:latin typeface="Calibri"/>
                        </a:rPr>
                        <a:t>114 (retail domain)</a:t>
                      </a:r>
                    </a:p>
                  </a:txBody>
                  <a:tcPr marL="63500" marR="63500" marT="12700" marB="12700" anchor="ctr">
                    <a:solidFill>
                      <a:srgbClr val="F4F6F8"/>
                    </a:solidFill>
                  </a:tcPr>
                </a:tc>
                <a:tc>
                  <a:txBody>
                    <a:bodyPr/>
                    <a:lstStyle/>
                    <a:p>
                      <a:pPr algn="ctr"/>
                      <a:r>
                        <a:rPr sz="1100" b="0" i="0">
                          <a:solidFill>
                            <a:srgbClr val="1F2A37"/>
                          </a:solidFill>
                          <a:latin typeface="Calibri"/>
                        </a:rPr>
                        <a:t>grouped scenarios</a:t>
                      </a:r>
                    </a:p>
                  </a:txBody>
                  <a:tcPr marL="63500" marR="63500" marT="12700" marB="12700" anchor="ctr">
                    <a:solidFill>
                      <a:srgbClr val="F4F6F8"/>
                    </a:solidFill>
                  </a:tcPr>
                </a:tc>
              </a:tr>
            </a:tbl>
          </a:graphicData>
        </a:graphic>
      </p:graphicFrame>
      <p:sp>
        <p:nvSpPr>
          <p:cNvPr id="4" name="Rounded Rectangle 3"/>
          <p:cNvSpPr/>
          <p:nvPr/>
        </p:nvSpPr>
        <p:spPr>
          <a:xfrm>
            <a:off x="411480" y="5532120"/>
            <a:ext cx="11338560" cy="86868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50" b="1" i="0">
                <a:solidFill>
                  <a:srgbClr val="1F2A37"/>
                </a:solidFill>
                <a:latin typeface="Calibri"/>
              </a:rPr>
              <a:t>The scale gap is the headline: a tau2 task costs ~267x the input tokens of a gsm8k task, an appworld task ~792x. A 50-task gsm8k run is a minute; a 20-task appworld run is 30-45 minutes and millions of tokens. Budget by benchmark, not by task count.</a:t>
            </a:r>
          </a:p>
        </p:txBody>
      </p:sp>
      <p:sp>
        <p:nvSpPr>
          <p:cNvPr id="5" name="TextBox 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7.2 What Each Benchmark Stresse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7.2  What Each Benchmark Stresses</a:t>
            </a:r>
          </a:p>
          <a:p>
            <a:r>
              <a:rPr sz="1400" b="0" i="0">
                <a:solidFill>
                  <a:srgbClr val="C9D9EC"/>
                </a:solidFill>
                <a:latin typeface="Calibri"/>
              </a:rPr>
              <a:t>Why all three are in the matrix, and what a result from each does and does not tell you</a:t>
            </a:r>
          </a:p>
        </p:txBody>
      </p:sp>
      <p:sp>
        <p:nvSpPr>
          <p:cNvPr id="3" name="Rounded Rectangle 2"/>
          <p:cNvSpPr/>
          <p:nvPr/>
        </p:nvSpPr>
        <p:spPr>
          <a:xfrm>
            <a:off x="411480" y="1188720"/>
            <a:ext cx="3703320" cy="566928"/>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gsm8k  —  the canary</a:t>
            </a:r>
          </a:p>
        </p:txBody>
      </p:sp>
      <p:sp>
        <p:nvSpPr>
          <p:cNvPr id="4" name="Rounded Rectangle 3"/>
          <p:cNvSpPr/>
          <p:nvPr/>
        </p:nvSpPr>
        <p:spPr>
          <a:xfrm>
            <a:off x="411480" y="1847088"/>
            <a:ext cx="3703320" cy="416052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One prompt in, one answer out — no dialogue partner.</a:t>
            </a:r>
          </a:p>
          <a:p>
            <a:pPr algn="l">
              <a:spcAft>
                <a:spcPts val="500"/>
              </a:spcAft>
            </a:pPr>
            <a:r>
              <a:rPr sz="1000" b="0" i="0">
                <a:solidFill>
                  <a:srgbClr val="1F2A37"/>
                </a:solidFill>
                <a:latin typeface="Calibri"/>
              </a:rPr>
              <a:t>• ~1 real LLM call + 1 tool call: the simplest agentic loop.</a:t>
            </a:r>
          </a:p>
          <a:p>
            <a:pPr algn="l">
              <a:spcAft>
                <a:spcPts val="500"/>
              </a:spcAft>
            </a:pPr>
            <a:r>
              <a:rPr sz="1000" b="0" i="0">
                <a:solidFill>
                  <a:srgbClr val="1F2A37"/>
                </a:solidFill>
                <a:latin typeface="Calibri"/>
              </a:rPr>
              <a:t>• Stresses almost nothing about the platform — which is the point.</a:t>
            </a:r>
          </a:p>
          <a:p>
            <a:pPr algn="l">
              <a:spcAft>
                <a:spcPts val="500"/>
              </a:spcAft>
            </a:pPr>
            <a:r>
              <a:rPr sz="1000" b="0" i="0">
                <a:solidFill>
                  <a:srgbClr val="1F2A37"/>
                </a:solidFill>
                <a:latin typeface="Calibri"/>
              </a:rPr>
              <a:t>• A failure here means INFRASTRUCTURE: deploy, auth, LLM reach, telemetry.</a:t>
            </a:r>
          </a:p>
          <a:p>
            <a:pPr algn="l">
              <a:spcAft>
                <a:spcPts val="500"/>
              </a:spcAft>
            </a:pPr>
            <a:r>
              <a:rPr sz="1000" b="0" i="0">
                <a:solidFill>
                  <a:srgbClr val="1F2A37"/>
                </a:solidFill>
                <a:latin typeface="Calibri"/>
              </a:rPr>
              <a:t>• Saturates near 1.0, so it cannot discriminate models. Never read it as one.</a:t>
            </a:r>
          </a:p>
          <a:p>
            <a:pPr algn="l">
              <a:spcAft>
                <a:spcPts val="500"/>
              </a:spcAft>
            </a:pPr>
            <a:r>
              <a:rPr sz="1000" b="0" i="0">
                <a:solidFill>
                  <a:srgbClr val="1F2A37"/>
                </a:solidFill>
                <a:latin typeface="Calibri"/>
              </a:rPr>
              <a:t>• Deterministic enough that task 0 costs 320 input tokens on every cluster — we use that to prove two environments are comparable.</a:t>
            </a:r>
          </a:p>
          <a:p>
            <a:pPr algn="l">
              <a:spcAft>
                <a:spcPts val="500"/>
              </a:spcAft>
            </a:pPr>
            <a:r>
              <a:rPr sz="1000" b="0" i="0">
                <a:solidFill>
                  <a:srgbClr val="1F2A37"/>
                </a:solidFill>
                <a:latin typeface="Calibri"/>
              </a:rPr>
              <a:t>• Cheap enough to run often: a 50-task leg is 25 K tokens — 0.4% of the whole 12-run matrix's bill, and less than a SINGLE appworld task (see 7.4).</a:t>
            </a:r>
          </a:p>
        </p:txBody>
      </p:sp>
      <p:sp>
        <p:nvSpPr>
          <p:cNvPr id="5" name="Rounded Rectangle 4"/>
          <p:cNvSpPr/>
          <p:nvPr/>
        </p:nvSpPr>
        <p:spPr>
          <a:xfrm>
            <a:off x="411480" y="1188720"/>
            <a:ext cx="3611880" cy="566928"/>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gsm8k — the canary</a:t>
            </a:r>
          </a:p>
        </p:txBody>
      </p:sp>
      <p:sp>
        <p:nvSpPr>
          <p:cNvPr id="6" name="Rounded Rectangle 5"/>
          <p:cNvSpPr/>
          <p:nvPr/>
        </p:nvSpPr>
        <p:spPr>
          <a:xfrm>
            <a:off x="4270248" y="1188720"/>
            <a:ext cx="3703320" cy="566928"/>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tau2  —  the discriminator</a:t>
            </a:r>
          </a:p>
        </p:txBody>
      </p:sp>
      <p:sp>
        <p:nvSpPr>
          <p:cNvPr id="7" name="Rounded Rectangle 6"/>
          <p:cNvSpPr/>
          <p:nvPr/>
        </p:nvSpPr>
        <p:spPr>
          <a:xfrm>
            <a:off x="4270248" y="1847088"/>
            <a:ext cx="3703320" cy="416052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Multi-turn: a server-side USER SIMULATOR LLM plays the customer.</a:t>
            </a:r>
          </a:p>
          <a:p>
            <a:pPr algn="l">
              <a:spcAft>
                <a:spcPts val="500"/>
              </a:spcAft>
            </a:pPr>
            <a:r>
              <a:rPr sz="1000" b="0" i="0">
                <a:solidFill>
                  <a:srgbClr val="1F2A37"/>
                </a:solidFill>
                <a:latin typeface="Calibri"/>
              </a:rPr>
              <a:t>• Two models talk to each other, plus ~11 tool calls per task.</a:t>
            </a:r>
          </a:p>
          <a:p>
            <a:pPr algn="l">
              <a:spcAft>
                <a:spcPts val="500"/>
              </a:spcAft>
            </a:pPr>
            <a:r>
              <a:rPr sz="1000" b="0" i="0">
                <a:solidFill>
                  <a:srgbClr val="1F2A37"/>
                </a:solidFill>
                <a:latin typeface="Calibri"/>
              </a:rPr>
              <a:t>• Domain is retail (114 tasks) — the library default, never recorded in artifacts.</a:t>
            </a:r>
          </a:p>
          <a:p>
            <a:pPr algn="l">
              <a:spcAft>
                <a:spcPts val="500"/>
              </a:spcAft>
            </a:pPr>
            <a:r>
              <a:rPr sz="1000" b="0" i="0">
                <a:solidFill>
                  <a:srgbClr val="1F2A37"/>
                </a:solidFill>
                <a:latin typeface="Calibri"/>
              </a:rPr>
              <a:t>• The only leg where model choice dominates: 0.1 with gpt-5-mini vs 0.9 with claude-sonnet-5 on the SAME 10 tasks.</a:t>
            </a:r>
          </a:p>
          <a:p>
            <a:pPr algn="l">
              <a:spcAft>
                <a:spcPts val="500"/>
              </a:spcAft>
            </a:pPr>
            <a:r>
              <a:rPr sz="1000" b="0" i="0">
                <a:solidFill>
                  <a:srgbClr val="1F2A37"/>
                </a:solidFill>
                <a:latin typeface="Calibri"/>
              </a:rPr>
              <a:t>• Episodes are nondeterministic: the same 10 tasks scored 0.90 on one cluster and 1.00 on the other, in the same matrix.</a:t>
            </a:r>
          </a:p>
          <a:p>
            <a:pPr algn="l">
              <a:spcAft>
                <a:spcPts val="500"/>
              </a:spcAft>
            </a:pPr>
            <a:r>
              <a:rPr sz="1000" b="0" i="0">
                <a:solidFill>
                  <a:srgbClr val="1F2A37"/>
                </a:solidFill>
                <a:latin typeface="Calibri"/>
              </a:rPr>
              <a:t>• At n=10 one task moves pass_rate by 0.10 — it cannot resolve less than that.</a:t>
            </a:r>
          </a:p>
          <a:p>
            <a:pPr algn="l">
              <a:spcAft>
                <a:spcPts val="500"/>
              </a:spcAft>
            </a:pPr>
            <a:r>
              <a:rPr sz="1000" b="0" i="0">
                <a:solidFill>
                  <a:srgbClr val="1F2A37"/>
                </a:solidFill>
                <a:latin typeface="Calibri"/>
              </a:rPr>
              <a:t>• 27% of a task's wall time sits INSIDE tool calls — that is the simulator generating, server-side, and its tokens appear in no report of ours.</a:t>
            </a:r>
          </a:p>
        </p:txBody>
      </p:sp>
      <p:sp>
        <p:nvSpPr>
          <p:cNvPr id="8" name="Rounded Rectangle 7"/>
          <p:cNvSpPr/>
          <p:nvPr/>
        </p:nvSpPr>
        <p:spPr>
          <a:xfrm>
            <a:off x="4270248" y="1188720"/>
            <a:ext cx="3611880" cy="566928"/>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tau2 — the discriminator</a:t>
            </a:r>
          </a:p>
        </p:txBody>
      </p:sp>
      <p:sp>
        <p:nvSpPr>
          <p:cNvPr id="9" name="Rounded Rectangle 8"/>
          <p:cNvSpPr/>
          <p:nvPr/>
        </p:nvSpPr>
        <p:spPr>
          <a:xfrm>
            <a:off x="8129016" y="1188720"/>
            <a:ext cx="3703320" cy="56692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appworld  —  the stress test</a:t>
            </a:r>
          </a:p>
        </p:txBody>
      </p:sp>
      <p:sp>
        <p:nvSpPr>
          <p:cNvPr id="10" name="Rounded Rectangle 9"/>
          <p:cNvSpPr/>
          <p:nvPr/>
        </p:nvSpPr>
        <p:spPr>
          <a:xfrm>
            <a:off x="8129016" y="1847088"/>
            <a:ext cx="3703320" cy="416052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Realistic chores across simulated apps: discover APIs, chain many calls.</a:t>
            </a:r>
          </a:p>
          <a:p>
            <a:pPr algn="l">
              <a:spcAft>
                <a:spcPts val="500"/>
              </a:spcAft>
            </a:pPr>
            <a:r>
              <a:rPr sz="1000" b="0" i="0">
                <a:solidFill>
                  <a:srgbClr val="1F2A37"/>
                </a:solidFill>
                <a:latin typeface="Calibri"/>
              </a:rPr>
              <a:t>• ~29 LLM calls, ~15 tool calls, ~270k input, ~4.5 min per task.</a:t>
            </a:r>
          </a:p>
          <a:p>
            <a:pPr algn="l">
              <a:spcAft>
                <a:spcPts val="500"/>
              </a:spcAft>
            </a:pPr>
            <a:r>
              <a:rPr sz="1000" b="0" i="0">
                <a:solidFill>
                  <a:srgbClr val="1F2A37"/>
                </a:solidFill>
                <a:latin typeface="Calibri"/>
              </a:rPr>
              <a:t>• Evaluation is PROGRAMMATIC unit tests over final app state — no LLM judge.</a:t>
            </a:r>
          </a:p>
          <a:p>
            <a:pPr algn="l">
              <a:spcAft>
                <a:spcPts val="500"/>
              </a:spcAft>
            </a:pPr>
            <a:r>
              <a:rPr sz="1000" b="0" i="0">
                <a:solidFill>
                  <a:srgbClr val="1F2A37"/>
                </a:solidFill>
                <a:latin typeface="Calibri"/>
              </a:rPr>
              <a:t>• Pass rate 0.0 is honest, not broken: runs complete and tokens record — the agent just does not finish the job.</a:t>
            </a:r>
          </a:p>
          <a:p>
            <a:pPr algn="l">
              <a:spcAft>
                <a:spcPts val="500"/>
              </a:spcAft>
            </a:pPr>
            <a:r>
              <a:rPr sz="1000" b="0" i="0">
                <a:solidFill>
                  <a:srgbClr val="1F2A37"/>
                </a:solidFill>
                <a:latin typeface="Calibri"/>
              </a:rPr>
              <a:t>• 34 of 35 measured tasks call finish: it believes it is done and the assertions disagree. No verification pass.</a:t>
            </a:r>
          </a:p>
          <a:p>
            <a:pPr algn="l">
              <a:spcAft>
                <a:spcPts val="500"/>
              </a:spcAft>
            </a:pPr>
            <a:r>
              <a:rPr sz="1000" b="0" i="0">
                <a:solidFill>
                  <a:srgbClr val="1F2A37"/>
                </a:solidFill>
                <a:latin typeface="Calibri"/>
              </a:rPr>
              <a:t>• Its job here is pipeline stress: long contexts, big traces, real timeouts.</a:t>
            </a:r>
          </a:p>
          <a:p>
            <a:pPr algn="l">
              <a:spcAft>
                <a:spcPts val="500"/>
              </a:spcAft>
            </a:pPr>
            <a:r>
              <a:rPr sz="1000" b="0" i="0">
                <a:solidFill>
                  <a:srgbClr val="1F2A37"/>
                </a:solidFill>
                <a:latin typeface="Calibri"/>
              </a:rPr>
              <a:t>• Two model calls per tool call — tool shortlisting, which only bites with an API surface this large. The first carries 68% of the input tokens.</a:t>
            </a:r>
          </a:p>
        </p:txBody>
      </p:sp>
      <p:sp>
        <p:nvSpPr>
          <p:cNvPr id="11" name="Rounded Rectangle 10"/>
          <p:cNvSpPr/>
          <p:nvPr/>
        </p:nvSpPr>
        <p:spPr>
          <a:xfrm>
            <a:off x="8129016" y="1188720"/>
            <a:ext cx="3611880" cy="56692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appworld — the stress test</a:t>
            </a:r>
          </a:p>
        </p:txBody>
      </p:sp>
      <p:sp>
        <p:nvSpPr>
          <p:cNvPr id="12" name="TextBox 11"/>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7.3 Reading the Numbers — Five Things That Mislead">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7.3  Reading the Numbers — Five Things That Mislead</a:t>
            </a:r>
          </a:p>
          <a:p>
            <a:r>
              <a:rPr sz="1400" b="0" i="0">
                <a:solidFill>
                  <a:srgbClr val="C9D9EC"/>
                </a:solidFill>
                <a:latin typeface="Calibri"/>
              </a:rPr>
              <a:t>Every one of these cost us a wrong conclusion first</a:t>
            </a:r>
          </a:p>
        </p:txBody>
      </p:sp>
      <p:sp>
        <p:nvSpPr>
          <p:cNvPr id="3" name="Rounded Rectangle 2"/>
          <p:cNvSpPr/>
          <p:nvPr/>
        </p:nvSpPr>
        <p:spPr>
          <a:xfrm>
            <a:off x="411480" y="1207008"/>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1.  pass_rate = evaluated_pass / total</a:t>
            </a:r>
          </a:p>
          <a:p>
            <a:pPr algn="l"/>
            <a:r>
              <a:rPr sz="1100" b="0" i="0">
                <a:solidFill>
                  <a:srgbClr val="3A4654"/>
                </a:solidFill>
                <a:latin typeface="Calibri"/>
              </a:rPr>
              <a:t>A task that ERRORS before evaluation counts as not passed, so a low rate can mean “failed the task” or “never got judged”. Check the error column too.</a:t>
            </a:r>
          </a:p>
        </p:txBody>
      </p:sp>
      <p:sp>
        <p:nvSpPr>
          <p:cNvPr id="4" name="Rounded Rectangle 3"/>
          <p:cNvSpPr/>
          <p:nvPr/>
        </p:nvSpPr>
        <p:spPr>
          <a:xfrm>
            <a:off x="411480" y="2267712"/>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2.  The llm column changed meaning between agent versions — never compare across it</a:t>
            </a:r>
          </a:p>
          <a:p>
            <a:pPr algn="l"/>
            <a:r>
              <a:rPr sz="1100" b="0" i="0">
                <a:solidFill>
                  <a:srgbClr val="3A4654"/>
                </a:solidFill>
                <a:latin typeface="Calibri"/>
              </a:rPr>
              <a:t>Agents up to exgentic 0.3.5.dev131 issued a max_tokens=1 capability probe counted as a chat span, so THEIR llm=2 on gsm8k means ONE real call. From dev145 the probe is an unbilled GET /v1/models that emits no span — verified absent across all 1,895 chat spans of these two matrices. Current runs count real calls 1:1, with no offset to subtract.</a:t>
            </a:r>
          </a:p>
        </p:txBody>
      </p:sp>
      <p:sp>
        <p:nvSpPr>
          <p:cNvPr id="5" name="Rounded Rectangle 4"/>
          <p:cNvSpPr/>
          <p:nvPr/>
        </p:nvSpPr>
        <p:spPr>
          <a:xfrm>
            <a:off x="411480" y="3328416"/>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3.  Implausibly small tokens = lost telemetry, and tokens == 0 will not catch it</a:t>
            </a:r>
          </a:p>
          <a:p>
            <a:pPr algn="l"/>
            <a:r>
              <a:rPr sz="1100" b="0" i="0">
                <a:solidFill>
                  <a:srgbClr val="3A4654"/>
                </a:solidFill>
                <a:latin typeface="Calibri"/>
              </a:rPr>
              <a:t>Use the structural test: llm &lt;= 1 with tool &gt;= 2 is impossible, since each tool call needs a preceding model turn. A zero-check misses the cases that matter — while the probe existed it was the span that SURVIVED the loss, carrying 8/1 on claude-sonnet-5 and 1/0 on gemini. The structural pair holds across agent versions; it is what the generators use.</a:t>
            </a:r>
          </a:p>
        </p:txBody>
      </p:sp>
      <p:sp>
        <p:nvSpPr>
          <p:cNvPr id="6" name="Rounded Rectangle 5"/>
          <p:cNvSpPr/>
          <p:nvPr/>
        </p:nvSpPr>
        <p:spPr>
          <a:xfrm>
            <a:off x="411480" y="4389120"/>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4.  Output varies MORE than input, in most runs</a:t>
            </a:r>
          </a:p>
          <a:p>
            <a:pPr algn="l"/>
            <a:r>
              <a:rPr sz="1100" b="0" i="0">
                <a:solidFill>
                  <a:srgbClr val="3A4654"/>
                </a:solidFill>
                <a:latin typeface="Calibri"/>
              </a:rPr>
              <a:t>Measured OUT CV &gt; IN CV in 15 of the 22 legs that ran more than one task. gsm8k's prompt is near-constant while answer length swings; only long-horizon appworld inverts it, in all four of its legs. Do not infer a direction from the mechanism — read the CV.</a:t>
            </a:r>
          </a:p>
        </p:txBody>
      </p:sp>
      <p:sp>
        <p:nvSpPr>
          <p:cNvPr id="7" name="Rounded Rectangle 6"/>
          <p:cNvSpPr/>
          <p:nvPr/>
        </p:nvSpPr>
        <p:spPr>
          <a:xfrm>
            <a:off x="411480" y="5449824"/>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5.  Task selection is deterministic</a:t>
            </a:r>
          </a:p>
          <a:p>
            <a:pPr algn="l"/>
            <a:r>
              <a:rPr sz="1100" b="0" i="0">
                <a:solidFill>
                  <a:srgbClr val="3A4654"/>
                </a:solidFill>
                <a:latin typeface="Calibri"/>
              </a:rPr>
              <a:t>A run takes the first max_tasks tasks, so the same task_id is the same task across runs and clusters, and a smaller run is a prefix of a larger one. That is what makes cross-platform comparison like-for-like — six legs matched to the byte.</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7.4 Picking a Benchmark — and What That Leg Cost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7.4  Picking a Benchmark — and What That Leg Costs</a:t>
            </a:r>
          </a:p>
          <a:p>
            <a:r>
              <a:rPr sz="1400" b="0" i="0">
                <a:solidFill>
                  <a:srgbClr val="C9D9EC"/>
                </a:solidFill>
                <a:latin typeface="Calibri"/>
              </a:rPr>
              <a:t>The actionable summary: what each benchmark is FOR, and the token bill it hands you</a:t>
            </a:r>
          </a:p>
        </p:txBody>
      </p:sp>
      <p:graphicFrame>
        <p:nvGraphicFramePr>
          <p:cNvPr id="3" name="Table 2"/>
          <p:cNvGraphicFramePr>
            <a:graphicFrameLocks noGrp="1"/>
          </p:cNvGraphicFramePr>
          <p:nvPr/>
        </p:nvGraphicFramePr>
        <p:xfrm>
          <a:off x="411480" y="1188720"/>
          <a:ext cx="5989320" cy="2331720"/>
        </p:xfrm>
        <a:graphic>
          <a:graphicData uri="http://schemas.openxmlformats.org/drawingml/2006/table">
            <a:tbl>
              <a:tblPr firstRow="1">
                <a:tableStyleId>{5C22544A-7EE6-4342-B048-85BDC9FD1C3A}</a:tableStyleId>
              </a:tblPr>
              <a:tblGrid>
                <a:gridCol w="3291840"/>
                <a:gridCol w="2697480"/>
              </a:tblGrid>
              <a:tr h="388620">
                <a:tc>
                  <a:txBody>
                    <a:bodyPr/>
                    <a:lstStyle/>
                    <a:p>
                      <a:pPr algn="l"/>
                      <a:r>
                        <a:rPr sz="1050" b="1" i="0">
                          <a:solidFill>
                            <a:srgbClr val="FFFFFF"/>
                          </a:solidFill>
                          <a:latin typeface="Calibri"/>
                        </a:rPr>
                        <a:t>If you want to …</a:t>
                      </a:r>
                    </a:p>
                  </a:txBody>
                  <a:tcPr marL="63500" marR="63500" marT="12700" marB="12700" anchor="ctr">
                    <a:solidFill>
                      <a:srgbClr val="1B3A5C"/>
                    </a:solidFill>
                  </a:tcPr>
                </a:tc>
                <a:tc>
                  <a:txBody>
                    <a:bodyPr/>
                    <a:lstStyle/>
                    <a:p>
                      <a:pPr algn="ctr"/>
                      <a:r>
                        <a:rPr sz="1050" b="1" i="0">
                          <a:solidFill>
                            <a:srgbClr val="FFFFFF"/>
                          </a:solidFill>
                          <a:latin typeface="Calibri"/>
                        </a:rPr>
                        <a:t>use</a:t>
                      </a:r>
                    </a:p>
                  </a:txBody>
                  <a:tcPr marL="63500" marR="63500" marT="12700" marB="12700" anchor="ctr">
                    <a:solidFill>
                      <a:srgbClr val="1B3A5C"/>
                    </a:solidFill>
                  </a:tcPr>
                </a:tc>
              </a:tr>
              <a:tr h="388620">
                <a:tc>
                  <a:txBody>
                    <a:bodyPr/>
                    <a:lstStyle/>
                    <a:p>
                      <a:pPr algn="l"/>
                      <a:r>
                        <a:rPr sz="1050" b="0" i="0">
                          <a:solidFill>
                            <a:srgbClr val="1F2A37"/>
                          </a:solidFill>
                          <a:latin typeface="Calibri"/>
                        </a:rPr>
                        <a:t>check a cluster / deploy / auth / telemetry path works</a:t>
                      </a:r>
                    </a:p>
                  </a:txBody>
                  <a:tcPr marL="63500" marR="63500" marT="12700" marB="12700" anchor="ctr">
                    <a:solidFill>
                      <a:srgbClr val="FFFFFF"/>
                    </a:solidFill>
                  </a:tcPr>
                </a:tc>
                <a:tc>
                  <a:txBody>
                    <a:bodyPr/>
                    <a:lstStyle/>
                    <a:p>
                      <a:pPr algn="ctr"/>
                      <a:r>
                        <a:rPr sz="1050" b="0" i="0">
                          <a:solidFill>
                            <a:srgbClr val="1F2A37"/>
                          </a:solidFill>
                          <a:latin typeface="Calibri"/>
                        </a:rPr>
                        <a:t>gsm8k, 1–10 tasks</a:t>
                      </a:r>
                    </a:p>
                  </a:txBody>
                  <a:tcPr marL="63500" marR="63500" marT="12700" marB="12700" anchor="ctr">
                    <a:solidFill>
                      <a:srgbClr val="FFFFFF"/>
                    </a:solidFill>
                  </a:tcPr>
                </a:tc>
              </a:tr>
              <a:tr h="388620">
                <a:tc>
                  <a:txBody>
                    <a:bodyPr/>
                    <a:lstStyle/>
                    <a:p>
                      <a:pPr algn="l"/>
                      <a:r>
                        <a:rPr sz="1050" b="0" i="0">
                          <a:solidFill>
                            <a:srgbClr val="1F2A37"/>
                          </a:solidFill>
                          <a:latin typeface="Calibri"/>
                        </a:rPr>
                        <a:t>exercise concurrency and volume cheaply</a:t>
                      </a:r>
                    </a:p>
                  </a:txBody>
                  <a:tcPr marL="63500" marR="63500" marT="12700" marB="12700" anchor="ctr">
                    <a:solidFill>
                      <a:srgbClr val="F4F6F8"/>
                    </a:solidFill>
                  </a:tcPr>
                </a:tc>
                <a:tc>
                  <a:txBody>
                    <a:bodyPr/>
                    <a:lstStyle/>
                    <a:p>
                      <a:pPr algn="ctr"/>
                      <a:r>
                        <a:rPr sz="1050" b="0" i="0">
                          <a:solidFill>
                            <a:srgbClr val="1F2A37"/>
                          </a:solidFill>
                          <a:latin typeface="Calibri"/>
                        </a:rPr>
                        <a:t>gsm8k, 50 tasks at p=4</a:t>
                      </a:r>
                    </a:p>
                  </a:txBody>
                  <a:tcPr marL="63500" marR="63500" marT="12700" marB="12700" anchor="ctr">
                    <a:solidFill>
                      <a:srgbClr val="F4F6F8"/>
                    </a:solidFill>
                  </a:tcPr>
                </a:tc>
              </a:tr>
              <a:tr h="388620">
                <a:tc>
                  <a:txBody>
                    <a:bodyPr/>
                    <a:lstStyle/>
                    <a:p>
                      <a:pPr algn="l"/>
                      <a:r>
                        <a:rPr sz="1050" b="0" i="0">
                          <a:solidFill>
                            <a:srgbClr val="1F2A37"/>
                          </a:solidFill>
                          <a:latin typeface="Calibri"/>
                        </a:rPr>
                        <a:t>compare models meaningfully</a:t>
                      </a:r>
                    </a:p>
                  </a:txBody>
                  <a:tcPr marL="63500" marR="63500" marT="12700" marB="12700" anchor="ctr">
                    <a:solidFill>
                      <a:srgbClr val="FFFFFF"/>
                    </a:solidFill>
                  </a:tcPr>
                </a:tc>
                <a:tc>
                  <a:txBody>
                    <a:bodyPr/>
                    <a:lstStyle/>
                    <a:p>
                      <a:pPr algn="ctr"/>
                      <a:r>
                        <a:rPr sz="1050" b="0" i="0">
                          <a:solidFill>
                            <a:srgbClr val="1F2A37"/>
                          </a:solidFill>
                          <a:latin typeface="Calibri"/>
                        </a:rPr>
                        <a:t>tau2 — it discriminates; gsm8k saturates at ~1.0</a:t>
                      </a:r>
                    </a:p>
                  </a:txBody>
                  <a:tcPr marL="63500" marR="63500" marT="12700" marB="12700" anchor="ctr">
                    <a:solidFill>
                      <a:srgbClr val="FFFFFF"/>
                    </a:solidFill>
                  </a:tcPr>
                </a:tc>
              </a:tr>
              <a:tr h="388620">
                <a:tc>
                  <a:txBody>
                    <a:bodyPr/>
                    <a:lstStyle/>
                    <a:p>
                      <a:pPr algn="l"/>
                      <a:r>
                        <a:rPr sz="1050" b="0" i="0">
                          <a:solidFill>
                            <a:srgbClr val="1F2A37"/>
                          </a:solidFill>
                          <a:latin typeface="Calibri"/>
                        </a:rPr>
                        <a:t>stress long contexts, long tasks, timeouts</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r>
              <a:tr h="388620">
                <a:tc>
                  <a:txBody>
                    <a:bodyPr/>
                    <a:lstStyle/>
                    <a:p>
                      <a:pPr algn="l"/>
                      <a:r>
                        <a:rPr sz="1050" b="0" i="0">
                          <a:solidFill>
                            <a:srgbClr val="1F2A37"/>
                          </a:solidFill>
                          <a:latin typeface="Calibri"/>
                        </a:rPr>
                        <a:t>get a fast signal that nothing regressed</a:t>
                      </a:r>
                    </a:p>
                  </a:txBody>
                  <a:tcPr marL="63500" marR="63500" marT="12700" marB="12700" anchor="ctr">
                    <a:solidFill>
                      <a:srgbClr val="FFFFFF"/>
                    </a:solidFill>
                  </a:tcPr>
                </a:tc>
                <a:tc>
                  <a:txBody>
                    <a:bodyPr/>
                    <a:lstStyle/>
                    <a:p>
                      <a:pPr algn="ctr"/>
                      <a:r>
                        <a:rPr sz="1050" b="0" i="0">
                          <a:solidFill>
                            <a:srgbClr val="1F2A37"/>
                          </a:solidFill>
                          <a:latin typeface="Calibri"/>
                        </a:rPr>
                        <a:t>gsm8k — if it fails, stop and fix infrastructure</a:t>
                      </a:r>
                    </a:p>
                  </a:txBody>
                  <a:tcPr marL="63500" marR="63500" marT="12700" marB="12700" anchor="ctr">
                    <a:solidFill>
                      <a:srgbClr val="FFFFFF"/>
                    </a:solidFill>
                  </a:tcPr>
                </a:tc>
              </a:tr>
            </a:tbl>
          </a:graphicData>
        </a:graphic>
      </p:graphicFrame>
      <p:graphicFrame>
        <p:nvGraphicFramePr>
          <p:cNvPr id="4" name="Table 3"/>
          <p:cNvGraphicFramePr>
            <a:graphicFrameLocks noGrp="1"/>
          </p:cNvGraphicFramePr>
          <p:nvPr/>
        </p:nvGraphicFramePr>
        <p:xfrm>
          <a:off x="6675120" y="1188720"/>
          <a:ext cx="5074920" cy="2331720"/>
        </p:xfrm>
        <a:graphic>
          <a:graphicData uri="http://schemas.openxmlformats.org/drawingml/2006/table">
            <a:tbl>
              <a:tblPr firstRow="1">
                <a:tableStyleId>{5C22544A-7EE6-4342-B048-85BDC9FD1C3A}</a:tableStyleId>
              </a:tblPr>
              <a:tblGrid>
                <a:gridCol w="2697480"/>
                <a:gridCol w="1188720"/>
                <a:gridCol w="1188720"/>
              </a:tblGrid>
              <a:tr h="259080">
                <a:tc>
                  <a:txBody>
                    <a:bodyPr/>
                    <a:lstStyle/>
                    <a:p>
                      <a:pPr algn="l"/>
                      <a:r>
                        <a:rPr sz="1050" b="1" i="0">
                          <a:solidFill>
                            <a:srgbClr val="FFFFFF"/>
                          </a:solidFill>
                          <a:latin typeface="Calibri"/>
                        </a:rPr>
                        <a:t>leg (v1.28)</a:t>
                      </a:r>
                    </a:p>
                  </a:txBody>
                  <a:tcPr marL="63500" marR="63500" marT="12700" marB="12700" anchor="ctr">
                    <a:solidFill>
                      <a:srgbClr val="1B3A5C"/>
                    </a:solidFill>
                  </a:tcPr>
                </a:tc>
                <a:tc>
                  <a:txBody>
                    <a:bodyPr/>
                    <a:lstStyle/>
                    <a:p>
                      <a:pPr algn="ctr"/>
                      <a:r>
                        <a:rPr sz="1050" b="1" i="0">
                          <a:solidFill>
                            <a:srgbClr val="FFFFFF"/>
                          </a:solidFill>
                          <a:latin typeface="Calibri"/>
                        </a:rPr>
                        <a:t>tokens OCP</a:t>
                      </a:r>
                    </a:p>
                  </a:txBody>
                  <a:tcPr marL="63500" marR="63500" marT="12700" marB="12700" anchor="ctr">
                    <a:solidFill>
                      <a:srgbClr val="1B3A5C"/>
                    </a:solidFill>
                  </a:tcPr>
                </a:tc>
                <a:tc>
                  <a:txBody>
                    <a:bodyPr/>
                    <a:lstStyle/>
                    <a:p>
                      <a:pPr algn="ctr"/>
                      <a:r>
                        <a:rPr sz="1050" b="1" i="0">
                          <a:solidFill>
                            <a:srgbClr val="FFFFFF"/>
                          </a:solidFill>
                          <a:latin typeface="Calibri"/>
                        </a:rPr>
                        <a:t>tokens KinD</a:t>
                      </a:r>
                    </a:p>
                  </a:txBody>
                  <a:tcPr marL="63500" marR="63500" marT="12700" marB="12700" anchor="ctr">
                    <a:solidFill>
                      <a:srgbClr val="1B3A5C"/>
                    </a:solidFill>
                  </a:tcPr>
                </a:tc>
              </a:tr>
              <a:tr h="259080">
                <a:tc>
                  <a:txBody>
                    <a:bodyPr/>
                    <a:lstStyle/>
                    <a:p>
                      <a:pPr algn="l"/>
                      <a:r>
                        <a:rPr sz="1050" b="1" i="0">
                          <a:solidFill>
                            <a:srgbClr val="1F2A37"/>
                          </a:solidFill>
                          <a:latin typeface="Calibri"/>
                        </a:rPr>
                        <a:t>#1  gsm8k, 1 task</a:t>
                      </a:r>
                    </a:p>
                  </a:txBody>
                  <a:tcPr marL="63500" marR="63500" marT="12700" marB="12700" anchor="ctr">
                    <a:solidFill>
                      <a:srgbClr val="FFFFFF"/>
                    </a:solidFill>
                  </a:tcPr>
                </a:tc>
                <a:tc>
                  <a:txBody>
                    <a:bodyPr/>
                    <a:lstStyle/>
                    <a:p>
                      <a:pPr algn="ctr"/>
                      <a:r>
                        <a:rPr sz="1050" b="0" i="0">
                          <a:solidFill>
                            <a:srgbClr val="1F2A37"/>
                          </a:solidFill>
                          <a:latin typeface="Calibri"/>
                        </a:rPr>
                        <a:t>470</a:t>
                      </a:r>
                    </a:p>
                  </a:txBody>
                  <a:tcPr marL="63500" marR="63500" marT="12700" marB="12700" anchor="ctr">
                    <a:solidFill>
                      <a:srgbClr val="FFFFFF"/>
                    </a:solidFill>
                  </a:tcPr>
                </a:tc>
                <a:tc>
                  <a:txBody>
                    <a:bodyPr/>
                    <a:lstStyle/>
                    <a:p>
                      <a:pPr algn="ctr"/>
                      <a:r>
                        <a:rPr sz="1050" b="0" i="0">
                          <a:solidFill>
                            <a:srgbClr val="1F2A37"/>
                          </a:solidFill>
                          <a:latin typeface="Calibri"/>
                        </a:rPr>
                        <a:t>790</a:t>
                      </a:r>
                    </a:p>
                  </a:txBody>
                  <a:tcPr marL="63500" marR="63500" marT="12700" marB="12700" anchor="ctr">
                    <a:solidFill>
                      <a:srgbClr val="FFFFFF"/>
                    </a:solidFill>
                  </a:tcPr>
                </a:tc>
              </a:tr>
              <a:tr h="259080">
                <a:tc>
                  <a:txBody>
                    <a:bodyPr/>
                    <a:lstStyle/>
                    <a:p>
                      <a:pPr algn="l"/>
                      <a:r>
                        <a:rPr sz="1050" b="1" i="0">
                          <a:solidFill>
                            <a:srgbClr val="1F2A37"/>
                          </a:solidFill>
                          <a:latin typeface="Calibri"/>
                        </a:rPr>
                        <a:t>#2  gsm8k, 10 tasks</a:t>
                      </a:r>
                    </a:p>
                  </a:txBody>
                  <a:tcPr marL="63500" marR="63500" marT="12700" marB="12700" anchor="ctr">
                    <a:solidFill>
                      <a:srgbClr val="F4F6F8"/>
                    </a:solidFill>
                  </a:tcPr>
                </a:tc>
                <a:tc>
                  <a:txBody>
                    <a:bodyPr/>
                    <a:lstStyle/>
                    <a:p>
                      <a:pPr algn="ctr"/>
                      <a:r>
                        <a:rPr sz="1050" b="0" i="0">
                          <a:solidFill>
                            <a:srgbClr val="1F2A37"/>
                          </a:solidFill>
                          <a:latin typeface="Calibri"/>
                        </a:rPr>
                        <a:t>5.1 K</a:t>
                      </a:r>
                    </a:p>
                  </a:txBody>
                  <a:tcPr marL="63500" marR="63500" marT="12700" marB="12700" anchor="ctr">
                    <a:solidFill>
                      <a:srgbClr val="F4F6F8"/>
                    </a:solidFill>
                  </a:tcPr>
                </a:tc>
                <a:tc>
                  <a:txBody>
                    <a:bodyPr/>
                    <a:lstStyle/>
                    <a:p>
                      <a:pPr algn="ctr"/>
                      <a:r>
                        <a:rPr sz="1050" b="0" i="0">
                          <a:solidFill>
                            <a:srgbClr val="1F2A37"/>
                          </a:solidFill>
                          <a:latin typeface="Calibri"/>
                        </a:rPr>
                        <a:t>5.1 K</a:t>
                      </a:r>
                    </a:p>
                  </a:txBody>
                  <a:tcPr marL="63500" marR="63500" marT="12700" marB="12700" anchor="ctr">
                    <a:solidFill>
                      <a:srgbClr val="F4F6F8"/>
                    </a:solidFill>
                  </a:tcPr>
                </a:tc>
              </a:tr>
              <a:tr h="259080">
                <a:tc>
                  <a:txBody>
                    <a:bodyPr/>
                    <a:lstStyle/>
                    <a:p>
                      <a:pPr algn="l"/>
                      <a:r>
                        <a:rPr sz="1050" b="1" i="0">
                          <a:solidFill>
                            <a:srgbClr val="1F2A37"/>
                          </a:solidFill>
                          <a:latin typeface="Calibri"/>
                        </a:rPr>
                        <a:t>#3  gsm8k, 50 tasks p=4</a:t>
                      </a:r>
                    </a:p>
                  </a:txBody>
                  <a:tcPr marL="63500" marR="63500" marT="12700" marB="12700" anchor="ctr">
                    <a:solidFill>
                      <a:srgbClr val="FFFFFF"/>
                    </a:solidFill>
                  </a:tcPr>
                </a:tc>
                <a:tc>
                  <a:txBody>
                    <a:bodyPr/>
                    <a:lstStyle/>
                    <a:p>
                      <a:pPr algn="ctr"/>
                      <a:r>
                        <a:rPr sz="1050" b="0" i="0">
                          <a:solidFill>
                            <a:srgbClr val="1F2A37"/>
                          </a:solidFill>
                          <a:latin typeface="Calibri"/>
                        </a:rPr>
                        <a:t>25 K</a:t>
                      </a:r>
                    </a:p>
                  </a:txBody>
                  <a:tcPr marL="63500" marR="63500" marT="12700" marB="12700" anchor="ctr">
                    <a:solidFill>
                      <a:srgbClr val="FFFFFF"/>
                    </a:solidFill>
                  </a:tcPr>
                </a:tc>
                <a:tc>
                  <a:txBody>
                    <a:bodyPr/>
                    <a:lstStyle/>
                    <a:p>
                      <a:pPr algn="ctr"/>
                      <a:r>
                        <a:rPr sz="1050" b="0" i="0">
                          <a:solidFill>
                            <a:srgbClr val="1F2A37"/>
                          </a:solidFill>
                          <a:latin typeface="Calibri"/>
                        </a:rPr>
                        <a:t>24 K</a:t>
                      </a:r>
                    </a:p>
                  </a:txBody>
                  <a:tcPr marL="63500" marR="63500" marT="12700" marB="12700" anchor="ctr">
                    <a:solidFill>
                      <a:srgbClr val="FFFFFF"/>
                    </a:solidFill>
                  </a:tcPr>
                </a:tc>
              </a:tr>
              <a:tr h="259080">
                <a:tc>
                  <a:txBody>
                    <a:bodyPr/>
                    <a:lstStyle/>
                    <a:p>
                      <a:pPr algn="l"/>
                      <a:r>
                        <a:rPr sz="1050" b="1" i="0">
                          <a:solidFill>
                            <a:srgbClr val="1F2A37"/>
                          </a:solidFill>
                          <a:latin typeface="Calibri"/>
                        </a:rPr>
                        <a:t>#9  tau2, 10 tasks</a:t>
                      </a:r>
                    </a:p>
                  </a:txBody>
                  <a:tcPr marL="63500" marR="63500" marT="12700" marB="12700" anchor="ctr">
                    <a:solidFill>
                      <a:srgbClr val="F4F6F8"/>
                    </a:solidFill>
                  </a:tcPr>
                </a:tc>
                <a:tc>
                  <a:txBody>
                    <a:bodyPr/>
                    <a:lstStyle/>
                    <a:p>
                      <a:pPr algn="ctr"/>
                      <a:r>
                        <a:rPr sz="1050" b="0" i="0">
                          <a:solidFill>
                            <a:srgbClr val="1F2A37"/>
                          </a:solidFill>
                          <a:latin typeface="Calibri"/>
                        </a:rPr>
                        <a:t>1.01 M</a:t>
                      </a:r>
                    </a:p>
                  </a:txBody>
                  <a:tcPr marL="63500" marR="63500" marT="12700" marB="12700" anchor="ctr">
                    <a:solidFill>
                      <a:srgbClr val="F4F6F8"/>
                    </a:solidFill>
                  </a:tcPr>
                </a:tc>
                <a:tc>
                  <a:txBody>
                    <a:bodyPr/>
                    <a:lstStyle/>
                    <a:p>
                      <a:pPr algn="ctr"/>
                      <a:r>
                        <a:rPr sz="1050" b="0" i="0">
                          <a:solidFill>
                            <a:srgbClr val="1F2A37"/>
                          </a:solidFill>
                          <a:latin typeface="Calibri"/>
                        </a:rPr>
                        <a:t>1.04 M</a:t>
                      </a:r>
                    </a:p>
                  </a:txBody>
                  <a:tcPr marL="63500" marR="63500" marT="12700" marB="12700" anchor="ctr">
                    <a:solidFill>
                      <a:srgbClr val="F4F6F8"/>
                    </a:solidFill>
                  </a:tcPr>
                </a:tc>
              </a:tr>
              <a:tr h="259080">
                <a:tc>
                  <a:txBody>
                    <a:bodyPr/>
                    <a:lstStyle/>
                    <a:p>
                      <a:pPr algn="l"/>
                      <a:r>
                        <a:rPr sz="1050" b="1" i="0">
                          <a:solidFill>
                            <a:srgbClr val="1F2A37"/>
                          </a:solidFill>
                          <a:latin typeface="Calibri"/>
                        </a:rPr>
                        <a:t>#10  tau2, 20 tasks p=4</a:t>
                      </a:r>
                    </a:p>
                  </a:txBody>
                  <a:tcPr marL="63500" marR="63500" marT="12700" marB="12700" anchor="ctr">
                    <a:solidFill>
                      <a:srgbClr val="FFFFFF"/>
                    </a:solidFill>
                  </a:tcPr>
                </a:tc>
                <a:tc>
                  <a:txBody>
                    <a:bodyPr/>
                    <a:lstStyle/>
                    <a:p>
                      <a:pPr algn="ctr"/>
                      <a:r>
                        <a:rPr sz="1050" b="0" i="0">
                          <a:solidFill>
                            <a:srgbClr val="1F2A37"/>
                          </a:solidFill>
                          <a:latin typeface="Calibri"/>
                        </a:rPr>
                        <a:t>1.74 M</a:t>
                      </a:r>
                    </a:p>
                  </a:txBody>
                  <a:tcPr marL="63500" marR="63500" marT="12700" marB="12700" anchor="ctr">
                    <a:solidFill>
                      <a:srgbClr val="FFFFFF"/>
                    </a:solidFill>
                  </a:tcPr>
                </a:tc>
                <a:tc>
                  <a:txBody>
                    <a:bodyPr/>
                    <a:lstStyle/>
                    <a:p>
                      <a:pPr algn="ctr"/>
                      <a:r>
                        <a:rPr sz="1050" b="0" i="0">
                          <a:solidFill>
                            <a:srgbClr val="1F2A37"/>
                          </a:solidFill>
                          <a:latin typeface="Calibri"/>
                        </a:rPr>
                        <a:t>1.78 M</a:t>
                      </a:r>
                    </a:p>
                  </a:txBody>
                  <a:tcPr marL="63500" marR="63500" marT="12700" marB="12700" anchor="ctr">
                    <a:solidFill>
                      <a:srgbClr val="FFFFFF"/>
                    </a:solidFill>
                  </a:tcPr>
                </a:tc>
              </a:tr>
              <a:tr h="259080">
                <a:tc>
                  <a:txBody>
                    <a:bodyPr/>
                    <a:lstStyle/>
                    <a:p>
                      <a:pPr algn="l"/>
                      <a:r>
                        <a:rPr sz="1050" b="1" i="0">
                          <a:solidFill>
                            <a:srgbClr val="1F2A37"/>
                          </a:solidFill>
                          <a:latin typeface="Calibri"/>
                        </a:rPr>
                        <a:t>#11  appworld, 5 tasks</a:t>
                      </a:r>
                    </a:p>
                  </a:txBody>
                  <a:tcPr marL="63500" marR="63500" marT="12700" marB="12700" anchor="ctr">
                    <a:solidFill>
                      <a:srgbClr val="F4F6F8"/>
                    </a:solidFill>
                  </a:tcPr>
                </a:tc>
                <a:tc>
                  <a:txBody>
                    <a:bodyPr/>
                    <a:lstStyle/>
                    <a:p>
                      <a:pPr algn="ctr"/>
                      <a:r>
                        <a:rPr sz="1050" b="0" i="0">
                          <a:solidFill>
                            <a:srgbClr val="1F2A37"/>
                          </a:solidFill>
                          <a:latin typeface="Calibri"/>
                        </a:rPr>
                        <a:t>1.49 M</a:t>
                      </a:r>
                    </a:p>
                  </a:txBody>
                  <a:tcPr marL="63500" marR="63500" marT="12700" marB="12700" anchor="ctr">
                    <a:solidFill>
                      <a:srgbClr val="F4F6F8"/>
                    </a:solidFill>
                  </a:tcPr>
                </a:tc>
                <a:tc>
                  <a:txBody>
                    <a:bodyPr/>
                    <a:lstStyle/>
                    <a:p>
                      <a:pPr algn="ctr"/>
                      <a:r>
                        <a:rPr sz="1050" b="0" i="0">
                          <a:solidFill>
                            <a:srgbClr val="1F2A37"/>
                          </a:solidFill>
                          <a:latin typeface="Calibri"/>
                        </a:rPr>
                        <a:t>0.93 M</a:t>
                      </a:r>
                    </a:p>
                  </a:txBody>
                  <a:tcPr marL="63500" marR="63500" marT="12700" marB="12700" anchor="ctr">
                    <a:solidFill>
                      <a:srgbClr val="F4F6F8"/>
                    </a:solidFill>
                  </a:tcPr>
                </a:tc>
              </a:tr>
              <a:tr h="259080">
                <a:tc>
                  <a:txBody>
                    <a:bodyPr/>
                    <a:lstStyle/>
                    <a:p>
                      <a:pPr algn="l"/>
                      <a:r>
                        <a:rPr sz="1050" b="1" i="0">
                          <a:solidFill>
                            <a:srgbClr val="1F2A37"/>
                          </a:solidFill>
                          <a:latin typeface="Calibri"/>
                        </a:rPr>
                        <a:t>#12  appworld, 20 tasks p=4</a:t>
                      </a:r>
                    </a:p>
                  </a:txBody>
                  <a:tcPr marL="63500" marR="63500" marT="12700" marB="12700" anchor="ctr">
                    <a:solidFill>
                      <a:srgbClr val="FFFFFF"/>
                    </a:solidFill>
                  </a:tcPr>
                </a:tc>
                <a:tc>
                  <a:txBody>
                    <a:bodyPr/>
                    <a:lstStyle/>
                    <a:p>
                      <a:pPr algn="ctr"/>
                      <a:r>
                        <a:rPr sz="1050" b="0" i="0">
                          <a:solidFill>
                            <a:srgbClr val="1F2A37"/>
                          </a:solidFill>
                          <a:latin typeface="Calibri"/>
                        </a:rPr>
                        <a:t>5.71 M</a:t>
                      </a:r>
                    </a:p>
                  </a:txBody>
                  <a:tcPr marL="63500" marR="63500" marT="12700" marB="12700" anchor="ctr">
                    <a:solidFill>
                      <a:srgbClr val="FFFFFF"/>
                    </a:solidFill>
                  </a:tcPr>
                </a:tc>
                <a:tc>
                  <a:txBody>
                    <a:bodyPr/>
                    <a:lstStyle/>
                    <a:p>
                      <a:pPr algn="ctr"/>
                      <a:r>
                        <a:rPr sz="1050" b="0" i="0">
                          <a:solidFill>
                            <a:srgbClr val="1F2A37"/>
                          </a:solidFill>
                          <a:latin typeface="Calibri"/>
                        </a:rPr>
                        <a:t>2.20 M</a:t>
                      </a:r>
                    </a:p>
                  </a:txBody>
                  <a:tcPr marL="63500" marR="63500" marT="12700" marB="12700" anchor="ctr">
                    <a:solidFill>
                      <a:srgbClr val="FFFFFF"/>
                    </a:solidFill>
                  </a:tcPr>
                </a:tc>
              </a:tr>
              <a:tr h="259080">
                <a:tc>
                  <a:txBody>
                    <a:bodyPr/>
                    <a:lstStyle/>
                    <a:p>
                      <a:pPr algn="l"/>
                      <a:r>
                        <a:rPr sz="1050" b="1" i="0">
                          <a:solidFill>
                            <a:srgbClr val="1F2A37"/>
                          </a:solidFill>
                          <a:latin typeface="Calibri"/>
                        </a:rPr>
                        <a:t>all 12 legs</a:t>
                      </a:r>
                    </a:p>
                  </a:txBody>
                  <a:tcPr marL="63500" marR="63500" marT="12700" marB="12700" anchor="ctr">
                    <a:solidFill>
                      <a:srgbClr val="F4F6F8"/>
                    </a:solidFill>
                  </a:tcPr>
                </a:tc>
                <a:tc>
                  <a:txBody>
                    <a:bodyPr/>
                    <a:lstStyle/>
                    <a:p>
                      <a:pPr algn="ctr"/>
                      <a:r>
                        <a:rPr sz="1050" b="0" i="0">
                          <a:solidFill>
                            <a:srgbClr val="1F2A37"/>
                          </a:solidFill>
                          <a:latin typeface="Calibri"/>
                        </a:rPr>
                        <a:t>10.0 M</a:t>
                      </a:r>
                    </a:p>
                  </a:txBody>
                  <a:tcPr marL="63500" marR="63500" marT="12700" marB="12700" anchor="ctr">
                    <a:solidFill>
                      <a:srgbClr val="F4F6F8"/>
                    </a:solidFill>
                  </a:tcPr>
                </a:tc>
                <a:tc>
                  <a:txBody>
                    <a:bodyPr/>
                    <a:lstStyle/>
                    <a:p>
                      <a:pPr algn="ctr"/>
                      <a:r>
                        <a:rPr sz="1050" b="0" i="0">
                          <a:solidFill>
                            <a:srgbClr val="1F2A37"/>
                          </a:solidFill>
                          <a:latin typeface="Calibri"/>
                        </a:rPr>
                        <a:t>6.0 M</a:t>
                      </a:r>
                    </a:p>
                  </a:txBody>
                  <a:tcPr marL="63500" marR="63500" marT="12700" marB="12700" anchor="ctr">
                    <a:solidFill>
                      <a:srgbClr val="F4F6F8"/>
                    </a:solidFill>
                  </a:tcPr>
                </a:tc>
              </a:tr>
            </a:tbl>
          </a:graphicData>
        </a:graphic>
      </p:graphicFrame>
      <p:sp>
        <p:nvSpPr>
          <p:cNvPr id="5" name="Rounded Rectangle 4"/>
          <p:cNvSpPr/>
          <p:nvPr/>
        </p:nvSpPr>
        <p:spPr>
          <a:xfrm>
            <a:off x="411480" y="3703320"/>
            <a:ext cx="5989320" cy="123444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3D6E70"/>
                </a:solidFill>
                <a:latin typeface="Calibri"/>
              </a:rPr>
              <a:t>Budget by benchmark, not by task count</a:t>
            </a:r>
          </a:p>
          <a:p>
            <a:pPr algn="ctr"/>
            <a:r>
              <a:rPr sz="1100" b="0" i="0">
                <a:solidFill>
                  <a:srgbClr val="1F2A37"/>
                </a:solidFill>
                <a:latin typeface="Calibri"/>
              </a:rPr>
              <a:t>The eight gsm8k legs together are 0.4% of the matrix's token bill (0.8% on KinD). appworld's two legs are 72% of it (52% on KinD). A 50-task gsm8k leg is cheaper than a SINGLE appworld task — 25 K tokens against 295 K.</a:t>
            </a:r>
          </a:p>
        </p:txBody>
      </p:sp>
      <p:sp>
        <p:nvSpPr>
          <p:cNvPr id="6" name="Rounded Rectangle 5"/>
          <p:cNvSpPr/>
          <p:nvPr/>
        </p:nvSpPr>
        <p:spPr>
          <a:xfrm>
            <a:off x="6675120" y="3703320"/>
            <a:ext cx="5074920" cy="123444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B55A2E"/>
                </a:solidFill>
                <a:latin typeface="Calibri"/>
              </a:rPr>
              <a:t>Two legs of the same size are not the same bill</a:t>
            </a:r>
          </a:p>
          <a:p>
            <a:pPr algn="ctr"/>
            <a:r>
              <a:rPr sz="1100" b="0" i="0">
                <a:solidFill>
                  <a:srgbClr val="1F2A37"/>
                </a:solidFill>
                <a:latin typeface="Calibri"/>
              </a:rPr>
              <a:t>#12 cost 2.6x more on OpenShift than on KinD for the same 20 requested tasks: appworld turn counts are nondeterministic, and the slower cluster's tasks ran longer before the 600 s timeout. Size appworld on YOUR cluster.</a:t>
            </a:r>
          </a:p>
        </p:txBody>
      </p:sp>
      <p:sp>
        <p:nvSpPr>
          <p:cNvPr id="7" name="Rounded Rectangle 6"/>
          <p:cNvSpPr/>
          <p:nvPr/>
        </p:nvSpPr>
        <p:spPr>
          <a:xfrm>
            <a:off x="411480" y="5120640"/>
            <a:ext cx="11338560" cy="118872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50" b="1" i="0">
                <a:solidFill>
                  <a:srgbClr val="1F2A37"/>
                </a:solidFill>
                <a:latin typeface="Calibri"/>
              </a:rPr>
              <a:t>And the totals UNDERSTATE it three ways:  a task killed by the per-task timeout burns tokens but leaves no report row, so appworld's 15 timed-out tasks are missing from the numbers above.  tau2's user simulator runs in the MCP pod, which is not instrumented — its inference is billed by the gateway and counted nowhere here.  And a leg that replays the gateway's completion cache re-reports stored usage for calls that were never made upstream.</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7.5 The Cost Model — Tokens, Models, Money">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7.5  The Cost Model — Tokens, Models, Money</a:t>
            </a:r>
          </a:p>
          <a:p>
            <a:r>
              <a:rPr sz="1400" b="0" i="0">
                <a:solidFill>
                  <a:srgbClr val="C9D9EC"/>
                </a:solidFill>
                <a:latin typeface="Calibri"/>
              </a:rPr>
              <a:t>What a task costs, what a model choice costs, and the one ratio that decides it</a:t>
            </a:r>
          </a:p>
        </p:txBody>
      </p:sp>
      <p:graphicFrame>
        <p:nvGraphicFramePr>
          <p:cNvPr id="3" name="Table 2"/>
          <p:cNvGraphicFramePr>
            <a:graphicFrameLocks noGrp="1"/>
          </p:cNvGraphicFramePr>
          <p:nvPr/>
        </p:nvGraphicFramePr>
        <p:xfrm>
          <a:off x="411480" y="1188720"/>
          <a:ext cx="5623560" cy="3703320"/>
        </p:xfrm>
        <a:graphic>
          <a:graphicData uri="http://schemas.openxmlformats.org/drawingml/2006/table">
            <a:tbl>
              <a:tblPr firstRow="1">
                <a:tableStyleId>{5C22544A-7EE6-4342-B048-85BDC9FD1C3A}</a:tableStyleId>
              </a:tblPr>
              <a:tblGrid>
                <a:gridCol w="2194560"/>
                <a:gridCol w="1143000"/>
                <a:gridCol w="1143000"/>
                <a:gridCol w="1143000"/>
              </a:tblGrid>
              <a:tr h="336665">
                <a:tc>
                  <a:txBody>
                    <a:bodyPr/>
                    <a:lstStyle/>
                    <a:p>
                      <a:pPr algn="l"/>
                      <a:r>
                        <a:rPr sz="1050" b="1" i="0">
                          <a:solidFill>
                            <a:srgbClr val="FFFFFF"/>
                          </a:solidFill>
                          <a:latin typeface="Calibri"/>
                        </a:rPr>
                        <a:t>per task, pooled</a:t>
                      </a:r>
                    </a:p>
                  </a:txBody>
                  <a:tcPr marL="63500" marR="63500" marT="12700" marB="12700" anchor="ctr">
                    <a:solidFill>
                      <a:srgbClr val="1B3A5C"/>
                    </a:solidFill>
                  </a:tcPr>
                </a:tc>
                <a:tc>
                  <a:txBody>
                    <a:bodyPr/>
                    <a:lstStyle/>
                    <a:p>
                      <a:pPr algn="ctr"/>
                      <a:r>
                        <a:rPr sz="1050" b="1" i="0">
                          <a:solidFill>
                            <a:srgbClr val="FFFFFF"/>
                          </a:solidFill>
                          <a:latin typeface="Calibri"/>
                        </a:rPr>
                        <a:t>gsm8k</a:t>
                      </a:r>
                    </a:p>
                  </a:txBody>
                  <a:tcPr marL="63500" marR="63500" marT="12700" marB="12700" anchor="ctr">
                    <a:solidFill>
                      <a:srgbClr val="1B3A5C"/>
                    </a:solidFill>
                  </a:tcPr>
                </a:tc>
                <a:tc>
                  <a:txBody>
                    <a:bodyPr/>
                    <a:lstStyle/>
                    <a:p>
                      <a:pPr algn="ctr"/>
                      <a:r>
                        <a:rPr sz="1050" b="1" i="0">
                          <a:solidFill>
                            <a:srgbClr val="FFFFFF"/>
                          </a:solidFill>
                          <a:latin typeface="Calibri"/>
                        </a:rPr>
                        <a:t>tau2</a:t>
                      </a:r>
                    </a:p>
                  </a:txBody>
                  <a:tcPr marL="63500" marR="63500" marT="12700" marB="12700" anchor="ctr">
                    <a:solidFill>
                      <a:srgbClr val="1B3A5C"/>
                    </a:solidFill>
                  </a:tcPr>
                </a:tc>
                <a:tc>
                  <a:txBody>
                    <a:bodyPr/>
                    <a:lstStyle/>
                    <a:p>
                      <a:pPr algn="ctr"/>
                      <a:r>
                        <a:rPr sz="1050" b="1" i="0">
                          <a:solidFill>
                            <a:srgbClr val="FFFFFF"/>
                          </a:solidFill>
                          <a:latin typeface="Calibri"/>
                        </a:rPr>
                        <a:t>appworld</a:t>
                      </a:r>
                    </a:p>
                  </a:txBody>
                  <a:tcPr marL="63500" marR="63500" marT="12700" marB="12700" anchor="ctr">
                    <a:solidFill>
                      <a:srgbClr val="1B3A5C"/>
                    </a:solidFill>
                  </a:tcPr>
                </a:tc>
              </a:tr>
              <a:tr h="336665">
                <a:tc>
                  <a:txBody>
                    <a:bodyPr/>
                    <a:lstStyle/>
                    <a:p>
                      <a:pPr algn="l"/>
                      <a:r>
                        <a:rPr sz="1050" b="1" i="0">
                          <a:solidFill>
                            <a:srgbClr val="1F2A37"/>
                          </a:solidFill>
                          <a:latin typeface="Calibri"/>
                        </a:rPr>
                        <a:t>LLM calls</a:t>
                      </a:r>
                    </a:p>
                  </a:txBody>
                  <a:tcPr marL="63500" marR="63500" marT="12700" marB="12700" anchor="ctr">
                    <a:solidFill>
                      <a:srgbClr val="FFFFFF"/>
                    </a:solidFill>
                  </a:tcPr>
                </a:tc>
                <a:tc>
                  <a:txBody>
                    <a:bodyPr/>
                    <a:lstStyle/>
                    <a:p>
                      <a:pPr algn="ctr"/>
                      <a:r>
                        <a:rPr sz="1050" b="0" i="0">
                          <a:solidFill>
                            <a:srgbClr val="1F2A37"/>
                          </a:solidFill>
                          <a:latin typeface="Calibri"/>
                        </a:rPr>
                        <a:t>1.10</a:t>
                      </a:r>
                    </a:p>
                  </a:txBody>
                  <a:tcPr marL="63500" marR="63500" marT="12700" marB="12700" anchor="ctr">
                    <a:solidFill>
                      <a:srgbClr val="FFFFFF"/>
                    </a:solidFill>
                  </a:tcPr>
                </a:tc>
                <a:tc>
                  <a:txBody>
                    <a:bodyPr/>
                    <a:lstStyle/>
                    <a:p>
                      <a:pPr algn="ctr"/>
                      <a:r>
                        <a:rPr sz="1050" b="0" i="0">
                          <a:solidFill>
                            <a:srgbClr val="1F2A37"/>
                          </a:solidFill>
                          <a:latin typeface="Calibri"/>
                        </a:rPr>
                        <a:t>11.38</a:t>
                      </a:r>
                    </a:p>
                  </a:txBody>
                  <a:tcPr marL="63500" marR="63500" marT="12700" marB="12700" anchor="ctr">
                    <a:solidFill>
                      <a:srgbClr val="FFFFFF"/>
                    </a:solidFill>
                  </a:tcPr>
                </a:tc>
                <a:tc>
                  <a:txBody>
                    <a:bodyPr/>
                    <a:lstStyle/>
                    <a:p>
                      <a:pPr algn="ctr"/>
                      <a:r>
                        <a:rPr sz="1050" b="0" i="0">
                          <a:solidFill>
                            <a:srgbClr val="1F2A37"/>
                          </a:solidFill>
                          <a:latin typeface="Calibri"/>
                        </a:rPr>
                        <a:t>29.20</a:t>
                      </a:r>
                    </a:p>
                  </a:txBody>
                  <a:tcPr marL="63500" marR="63500" marT="12700" marB="12700" anchor="ctr">
                    <a:solidFill>
                      <a:srgbClr val="FFFFFF"/>
                    </a:solidFill>
                  </a:tcPr>
                </a:tc>
              </a:tr>
              <a:tr h="336665">
                <a:tc>
                  <a:txBody>
                    <a:bodyPr/>
                    <a:lstStyle/>
                    <a:p>
                      <a:pPr algn="l"/>
                      <a:r>
                        <a:rPr sz="1050" b="1" i="0">
                          <a:solidFill>
                            <a:srgbClr val="1F2A37"/>
                          </a:solidFill>
                          <a:latin typeface="Calibri"/>
                        </a:rPr>
                        <a:t>input tokens</a:t>
                      </a:r>
                    </a:p>
                  </a:txBody>
                  <a:tcPr marL="63500" marR="63500" marT="12700" marB="12700" anchor="ctr">
                    <a:solidFill>
                      <a:srgbClr val="F4F6F8"/>
                    </a:solidFill>
                  </a:tcPr>
                </a:tc>
                <a:tc>
                  <a:txBody>
                    <a:bodyPr/>
                    <a:lstStyle/>
                    <a:p>
                      <a:pPr algn="ctr"/>
                      <a:r>
                        <a:rPr sz="1050" b="0" i="0">
                          <a:solidFill>
                            <a:srgbClr val="1F2A37"/>
                          </a:solidFill>
                          <a:latin typeface="Calibri"/>
                        </a:rPr>
                        <a:t>341</a:t>
                      </a:r>
                    </a:p>
                  </a:txBody>
                  <a:tcPr marL="63500" marR="63500" marT="12700" marB="12700" anchor="ctr">
                    <a:solidFill>
                      <a:srgbClr val="F4F6F8"/>
                    </a:solidFill>
                  </a:tcPr>
                </a:tc>
                <a:tc>
                  <a:txBody>
                    <a:bodyPr/>
                    <a:lstStyle/>
                    <a:p>
                      <a:pPr algn="ctr"/>
                      <a:r>
                        <a:rPr sz="1050" b="0" i="0">
                          <a:solidFill>
                            <a:srgbClr val="1F2A37"/>
                          </a:solidFill>
                          <a:latin typeface="Calibri"/>
                        </a:rPr>
                        <a:t>90,902</a:t>
                      </a:r>
                    </a:p>
                  </a:txBody>
                  <a:tcPr marL="63500" marR="63500" marT="12700" marB="12700" anchor="ctr">
                    <a:solidFill>
                      <a:srgbClr val="F4F6F8"/>
                    </a:solidFill>
                  </a:tcPr>
                </a:tc>
                <a:tc>
                  <a:txBody>
                    <a:bodyPr/>
                    <a:lstStyle/>
                    <a:p>
                      <a:pPr algn="ctr"/>
                      <a:r>
                        <a:rPr sz="1050" b="0" i="0">
                          <a:solidFill>
                            <a:srgbClr val="1F2A37"/>
                          </a:solidFill>
                          <a:latin typeface="Calibri"/>
                        </a:rPr>
                        <a:t>269,953</a:t>
                      </a:r>
                    </a:p>
                  </a:txBody>
                  <a:tcPr marL="63500" marR="63500" marT="12700" marB="12700" anchor="ctr">
                    <a:solidFill>
                      <a:srgbClr val="F4F6F8"/>
                    </a:solidFill>
                  </a:tcPr>
                </a:tc>
              </a:tr>
              <a:tr h="336665">
                <a:tc>
                  <a:txBody>
                    <a:bodyPr/>
                    <a:lstStyle/>
                    <a:p>
                      <a:pPr algn="l"/>
                      <a:r>
                        <a:rPr sz="1050" b="1" i="0">
                          <a:solidFill>
                            <a:srgbClr val="1F2A37"/>
                          </a:solidFill>
                          <a:latin typeface="Calibri"/>
                        </a:rPr>
                        <a:t>output tokens</a:t>
                      </a:r>
                    </a:p>
                  </a:txBody>
                  <a:tcPr marL="63500" marR="63500" marT="12700" marB="12700" anchor="ctr">
                    <a:solidFill>
                      <a:srgbClr val="FFFFFF"/>
                    </a:solidFill>
                  </a:tcPr>
                </a:tc>
                <a:tc>
                  <a:txBody>
                    <a:bodyPr/>
                    <a:lstStyle/>
                    <a:p>
                      <a:pPr algn="ctr"/>
                      <a:r>
                        <a:rPr sz="1050" b="0" i="0">
                          <a:solidFill>
                            <a:srgbClr val="1F2A37"/>
                          </a:solidFill>
                          <a:latin typeface="Calibri"/>
                        </a:rPr>
                        <a:t>180</a:t>
                      </a:r>
                    </a:p>
                  </a:txBody>
                  <a:tcPr marL="63500" marR="63500" marT="12700" marB="12700" anchor="ctr">
                    <a:solidFill>
                      <a:srgbClr val="FFFFFF"/>
                    </a:solidFill>
                  </a:tcPr>
                </a:tc>
                <a:tc>
                  <a:txBody>
                    <a:bodyPr/>
                    <a:lstStyle/>
                    <a:p>
                      <a:pPr algn="ctr"/>
                      <a:r>
                        <a:rPr sz="1050" b="0" i="0">
                          <a:solidFill>
                            <a:srgbClr val="1F2A37"/>
                          </a:solidFill>
                          <a:latin typeface="Calibri"/>
                        </a:rPr>
                        <a:t>2,061</a:t>
                      </a:r>
                    </a:p>
                  </a:txBody>
                  <a:tcPr marL="63500" marR="63500" marT="12700" marB="12700" anchor="ctr">
                    <a:solidFill>
                      <a:srgbClr val="FFFFFF"/>
                    </a:solidFill>
                  </a:tcPr>
                </a:tc>
                <a:tc>
                  <a:txBody>
                    <a:bodyPr/>
                    <a:lstStyle/>
                    <a:p>
                      <a:pPr algn="ctr"/>
                      <a:r>
                        <a:rPr sz="1050" b="0" i="0">
                          <a:solidFill>
                            <a:srgbClr val="1F2A37"/>
                          </a:solidFill>
                          <a:latin typeface="Calibri"/>
                        </a:rPr>
                        <a:t>25,140</a:t>
                      </a:r>
                    </a:p>
                  </a:txBody>
                  <a:tcPr marL="63500" marR="63500" marT="12700" marB="12700" anchor="ctr">
                    <a:solidFill>
                      <a:srgbClr val="FFFFFF"/>
                    </a:solidFill>
                  </a:tcPr>
                </a:tc>
              </a:tr>
              <a:tr h="336665">
                <a:tc>
                  <a:txBody>
                    <a:bodyPr/>
                    <a:lstStyle/>
                    <a:p>
                      <a:pPr algn="l"/>
                      <a:r>
                        <a:rPr sz="1050" b="1" i="0">
                          <a:solidFill>
                            <a:srgbClr val="1F2A37"/>
                          </a:solidFill>
                          <a:latin typeface="Calibri"/>
                        </a:rPr>
                        <a:t>total tokens</a:t>
                      </a:r>
                    </a:p>
                  </a:txBody>
                  <a:tcPr marL="63500" marR="63500" marT="12700" marB="12700" anchor="ctr">
                    <a:solidFill>
                      <a:srgbClr val="F4F6F8"/>
                    </a:solidFill>
                  </a:tcPr>
                </a:tc>
                <a:tc>
                  <a:txBody>
                    <a:bodyPr/>
                    <a:lstStyle/>
                    <a:p>
                      <a:pPr algn="ctr"/>
                      <a:r>
                        <a:rPr sz="1050" b="0" i="0">
                          <a:solidFill>
                            <a:srgbClr val="1F2A37"/>
                          </a:solidFill>
                          <a:latin typeface="Calibri"/>
                        </a:rPr>
                        <a:t>520</a:t>
                      </a:r>
                    </a:p>
                  </a:txBody>
                  <a:tcPr marL="63500" marR="63500" marT="12700" marB="12700" anchor="ctr">
                    <a:solidFill>
                      <a:srgbClr val="F4F6F8"/>
                    </a:solidFill>
                  </a:tcPr>
                </a:tc>
                <a:tc>
                  <a:txBody>
                    <a:bodyPr/>
                    <a:lstStyle/>
                    <a:p>
                      <a:pPr algn="ctr"/>
                      <a:r>
                        <a:rPr sz="1050" b="0" i="0">
                          <a:solidFill>
                            <a:srgbClr val="1F2A37"/>
                          </a:solidFill>
                          <a:latin typeface="Calibri"/>
                        </a:rPr>
                        <a:t>92,963</a:t>
                      </a:r>
                    </a:p>
                  </a:txBody>
                  <a:tcPr marL="63500" marR="63500" marT="12700" marB="12700" anchor="ctr">
                    <a:solidFill>
                      <a:srgbClr val="F4F6F8"/>
                    </a:solidFill>
                  </a:tcPr>
                </a:tc>
                <a:tc>
                  <a:txBody>
                    <a:bodyPr/>
                    <a:lstStyle/>
                    <a:p>
                      <a:pPr algn="ctr"/>
                      <a:r>
                        <a:rPr sz="1050" b="0" i="0">
                          <a:solidFill>
                            <a:srgbClr val="1F2A37"/>
                          </a:solidFill>
                          <a:latin typeface="Calibri"/>
                        </a:rPr>
                        <a:t>295,093</a:t>
                      </a:r>
                    </a:p>
                  </a:txBody>
                  <a:tcPr marL="63500" marR="63500" marT="12700" marB="12700" anchor="ctr">
                    <a:solidFill>
                      <a:srgbClr val="F4F6F8"/>
                    </a:solidFill>
                  </a:tcPr>
                </a:tc>
              </a:tr>
              <a:tr h="336665">
                <a:tc>
                  <a:txBody>
                    <a:bodyPr/>
                    <a:lstStyle/>
                    <a:p>
                      <a:pPr algn="l"/>
                      <a:r>
                        <a:rPr sz="1050" b="1" i="0">
                          <a:solidFill>
                            <a:srgbClr val="1F2A37"/>
                          </a:solidFill>
                          <a:latin typeface="Calibri"/>
                        </a:rPr>
                        <a:t>x a gsm8k task</a:t>
                      </a:r>
                    </a:p>
                  </a:txBody>
                  <a:tcPr marL="63500" marR="63500" marT="12700" marB="12700" anchor="ctr">
                    <a:solidFill>
                      <a:srgbClr val="FFFFFF"/>
                    </a:solidFill>
                  </a:tcPr>
                </a:tc>
                <a:tc>
                  <a:txBody>
                    <a:bodyPr/>
                    <a:lstStyle/>
                    <a:p>
                      <a:pPr algn="ctr"/>
                      <a:r>
                        <a:rPr sz="1050" b="0" i="0">
                          <a:solidFill>
                            <a:srgbClr val="1F2A37"/>
                          </a:solidFill>
                          <a:latin typeface="Calibri"/>
                        </a:rPr>
                        <a:t>1x</a:t>
                      </a:r>
                    </a:p>
                  </a:txBody>
                  <a:tcPr marL="63500" marR="63500" marT="12700" marB="12700" anchor="ctr">
                    <a:solidFill>
                      <a:srgbClr val="FFFFFF"/>
                    </a:solidFill>
                  </a:tcPr>
                </a:tc>
                <a:tc>
                  <a:txBody>
                    <a:bodyPr/>
                    <a:lstStyle/>
                    <a:p>
                      <a:pPr algn="ctr"/>
                      <a:r>
                        <a:rPr sz="1050" b="0" i="0">
                          <a:solidFill>
                            <a:srgbClr val="1F2A37"/>
                          </a:solidFill>
                          <a:latin typeface="Calibri"/>
                        </a:rPr>
                        <a:t>179x</a:t>
                      </a:r>
                    </a:p>
                  </a:txBody>
                  <a:tcPr marL="63500" marR="63500" marT="12700" marB="12700" anchor="ctr">
                    <a:solidFill>
                      <a:srgbClr val="FFFFFF"/>
                    </a:solidFill>
                  </a:tcPr>
                </a:tc>
                <a:tc>
                  <a:txBody>
                    <a:bodyPr/>
                    <a:lstStyle/>
                    <a:p>
                      <a:pPr algn="ctr"/>
                      <a:r>
                        <a:rPr sz="1050" b="0" i="0">
                          <a:solidFill>
                            <a:srgbClr val="1F2A37"/>
                          </a:solidFill>
                          <a:latin typeface="Calibri"/>
                        </a:rPr>
                        <a:t>567x</a:t>
                      </a:r>
                    </a:p>
                  </a:txBody>
                  <a:tcPr marL="63500" marR="63500" marT="12700" marB="12700" anchor="ctr">
                    <a:solidFill>
                      <a:srgbClr val="FFFFFF"/>
                    </a:solidFill>
                  </a:tcPr>
                </a:tc>
              </a:tr>
              <a:tr h="336665">
                <a:tc>
                  <a:txBody>
                    <a:bodyPr/>
                    <a:lstStyle/>
                    <a:p>
                      <a:pPr algn="l"/>
                      <a:r>
                        <a:rPr sz="1050" b="1" i="0">
                          <a:solidFill>
                            <a:srgbClr val="1F2A37"/>
                          </a:solidFill>
                          <a:latin typeface="Calibri"/>
                        </a:rPr>
                        <a:t>input share of tokens</a:t>
                      </a:r>
                    </a:p>
                  </a:txBody>
                  <a:tcPr marL="63500" marR="63500" marT="12700" marB="12700" anchor="ctr">
                    <a:solidFill>
                      <a:srgbClr val="F4F6F8"/>
                    </a:solidFill>
                  </a:tcPr>
                </a:tc>
                <a:tc>
                  <a:txBody>
                    <a:bodyPr/>
                    <a:lstStyle/>
                    <a:p>
                      <a:pPr algn="ctr"/>
                      <a:r>
                        <a:rPr sz="1050" b="0" i="0">
                          <a:solidFill>
                            <a:srgbClr val="1F2A37"/>
                          </a:solidFill>
                          <a:latin typeface="Calibri"/>
                        </a:rPr>
                        <a:t>66%</a:t>
                      </a:r>
                    </a:p>
                  </a:txBody>
                  <a:tcPr marL="63500" marR="63500" marT="12700" marB="12700" anchor="ctr">
                    <a:solidFill>
                      <a:srgbClr val="F4F6F8"/>
                    </a:solidFill>
                  </a:tcPr>
                </a:tc>
                <a:tc>
                  <a:txBody>
                    <a:bodyPr/>
                    <a:lstStyle/>
                    <a:p>
                      <a:pPr algn="ctr"/>
                      <a:r>
                        <a:rPr sz="1050" b="0" i="0">
                          <a:solidFill>
                            <a:srgbClr val="1F2A37"/>
                          </a:solidFill>
                          <a:latin typeface="Calibri"/>
                        </a:rPr>
                        <a:t>98%</a:t>
                      </a:r>
                    </a:p>
                  </a:txBody>
                  <a:tcPr marL="63500" marR="63500" marT="12700" marB="12700" anchor="ctr">
                    <a:solidFill>
                      <a:srgbClr val="F4F6F8"/>
                    </a:solidFill>
                  </a:tcPr>
                </a:tc>
                <a:tc>
                  <a:txBody>
                    <a:bodyPr/>
                    <a:lstStyle/>
                    <a:p>
                      <a:pPr algn="ctr"/>
                      <a:r>
                        <a:rPr sz="1050" b="0" i="0">
                          <a:solidFill>
                            <a:srgbClr val="1F2A37"/>
                          </a:solidFill>
                          <a:latin typeface="Calibri"/>
                        </a:rPr>
                        <a:t>92%</a:t>
                      </a:r>
                    </a:p>
                  </a:txBody>
                  <a:tcPr marL="63500" marR="63500" marT="12700" marB="12700" anchor="ctr">
                    <a:solidFill>
                      <a:srgbClr val="F4F6F8"/>
                    </a:solidFill>
                  </a:tcPr>
                </a:tc>
              </a:tr>
              <a:tr h="336665">
                <a:tc>
                  <a:txBody>
                    <a:bodyPr/>
                    <a:lstStyle/>
                    <a:p>
                      <a:pPr algn="l"/>
                      <a:r>
                        <a:rPr sz="1050" b="1" i="0">
                          <a:solidFill>
                            <a:srgbClr val="1F2A37"/>
                          </a:solidFill>
                          <a:latin typeface="Calibri"/>
                        </a:rPr>
                        <a:t>median task latency</a:t>
                      </a:r>
                    </a:p>
                  </a:txBody>
                  <a:tcPr marL="63500" marR="63500" marT="12700" marB="12700" anchor="ctr">
                    <a:solidFill>
                      <a:srgbClr val="FFFFFF"/>
                    </a:solidFill>
                  </a:tcPr>
                </a:tc>
                <a:tc>
                  <a:txBody>
                    <a:bodyPr/>
                    <a:lstStyle/>
                    <a:p>
                      <a:pPr algn="ctr"/>
                      <a:r>
                        <a:rPr sz="1050" b="0" i="0">
                          <a:solidFill>
                            <a:srgbClr val="1F2A37"/>
                          </a:solidFill>
                          <a:latin typeface="Calibri"/>
                        </a:rPr>
                        <a:t>4.9 s</a:t>
                      </a:r>
                    </a:p>
                  </a:txBody>
                  <a:tcPr marL="63500" marR="63500" marT="12700" marB="12700" anchor="ctr">
                    <a:solidFill>
                      <a:srgbClr val="FFFFFF"/>
                    </a:solidFill>
                  </a:tcPr>
                </a:tc>
                <a:tc>
                  <a:txBody>
                    <a:bodyPr/>
                    <a:lstStyle/>
                    <a:p>
                      <a:pPr algn="ctr"/>
                      <a:r>
                        <a:rPr sz="1050" b="0" i="0">
                          <a:solidFill>
                            <a:srgbClr val="1F2A37"/>
                          </a:solidFill>
                          <a:latin typeface="Calibri"/>
                        </a:rPr>
                        <a:t>84 s</a:t>
                      </a:r>
                    </a:p>
                  </a:txBody>
                  <a:tcPr marL="63500" marR="63500" marT="12700" marB="12700" anchor="ctr">
                    <a:solidFill>
                      <a:srgbClr val="FFFFFF"/>
                    </a:solidFill>
                  </a:tcPr>
                </a:tc>
                <a:tc>
                  <a:txBody>
                    <a:bodyPr/>
                    <a:lstStyle/>
                    <a:p>
                      <a:pPr algn="ctr"/>
                      <a:r>
                        <a:rPr sz="1050" b="0" i="0">
                          <a:solidFill>
                            <a:srgbClr val="1F2A37"/>
                          </a:solidFill>
                          <a:latin typeface="Calibri"/>
                        </a:rPr>
                        <a:t>264 s</a:t>
                      </a:r>
                    </a:p>
                  </a:txBody>
                  <a:tcPr marL="63500" marR="63500" marT="12700" marB="12700" anchor="ctr">
                    <a:solidFill>
                      <a:srgbClr val="FFFFFF"/>
                    </a:solidFill>
                  </a:tcPr>
                </a:tc>
              </a:tr>
              <a:tr h="336665">
                <a:tc>
                  <a:txBody>
                    <a:bodyPr/>
                    <a:lstStyle/>
                    <a:p>
                      <a:pPr algn="l"/>
                      <a:r>
                        <a:rPr sz="1050" b="1" i="0">
                          <a:solidFill>
                            <a:srgbClr val="1F2A37"/>
                          </a:solidFill>
                          <a:latin typeface="Calibri"/>
                        </a:rPr>
                        <a:t>… of it inside model calls</a:t>
                      </a:r>
                    </a:p>
                  </a:txBody>
                  <a:tcPr marL="63500" marR="63500" marT="12700" marB="12700" anchor="ctr">
                    <a:solidFill>
                      <a:srgbClr val="F4F6F8"/>
                    </a:solidFill>
                  </a:tcPr>
                </a:tc>
                <a:tc>
                  <a:txBody>
                    <a:bodyPr/>
                    <a:lstStyle/>
                    <a:p>
                      <a:pPr algn="ctr"/>
                      <a:r>
                        <a:rPr sz="1050" b="0" i="0">
                          <a:solidFill>
                            <a:srgbClr val="1F2A37"/>
                          </a:solidFill>
                          <a:latin typeface="Calibri"/>
                        </a:rPr>
                        <a:t>90%</a:t>
                      </a:r>
                    </a:p>
                  </a:txBody>
                  <a:tcPr marL="63500" marR="63500" marT="12700" marB="12700" anchor="ctr">
                    <a:solidFill>
                      <a:srgbClr val="F4F6F8"/>
                    </a:solidFill>
                  </a:tcPr>
                </a:tc>
                <a:tc>
                  <a:txBody>
                    <a:bodyPr/>
                    <a:lstStyle/>
                    <a:p>
                      <a:pPr algn="ctr"/>
                      <a:r>
                        <a:rPr sz="1050" b="0" i="0">
                          <a:solidFill>
                            <a:srgbClr val="1F2A37"/>
                          </a:solidFill>
                          <a:latin typeface="Calibri"/>
                        </a:rPr>
                        <a:t>58%</a:t>
                      </a:r>
                    </a:p>
                  </a:txBody>
                  <a:tcPr marL="63500" marR="63500" marT="12700" marB="12700" anchor="ctr">
                    <a:solidFill>
                      <a:srgbClr val="F4F6F8"/>
                    </a:solidFill>
                  </a:tcPr>
                </a:tc>
                <a:tc>
                  <a:txBody>
                    <a:bodyPr/>
                    <a:lstStyle/>
                    <a:p>
                      <a:pPr algn="ctr"/>
                      <a:r>
                        <a:rPr sz="1050" b="0" i="0">
                          <a:solidFill>
                            <a:srgbClr val="1F2A37"/>
                          </a:solidFill>
                          <a:latin typeface="Calibri"/>
                        </a:rPr>
                        <a:t>96%</a:t>
                      </a:r>
                    </a:p>
                  </a:txBody>
                  <a:tcPr marL="63500" marR="63500" marT="12700" marB="12700" anchor="ctr">
                    <a:solidFill>
                      <a:srgbClr val="F4F6F8"/>
                    </a:solidFill>
                  </a:tcPr>
                </a:tc>
              </a:tr>
              <a:tr h="336665">
                <a:tc>
                  <a:txBody>
                    <a:bodyPr/>
                    <a:lstStyle/>
                    <a:p>
                      <a:pPr algn="l"/>
                      <a:r>
                        <a:rPr sz="1050" b="1" i="0">
                          <a:solidFill>
                            <a:srgbClr val="1F2A37"/>
                          </a:solidFill>
                          <a:latin typeface="Calibri"/>
                        </a:rPr>
                        <a:t>pass rate</a:t>
                      </a:r>
                    </a:p>
                  </a:txBody>
                  <a:tcPr marL="63500" marR="63500" marT="12700" marB="12700" anchor="ctr">
                    <a:solidFill>
                      <a:srgbClr val="FFFFFF"/>
                    </a:solidFill>
                  </a:tcPr>
                </a:tc>
                <a:tc>
                  <a:txBody>
                    <a:bodyPr/>
                    <a:lstStyle/>
                    <a:p>
                      <a:pPr algn="ctr"/>
                      <a:r>
                        <a:rPr sz="1050" b="0" i="0">
                          <a:solidFill>
                            <a:srgbClr val="1F2A37"/>
                          </a:solidFill>
                          <a:latin typeface="Calibri"/>
                        </a:rPr>
                        <a:t>0.97</a:t>
                      </a:r>
                    </a:p>
                  </a:txBody>
                  <a:tcPr marL="63500" marR="63500" marT="12700" marB="12700" anchor="ctr">
                    <a:solidFill>
                      <a:srgbClr val="FFFFFF"/>
                    </a:solidFill>
                  </a:tcPr>
                </a:tc>
                <a:tc>
                  <a:txBody>
                    <a:bodyPr/>
                    <a:lstStyle/>
                    <a:p>
                      <a:pPr algn="ctr"/>
                      <a:r>
                        <a:rPr sz="1050" b="0" i="0">
                          <a:solidFill>
                            <a:srgbClr val="1F2A37"/>
                          </a:solidFill>
                          <a:latin typeface="Calibri"/>
                        </a:rPr>
                        <a:t>0.83</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r>
              <a:tr h="336670">
                <a:tc>
                  <a:txBody>
                    <a:bodyPr/>
                    <a:lstStyle/>
                    <a:p>
                      <a:pPr algn="l"/>
                      <a:r>
                        <a:rPr sz="1050" b="1" i="0">
                          <a:solidFill>
                            <a:srgbClr val="1F2A37"/>
                          </a:solidFill>
                          <a:latin typeface="Calibri"/>
                        </a:rPr>
                        <a:t>tokens per PASSED task</a:t>
                      </a:r>
                    </a:p>
                  </a:txBody>
                  <a:tcPr marL="63500" marR="63500" marT="12700" marB="12700" anchor="ctr">
                    <a:solidFill>
                      <a:srgbClr val="F4F6F8"/>
                    </a:solidFill>
                  </a:tcPr>
                </a:tc>
                <a:tc>
                  <a:txBody>
                    <a:bodyPr/>
                    <a:lstStyle/>
                    <a:p>
                      <a:pPr algn="ctr"/>
                      <a:r>
                        <a:rPr sz="1050" b="0" i="0">
                          <a:solidFill>
                            <a:srgbClr val="1F2A37"/>
                          </a:solidFill>
                          <a:latin typeface="Calibri"/>
                        </a:rPr>
                        <a:t>537</a:t>
                      </a:r>
                    </a:p>
                  </a:txBody>
                  <a:tcPr marL="63500" marR="63500" marT="12700" marB="12700" anchor="ctr">
                    <a:solidFill>
                      <a:srgbClr val="F4F6F8"/>
                    </a:solidFill>
                  </a:tcPr>
                </a:tc>
                <a:tc>
                  <a:txBody>
                    <a:bodyPr/>
                    <a:lstStyle/>
                    <a:p>
                      <a:pPr algn="ctr"/>
                      <a:r>
                        <a:rPr sz="1050" b="0" i="0">
                          <a:solidFill>
                            <a:srgbClr val="1F2A37"/>
                          </a:solidFill>
                          <a:latin typeface="Calibri"/>
                        </a:rPr>
                        <a:t>112 K</a:t>
                      </a:r>
                    </a:p>
                  </a:txBody>
                  <a:tcPr marL="63500" marR="63500" marT="12700" marB="12700" anchor="ctr">
                    <a:solidFill>
                      <a:srgbClr val="F4F6F8"/>
                    </a:solidFill>
                  </a:tcPr>
                </a:tc>
                <a:tc>
                  <a:txBody>
                    <a:bodyPr/>
                    <a:lstStyle/>
                    <a:p>
                      <a:pPr algn="ctr"/>
                      <a:r>
                        <a:rPr sz="1050" b="0" i="0">
                          <a:solidFill>
                            <a:srgbClr val="1F2A37"/>
                          </a:solidFill>
                          <a:latin typeface="Calibri"/>
                        </a:rPr>
                        <a:t>no finite value</a:t>
                      </a:r>
                    </a:p>
                  </a:txBody>
                  <a:tcPr marL="63500" marR="63500" marT="12700" marB="12700" anchor="ctr">
                    <a:solidFill>
                      <a:srgbClr val="F4F6F8"/>
                    </a:solidFill>
                  </a:tcPr>
                </a:tc>
              </a:tr>
            </a:tbl>
          </a:graphicData>
        </a:graphic>
      </p:graphicFrame>
      <p:graphicFrame>
        <p:nvGraphicFramePr>
          <p:cNvPr id="4" name="Table 3"/>
          <p:cNvGraphicFramePr>
            <a:graphicFrameLocks noGrp="1"/>
          </p:cNvGraphicFramePr>
          <p:nvPr/>
        </p:nvGraphicFramePr>
        <p:xfrm>
          <a:off x="6309360" y="1188720"/>
          <a:ext cx="5440680" cy="2377440"/>
        </p:xfrm>
        <a:graphic>
          <a:graphicData uri="http://schemas.openxmlformats.org/drawingml/2006/table">
            <a:tbl>
              <a:tblPr firstRow="1">
                <a:tableStyleId>{5C22544A-7EE6-4342-B048-85BDC9FD1C3A}</a:tableStyleId>
              </a:tblPr>
              <a:tblGrid>
                <a:gridCol w="2514600"/>
                <a:gridCol w="1463040"/>
                <a:gridCol w="1463040"/>
              </a:tblGrid>
              <a:tr h="339634">
                <a:tc>
                  <a:txBody>
                    <a:bodyPr/>
                    <a:lstStyle/>
                    <a:p>
                      <a:pPr algn="l"/>
                      <a:r>
                        <a:rPr sz="1050" b="1" i="0">
                          <a:solidFill>
                            <a:srgbClr val="FFFFFF"/>
                          </a:solidFill>
                          <a:latin typeface="Calibri"/>
                        </a:rPr>
                        <a:t>same 5 gsm8k tasks, p=4</a:t>
                      </a:r>
                    </a:p>
                  </a:txBody>
                  <a:tcPr marL="63500" marR="63500" marT="12700" marB="12700" anchor="ctr">
                    <a:solidFill>
                      <a:srgbClr val="1B3A5C"/>
                    </a:solidFill>
                  </a:tcPr>
                </a:tc>
                <a:tc>
                  <a:txBody>
                    <a:bodyPr/>
                    <a:lstStyle/>
                    <a:p>
                      <a:pPr algn="ctr"/>
                      <a:r>
                        <a:rPr sz="1050" b="1" i="0">
                          <a:solidFill>
                            <a:srgbClr val="FFFFFF"/>
                          </a:solidFill>
                          <a:latin typeface="Calibri"/>
                        </a:rPr>
                        <a:t>gpt-4.1</a:t>
                      </a:r>
                    </a:p>
                  </a:txBody>
                  <a:tcPr marL="63500" marR="63500" marT="12700" marB="12700" anchor="ctr">
                    <a:solidFill>
                      <a:srgbClr val="1B3A5C"/>
                    </a:solidFill>
                  </a:tcPr>
                </a:tc>
                <a:tc>
                  <a:txBody>
                    <a:bodyPr/>
                    <a:lstStyle/>
                    <a:p>
                      <a:pPr algn="ctr"/>
                      <a:r>
                        <a:rPr sz="1050" b="1" i="0">
                          <a:solidFill>
                            <a:srgbClr val="FFFFFF"/>
                          </a:solidFill>
                          <a:latin typeface="Calibri"/>
                        </a:rPr>
                        <a:t>gpt-5-mini</a:t>
                      </a:r>
                    </a:p>
                  </a:txBody>
                  <a:tcPr marL="63500" marR="63500" marT="12700" marB="12700" anchor="ctr">
                    <a:solidFill>
                      <a:srgbClr val="1B3A5C"/>
                    </a:solidFill>
                  </a:tcPr>
                </a:tc>
              </a:tr>
              <a:tr h="339634">
                <a:tc>
                  <a:txBody>
                    <a:bodyPr/>
                    <a:lstStyle/>
                    <a:p>
                      <a:pPr algn="l"/>
                      <a:r>
                        <a:rPr sz="1050" b="1" i="0">
                          <a:solidFill>
                            <a:srgbClr val="1F2A37"/>
                          </a:solidFill>
                          <a:latin typeface="Calibri"/>
                        </a:rPr>
                        <a:t>pass rate  (OCP / KinD)</a:t>
                      </a:r>
                    </a:p>
                  </a:txBody>
                  <a:tcPr marL="63500" marR="63500" marT="12700" marB="12700" anchor="ctr">
                    <a:solidFill>
                      <a:srgbClr val="FFFFFF"/>
                    </a:solidFill>
                  </a:tcPr>
                </a:tc>
                <a:tc>
                  <a:txBody>
                    <a:bodyPr/>
                    <a:lstStyle/>
                    <a:p>
                      <a:pPr algn="ctr"/>
                      <a:r>
                        <a:rPr sz="1050" b="0" i="0">
                          <a:solidFill>
                            <a:srgbClr val="1F2A37"/>
                          </a:solidFill>
                          <a:latin typeface="Calibri"/>
                        </a:rPr>
                        <a:t>0.80 / 1.00</a:t>
                      </a:r>
                    </a:p>
                  </a:txBody>
                  <a:tcPr marL="63500" marR="63500" marT="12700" marB="12700" anchor="ctr">
                    <a:solidFill>
                      <a:srgbClr val="FFFFFF"/>
                    </a:solidFill>
                  </a:tcPr>
                </a:tc>
                <a:tc>
                  <a:txBody>
                    <a:bodyPr/>
                    <a:lstStyle/>
                    <a:p>
                      <a:pPr algn="ctr"/>
                      <a:r>
                        <a:rPr sz="1050" b="0" i="0">
                          <a:solidFill>
                            <a:srgbClr val="1F2A37"/>
                          </a:solidFill>
                          <a:latin typeface="Calibri"/>
                        </a:rPr>
                        <a:t>1.00 / 1.00</a:t>
                      </a:r>
                    </a:p>
                  </a:txBody>
                  <a:tcPr marL="63500" marR="63500" marT="12700" marB="12700" anchor="ctr">
                    <a:solidFill>
                      <a:srgbClr val="FFFFFF"/>
                    </a:solidFill>
                  </a:tcPr>
                </a:tc>
              </a:tr>
              <a:tr h="339634">
                <a:tc>
                  <a:txBody>
                    <a:bodyPr/>
                    <a:lstStyle/>
                    <a:p>
                      <a:pPr algn="l"/>
                      <a:r>
                        <a:rPr sz="1050" b="1" i="0">
                          <a:solidFill>
                            <a:srgbClr val="1F2A37"/>
                          </a:solidFill>
                          <a:latin typeface="Calibri"/>
                        </a:rPr>
                        <a:t>LLM calls per task</a:t>
                      </a:r>
                    </a:p>
                  </a:txBody>
                  <a:tcPr marL="63500" marR="63500" marT="12700" marB="12700" anchor="ctr">
                    <a:solidFill>
                      <a:srgbClr val="F4F6F8"/>
                    </a:solidFill>
                  </a:tcPr>
                </a:tc>
                <a:tc>
                  <a:txBody>
                    <a:bodyPr/>
                    <a:lstStyle/>
                    <a:p>
                      <a:pPr algn="ctr"/>
                      <a:r>
                        <a:rPr sz="1050" b="0" i="0">
                          <a:solidFill>
                            <a:srgbClr val="1F2A37"/>
                          </a:solidFill>
                          <a:latin typeface="Calibri"/>
                        </a:rPr>
                        <a:t>2.8 – 3.0</a:t>
                      </a:r>
                    </a:p>
                  </a:txBody>
                  <a:tcPr marL="63500" marR="63500" marT="12700" marB="12700" anchor="ctr">
                    <a:solidFill>
                      <a:srgbClr val="F4F6F8"/>
                    </a:solidFill>
                  </a:tcPr>
                </a:tc>
                <a:tc>
                  <a:txBody>
                    <a:bodyPr/>
                    <a:lstStyle/>
                    <a:p>
                      <a:pPr algn="ctr"/>
                      <a:r>
                        <a:rPr sz="1050" b="0" i="0">
                          <a:solidFill>
                            <a:srgbClr val="1F2A37"/>
                          </a:solidFill>
                          <a:latin typeface="Calibri"/>
                        </a:rPr>
                        <a:t>1.0</a:t>
                      </a:r>
                    </a:p>
                  </a:txBody>
                  <a:tcPr marL="63500" marR="63500" marT="12700" marB="12700" anchor="ctr">
                    <a:solidFill>
                      <a:srgbClr val="F4F6F8"/>
                    </a:solidFill>
                  </a:tcPr>
                </a:tc>
              </a:tr>
              <a:tr h="339634">
                <a:tc>
                  <a:txBody>
                    <a:bodyPr/>
                    <a:lstStyle/>
                    <a:p>
                      <a:pPr algn="l"/>
                      <a:r>
                        <a:rPr sz="1050" b="1" i="0">
                          <a:solidFill>
                            <a:srgbClr val="1F2A37"/>
                          </a:solidFill>
                          <a:latin typeface="Calibri"/>
                        </a:rPr>
                        <a:t>input tokens per task</a:t>
                      </a:r>
                    </a:p>
                  </a:txBody>
                  <a:tcPr marL="63500" marR="63500" marT="12700" marB="12700" anchor="ctr">
                    <a:solidFill>
                      <a:srgbClr val="FFFFFF"/>
                    </a:solidFill>
                  </a:tcPr>
                </a:tc>
                <a:tc>
                  <a:txBody>
                    <a:bodyPr/>
                    <a:lstStyle/>
                    <a:p>
                      <a:pPr algn="ctr"/>
                      <a:r>
                        <a:rPr sz="1050" b="0" i="0">
                          <a:solidFill>
                            <a:srgbClr val="1F2A37"/>
                          </a:solidFill>
                          <a:latin typeface="Calibri"/>
                        </a:rPr>
                        <a:t>775 – 837</a:t>
                      </a:r>
                    </a:p>
                  </a:txBody>
                  <a:tcPr marL="63500" marR="63500" marT="12700" marB="12700" anchor="ctr">
                    <a:solidFill>
                      <a:srgbClr val="FFFFFF"/>
                    </a:solidFill>
                  </a:tcPr>
                </a:tc>
                <a:tc>
                  <a:txBody>
                    <a:bodyPr/>
                    <a:lstStyle/>
                    <a:p>
                      <a:pPr algn="ctr"/>
                      <a:r>
                        <a:rPr sz="1050" b="0" i="0">
                          <a:solidFill>
                            <a:srgbClr val="1F2A37"/>
                          </a:solidFill>
                          <a:latin typeface="Calibri"/>
                        </a:rPr>
                        <a:t>313</a:t>
                      </a:r>
                    </a:p>
                  </a:txBody>
                  <a:tcPr marL="63500" marR="63500" marT="12700" marB="12700" anchor="ctr">
                    <a:solidFill>
                      <a:srgbClr val="FFFFFF"/>
                    </a:solidFill>
                  </a:tcPr>
                </a:tc>
              </a:tr>
              <a:tr h="339634">
                <a:tc>
                  <a:txBody>
                    <a:bodyPr/>
                    <a:lstStyle/>
                    <a:p>
                      <a:pPr algn="l"/>
                      <a:r>
                        <a:rPr sz="1050" b="1" i="0">
                          <a:solidFill>
                            <a:srgbClr val="1F2A37"/>
                          </a:solidFill>
                          <a:latin typeface="Calibri"/>
                        </a:rPr>
                        <a:t>output tokens per task</a:t>
                      </a:r>
                    </a:p>
                  </a:txBody>
                  <a:tcPr marL="63500" marR="63500" marT="12700" marB="12700" anchor="ctr">
                    <a:solidFill>
                      <a:srgbClr val="F4F6F8"/>
                    </a:solidFill>
                  </a:tcPr>
                </a:tc>
                <a:tc>
                  <a:txBody>
                    <a:bodyPr/>
                    <a:lstStyle/>
                    <a:p>
                      <a:pPr algn="ctr"/>
                      <a:r>
                        <a:rPr sz="1050" b="0" i="0">
                          <a:solidFill>
                            <a:srgbClr val="1F2A37"/>
                          </a:solidFill>
                          <a:latin typeface="Calibri"/>
                        </a:rPr>
                        <a:t>57 – 63</a:t>
                      </a:r>
                    </a:p>
                  </a:txBody>
                  <a:tcPr marL="63500" marR="63500" marT="12700" marB="12700" anchor="ctr">
                    <a:solidFill>
                      <a:srgbClr val="F4F6F8"/>
                    </a:solidFill>
                  </a:tcPr>
                </a:tc>
                <a:tc>
                  <a:txBody>
                    <a:bodyPr/>
                    <a:lstStyle/>
                    <a:p>
                      <a:pPr algn="ctr"/>
                      <a:r>
                        <a:rPr sz="1050" b="0" i="0">
                          <a:solidFill>
                            <a:srgbClr val="1F2A37"/>
                          </a:solidFill>
                          <a:latin typeface="Calibri"/>
                        </a:rPr>
                        <a:t>137 – 355</a:t>
                      </a:r>
                    </a:p>
                  </a:txBody>
                  <a:tcPr marL="63500" marR="63500" marT="12700" marB="12700" anchor="ctr">
                    <a:solidFill>
                      <a:srgbClr val="F4F6F8"/>
                    </a:solidFill>
                  </a:tcPr>
                </a:tc>
              </a:tr>
              <a:tr h="339634">
                <a:tc>
                  <a:txBody>
                    <a:bodyPr/>
                    <a:lstStyle/>
                    <a:p>
                      <a:pPr algn="l"/>
                      <a:r>
                        <a:rPr sz="1050" b="1" i="0">
                          <a:solidFill>
                            <a:srgbClr val="1F2A37"/>
                          </a:solidFill>
                          <a:latin typeface="Calibri"/>
                        </a:rPr>
                        <a:t>total tokens per task</a:t>
                      </a:r>
                    </a:p>
                  </a:txBody>
                  <a:tcPr marL="63500" marR="63500" marT="12700" marB="12700" anchor="ctr">
                    <a:solidFill>
                      <a:srgbClr val="FFFFFF"/>
                    </a:solidFill>
                  </a:tcPr>
                </a:tc>
                <a:tc>
                  <a:txBody>
                    <a:bodyPr/>
                    <a:lstStyle/>
                    <a:p>
                      <a:pPr algn="ctr"/>
                      <a:r>
                        <a:rPr sz="1050" b="0" i="0">
                          <a:solidFill>
                            <a:srgbClr val="1F2A37"/>
                          </a:solidFill>
                          <a:latin typeface="Calibri"/>
                        </a:rPr>
                        <a:t>832 – 900</a:t>
                      </a:r>
                    </a:p>
                  </a:txBody>
                  <a:tcPr marL="63500" marR="63500" marT="12700" marB="12700" anchor="ctr">
                    <a:solidFill>
                      <a:srgbClr val="FFFFFF"/>
                    </a:solidFill>
                  </a:tcPr>
                </a:tc>
                <a:tc>
                  <a:txBody>
                    <a:bodyPr/>
                    <a:lstStyle/>
                    <a:p>
                      <a:pPr algn="ctr"/>
                      <a:r>
                        <a:rPr sz="1050" b="0" i="0">
                          <a:solidFill>
                            <a:srgbClr val="1F2A37"/>
                          </a:solidFill>
                          <a:latin typeface="Calibri"/>
                        </a:rPr>
                        <a:t>450 – 668</a:t>
                      </a:r>
                    </a:p>
                  </a:txBody>
                  <a:tcPr marL="63500" marR="63500" marT="12700" marB="12700" anchor="ctr">
                    <a:solidFill>
                      <a:srgbClr val="FFFFFF"/>
                    </a:solidFill>
                  </a:tcPr>
                </a:tc>
              </a:tr>
              <a:tr h="339636">
                <a:tc>
                  <a:txBody>
                    <a:bodyPr/>
                    <a:lstStyle/>
                    <a:p>
                      <a:pPr algn="l"/>
                      <a:r>
                        <a:rPr sz="1050" b="1" i="0">
                          <a:solidFill>
                            <a:srgbClr val="1F2A37"/>
                          </a:solidFill>
                          <a:latin typeface="Calibri"/>
                        </a:rPr>
                        <a:t>median task latency</a:t>
                      </a:r>
                    </a:p>
                  </a:txBody>
                  <a:tcPr marL="63500" marR="63500" marT="12700" marB="12700" anchor="ctr">
                    <a:solidFill>
                      <a:srgbClr val="F4F6F8"/>
                    </a:solidFill>
                  </a:tcPr>
                </a:tc>
                <a:tc>
                  <a:txBody>
                    <a:bodyPr/>
                    <a:lstStyle/>
                    <a:p>
                      <a:pPr algn="ctr"/>
                      <a:r>
                        <a:rPr sz="1050" b="0" i="0">
                          <a:solidFill>
                            <a:srgbClr val="1F2A37"/>
                          </a:solidFill>
                          <a:latin typeface="Calibri"/>
                        </a:rPr>
                        <a:t>10.4 – 10.8 s</a:t>
                      </a:r>
                    </a:p>
                  </a:txBody>
                  <a:tcPr marL="63500" marR="63500" marT="12700" marB="12700" anchor="ctr">
                    <a:solidFill>
                      <a:srgbClr val="F4F6F8"/>
                    </a:solidFill>
                  </a:tcPr>
                </a:tc>
                <a:tc>
                  <a:txBody>
                    <a:bodyPr/>
                    <a:lstStyle/>
                    <a:p>
                      <a:pPr algn="ctr"/>
                      <a:r>
                        <a:rPr sz="1050" b="0" i="0">
                          <a:solidFill>
                            <a:srgbClr val="1F2A37"/>
                          </a:solidFill>
                          <a:latin typeface="Calibri"/>
                        </a:rPr>
                        <a:t>11.2 – 16.4 s</a:t>
                      </a:r>
                    </a:p>
                  </a:txBody>
                  <a:tcPr marL="63500" marR="63500" marT="12700" marB="12700" anchor="ctr">
                    <a:solidFill>
                      <a:srgbClr val="F4F6F8"/>
                    </a:solidFill>
                  </a:tcPr>
                </a:tc>
              </a:tr>
            </a:tbl>
          </a:graphicData>
        </a:graphic>
      </p:graphicFrame>
      <p:sp>
        <p:nvSpPr>
          <p:cNvPr id="5" name="Rounded Rectangle 4"/>
          <p:cNvSpPr/>
          <p:nvPr/>
        </p:nvSpPr>
        <p:spPr>
          <a:xfrm>
            <a:off x="6309360" y="3749039"/>
            <a:ext cx="5440680" cy="114300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8E44AD"/>
                </a:solidFill>
                <a:latin typeface="Calibri"/>
              </a:rPr>
              <a:t>The token ranking and the money ranking disagree</a:t>
            </a:r>
          </a:p>
          <a:p>
            <a:pPr algn="ctr"/>
            <a:r>
              <a:rPr sz="1050" b="0" i="0">
                <a:solidFill>
                  <a:srgbClr val="1F2A37"/>
                </a:solidFill>
                <a:latin typeface="Calibri"/>
              </a:rPr>
              <a:t>The reasoning model answers in ONE call; gpt-4.1 needs ~3 tool round-trips, so it sends 2.6x the input but emits a quarter of the output. Equating the two bills solves for break-even at output:input ≈ 2.7x (the platforms bracket it, 1.8x–5.8x). Priced above that ratio gpt-4.1 is cheaper; below it, gpt-5-mini.</a:t>
            </a:r>
          </a:p>
        </p:txBody>
      </p:sp>
      <p:sp>
        <p:nvSpPr>
          <p:cNvPr id="6" name="Rounded Rectangle 5"/>
          <p:cNvSpPr/>
          <p:nvPr/>
        </p:nvSpPr>
        <p:spPr>
          <a:xfrm>
            <a:off x="411480" y="5074920"/>
            <a:ext cx="11338560" cy="123444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00" b="1" i="0">
                <a:solidFill>
                  <a:srgbClr val="1F2A37"/>
                </a:solidFill>
                <a:latin typeface="Calibri"/>
              </a:rPr>
              <a:t>cost per task  =  (input tokens x P_in  +  output tokens x P_out) / 1 M     — we publish the token counts, you supply your own rates; our gateway does not bill us, so no dollar figure here would be ours to quote.  Two consequences of the input-share row:  for tau2 and appworld the bill IS the input side, so the cost driver is turn count and context compounding, not verbosity — and a cheaper-input model beats a terser one.  For gsm8k, output is a third of the tokens and reasoning effort moves it 2.6x between clusters.</a:t>
            </a:r>
          </a:p>
        </p:txBody>
      </p:sp>
      <p:sp>
        <p:nvSpPr>
          <p:cNvPr id="7" name="TextBox 6"/>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8.1 The Canonical 12-Run Matrix">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8.1  The Canonical 12-Run Matrix</a:t>
            </a:r>
          </a:p>
          <a:p>
            <a:r>
              <a:rPr sz="1400" b="0" i="0">
                <a:solidFill>
                  <a:srgbClr val="C9D9EC"/>
                </a:solidFill>
                <a:latin typeface="Calibri"/>
              </a:rPr>
              <a:t>One fixed set of 12 request bodies — the same on every platform, every version</a:t>
            </a:r>
          </a:p>
        </p:txBody>
      </p:sp>
      <p:graphicFrame>
        <p:nvGraphicFramePr>
          <p:cNvPr id="3" name="Table 2"/>
          <p:cNvGraphicFramePr>
            <a:graphicFrameLocks noGrp="1"/>
          </p:cNvGraphicFramePr>
          <p:nvPr/>
        </p:nvGraphicFramePr>
        <p:xfrm>
          <a:off x="411480" y="1188720"/>
          <a:ext cx="11338560" cy="3611880"/>
        </p:xfrm>
        <a:graphic>
          <a:graphicData uri="http://schemas.openxmlformats.org/drawingml/2006/table">
            <a:tbl>
              <a:tblPr firstRow="1">
                <a:tableStyleId>{5C22544A-7EE6-4342-B048-85BDC9FD1C3A}</a:tableStyleId>
              </a:tblPr>
              <a:tblGrid>
                <a:gridCol w="640080"/>
                <a:gridCol w="1554480"/>
                <a:gridCol w="914400"/>
                <a:gridCol w="1097280"/>
                <a:gridCol w="7132320"/>
              </a:tblGrid>
              <a:tr h="277836">
                <a:tc>
                  <a:txBody>
                    <a:bodyPr/>
                    <a:lstStyle/>
                    <a:p>
                      <a:pPr algn="l"/>
                      <a:r>
                        <a:rPr sz="1050" b="1" i="0">
                          <a:solidFill>
                            <a:srgbClr val="FFFFFF"/>
                          </a:solidFill>
                          <a:latin typeface="Calibri"/>
                        </a:rPr>
                        <a:t>#</a:t>
                      </a:r>
                    </a:p>
                  </a:txBody>
                  <a:tcPr marL="63500" marR="63500" marT="12700" marB="12700" anchor="ctr">
                    <a:solidFill>
                      <a:srgbClr val="1B3A5C"/>
                    </a:solidFill>
                  </a:tcPr>
                </a:tc>
                <a:tc>
                  <a:txBody>
                    <a:bodyPr/>
                    <a:lstStyle/>
                    <a:p>
                      <a:pPr algn="ctr"/>
                      <a:r>
                        <a:rPr sz="1050" b="1" i="0">
                          <a:solidFill>
                            <a:srgbClr val="FFFFFF"/>
                          </a:solidFill>
                          <a:latin typeface="Calibri"/>
                        </a:rPr>
                        <a:t>benchmark</a:t>
                      </a:r>
                    </a:p>
                  </a:txBody>
                  <a:tcPr marL="63500" marR="63500" marT="12700" marB="12700" anchor="ctr">
                    <a:solidFill>
                      <a:srgbClr val="1B3A5C"/>
                    </a:solidFill>
                  </a:tcPr>
                </a:tc>
                <a:tc>
                  <a:txBody>
                    <a:bodyPr/>
                    <a:lstStyle/>
                    <a:p>
                      <a:pPr algn="ctr"/>
                      <a:r>
                        <a:rPr sz="1050" b="1" i="0">
                          <a:solidFill>
                            <a:srgbClr val="FFFFFF"/>
                          </a:solidFill>
                          <a:latin typeface="Calibri"/>
                        </a:rPr>
                        <a:t>tasks</a:t>
                      </a:r>
                    </a:p>
                  </a:txBody>
                  <a:tcPr marL="63500" marR="63500" marT="12700" marB="12700" anchor="ctr">
                    <a:solidFill>
                      <a:srgbClr val="1B3A5C"/>
                    </a:solidFill>
                  </a:tcPr>
                </a:tc>
                <a:tc>
                  <a:txBody>
                    <a:bodyPr/>
                    <a:lstStyle/>
                    <a:p>
                      <a:pPr algn="ctr"/>
                      <a:r>
                        <a:rPr sz="1050" b="1" i="0">
                          <a:solidFill>
                            <a:srgbClr val="FFFFFF"/>
                          </a:solidFill>
                          <a:latin typeface="Calibri"/>
                        </a:rPr>
                        <a:t>parallel</a:t>
                      </a:r>
                    </a:p>
                  </a:txBody>
                  <a:tcPr marL="63500" marR="63500" marT="12700" marB="12700" anchor="ctr">
                    <a:solidFill>
                      <a:srgbClr val="1B3A5C"/>
                    </a:solidFill>
                  </a:tcPr>
                </a:tc>
                <a:tc>
                  <a:txBody>
                    <a:bodyPr/>
                    <a:lstStyle/>
                    <a:p>
                      <a:pPr algn="ctr"/>
                      <a:r>
                        <a:rPr sz="1050" b="1" i="0">
                          <a:solidFill>
                            <a:srgbClr val="FFFFFF"/>
                          </a:solidFill>
                          <a:latin typeface="Calibri"/>
                        </a:rPr>
                        <a:t>what it varies</a:t>
                      </a:r>
                    </a:p>
                  </a:txBody>
                  <a:tcPr marL="63500" marR="63500" marT="12700" marB="12700" anchor="ctr">
                    <a:solidFill>
                      <a:srgbClr val="1B3A5C"/>
                    </a:solidFill>
                  </a:tcPr>
                </a:tc>
              </a:tr>
              <a:tr h="277836">
                <a:tc>
                  <a:txBody>
                    <a:bodyPr/>
                    <a:lstStyle/>
                    <a:p>
                      <a:pPr algn="l"/>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baseline — the smoke test</a:t>
                      </a:r>
                    </a:p>
                  </a:txBody>
                  <a:tcPr marL="63500" marR="63500" marT="12700" marB="12700" anchor="ctr">
                    <a:solidFill>
                      <a:srgbClr val="FFFFFF"/>
                    </a:solidFill>
                  </a:tcPr>
                </a:tc>
              </a:tr>
              <a:tr h="277836">
                <a:tc>
                  <a:txBody>
                    <a:bodyPr/>
                    <a:lstStyle/>
                    <a:p>
                      <a:pPr algn="l"/>
                      <a:r>
                        <a:rPr sz="1050" b="0" i="0">
                          <a:solidFill>
                            <a:srgbClr val="1F2A37"/>
                          </a:solidFill>
                          <a:latin typeface="Calibri"/>
                        </a:rPr>
                        <a:t>2</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1</a:t>
                      </a:r>
                    </a:p>
                  </a:txBody>
                  <a:tcPr marL="63500" marR="63500" marT="12700" marB="12700" anchor="ctr">
                    <a:solidFill>
                      <a:srgbClr val="F4F6F8"/>
                    </a:solidFill>
                  </a:tcPr>
                </a:tc>
                <a:tc>
                  <a:txBody>
                    <a:bodyPr/>
                    <a:lstStyle/>
                    <a:p>
                      <a:pPr algn="ctr"/>
                      <a:r>
                        <a:rPr sz="1050" b="0" i="0">
                          <a:solidFill>
                            <a:srgbClr val="1F2A37"/>
                          </a:solidFill>
                          <a:latin typeface="Calibri"/>
                        </a:rPr>
                        <a:t>volume, still serial</a:t>
                      </a:r>
                    </a:p>
                  </a:txBody>
                  <a:tcPr marL="63500" marR="63500" marT="12700" marB="12700" anchor="ctr">
                    <a:solidFill>
                      <a:srgbClr val="F4F6F8"/>
                    </a:solidFill>
                  </a:tcPr>
                </a:tc>
              </a:tr>
              <a:tr h="277836">
                <a:tc>
                  <a:txBody>
                    <a:bodyPr/>
                    <a:lstStyle/>
                    <a:p>
                      <a:pPr algn="l"/>
                      <a:r>
                        <a:rPr sz="1050" b="0" i="0">
                          <a:solidFill>
                            <a:srgbClr val="1F2A37"/>
                          </a:solidFill>
                          <a:latin typeface="Calibri"/>
                        </a:rPr>
                        <a:t>3</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50</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volume + concurrency</a:t>
                      </a:r>
                    </a:p>
                  </a:txBody>
                  <a:tcPr marL="63500" marR="63500" marT="12700" marB="12700" anchor="ctr">
                    <a:solidFill>
                      <a:srgbClr val="FFFFFF"/>
                    </a:solidFill>
                  </a:tcPr>
                </a:tc>
              </a:tr>
              <a:tr h="277836">
                <a:tc>
                  <a:txBody>
                    <a:bodyPr/>
                    <a:lstStyle/>
                    <a:p>
                      <a:pPr algn="l"/>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model swap → Azure/gpt-4.1</a:t>
                      </a:r>
                    </a:p>
                  </a:txBody>
                  <a:tcPr marL="63500" marR="63500" marT="12700" marB="12700" anchor="ctr">
                    <a:solidFill>
                      <a:srgbClr val="F4F6F8"/>
                    </a:solidFill>
                  </a:tcPr>
                </a:tc>
              </a:tr>
              <a:tr h="277836">
                <a:tc>
                  <a:txBody>
                    <a:bodyPr/>
                    <a:lstStyle/>
                    <a:p>
                      <a:pPr algn="l"/>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AuthBridge preset: auth-only</a:t>
                      </a:r>
                    </a:p>
                  </a:txBody>
                  <a:tcPr marL="63500" marR="63500" marT="12700" marB="12700" anchor="ctr">
                    <a:solidFill>
                      <a:srgbClr val="FFFFFF"/>
                    </a:solidFill>
                  </a:tcPr>
                </a:tc>
              </a:tr>
              <a:tr h="277836">
                <a:tc>
                  <a:txBody>
                    <a:bodyPr/>
                    <a:lstStyle/>
                    <a:p>
                      <a:pPr algn="l"/>
                      <a:r>
                        <a:rPr sz="1050" b="0" i="0">
                          <a:solidFill>
                            <a:srgbClr val="1F2A37"/>
                          </a:solidFill>
                          <a:latin typeface="Calibri"/>
                        </a:rPr>
                        <a:t>6</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AuthBridge preset: ibac-only</a:t>
                      </a:r>
                    </a:p>
                  </a:txBody>
                  <a:tcPr marL="63500" marR="63500" marT="12700" marB="12700" anchor="ctr">
                    <a:solidFill>
                      <a:srgbClr val="F4F6F8"/>
                    </a:solidFill>
                  </a:tcPr>
                </a:tc>
              </a:tr>
              <a:tr h="277836">
                <a:tc>
                  <a:txBody>
                    <a:bodyPr/>
                    <a:lstStyle/>
                    <a:p>
                      <a:pPr algn="l"/>
                      <a:r>
                        <a:rPr sz="1050" b="0" i="0">
                          <a:solidFill>
                            <a:srgbClr val="1F2A37"/>
                          </a:solidFill>
                          <a:latin typeface="Calibri"/>
                        </a:rPr>
                        <a:t>7</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AuthBridge preset: full (enforce)</a:t>
                      </a:r>
                    </a:p>
                  </a:txBody>
                  <a:tcPr marL="63500" marR="63500" marT="12700" marB="12700" anchor="ctr">
                    <a:solidFill>
                      <a:srgbClr val="FFFFFF"/>
                    </a:solidFill>
                  </a:tcPr>
                </a:tc>
              </a:tr>
              <a:tr h="277836">
                <a:tc>
                  <a:txBody>
                    <a:bodyPr/>
                    <a:lstStyle/>
                    <a:p>
                      <a:pPr algn="l"/>
                      <a:r>
                        <a:rPr sz="1050" b="0" i="0">
                          <a:solidFill>
                            <a:srgbClr val="1F2A37"/>
                          </a:solidFill>
                          <a:latin typeface="Calibri"/>
                        </a:rPr>
                        <a:t>8</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full + per-plugin override ibac:observe</a:t>
                      </a:r>
                    </a:p>
                  </a:txBody>
                  <a:tcPr marL="63500" marR="63500" marT="12700" marB="12700" anchor="ctr">
                    <a:solidFill>
                      <a:srgbClr val="F4F6F8"/>
                    </a:solidFill>
                  </a:tcPr>
                </a:tc>
              </a:tr>
              <a:tr h="277836">
                <a:tc>
                  <a:txBody>
                    <a:bodyPr/>
                    <a:lstStyle/>
                    <a:p>
                      <a:pPr algn="l"/>
                      <a:r>
                        <a:rPr sz="1050" b="0" i="0">
                          <a:solidFill>
                            <a:srgbClr val="1F2A37"/>
                          </a:solidFill>
                          <a:latin typeface="Calibri"/>
                        </a:rPr>
                        <a:t>9</a:t>
                      </a:r>
                    </a:p>
                  </a:txBody>
                  <a:tcPr marL="63500" marR="63500" marT="12700" marB="12700" anchor="ctr">
                    <a:solidFill>
                      <a:srgbClr val="FFFFFF"/>
                    </a:solidFill>
                  </a:tcPr>
                </a:tc>
                <a:tc>
                  <a:txBody>
                    <a:bodyPr/>
                    <a:lstStyle/>
                    <a:p>
                      <a:pPr algn="ctr"/>
                      <a:r>
                        <a:rPr sz="1050" b="0" i="0">
                          <a:solidFill>
                            <a:srgbClr val="1F2A37"/>
                          </a:solidFill>
                          <a:latin typeface="Calibri"/>
                        </a:rPr>
                        <a:t>tau2</a:t>
                      </a:r>
                    </a:p>
                  </a:txBody>
                  <a:tcPr marL="63500" marR="63500" marT="12700" marB="12700" anchor="ctr">
                    <a:solidFill>
                      <a:srgbClr val="FFFFFF"/>
                    </a:solidFill>
                  </a:tcPr>
                </a:tc>
                <a:tc>
                  <a:txBody>
                    <a:bodyPr/>
                    <a:lstStyle/>
                    <a:p>
                      <a:pPr algn="ctr"/>
                      <a:r>
                        <a:rPr sz="1050" b="0" i="0">
                          <a:solidFill>
                            <a:srgbClr val="1F2A37"/>
                          </a:solidFill>
                          <a:latin typeface="Calibri"/>
                        </a:rPr>
                        <a:t>10</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multi-turn + user simulator</a:t>
                      </a:r>
                    </a:p>
                  </a:txBody>
                  <a:tcPr marL="63500" marR="63500" marT="12700" marB="12700" anchor="ctr">
                    <a:solidFill>
                      <a:srgbClr val="FFFFFF"/>
                    </a:solidFill>
                  </a:tcPr>
                </a:tc>
              </a:tr>
              <a:tr h="277836">
                <a:tc>
                  <a:txBody>
                    <a:bodyPr/>
                    <a:lstStyle/>
                    <a:p>
                      <a:pPr algn="l"/>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tau2</a:t>
                      </a:r>
                    </a:p>
                  </a:txBody>
                  <a:tcPr marL="63500" marR="63500" marT="12700" marB="12700" anchor="ctr">
                    <a:solidFill>
                      <a:srgbClr val="F4F6F8"/>
                    </a:solidFill>
                  </a:tcPr>
                </a:tc>
                <a:tc>
                  <a:txBody>
                    <a:bodyPr/>
                    <a:lstStyle/>
                    <a:p>
                      <a:pPr algn="ctr"/>
                      <a:r>
                        <a:rPr sz="1050" b="0" i="0">
                          <a:solidFill>
                            <a:srgbClr val="1F2A37"/>
                          </a:solidFill>
                          <a:latin typeface="Calibri"/>
                        </a:rPr>
                        <a:t>20</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multi-turn under concurrency</a:t>
                      </a:r>
                    </a:p>
                  </a:txBody>
                  <a:tcPr marL="63500" marR="63500" marT="12700" marB="12700" anchor="ctr">
                    <a:solidFill>
                      <a:srgbClr val="F4F6F8"/>
                    </a:solidFill>
                  </a:tcPr>
                </a:tc>
              </a:tr>
              <a:tr h="277836">
                <a:tc>
                  <a:txBody>
                    <a:bodyPr/>
                    <a:lstStyle/>
                    <a:p>
                      <a:pPr algn="l"/>
                      <a:r>
                        <a:rPr sz="1050" b="0" i="0">
                          <a:solidFill>
                            <a:srgbClr val="1F2A37"/>
                          </a:solidFill>
                          <a:latin typeface="Calibri"/>
                        </a:rPr>
                        <a:t>11</a:t>
                      </a:r>
                    </a:p>
                  </a:txBody>
                  <a:tcPr marL="63500" marR="63500" marT="12700" marB="12700" anchor="ctr">
                    <a:solidFill>
                      <a:srgbClr val="FFFFFF"/>
                    </a:solidFill>
                  </a:tcPr>
                </a:tc>
                <a:tc>
                  <a:txBody>
                    <a:bodyPr/>
                    <a:lstStyle/>
                    <a:p>
                      <a:pPr algn="ctr"/>
                      <a:r>
                        <a:rPr sz="1050" b="0" i="0">
                          <a:solidFill>
                            <a:srgbClr val="1F2A37"/>
                          </a:solidFill>
                          <a:latin typeface="Calibri"/>
                        </a:rPr>
                        <a:t>appworld</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long-horizon, gemini-2.5-pro</a:t>
                      </a:r>
                    </a:p>
                  </a:txBody>
                  <a:tcPr marL="63500" marR="63500" marT="12700" marB="12700" anchor="ctr">
                    <a:solidFill>
                      <a:srgbClr val="FFFFFF"/>
                    </a:solidFill>
                  </a:tcPr>
                </a:tc>
              </a:tr>
              <a:tr h="277848">
                <a:tc>
                  <a:txBody>
                    <a:bodyPr/>
                    <a:lstStyle/>
                    <a:p>
                      <a:pPr algn="l"/>
                      <a:r>
                        <a:rPr sz="1050" b="0" i="0">
                          <a:solidFill>
                            <a:srgbClr val="1F2A37"/>
                          </a:solidFill>
                          <a:latin typeface="Calibri"/>
                        </a:rPr>
                        <a:t>12</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c>
                  <a:txBody>
                    <a:bodyPr/>
                    <a:lstStyle/>
                    <a:p>
                      <a:pPr algn="ctr"/>
                      <a:r>
                        <a:rPr sz="1050" b="0" i="0">
                          <a:solidFill>
                            <a:srgbClr val="1F2A37"/>
                          </a:solidFill>
                          <a:latin typeface="Calibri"/>
                        </a:rPr>
                        <a:t>20</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long-horizon under concurrency</a:t>
                      </a:r>
                    </a:p>
                  </a:txBody>
                  <a:tcPr marL="63500" marR="63500" marT="12700" marB="12700" anchor="ctr">
                    <a:solidFill>
                      <a:srgbClr val="F4F6F8"/>
                    </a:solidFill>
                  </a:tcPr>
                </a:tc>
              </a:tr>
            </a:tbl>
          </a:graphicData>
        </a:graphic>
      </p:graphicFrame>
      <p:sp>
        <p:nvSpPr>
          <p:cNvPr id="4" name="Rounded Rectangle 3"/>
          <p:cNvSpPr/>
          <p:nvPr/>
        </p:nvSpPr>
        <p:spPr>
          <a:xfrm>
            <a:off x="411480" y="4983480"/>
            <a:ext cx="11338560" cy="141732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00" b="0" i="0">
                <a:solidFill>
                  <a:srgbClr val="1F2A37"/>
                </a:solidFill>
                <a:latin typeface="Calibri"/>
              </a:rPr>
              <a:t>Why a FIXED matrix: task selection is deterministic, so the same leg run anywhere executes the same tasks in the same order. That is what makes a difference attributable to the platform rather than to the workload. Every leg deploys fresh — originally because a warm agent lost telemetry (fixed in agent dev145), now because only a NEWLY CREATED pod re-pulls :latest. Driven by one command (reference/run-12.py): ~1h35m of leg wall time per platform, plus the deploys and ~33 min of gateway-cache gaps. The generated documents in docs/results/ derive every number from the mirrored artifacts.</a:t>
            </a:r>
          </a:p>
        </p:txBody>
      </p:sp>
      <p:sp>
        <p:nvSpPr>
          <p:cNvPr id="5" name="TextBox 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name="8.2 What the 12 Runs Measured">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8.2  What the 12 Runs Measured</a:t>
            </a:r>
          </a:p>
          <a:p>
            <a:r>
              <a:rPr sz="1400" b="0" i="0">
                <a:solidFill>
                  <a:srgbClr val="C9D9EC"/>
                </a:solidFill>
                <a:latin typeface="Calibri"/>
              </a:rPr>
              <a:t>v1.28 on OpenShift (Service on ykt3, workloads on ykt2) — 141 tasks, all 12 legs succeeded</a:t>
            </a:r>
          </a:p>
        </p:txBody>
      </p:sp>
      <p:graphicFrame>
        <p:nvGraphicFramePr>
          <p:cNvPr id="3" name="Table 2"/>
          <p:cNvGraphicFramePr>
            <a:graphicFrameLocks noGrp="1"/>
          </p:cNvGraphicFramePr>
          <p:nvPr/>
        </p:nvGraphicFramePr>
        <p:xfrm>
          <a:off x="411480" y="1188720"/>
          <a:ext cx="5532120" cy="3794760"/>
        </p:xfrm>
        <a:graphic>
          <a:graphicData uri="http://schemas.openxmlformats.org/drawingml/2006/table">
            <a:tbl>
              <a:tblPr firstRow="1">
                <a:tableStyleId>{5C22544A-7EE6-4342-B048-85BDC9FD1C3A}</a:tableStyleId>
              </a:tblPr>
              <a:tblGrid>
                <a:gridCol w="502920"/>
                <a:gridCol w="1280160"/>
                <a:gridCol w="822960"/>
                <a:gridCol w="777240"/>
                <a:gridCol w="960120"/>
                <a:gridCol w="1188720"/>
              </a:tblGrid>
              <a:tr h="291904">
                <a:tc>
                  <a:txBody>
                    <a:bodyPr/>
                    <a:lstStyle/>
                    <a:p>
                      <a:pPr algn="l"/>
                      <a:r>
                        <a:rPr sz="1050" b="1" i="0">
                          <a:solidFill>
                            <a:srgbClr val="FFFFFF"/>
                          </a:solidFill>
                          <a:latin typeface="Calibri"/>
                        </a:rPr>
                        <a:t>#</a:t>
                      </a:r>
                    </a:p>
                  </a:txBody>
                  <a:tcPr marL="63500" marR="63500" marT="12700" marB="12700" anchor="ctr">
                    <a:solidFill>
                      <a:srgbClr val="1B3A5C"/>
                    </a:solidFill>
                  </a:tcPr>
                </a:tc>
                <a:tc>
                  <a:txBody>
                    <a:bodyPr/>
                    <a:lstStyle/>
                    <a:p>
                      <a:pPr algn="ctr"/>
                      <a:r>
                        <a:rPr sz="1050" b="1" i="0">
                          <a:solidFill>
                            <a:srgbClr val="FFFFFF"/>
                          </a:solidFill>
                          <a:latin typeface="Calibri"/>
                        </a:rPr>
                        <a:t>bench</a:t>
                      </a:r>
                    </a:p>
                  </a:txBody>
                  <a:tcPr marL="63500" marR="63500" marT="12700" marB="12700" anchor="ctr">
                    <a:solidFill>
                      <a:srgbClr val="1B3A5C"/>
                    </a:solidFill>
                  </a:tcPr>
                </a:tc>
                <a:tc>
                  <a:txBody>
                    <a:bodyPr/>
                    <a:lstStyle/>
                    <a:p>
                      <a:pPr algn="ctr"/>
                      <a:r>
                        <a:rPr sz="1050" b="1" i="0">
                          <a:solidFill>
                            <a:srgbClr val="FFFFFF"/>
                          </a:solidFill>
                          <a:latin typeface="Calibri"/>
                        </a:rPr>
                        <a:t>pass</a:t>
                      </a:r>
                    </a:p>
                  </a:txBody>
                  <a:tcPr marL="63500" marR="63500" marT="12700" marB="12700" anchor="ctr">
                    <a:solidFill>
                      <a:srgbClr val="1B3A5C"/>
                    </a:solidFill>
                  </a:tcPr>
                </a:tc>
                <a:tc>
                  <a:txBody>
                    <a:bodyPr/>
                    <a:lstStyle/>
                    <a:p>
                      <a:pPr algn="ctr"/>
                      <a:r>
                        <a:rPr sz="1050" b="1" i="0">
                          <a:solidFill>
                            <a:srgbClr val="FFFFFF"/>
                          </a:solidFill>
                          <a:latin typeface="Calibri"/>
                        </a:rPr>
                        <a:t>err</a:t>
                      </a:r>
                    </a:p>
                  </a:txBody>
                  <a:tcPr marL="63500" marR="63500" marT="12700" marB="12700" anchor="ctr">
                    <a:solidFill>
                      <a:srgbClr val="1B3A5C"/>
                    </a:solidFill>
                  </a:tcPr>
                </a:tc>
                <a:tc>
                  <a:txBody>
                    <a:bodyPr/>
                    <a:lstStyle/>
                    <a:p>
                      <a:pPr algn="ctr"/>
                      <a:r>
                        <a:rPr sz="1050" b="1" i="0">
                          <a:solidFill>
                            <a:srgbClr val="FFFFFF"/>
                          </a:solidFill>
                          <a:latin typeface="Calibri"/>
                        </a:rPr>
                        <a:t>wall</a:t>
                      </a:r>
                    </a:p>
                  </a:txBody>
                  <a:tcPr marL="63500" marR="63500" marT="12700" marB="12700" anchor="ctr">
                    <a:solidFill>
                      <a:srgbClr val="1B3A5C"/>
                    </a:solidFill>
                  </a:tcPr>
                </a:tc>
                <a:tc>
                  <a:txBody>
                    <a:bodyPr/>
                    <a:lstStyle/>
                    <a:p>
                      <a:pPr algn="ctr"/>
                      <a:r>
                        <a:rPr sz="1050" b="1" i="0">
                          <a:solidFill>
                            <a:srgbClr val="FFFFFF"/>
                          </a:solidFill>
                          <a:latin typeface="Calibri"/>
                        </a:rPr>
                        <a:t>input tokens</a:t>
                      </a:r>
                    </a:p>
                  </a:txBody>
                  <a:tcPr marL="63500" marR="63500" marT="12700" marB="12700" anchor="ctr">
                    <a:solidFill>
                      <a:srgbClr val="1B3A5C"/>
                    </a:solidFill>
                  </a:tcPr>
                </a:tc>
              </a:tr>
              <a:tr h="291904">
                <a:tc>
                  <a:txBody>
                    <a:bodyPr/>
                    <a:lstStyle/>
                    <a:p>
                      <a:pPr algn="l"/>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0/1</a:t>
                      </a:r>
                    </a:p>
                  </a:txBody>
                  <a:tcPr marL="63500" marR="63500" marT="12700" marB="12700" anchor="ctr">
                    <a:solidFill>
                      <a:srgbClr val="FFFFFF"/>
                    </a:solidFill>
                  </a:tcPr>
                </a:tc>
                <a:tc>
                  <a:txBody>
                    <a:bodyPr/>
                    <a:lstStyle/>
                    <a:p>
                      <a:pPr algn="ctr"/>
                      <a:r>
                        <a:rPr sz="1050" b="0" i="0">
                          <a:solidFill>
                            <a:srgbClr val="1F2A37"/>
                          </a:solidFill>
                          <a:latin typeface="Calibri"/>
                        </a:rPr>
                        <a:t>7 s</a:t>
                      </a:r>
                    </a:p>
                  </a:txBody>
                  <a:tcPr marL="63500" marR="63500" marT="12700" marB="12700" anchor="ctr">
                    <a:solidFill>
                      <a:srgbClr val="FFFFFF"/>
                    </a:solidFill>
                  </a:tcPr>
                </a:tc>
                <a:tc>
                  <a:txBody>
                    <a:bodyPr/>
                    <a:lstStyle/>
                    <a:p>
                      <a:pPr algn="ctr"/>
                      <a:r>
                        <a:rPr sz="1050" b="0" i="0">
                          <a:solidFill>
                            <a:srgbClr val="1F2A37"/>
                          </a:solidFill>
                          <a:latin typeface="Calibri"/>
                        </a:rPr>
                        <a:t>320</a:t>
                      </a:r>
                    </a:p>
                  </a:txBody>
                  <a:tcPr marL="63500" marR="63500" marT="12700" marB="12700" anchor="ctr">
                    <a:solidFill>
                      <a:srgbClr val="FFFFFF"/>
                    </a:solidFill>
                  </a:tcPr>
                </a:tc>
              </a:tr>
              <a:tr h="291904">
                <a:tc>
                  <a:txBody>
                    <a:bodyPr/>
                    <a:lstStyle/>
                    <a:p>
                      <a:pPr algn="l"/>
                      <a:r>
                        <a:rPr sz="1050" b="0" i="0">
                          <a:solidFill>
                            <a:srgbClr val="1F2A37"/>
                          </a:solidFill>
                          <a:latin typeface="Calibri"/>
                        </a:rPr>
                        <a:t>2</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1.00</a:t>
                      </a:r>
                    </a:p>
                  </a:txBody>
                  <a:tcPr marL="63500" marR="63500" marT="12700" marB="12700" anchor="ctr">
                    <a:solidFill>
                      <a:srgbClr val="F4F6F8"/>
                    </a:solidFill>
                  </a:tcPr>
                </a:tc>
                <a:tc>
                  <a:txBody>
                    <a:bodyPr/>
                    <a:lstStyle/>
                    <a:p>
                      <a:pPr algn="ctr"/>
                      <a:r>
                        <a:rPr sz="1050" b="0" i="0">
                          <a:solidFill>
                            <a:srgbClr val="1F2A37"/>
                          </a:solidFill>
                          <a:latin typeface="Calibri"/>
                        </a:rPr>
                        <a:t>0/10</a:t>
                      </a:r>
                    </a:p>
                  </a:txBody>
                  <a:tcPr marL="63500" marR="63500" marT="12700" marB="12700" anchor="ctr">
                    <a:solidFill>
                      <a:srgbClr val="F4F6F8"/>
                    </a:solidFill>
                  </a:tcPr>
                </a:tc>
                <a:tc>
                  <a:txBody>
                    <a:bodyPr/>
                    <a:lstStyle/>
                    <a:p>
                      <a:pPr algn="ctr"/>
                      <a:r>
                        <a:rPr sz="1050" b="0" i="0">
                          <a:solidFill>
                            <a:srgbClr val="1F2A37"/>
                          </a:solidFill>
                          <a:latin typeface="Calibri"/>
                        </a:rPr>
                        <a:t>41 s</a:t>
                      </a:r>
                    </a:p>
                  </a:txBody>
                  <a:tcPr marL="63500" marR="63500" marT="12700" marB="12700" anchor="ctr">
                    <a:solidFill>
                      <a:srgbClr val="F4F6F8"/>
                    </a:solidFill>
                  </a:tcPr>
                </a:tc>
                <a:tc>
                  <a:txBody>
                    <a:bodyPr/>
                    <a:lstStyle/>
                    <a:p>
                      <a:pPr algn="ctr"/>
                      <a:r>
                        <a:rPr sz="1050" b="0" i="0">
                          <a:solidFill>
                            <a:srgbClr val="1F2A37"/>
                          </a:solidFill>
                          <a:latin typeface="Calibri"/>
                        </a:rPr>
                        <a:t>3,166</a:t>
                      </a:r>
                    </a:p>
                  </a:txBody>
                  <a:tcPr marL="63500" marR="63500" marT="12700" marB="12700" anchor="ctr">
                    <a:solidFill>
                      <a:srgbClr val="F4F6F8"/>
                    </a:solidFill>
                  </a:tcPr>
                </a:tc>
              </a:tr>
              <a:tr h="291904">
                <a:tc>
                  <a:txBody>
                    <a:bodyPr/>
                    <a:lstStyle/>
                    <a:p>
                      <a:pPr algn="l"/>
                      <a:r>
                        <a:rPr sz="1050" b="0" i="0">
                          <a:solidFill>
                            <a:srgbClr val="1F2A37"/>
                          </a:solidFill>
                          <a:latin typeface="Calibri"/>
                        </a:rPr>
                        <a:t>3</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0/50</a:t>
                      </a:r>
                    </a:p>
                  </a:txBody>
                  <a:tcPr marL="63500" marR="63500" marT="12700" marB="12700" anchor="ctr">
                    <a:solidFill>
                      <a:srgbClr val="FFFFFF"/>
                    </a:solidFill>
                  </a:tcPr>
                </a:tc>
                <a:tc>
                  <a:txBody>
                    <a:bodyPr/>
                    <a:lstStyle/>
                    <a:p>
                      <a:pPr algn="ctr"/>
                      <a:r>
                        <a:rPr sz="1050" b="0" i="0">
                          <a:solidFill>
                            <a:srgbClr val="1F2A37"/>
                          </a:solidFill>
                          <a:latin typeface="Calibri"/>
                        </a:rPr>
                        <a:t>46 s</a:t>
                      </a:r>
                    </a:p>
                  </a:txBody>
                  <a:tcPr marL="63500" marR="63500" marT="12700" marB="12700" anchor="ctr">
                    <a:solidFill>
                      <a:srgbClr val="FFFFFF"/>
                    </a:solidFill>
                  </a:tcPr>
                </a:tc>
                <a:tc>
                  <a:txBody>
                    <a:bodyPr/>
                    <a:lstStyle/>
                    <a:p>
                      <a:pPr algn="ctr"/>
                      <a:r>
                        <a:rPr sz="1050" b="0" i="0">
                          <a:solidFill>
                            <a:srgbClr val="1F2A37"/>
                          </a:solidFill>
                          <a:latin typeface="Calibri"/>
                        </a:rPr>
                        <a:t>15,684</a:t>
                      </a:r>
                    </a:p>
                  </a:txBody>
                  <a:tcPr marL="63500" marR="63500" marT="12700" marB="12700" anchor="ctr">
                    <a:solidFill>
                      <a:srgbClr val="FFFFFF"/>
                    </a:solidFill>
                  </a:tcPr>
                </a:tc>
              </a:tr>
              <a:tr h="291904">
                <a:tc>
                  <a:txBody>
                    <a:bodyPr/>
                    <a:lstStyle/>
                    <a:p>
                      <a:pPr algn="l"/>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0.80</a:t>
                      </a:r>
                    </a:p>
                  </a:txBody>
                  <a:tcPr marL="63500" marR="63500" marT="12700" marB="12700" anchor="ctr">
                    <a:solidFill>
                      <a:srgbClr val="F4F6F8"/>
                    </a:solidFill>
                  </a:tcPr>
                </a:tc>
                <a:tc>
                  <a:txBody>
                    <a:bodyPr/>
                    <a:lstStyle/>
                    <a:p>
                      <a:pPr algn="ctr"/>
                      <a:r>
                        <a:rPr sz="1050" b="0" i="0">
                          <a:solidFill>
                            <a:srgbClr val="1F2A37"/>
                          </a:solidFill>
                          <a:latin typeface="Calibri"/>
                        </a:rPr>
                        <a:t>0/5</a:t>
                      </a:r>
                    </a:p>
                  </a:txBody>
                  <a:tcPr marL="63500" marR="63500" marT="12700" marB="12700" anchor="ctr">
                    <a:solidFill>
                      <a:srgbClr val="F4F6F8"/>
                    </a:solidFill>
                  </a:tcPr>
                </a:tc>
                <a:tc>
                  <a:txBody>
                    <a:bodyPr/>
                    <a:lstStyle/>
                    <a:p>
                      <a:pPr algn="ctr"/>
                      <a:r>
                        <a:rPr sz="1050" b="0" i="0">
                          <a:solidFill>
                            <a:srgbClr val="1F2A37"/>
                          </a:solidFill>
                          <a:latin typeface="Calibri"/>
                        </a:rPr>
                        <a:t>16 s</a:t>
                      </a:r>
                    </a:p>
                  </a:txBody>
                  <a:tcPr marL="63500" marR="63500" marT="12700" marB="12700" anchor="ctr">
                    <a:solidFill>
                      <a:srgbClr val="F4F6F8"/>
                    </a:solidFill>
                  </a:tcPr>
                </a:tc>
                <a:tc>
                  <a:txBody>
                    <a:bodyPr/>
                    <a:lstStyle/>
                    <a:p>
                      <a:pPr algn="ctr"/>
                      <a:r>
                        <a:rPr sz="1050" b="0" i="0">
                          <a:solidFill>
                            <a:srgbClr val="1F2A37"/>
                          </a:solidFill>
                          <a:latin typeface="Calibri"/>
                        </a:rPr>
                        <a:t>3,874</a:t>
                      </a:r>
                    </a:p>
                  </a:txBody>
                  <a:tcPr marL="63500" marR="63500" marT="12700" marB="12700" anchor="ctr">
                    <a:solidFill>
                      <a:srgbClr val="F4F6F8"/>
                    </a:solidFill>
                  </a:tcPr>
                </a:tc>
              </a:tr>
              <a:tr h="291904">
                <a:tc>
                  <a:txBody>
                    <a:bodyPr/>
                    <a:lstStyle/>
                    <a:p>
                      <a:pPr algn="l"/>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0/5</a:t>
                      </a:r>
                    </a:p>
                  </a:txBody>
                  <a:tcPr marL="63500" marR="63500" marT="12700" marB="12700" anchor="ctr">
                    <a:solidFill>
                      <a:srgbClr val="FFFFFF"/>
                    </a:solidFill>
                  </a:tcPr>
                </a:tc>
                <a:tc>
                  <a:txBody>
                    <a:bodyPr/>
                    <a:lstStyle/>
                    <a:p>
                      <a:pPr algn="ctr"/>
                      <a:r>
                        <a:rPr sz="1050" b="0" i="0">
                          <a:solidFill>
                            <a:srgbClr val="1F2A37"/>
                          </a:solidFill>
                          <a:latin typeface="Calibri"/>
                        </a:rPr>
                        <a:t>25 s</a:t>
                      </a:r>
                    </a:p>
                  </a:txBody>
                  <a:tcPr marL="63500" marR="63500" marT="12700" marB="12700" anchor="ctr">
                    <a:solidFill>
                      <a:srgbClr val="FFFFFF"/>
                    </a:solidFill>
                  </a:tcPr>
                </a:tc>
                <a:tc>
                  <a:txBody>
                    <a:bodyPr/>
                    <a:lstStyle/>
                    <a:p>
                      <a:pPr algn="ctr"/>
                      <a:r>
                        <a:rPr sz="1050" b="0" i="0">
                          <a:solidFill>
                            <a:srgbClr val="1F2A37"/>
                          </a:solidFill>
                          <a:latin typeface="Calibri"/>
                        </a:rPr>
                        <a:t>1,564</a:t>
                      </a:r>
                    </a:p>
                  </a:txBody>
                  <a:tcPr marL="63500" marR="63500" marT="12700" marB="12700" anchor="ctr">
                    <a:solidFill>
                      <a:srgbClr val="FFFFFF"/>
                    </a:solidFill>
                  </a:tcPr>
                </a:tc>
              </a:tr>
              <a:tr h="291904">
                <a:tc>
                  <a:txBody>
                    <a:bodyPr/>
                    <a:lstStyle/>
                    <a:p>
                      <a:pPr algn="l"/>
                      <a:r>
                        <a:rPr sz="1050" b="0" i="0">
                          <a:solidFill>
                            <a:srgbClr val="1F2A37"/>
                          </a:solidFill>
                          <a:latin typeface="Calibri"/>
                        </a:rPr>
                        <a:t>6</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0.60</a:t>
                      </a:r>
                    </a:p>
                  </a:txBody>
                  <a:tcPr marL="63500" marR="63500" marT="12700" marB="12700" anchor="ctr">
                    <a:solidFill>
                      <a:srgbClr val="F4F6F8"/>
                    </a:solidFill>
                  </a:tcPr>
                </a:tc>
                <a:tc>
                  <a:txBody>
                    <a:bodyPr/>
                    <a:lstStyle/>
                    <a:p>
                      <a:pPr algn="ctr"/>
                      <a:r>
                        <a:rPr sz="1050" b="0" i="0">
                          <a:solidFill>
                            <a:srgbClr val="1F2A37"/>
                          </a:solidFill>
                          <a:latin typeface="Calibri"/>
                        </a:rPr>
                        <a:t>2/5</a:t>
                      </a:r>
                    </a:p>
                  </a:txBody>
                  <a:tcPr marL="63500" marR="63500" marT="12700" marB="12700" anchor="ctr">
                    <a:solidFill>
                      <a:srgbClr val="F4F6F8"/>
                    </a:solidFill>
                  </a:tcPr>
                </a:tc>
                <a:tc>
                  <a:txBody>
                    <a:bodyPr/>
                    <a:lstStyle/>
                    <a:p>
                      <a:pPr algn="ctr"/>
                      <a:r>
                        <a:rPr sz="1050" b="0" i="0">
                          <a:solidFill>
                            <a:srgbClr val="1F2A37"/>
                          </a:solidFill>
                          <a:latin typeface="Calibri"/>
                        </a:rPr>
                        <a:t>39 s</a:t>
                      </a:r>
                    </a:p>
                  </a:txBody>
                  <a:tcPr marL="63500" marR="63500" marT="12700" marB="12700" anchor="ctr">
                    <a:solidFill>
                      <a:srgbClr val="F4F6F8"/>
                    </a:solidFill>
                  </a:tcPr>
                </a:tc>
                <a:tc>
                  <a:txBody>
                    <a:bodyPr/>
                    <a:lstStyle/>
                    <a:p>
                      <a:pPr algn="ctr"/>
                      <a:r>
                        <a:rPr sz="1050" b="0" i="0">
                          <a:solidFill>
                            <a:srgbClr val="1F2A37"/>
                          </a:solidFill>
                          <a:latin typeface="Calibri"/>
                        </a:rPr>
                        <a:t>1,258</a:t>
                      </a:r>
                    </a:p>
                  </a:txBody>
                  <a:tcPr marL="63500" marR="63500" marT="12700" marB="12700" anchor="ctr">
                    <a:solidFill>
                      <a:srgbClr val="F4F6F8"/>
                    </a:solidFill>
                  </a:tcPr>
                </a:tc>
              </a:tr>
              <a:tr h="291904">
                <a:tc>
                  <a:txBody>
                    <a:bodyPr/>
                    <a:lstStyle/>
                    <a:p>
                      <a:pPr algn="l"/>
                      <a:r>
                        <a:rPr sz="1050" b="0" i="0">
                          <a:solidFill>
                            <a:srgbClr val="1F2A37"/>
                          </a:solidFill>
                          <a:latin typeface="Calibri"/>
                        </a:rPr>
                        <a:t>7</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0.80</a:t>
                      </a:r>
                    </a:p>
                  </a:txBody>
                  <a:tcPr marL="63500" marR="63500" marT="12700" marB="12700" anchor="ctr">
                    <a:solidFill>
                      <a:srgbClr val="FFFFFF"/>
                    </a:solidFill>
                  </a:tcPr>
                </a:tc>
                <a:tc>
                  <a:txBody>
                    <a:bodyPr/>
                    <a:lstStyle/>
                    <a:p>
                      <a:pPr algn="ctr"/>
                      <a:r>
                        <a:rPr sz="1050" b="0" i="0">
                          <a:solidFill>
                            <a:srgbClr val="1F2A37"/>
                          </a:solidFill>
                          <a:latin typeface="Calibri"/>
                        </a:rPr>
                        <a:t>1/5</a:t>
                      </a:r>
                    </a:p>
                  </a:txBody>
                  <a:tcPr marL="63500" marR="63500" marT="12700" marB="12700" anchor="ctr">
                    <a:solidFill>
                      <a:srgbClr val="FFFFFF"/>
                    </a:solidFill>
                  </a:tcPr>
                </a:tc>
                <a:tc>
                  <a:txBody>
                    <a:bodyPr/>
                    <a:lstStyle/>
                    <a:p>
                      <a:pPr algn="ctr"/>
                      <a:r>
                        <a:rPr sz="1050" b="0" i="0">
                          <a:solidFill>
                            <a:srgbClr val="1F2A37"/>
                          </a:solidFill>
                          <a:latin typeface="Calibri"/>
                        </a:rPr>
                        <a:t>30 s</a:t>
                      </a:r>
                    </a:p>
                  </a:txBody>
                  <a:tcPr marL="63500" marR="63500" marT="12700" marB="12700" anchor="ctr">
                    <a:solidFill>
                      <a:srgbClr val="FFFFFF"/>
                    </a:solidFill>
                  </a:tcPr>
                </a:tc>
                <a:tc>
                  <a:txBody>
                    <a:bodyPr/>
                    <a:lstStyle/>
                    <a:p>
                      <a:pPr algn="ctr"/>
                      <a:r>
                        <a:rPr sz="1050" b="0" i="0">
                          <a:solidFill>
                            <a:srgbClr val="1F2A37"/>
                          </a:solidFill>
                          <a:latin typeface="Calibri"/>
                        </a:rPr>
                        <a:t>1,564</a:t>
                      </a:r>
                    </a:p>
                  </a:txBody>
                  <a:tcPr marL="63500" marR="63500" marT="12700" marB="12700" anchor="ctr">
                    <a:solidFill>
                      <a:srgbClr val="FFFFFF"/>
                    </a:solidFill>
                  </a:tcPr>
                </a:tc>
              </a:tr>
              <a:tr h="291904">
                <a:tc>
                  <a:txBody>
                    <a:bodyPr/>
                    <a:lstStyle/>
                    <a:p>
                      <a:pPr algn="l"/>
                      <a:r>
                        <a:rPr sz="1050" b="0" i="0">
                          <a:solidFill>
                            <a:srgbClr val="1F2A37"/>
                          </a:solidFill>
                          <a:latin typeface="Calibri"/>
                        </a:rPr>
                        <a:t>8</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1.00</a:t>
                      </a:r>
                    </a:p>
                  </a:txBody>
                  <a:tcPr marL="63500" marR="63500" marT="12700" marB="12700" anchor="ctr">
                    <a:solidFill>
                      <a:srgbClr val="F4F6F8"/>
                    </a:solidFill>
                  </a:tcPr>
                </a:tc>
                <a:tc>
                  <a:txBody>
                    <a:bodyPr/>
                    <a:lstStyle/>
                    <a:p>
                      <a:pPr algn="ctr"/>
                      <a:r>
                        <a:rPr sz="1050" b="0" i="0">
                          <a:solidFill>
                            <a:srgbClr val="1F2A37"/>
                          </a:solidFill>
                          <a:latin typeface="Calibri"/>
                        </a:rPr>
                        <a:t>0/5</a:t>
                      </a:r>
                    </a:p>
                  </a:txBody>
                  <a:tcPr marL="63500" marR="63500" marT="12700" marB="12700" anchor="ctr">
                    <a:solidFill>
                      <a:srgbClr val="F4F6F8"/>
                    </a:solidFill>
                  </a:tcPr>
                </a:tc>
                <a:tc>
                  <a:txBody>
                    <a:bodyPr/>
                    <a:lstStyle/>
                    <a:p>
                      <a:pPr algn="ctr"/>
                      <a:r>
                        <a:rPr sz="1050" b="0" i="0">
                          <a:solidFill>
                            <a:srgbClr val="1F2A37"/>
                          </a:solidFill>
                          <a:latin typeface="Calibri"/>
                        </a:rPr>
                        <a:t>23 s</a:t>
                      </a:r>
                    </a:p>
                  </a:txBody>
                  <a:tcPr marL="63500" marR="63500" marT="12700" marB="12700" anchor="ctr">
                    <a:solidFill>
                      <a:srgbClr val="F4F6F8"/>
                    </a:solidFill>
                  </a:tcPr>
                </a:tc>
                <a:tc>
                  <a:txBody>
                    <a:bodyPr/>
                    <a:lstStyle/>
                    <a:p>
                      <a:pPr algn="ctr"/>
                      <a:r>
                        <a:rPr sz="1050" b="0" i="0">
                          <a:solidFill>
                            <a:srgbClr val="1F2A37"/>
                          </a:solidFill>
                          <a:latin typeface="Calibri"/>
                        </a:rPr>
                        <a:t>1,564</a:t>
                      </a:r>
                    </a:p>
                  </a:txBody>
                  <a:tcPr marL="63500" marR="63500" marT="12700" marB="12700" anchor="ctr">
                    <a:solidFill>
                      <a:srgbClr val="F4F6F8"/>
                    </a:solidFill>
                  </a:tcPr>
                </a:tc>
              </a:tr>
              <a:tr h="291904">
                <a:tc>
                  <a:txBody>
                    <a:bodyPr/>
                    <a:lstStyle/>
                    <a:p>
                      <a:pPr algn="l"/>
                      <a:r>
                        <a:rPr sz="1050" b="0" i="0">
                          <a:solidFill>
                            <a:srgbClr val="1F2A37"/>
                          </a:solidFill>
                          <a:latin typeface="Calibri"/>
                        </a:rPr>
                        <a:t>9</a:t>
                      </a:r>
                    </a:p>
                  </a:txBody>
                  <a:tcPr marL="63500" marR="63500" marT="12700" marB="12700" anchor="ctr">
                    <a:solidFill>
                      <a:srgbClr val="FFFFFF"/>
                    </a:solidFill>
                  </a:tcPr>
                </a:tc>
                <a:tc>
                  <a:txBody>
                    <a:bodyPr/>
                    <a:lstStyle/>
                    <a:p>
                      <a:pPr algn="ctr"/>
                      <a:r>
                        <a:rPr sz="1050" b="0" i="0">
                          <a:solidFill>
                            <a:srgbClr val="1F2A37"/>
                          </a:solidFill>
                          <a:latin typeface="Calibri"/>
                        </a:rPr>
                        <a:t>tau2</a:t>
                      </a:r>
                    </a:p>
                  </a:txBody>
                  <a:tcPr marL="63500" marR="63500" marT="12700" marB="12700" anchor="ctr">
                    <a:solidFill>
                      <a:srgbClr val="FFFFFF"/>
                    </a:solidFill>
                  </a:tcPr>
                </a:tc>
                <a:tc>
                  <a:txBody>
                    <a:bodyPr/>
                    <a:lstStyle/>
                    <a:p>
                      <a:pPr algn="ctr"/>
                      <a:r>
                        <a:rPr sz="1050" b="0" i="0">
                          <a:solidFill>
                            <a:srgbClr val="1F2A37"/>
                          </a:solidFill>
                          <a:latin typeface="Calibri"/>
                        </a:rPr>
                        <a:t>0.90</a:t>
                      </a:r>
                    </a:p>
                  </a:txBody>
                  <a:tcPr marL="63500" marR="63500" marT="12700" marB="12700" anchor="ctr">
                    <a:solidFill>
                      <a:srgbClr val="FFFFFF"/>
                    </a:solidFill>
                  </a:tcPr>
                </a:tc>
                <a:tc>
                  <a:txBody>
                    <a:bodyPr/>
                    <a:lstStyle/>
                    <a:p>
                      <a:pPr algn="ctr"/>
                      <a:r>
                        <a:rPr sz="1050" b="0" i="0">
                          <a:solidFill>
                            <a:srgbClr val="1F2A37"/>
                          </a:solidFill>
                          <a:latin typeface="Calibri"/>
                        </a:rPr>
                        <a:t>0/10</a:t>
                      </a:r>
                    </a:p>
                  </a:txBody>
                  <a:tcPr marL="63500" marR="63500" marT="12700" marB="12700" anchor="ctr">
                    <a:solidFill>
                      <a:srgbClr val="FFFFFF"/>
                    </a:solidFill>
                  </a:tcPr>
                </a:tc>
                <a:tc>
                  <a:txBody>
                    <a:bodyPr/>
                    <a:lstStyle/>
                    <a:p>
                      <a:pPr algn="ctr"/>
                      <a:r>
                        <a:rPr sz="1050" b="0" i="0">
                          <a:solidFill>
                            <a:srgbClr val="1F2A37"/>
                          </a:solidFill>
                          <a:latin typeface="Calibri"/>
                        </a:rPr>
                        <a:t>803 s</a:t>
                      </a:r>
                    </a:p>
                  </a:txBody>
                  <a:tcPr marL="63500" marR="63500" marT="12700" marB="12700" anchor="ctr">
                    <a:solidFill>
                      <a:srgbClr val="FFFFFF"/>
                    </a:solidFill>
                  </a:tcPr>
                </a:tc>
                <a:tc>
                  <a:txBody>
                    <a:bodyPr/>
                    <a:lstStyle/>
                    <a:p>
                      <a:pPr algn="ctr"/>
                      <a:r>
                        <a:rPr sz="1050" b="0" i="0">
                          <a:solidFill>
                            <a:srgbClr val="1F2A37"/>
                          </a:solidFill>
                          <a:latin typeface="Calibri"/>
                        </a:rPr>
                        <a:t>988,110</a:t>
                      </a:r>
                    </a:p>
                  </a:txBody>
                  <a:tcPr marL="63500" marR="63500" marT="12700" marB="12700" anchor="ctr">
                    <a:solidFill>
                      <a:srgbClr val="FFFFFF"/>
                    </a:solidFill>
                  </a:tcPr>
                </a:tc>
              </a:tr>
              <a:tr h="291904">
                <a:tc>
                  <a:txBody>
                    <a:bodyPr/>
                    <a:lstStyle/>
                    <a:p>
                      <a:pPr algn="l"/>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tau2</a:t>
                      </a:r>
                    </a:p>
                  </a:txBody>
                  <a:tcPr marL="63500" marR="63500" marT="12700" marB="12700" anchor="ctr">
                    <a:solidFill>
                      <a:srgbClr val="F4F6F8"/>
                    </a:solidFill>
                  </a:tcPr>
                </a:tc>
                <a:tc>
                  <a:txBody>
                    <a:bodyPr/>
                    <a:lstStyle/>
                    <a:p>
                      <a:pPr algn="ctr"/>
                      <a:r>
                        <a:rPr sz="1050" b="0" i="0">
                          <a:solidFill>
                            <a:srgbClr val="1F2A37"/>
                          </a:solidFill>
                          <a:latin typeface="Calibri"/>
                        </a:rPr>
                        <a:t>0.75</a:t>
                      </a:r>
                    </a:p>
                  </a:txBody>
                  <a:tcPr marL="63500" marR="63500" marT="12700" marB="12700" anchor="ctr">
                    <a:solidFill>
                      <a:srgbClr val="F4F6F8"/>
                    </a:solidFill>
                  </a:tcPr>
                </a:tc>
                <a:tc>
                  <a:txBody>
                    <a:bodyPr/>
                    <a:lstStyle/>
                    <a:p>
                      <a:pPr algn="ctr"/>
                      <a:r>
                        <a:rPr sz="1050" b="0" i="0">
                          <a:solidFill>
                            <a:srgbClr val="1F2A37"/>
                          </a:solidFill>
                          <a:latin typeface="Calibri"/>
                        </a:rPr>
                        <a:t>0/20</a:t>
                      </a:r>
                    </a:p>
                  </a:txBody>
                  <a:tcPr marL="63500" marR="63500" marT="12700" marB="12700" anchor="ctr">
                    <a:solidFill>
                      <a:srgbClr val="F4F6F8"/>
                    </a:solidFill>
                  </a:tcPr>
                </a:tc>
                <a:tc>
                  <a:txBody>
                    <a:bodyPr/>
                    <a:lstStyle/>
                    <a:p>
                      <a:pPr algn="ctr"/>
                      <a:r>
                        <a:rPr sz="1050" b="0" i="0">
                          <a:solidFill>
                            <a:srgbClr val="1F2A37"/>
                          </a:solidFill>
                          <a:latin typeface="Calibri"/>
                        </a:rPr>
                        <a:t>436 s</a:t>
                      </a:r>
                    </a:p>
                  </a:txBody>
                  <a:tcPr marL="63500" marR="63500" marT="12700" marB="12700" anchor="ctr">
                    <a:solidFill>
                      <a:srgbClr val="F4F6F8"/>
                    </a:solidFill>
                  </a:tcPr>
                </a:tc>
                <a:tc>
                  <a:txBody>
                    <a:bodyPr/>
                    <a:lstStyle/>
                    <a:p>
                      <a:pPr algn="ctr"/>
                      <a:r>
                        <a:rPr sz="1050" b="0" i="0">
                          <a:solidFill>
                            <a:srgbClr val="1F2A37"/>
                          </a:solidFill>
                          <a:latin typeface="Calibri"/>
                        </a:rPr>
                        <a:t>1,703,460</a:t>
                      </a:r>
                    </a:p>
                  </a:txBody>
                  <a:tcPr marL="63500" marR="63500" marT="12700" marB="12700" anchor="ctr">
                    <a:solidFill>
                      <a:srgbClr val="F4F6F8"/>
                    </a:solidFill>
                  </a:tcPr>
                </a:tc>
              </a:tr>
              <a:tr h="291904">
                <a:tc>
                  <a:txBody>
                    <a:bodyPr/>
                    <a:lstStyle/>
                    <a:p>
                      <a:pPr algn="l"/>
                      <a:r>
                        <a:rPr sz="1050" b="0" i="0">
                          <a:solidFill>
                            <a:srgbClr val="1F2A37"/>
                          </a:solidFill>
                          <a:latin typeface="Calibri"/>
                        </a:rPr>
                        <a:t>11</a:t>
                      </a:r>
                    </a:p>
                  </a:txBody>
                  <a:tcPr marL="63500" marR="63500" marT="12700" marB="12700" anchor="ctr">
                    <a:solidFill>
                      <a:srgbClr val="FFFFFF"/>
                    </a:solidFill>
                  </a:tcPr>
                </a:tc>
                <a:tc>
                  <a:txBody>
                    <a:bodyPr/>
                    <a:lstStyle/>
                    <a:p>
                      <a:pPr algn="ctr"/>
                      <a:r>
                        <a:rPr sz="1050" b="0" i="0">
                          <a:solidFill>
                            <a:srgbClr val="1F2A37"/>
                          </a:solidFill>
                          <a:latin typeface="Calibri"/>
                        </a:rPr>
                        <a:t>appworld</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c>
                  <a:txBody>
                    <a:bodyPr/>
                    <a:lstStyle/>
                    <a:p>
                      <a:pPr algn="ctr"/>
                      <a:r>
                        <a:rPr sz="1050" b="0" i="0">
                          <a:solidFill>
                            <a:srgbClr val="1F2A37"/>
                          </a:solidFill>
                          <a:latin typeface="Calibri"/>
                        </a:rPr>
                        <a:t>2/5</a:t>
                      </a:r>
                    </a:p>
                  </a:txBody>
                  <a:tcPr marL="63500" marR="63500" marT="12700" marB="12700" anchor="ctr">
                    <a:solidFill>
                      <a:srgbClr val="FFFFFF"/>
                    </a:solidFill>
                  </a:tcPr>
                </a:tc>
                <a:tc>
                  <a:txBody>
                    <a:bodyPr/>
                    <a:lstStyle/>
                    <a:p>
                      <a:pPr algn="ctr"/>
                      <a:r>
                        <a:rPr sz="1050" b="0" i="0">
                          <a:solidFill>
                            <a:srgbClr val="1F2A37"/>
                          </a:solidFill>
                          <a:latin typeface="Calibri"/>
                        </a:rPr>
                        <a:t>2433 s</a:t>
                      </a:r>
                    </a:p>
                  </a:txBody>
                  <a:tcPr marL="63500" marR="63500" marT="12700" marB="12700" anchor="ctr">
                    <a:solidFill>
                      <a:srgbClr val="FFFFFF"/>
                    </a:solidFill>
                  </a:tcPr>
                </a:tc>
                <a:tc>
                  <a:txBody>
                    <a:bodyPr/>
                    <a:lstStyle/>
                    <a:p>
                      <a:pPr algn="ctr"/>
                      <a:r>
                        <a:rPr sz="1050" b="0" i="0">
                          <a:solidFill>
                            <a:srgbClr val="1F2A37"/>
                          </a:solidFill>
                          <a:latin typeface="Calibri"/>
                        </a:rPr>
                        <a:t>1,387,383</a:t>
                      </a:r>
                    </a:p>
                  </a:txBody>
                  <a:tcPr marL="63500" marR="63500" marT="12700" marB="12700" anchor="ctr">
                    <a:solidFill>
                      <a:srgbClr val="FFFFFF"/>
                    </a:solidFill>
                  </a:tcPr>
                </a:tc>
              </a:tr>
              <a:tr h="291912">
                <a:tc>
                  <a:txBody>
                    <a:bodyPr/>
                    <a:lstStyle/>
                    <a:p>
                      <a:pPr algn="l"/>
                      <a:r>
                        <a:rPr sz="1050" b="0" i="0">
                          <a:solidFill>
                            <a:srgbClr val="1F2A37"/>
                          </a:solidFill>
                          <a:latin typeface="Calibri"/>
                        </a:rPr>
                        <a:t>12</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c>
                  <a:txBody>
                    <a:bodyPr/>
                    <a:lstStyle/>
                    <a:p>
                      <a:pPr algn="ctr"/>
                      <a:r>
                        <a:rPr sz="1050" b="0" i="0">
                          <a:solidFill>
                            <a:srgbClr val="1F2A37"/>
                          </a:solidFill>
                          <a:latin typeface="Calibri"/>
                        </a:rPr>
                        <a:t>0.00</a:t>
                      </a:r>
                    </a:p>
                  </a:txBody>
                  <a:tcPr marL="63500" marR="63500" marT="12700" marB="12700" anchor="ctr">
                    <a:solidFill>
                      <a:srgbClr val="F4F6F8"/>
                    </a:solidFill>
                  </a:tcPr>
                </a:tc>
                <a:tc>
                  <a:txBody>
                    <a:bodyPr/>
                    <a:lstStyle/>
                    <a:p>
                      <a:pPr algn="ctr"/>
                      <a:r>
                        <a:rPr sz="1050" b="0" i="0">
                          <a:solidFill>
                            <a:srgbClr val="1F2A37"/>
                          </a:solidFill>
                          <a:latin typeface="Calibri"/>
                        </a:rPr>
                        <a:t>3/20</a:t>
                      </a:r>
                    </a:p>
                  </a:txBody>
                  <a:tcPr marL="63500" marR="63500" marT="12700" marB="12700" anchor="ctr">
                    <a:solidFill>
                      <a:srgbClr val="F4F6F8"/>
                    </a:solidFill>
                  </a:tcPr>
                </a:tc>
                <a:tc>
                  <a:txBody>
                    <a:bodyPr/>
                    <a:lstStyle/>
                    <a:p>
                      <a:pPr algn="ctr"/>
                      <a:r>
                        <a:rPr sz="1050" b="0" i="0">
                          <a:solidFill>
                            <a:srgbClr val="1F2A37"/>
                          </a:solidFill>
                          <a:latin typeface="Calibri"/>
                        </a:rPr>
                        <a:t>1818 s</a:t>
                      </a:r>
                    </a:p>
                  </a:txBody>
                  <a:tcPr marL="63500" marR="63500" marT="12700" marB="12700" anchor="ctr">
                    <a:solidFill>
                      <a:srgbClr val="F4F6F8"/>
                    </a:solidFill>
                  </a:tcPr>
                </a:tc>
                <a:tc>
                  <a:txBody>
                    <a:bodyPr/>
                    <a:lstStyle/>
                    <a:p>
                      <a:pPr algn="ctr"/>
                      <a:r>
                        <a:rPr sz="1050" b="0" i="0">
                          <a:solidFill>
                            <a:srgbClr val="1F2A37"/>
                          </a:solidFill>
                          <a:latin typeface="Calibri"/>
                        </a:rPr>
                        <a:t>5,211,584</a:t>
                      </a:r>
                    </a:p>
                  </a:txBody>
                  <a:tcPr marL="63500" marR="63500" marT="12700" marB="12700" anchor="ctr">
                    <a:solidFill>
                      <a:srgbClr val="F4F6F8"/>
                    </a:solidFill>
                  </a:tcPr>
                </a:tc>
              </a:tr>
            </a:tbl>
          </a:graphicData>
        </a:graphic>
      </p:graphicFrame>
      <p:sp>
        <p:nvSpPr>
          <p:cNvPr id="4" name="Rounded Rectangle 3"/>
          <p:cNvSpPr/>
          <p:nvPr/>
        </p:nvSpPr>
        <p:spPr>
          <a:xfrm>
            <a:off x="6172200" y="1188720"/>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gsm8k does not quite saturate here: 5 of 8 legs at 1.00</a:t>
            </a:r>
          </a:p>
          <a:p>
            <a:pPr algn="l"/>
            <a:r>
              <a:rPr sz="1000" b="0" i="0">
                <a:solidFill>
                  <a:srgbClr val="3A4654"/>
                </a:solidFill>
                <a:latin typeface="Calibri"/>
              </a:rPr>
              <a:t>#4's gpt-4.1 swap and #7 lose one task of five, #6 two — five of 86. Read the CAUSE, not the rate: one of #6's was a dropped socket, not the model. The runner retries those now.</a:t>
            </a:r>
          </a:p>
        </p:txBody>
      </p:sp>
      <p:sp>
        <p:nvSpPr>
          <p:cNvPr id="5" name="Rounded Rectangle 4"/>
          <p:cNvSpPr/>
          <p:nvPr/>
        </p:nvSpPr>
        <p:spPr>
          <a:xfrm>
            <a:off x="6172200" y="2112264"/>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tau2 is the leg that moves</a:t>
            </a:r>
          </a:p>
          <a:p>
            <a:pPr algn="l"/>
            <a:r>
              <a:rPr sz="1000" b="0" i="0">
                <a:solidFill>
                  <a:srgbClr val="3A4654"/>
                </a:solidFill>
                <a:latin typeface="Calibri"/>
              </a:rPr>
              <a:t>0.90 and 0.75 here, 1.00 and 0.80 on KinD. Episodes are nondeterministic: at n=10 one task is worth 0.10, so it cannot resolve less.</a:t>
            </a:r>
          </a:p>
        </p:txBody>
      </p:sp>
      <p:sp>
        <p:nvSpPr>
          <p:cNvPr id="6" name="Rounded Rectangle 5"/>
          <p:cNvSpPr/>
          <p:nvPr/>
        </p:nvSpPr>
        <p:spPr>
          <a:xfrm>
            <a:off x="6172200" y="3035808"/>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appworld 0.00 is the honest result</a:t>
            </a:r>
          </a:p>
          <a:p>
            <a:pPr algn="l"/>
            <a:r>
              <a:rPr sz="1000" b="0" i="0">
                <a:solidFill>
                  <a:srgbClr val="3A4654"/>
                </a:solidFill>
                <a:latin typeface="Calibri"/>
              </a:rPr>
              <a:t>Runs complete, tokens record, evaluation says the goal was not met — 34 of 35 tasks self-declare finish. The per-task TIMEOUT dominates: 4 of 25 tasks left no report row, so err reads run.json.</a:t>
            </a:r>
          </a:p>
        </p:txBody>
      </p:sp>
      <p:sp>
        <p:nvSpPr>
          <p:cNvPr id="7" name="Rounded Rectangle 6"/>
          <p:cNvSpPr/>
          <p:nvPr/>
        </p:nvSpPr>
        <p:spPr>
          <a:xfrm>
            <a:off x="6172200" y="3959352"/>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0 rows lost attribution, 0 tasks lost to the health probe</a:t>
            </a:r>
          </a:p>
          <a:p>
            <a:pPr algn="l"/>
            <a:r>
              <a:rPr sz="1000" b="0" i="0">
                <a:solidFill>
                  <a:srgbClr val="3A4654"/>
                </a:solidFill>
                <a:latin typeface="Calibri"/>
              </a:rPr>
              <a:t>The dev145 agent's per-task GET /v1/models probe (10 s cap, no retry) killed 12 of 141 KinD tasks; dev146 fixed it. An earlier matrix's 15 damaged rows passed a tokens == 0 check as clean — hence the structural detector.</a:t>
            </a:r>
          </a:p>
        </p:txBody>
      </p:sp>
      <p:sp>
        <p:nvSpPr>
          <p:cNvPr id="8" name="Rounded Rectangle 7"/>
          <p:cNvSpPr/>
          <p:nvPr/>
        </p:nvSpPr>
        <p:spPr>
          <a:xfrm>
            <a:off x="6172200" y="4882896"/>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9.3M input / 683k output tokens</a:t>
            </a:r>
          </a:p>
          <a:p>
            <a:pPr algn="l"/>
            <a:r>
              <a:rPr sz="1000" b="0" i="0">
                <a:solidFill>
                  <a:srgbClr val="3A4654"/>
                </a:solidFill>
                <a:latin typeface="Calibri"/>
              </a:rPr>
              <a:t>over 5,719 s of leg wall time — appworld alone is 71% of the input, on 21 of 137 rows.</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name="9.1 OpenShift vs KinD — Like-for-Like">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9.1  OpenShift vs KinD — Like-for-Like</a:t>
            </a:r>
          </a:p>
          <a:p>
            <a:r>
              <a:rPr sz="1400" b="0" i="0">
                <a:solidFill>
                  <a:srgbClr val="C9D9EC"/>
                </a:solidFill>
                <a:latin typeface="Calibri"/>
              </a:rPr>
              <a:t>Same 12 request bodies, same Service version, verified-identical instance config</a:t>
            </a:r>
          </a:p>
        </p:txBody>
      </p:sp>
      <p:graphicFrame>
        <p:nvGraphicFramePr>
          <p:cNvPr id="3" name="Table 2"/>
          <p:cNvGraphicFramePr>
            <a:graphicFrameLocks noGrp="1"/>
          </p:cNvGraphicFramePr>
          <p:nvPr/>
        </p:nvGraphicFramePr>
        <p:xfrm>
          <a:off x="411480" y="1188720"/>
          <a:ext cx="6903720" cy="3840480"/>
        </p:xfrm>
        <a:graphic>
          <a:graphicData uri="http://schemas.openxmlformats.org/drawingml/2006/table">
            <a:tbl>
              <a:tblPr firstRow="1">
                <a:tableStyleId>{5C22544A-7EE6-4342-B048-85BDC9FD1C3A}</a:tableStyleId>
              </a:tblPr>
              <a:tblGrid>
                <a:gridCol w="502920"/>
                <a:gridCol w="1143000"/>
                <a:gridCol w="868680"/>
                <a:gridCol w="914400"/>
                <a:gridCol w="1234440"/>
                <a:gridCol w="1234440"/>
                <a:gridCol w="1005840"/>
              </a:tblGrid>
              <a:tr h="295421">
                <a:tc>
                  <a:txBody>
                    <a:bodyPr/>
                    <a:lstStyle/>
                    <a:p>
                      <a:pPr algn="l"/>
                      <a:r>
                        <a:rPr sz="1000" b="1" i="0">
                          <a:solidFill>
                            <a:srgbClr val="FFFFFF"/>
                          </a:solidFill>
                          <a:latin typeface="Calibri"/>
                        </a:rPr>
                        <a:t>#</a:t>
                      </a:r>
                    </a:p>
                  </a:txBody>
                  <a:tcPr marL="63500" marR="63500" marT="12700" marB="12700" anchor="ctr">
                    <a:solidFill>
                      <a:srgbClr val="1B3A5C"/>
                    </a:solidFill>
                  </a:tcPr>
                </a:tc>
                <a:tc>
                  <a:txBody>
                    <a:bodyPr/>
                    <a:lstStyle/>
                    <a:p>
                      <a:pPr algn="ctr"/>
                      <a:r>
                        <a:rPr sz="1000" b="1" i="0">
                          <a:solidFill>
                            <a:srgbClr val="FFFFFF"/>
                          </a:solidFill>
                          <a:latin typeface="Calibri"/>
                        </a:rPr>
                        <a:t>bench</a:t>
                      </a:r>
                    </a:p>
                  </a:txBody>
                  <a:tcPr marL="63500" marR="63500" marT="12700" marB="12700" anchor="ctr">
                    <a:solidFill>
                      <a:srgbClr val="1B3A5C"/>
                    </a:solidFill>
                  </a:tcPr>
                </a:tc>
                <a:tc>
                  <a:txBody>
                    <a:bodyPr/>
                    <a:lstStyle/>
                    <a:p>
                      <a:pPr algn="ctr"/>
                      <a:r>
                        <a:rPr sz="1000" b="1" i="0">
                          <a:solidFill>
                            <a:srgbClr val="FFFFFF"/>
                          </a:solidFill>
                          <a:latin typeface="Calibri"/>
                        </a:rPr>
                        <a:t>pass OCP</a:t>
                      </a:r>
                    </a:p>
                  </a:txBody>
                  <a:tcPr marL="63500" marR="63500" marT="12700" marB="12700" anchor="ctr">
                    <a:solidFill>
                      <a:srgbClr val="1B3A5C"/>
                    </a:solidFill>
                  </a:tcPr>
                </a:tc>
                <a:tc>
                  <a:txBody>
                    <a:bodyPr/>
                    <a:lstStyle/>
                    <a:p>
                      <a:pPr algn="ctr"/>
                      <a:r>
                        <a:rPr sz="1000" b="1" i="0">
                          <a:solidFill>
                            <a:srgbClr val="FFFFFF"/>
                          </a:solidFill>
                          <a:latin typeface="Calibri"/>
                        </a:rPr>
                        <a:t>pass KinD</a:t>
                      </a:r>
                    </a:p>
                  </a:txBody>
                  <a:tcPr marL="63500" marR="63500" marT="12700" marB="12700" anchor="ctr">
                    <a:solidFill>
                      <a:srgbClr val="1B3A5C"/>
                    </a:solidFill>
                  </a:tcPr>
                </a:tc>
                <a:tc>
                  <a:txBody>
                    <a:bodyPr/>
                    <a:lstStyle/>
                    <a:p>
                      <a:pPr algn="ctr"/>
                      <a:r>
                        <a:rPr sz="1000" b="1" i="0">
                          <a:solidFill>
                            <a:srgbClr val="FFFFFF"/>
                          </a:solidFill>
                          <a:latin typeface="Calibri"/>
                        </a:rPr>
                        <a:t>in OCP</a:t>
                      </a:r>
                    </a:p>
                  </a:txBody>
                  <a:tcPr marL="63500" marR="63500" marT="12700" marB="12700" anchor="ctr">
                    <a:solidFill>
                      <a:srgbClr val="1B3A5C"/>
                    </a:solidFill>
                  </a:tcPr>
                </a:tc>
                <a:tc>
                  <a:txBody>
                    <a:bodyPr/>
                    <a:lstStyle/>
                    <a:p>
                      <a:pPr algn="ctr"/>
                      <a:r>
                        <a:rPr sz="1000" b="1" i="0">
                          <a:solidFill>
                            <a:srgbClr val="FFFFFF"/>
                          </a:solidFill>
                          <a:latin typeface="Calibri"/>
                        </a:rPr>
                        <a:t>in KinD</a:t>
                      </a:r>
                    </a:p>
                  </a:txBody>
                  <a:tcPr marL="63500" marR="63500" marT="12700" marB="12700" anchor="ctr">
                    <a:solidFill>
                      <a:srgbClr val="1B3A5C"/>
                    </a:solidFill>
                  </a:tcPr>
                </a:tc>
                <a:tc>
                  <a:txBody>
                    <a:bodyPr/>
                    <a:lstStyle/>
                    <a:p>
                      <a:pPr algn="ctr"/>
                      <a:r>
                        <a:rPr sz="1000" b="1" i="0">
                          <a:solidFill>
                            <a:srgbClr val="FFFFFF"/>
                          </a:solidFill>
                          <a:latin typeface="Calibri"/>
                        </a:rPr>
                        <a:t>input</a:t>
                      </a:r>
                    </a:p>
                  </a:txBody>
                  <a:tcPr marL="63500" marR="63500" marT="12700" marB="12700" anchor="ctr">
                    <a:solidFill>
                      <a:srgbClr val="1B3A5C"/>
                    </a:solidFill>
                  </a:tcPr>
                </a:tc>
              </a:tr>
              <a:tr h="295421">
                <a:tc>
                  <a:txBody>
                    <a:bodyPr/>
                    <a:lstStyle/>
                    <a:p>
                      <a:pPr algn="l"/>
                      <a:r>
                        <a:rPr sz="1000" b="0" i="0">
                          <a:solidFill>
                            <a:srgbClr val="1F2A37"/>
                          </a:solidFill>
                          <a:latin typeface="Calibri"/>
                        </a:rPr>
                        <a:t>1</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320</a:t>
                      </a:r>
                    </a:p>
                  </a:txBody>
                  <a:tcPr marL="63500" marR="63500" marT="12700" marB="12700" anchor="ctr">
                    <a:solidFill>
                      <a:srgbClr val="FFFFFF"/>
                    </a:solidFill>
                  </a:tcPr>
                </a:tc>
                <a:tc>
                  <a:txBody>
                    <a:bodyPr/>
                    <a:lstStyle/>
                    <a:p>
                      <a:pPr algn="ctr"/>
                      <a:r>
                        <a:rPr sz="1000" b="0" i="0">
                          <a:solidFill>
                            <a:srgbClr val="1F2A37"/>
                          </a:solidFill>
                          <a:latin typeface="Calibri"/>
                        </a:rPr>
                        <a:t>320</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2</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3,166</a:t>
                      </a:r>
                    </a:p>
                  </a:txBody>
                  <a:tcPr marL="63500" marR="63500" marT="12700" marB="12700" anchor="ctr">
                    <a:solidFill>
                      <a:srgbClr val="F4F6F8"/>
                    </a:solidFill>
                  </a:tcPr>
                </a:tc>
                <a:tc>
                  <a:txBody>
                    <a:bodyPr/>
                    <a:lstStyle/>
                    <a:p>
                      <a:pPr algn="ctr"/>
                      <a:r>
                        <a:rPr sz="1000" b="0" i="0">
                          <a:solidFill>
                            <a:srgbClr val="1F2A37"/>
                          </a:solidFill>
                          <a:latin typeface="Calibri"/>
                        </a:rPr>
                        <a:t>3,166</a:t>
                      </a:r>
                    </a:p>
                  </a:txBody>
                  <a:tcPr marL="63500" marR="63500" marT="12700" marB="12700" anchor="ctr">
                    <a:solidFill>
                      <a:srgbClr val="F4F6F8"/>
                    </a:solidFill>
                  </a:tcPr>
                </a:tc>
                <a:tc>
                  <a:txBody>
                    <a:bodyPr/>
                    <a:lstStyle/>
                    <a:p>
                      <a:pPr algn="ctr"/>
                      <a:r>
                        <a:rPr sz="1000" b="0" i="0">
                          <a:solidFill>
                            <a:srgbClr val="1F2A37"/>
                          </a:solidFill>
                          <a:latin typeface="Calibri"/>
                        </a:rPr>
                        <a:t>identical</a:t>
                      </a:r>
                    </a:p>
                  </a:txBody>
                  <a:tcPr marL="63500" marR="63500" marT="12700" marB="12700" anchor="ctr">
                    <a:solidFill>
                      <a:srgbClr val="F4F6F8"/>
                    </a:solidFill>
                  </a:tcPr>
                </a:tc>
              </a:tr>
              <a:tr h="295421">
                <a:tc>
                  <a:txBody>
                    <a:bodyPr/>
                    <a:lstStyle/>
                    <a:p>
                      <a:pPr algn="l"/>
                      <a:r>
                        <a:rPr sz="1000" b="0" i="0">
                          <a:solidFill>
                            <a:srgbClr val="1F2A37"/>
                          </a:solidFill>
                          <a:latin typeface="Calibri"/>
                        </a:rPr>
                        <a:t>3</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15,684</a:t>
                      </a:r>
                    </a:p>
                  </a:txBody>
                  <a:tcPr marL="63500" marR="63500" marT="12700" marB="12700" anchor="ctr">
                    <a:solidFill>
                      <a:srgbClr val="FFFFFF"/>
                    </a:solidFill>
                  </a:tcPr>
                </a:tc>
                <a:tc>
                  <a:txBody>
                    <a:bodyPr/>
                    <a:lstStyle/>
                    <a:p>
                      <a:pPr algn="ctr"/>
                      <a:r>
                        <a:rPr sz="1000" b="0" i="0">
                          <a:solidFill>
                            <a:srgbClr val="1F2A37"/>
                          </a:solidFill>
                          <a:latin typeface="Calibri"/>
                        </a:rPr>
                        <a:t>15,684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4</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3,874</a:t>
                      </a:r>
                    </a:p>
                  </a:txBody>
                  <a:tcPr marL="63500" marR="63500" marT="12700" marB="12700" anchor="ctr">
                    <a:solidFill>
                      <a:srgbClr val="F4F6F8"/>
                    </a:solidFill>
                  </a:tcPr>
                </a:tc>
                <a:tc>
                  <a:txBody>
                    <a:bodyPr/>
                    <a:lstStyle/>
                    <a:p>
                      <a:pPr algn="ctr"/>
                      <a:r>
                        <a:rPr sz="1000" b="0" i="0">
                          <a:solidFill>
                            <a:srgbClr val="1F2A37"/>
                          </a:solidFill>
                          <a:latin typeface="Calibri"/>
                        </a:rPr>
                        <a:t>4,183</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5</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6</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0.60</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1,258</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7</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0.80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8</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identical</a:t>
                      </a:r>
                    </a:p>
                  </a:txBody>
                  <a:tcPr marL="63500" marR="63500" marT="12700" marB="12700" anchor="ctr">
                    <a:solidFill>
                      <a:srgbClr val="F4F6F8"/>
                    </a:solidFill>
                  </a:tcPr>
                </a:tc>
              </a:tr>
              <a:tr h="295421">
                <a:tc>
                  <a:txBody>
                    <a:bodyPr/>
                    <a:lstStyle/>
                    <a:p>
                      <a:pPr algn="l"/>
                      <a:r>
                        <a:rPr sz="1000" b="0" i="0">
                          <a:solidFill>
                            <a:srgbClr val="1F2A37"/>
                          </a:solidFill>
                          <a:latin typeface="Calibri"/>
                        </a:rPr>
                        <a:t>9</a:t>
                      </a:r>
                    </a:p>
                  </a:txBody>
                  <a:tcPr marL="63500" marR="63500" marT="12700" marB="12700" anchor="ctr">
                    <a:solidFill>
                      <a:srgbClr val="FFFFFF"/>
                    </a:solidFill>
                  </a:tcPr>
                </a:tc>
                <a:tc>
                  <a:txBody>
                    <a:bodyPr/>
                    <a:lstStyle/>
                    <a:p>
                      <a:pPr algn="ctr"/>
                      <a:r>
                        <a:rPr sz="1000" b="0" i="0">
                          <a:solidFill>
                            <a:srgbClr val="1F2A37"/>
                          </a:solidFill>
                          <a:latin typeface="Calibri"/>
                        </a:rPr>
                        <a:t>tau2</a:t>
                      </a:r>
                    </a:p>
                  </a:txBody>
                  <a:tcPr marL="63500" marR="63500" marT="12700" marB="12700" anchor="ctr">
                    <a:solidFill>
                      <a:srgbClr val="FFFFFF"/>
                    </a:solidFill>
                  </a:tcPr>
                </a:tc>
                <a:tc>
                  <a:txBody>
                    <a:bodyPr/>
                    <a:lstStyle/>
                    <a:p>
                      <a:pPr algn="ctr"/>
                      <a:r>
                        <a:rPr sz="1000" b="0" i="0">
                          <a:solidFill>
                            <a:srgbClr val="1F2A37"/>
                          </a:solidFill>
                          <a:latin typeface="Calibri"/>
                        </a:rPr>
                        <a:t>0.90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988,110</a:t>
                      </a:r>
                    </a:p>
                  </a:txBody>
                  <a:tcPr marL="63500" marR="63500" marT="12700" marB="12700" anchor="ctr">
                    <a:solidFill>
                      <a:srgbClr val="FFFFFF"/>
                    </a:solidFill>
                  </a:tcPr>
                </a:tc>
                <a:tc>
                  <a:txBody>
                    <a:bodyPr/>
                    <a:lstStyle/>
                    <a:p>
                      <a:pPr algn="ctr"/>
                      <a:r>
                        <a:rPr sz="1000" b="0" i="0">
                          <a:solidFill>
                            <a:srgbClr val="1F2A37"/>
                          </a:solidFill>
                          <a:latin typeface="Calibri"/>
                        </a:rPr>
                        <a:t>1,019,232</a:t>
                      </a:r>
                    </a:p>
                  </a:txBody>
                  <a:tcPr marL="63500" marR="63500" marT="12700" marB="12700" anchor="ctr">
                    <a:solidFill>
                      <a:srgbClr val="FFFFFF"/>
                    </a:solidFill>
                  </a:tcPr>
                </a:tc>
                <a:tc>
                  <a:txBody>
                    <a:bodyPr/>
                    <a:lstStyle/>
                    <a:p>
                      <a:pPr algn="ctr"/>
                      <a:r>
                        <a:rPr sz="1000" b="0" i="0">
                          <a:solidFill>
                            <a:srgbClr val="1F2A37"/>
                          </a:solidFill>
                          <a:latin typeface="Calibri"/>
                        </a:rPr>
                        <a:t/>
                      </a:r>
                    </a:p>
                  </a:txBody>
                  <a:tcPr marL="63500" marR="63500" marT="12700" marB="12700" anchor="ctr">
                    <a:solidFill>
                      <a:srgbClr val="FFFFFF"/>
                    </a:solidFill>
                  </a:tcPr>
                </a:tc>
              </a:tr>
              <a:tr h="295421">
                <a:tc>
                  <a:txBody>
                    <a:bodyPr/>
                    <a:lstStyle/>
                    <a:p>
                      <a:pPr algn="l"/>
                      <a:r>
                        <a:rPr sz="1000" b="0" i="0">
                          <a:solidFill>
                            <a:srgbClr val="1F2A37"/>
                          </a:solidFill>
                          <a:latin typeface="Calibri"/>
                        </a:rPr>
                        <a:t>10</a:t>
                      </a:r>
                    </a:p>
                  </a:txBody>
                  <a:tcPr marL="63500" marR="63500" marT="12700" marB="12700" anchor="ctr">
                    <a:solidFill>
                      <a:srgbClr val="F4F6F8"/>
                    </a:solidFill>
                  </a:tcPr>
                </a:tc>
                <a:tc>
                  <a:txBody>
                    <a:bodyPr/>
                    <a:lstStyle/>
                    <a:p>
                      <a:pPr algn="ctr"/>
                      <a:r>
                        <a:rPr sz="1000" b="0" i="0">
                          <a:solidFill>
                            <a:srgbClr val="1F2A37"/>
                          </a:solidFill>
                          <a:latin typeface="Calibri"/>
                        </a:rPr>
                        <a:t>tau2</a:t>
                      </a:r>
                    </a:p>
                  </a:txBody>
                  <a:tcPr marL="63500" marR="63500" marT="12700" marB="12700" anchor="ctr">
                    <a:solidFill>
                      <a:srgbClr val="F4F6F8"/>
                    </a:solidFill>
                  </a:tcPr>
                </a:tc>
                <a:tc>
                  <a:txBody>
                    <a:bodyPr/>
                    <a:lstStyle/>
                    <a:p>
                      <a:pPr algn="ctr"/>
                      <a:r>
                        <a:rPr sz="1000" b="0" i="0">
                          <a:solidFill>
                            <a:srgbClr val="1F2A37"/>
                          </a:solidFill>
                          <a:latin typeface="Calibri"/>
                        </a:rPr>
                        <a:t>0.75</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1,703,460</a:t>
                      </a:r>
                    </a:p>
                  </a:txBody>
                  <a:tcPr marL="63500" marR="63500" marT="12700" marB="12700" anchor="ctr">
                    <a:solidFill>
                      <a:srgbClr val="F4F6F8"/>
                    </a:solidFill>
                  </a:tcPr>
                </a:tc>
                <a:tc>
                  <a:txBody>
                    <a:bodyPr/>
                    <a:lstStyle/>
                    <a:p>
                      <a:pPr algn="ctr"/>
                      <a:r>
                        <a:rPr sz="1000" b="0" i="0">
                          <a:solidFill>
                            <a:srgbClr val="1F2A37"/>
                          </a:solidFill>
                          <a:latin typeface="Calibri"/>
                        </a:rPr>
                        <a:t>1,743,312</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11</a:t>
                      </a:r>
                    </a:p>
                  </a:txBody>
                  <a:tcPr marL="63500" marR="63500" marT="12700" marB="12700" anchor="ctr">
                    <a:solidFill>
                      <a:srgbClr val="FFFFFF"/>
                    </a:solidFill>
                  </a:tcPr>
                </a:tc>
                <a:tc>
                  <a:txBody>
                    <a:bodyPr/>
                    <a:lstStyle/>
                    <a:p>
                      <a:pPr algn="ctr"/>
                      <a:r>
                        <a:rPr sz="1000" b="0" i="0">
                          <a:solidFill>
                            <a:srgbClr val="1F2A37"/>
                          </a:solidFill>
                          <a:latin typeface="Calibri"/>
                        </a:rPr>
                        <a:t>appworld</a:t>
                      </a:r>
                    </a:p>
                  </a:txBody>
                  <a:tcPr marL="63500" marR="63500" marT="12700" marB="12700" anchor="ctr">
                    <a:solidFill>
                      <a:srgbClr val="FFFFFF"/>
                    </a:solidFill>
                  </a:tcPr>
                </a:tc>
                <a:tc>
                  <a:txBody>
                    <a:bodyPr/>
                    <a:lstStyle/>
                    <a:p>
                      <a:pPr algn="ctr"/>
                      <a:r>
                        <a:rPr sz="1000" b="0" i="0">
                          <a:solidFill>
                            <a:srgbClr val="1F2A37"/>
                          </a:solidFill>
                          <a:latin typeface="Calibri"/>
                        </a:rPr>
                        <a:t>0.00</a:t>
                      </a:r>
                    </a:p>
                  </a:txBody>
                  <a:tcPr marL="63500" marR="63500" marT="12700" marB="12700" anchor="ctr">
                    <a:solidFill>
                      <a:srgbClr val="FFFFFF"/>
                    </a:solidFill>
                  </a:tcPr>
                </a:tc>
                <a:tc>
                  <a:txBody>
                    <a:bodyPr/>
                    <a:lstStyle/>
                    <a:p>
                      <a:pPr algn="ctr"/>
                      <a:r>
                        <a:rPr sz="1000" b="0" i="0">
                          <a:solidFill>
                            <a:srgbClr val="1F2A37"/>
                          </a:solidFill>
                          <a:latin typeface="Calibri"/>
                        </a:rPr>
                        <a:t>0.00</a:t>
                      </a:r>
                    </a:p>
                  </a:txBody>
                  <a:tcPr marL="63500" marR="63500" marT="12700" marB="12700" anchor="ctr">
                    <a:solidFill>
                      <a:srgbClr val="FFFFFF"/>
                    </a:solidFill>
                  </a:tcPr>
                </a:tc>
                <a:tc>
                  <a:txBody>
                    <a:bodyPr/>
                    <a:lstStyle/>
                    <a:p>
                      <a:pPr algn="ctr"/>
                      <a:r>
                        <a:rPr sz="1000" b="0" i="0">
                          <a:solidFill>
                            <a:srgbClr val="1F2A37"/>
                          </a:solidFill>
                          <a:latin typeface="Calibri"/>
                        </a:rPr>
                        <a:t>1,387,383</a:t>
                      </a:r>
                    </a:p>
                  </a:txBody>
                  <a:tcPr marL="63500" marR="63500" marT="12700" marB="12700" anchor="ctr">
                    <a:solidFill>
                      <a:srgbClr val="FFFFFF"/>
                    </a:solidFill>
                  </a:tcPr>
                </a:tc>
                <a:tc>
                  <a:txBody>
                    <a:bodyPr/>
                    <a:lstStyle/>
                    <a:p>
                      <a:pPr algn="ctr"/>
                      <a:r>
                        <a:rPr sz="1000" b="0" i="0">
                          <a:solidFill>
                            <a:srgbClr val="1F2A37"/>
                          </a:solidFill>
                          <a:latin typeface="Calibri"/>
                        </a:rPr>
                        <a:t>840,030</a:t>
                      </a:r>
                    </a:p>
                  </a:txBody>
                  <a:tcPr marL="63500" marR="63500" marT="12700" marB="12700" anchor="ctr">
                    <a:solidFill>
                      <a:srgbClr val="FFFFFF"/>
                    </a:solidFill>
                  </a:tcPr>
                </a:tc>
                <a:tc>
                  <a:txBody>
                    <a:bodyPr/>
                    <a:lstStyle/>
                    <a:p>
                      <a:pPr algn="ctr"/>
                      <a:r>
                        <a:rPr sz="1000" b="0" i="0">
                          <a:solidFill>
                            <a:srgbClr val="1F2A37"/>
                          </a:solidFill>
                          <a:latin typeface="Calibri"/>
                        </a:rPr>
                        <a:t/>
                      </a:r>
                    </a:p>
                  </a:txBody>
                  <a:tcPr marL="63500" marR="63500" marT="12700" marB="12700" anchor="ctr">
                    <a:solidFill>
                      <a:srgbClr val="FFFFFF"/>
                    </a:solidFill>
                  </a:tcPr>
                </a:tc>
              </a:tr>
              <a:tr h="295428">
                <a:tc>
                  <a:txBody>
                    <a:bodyPr/>
                    <a:lstStyle/>
                    <a:p>
                      <a:pPr algn="l"/>
                      <a:r>
                        <a:rPr sz="1000" b="0" i="0">
                          <a:solidFill>
                            <a:srgbClr val="1F2A37"/>
                          </a:solidFill>
                          <a:latin typeface="Calibri"/>
                        </a:rPr>
                        <a:t>12</a:t>
                      </a:r>
                    </a:p>
                  </a:txBody>
                  <a:tcPr marL="63500" marR="63500" marT="12700" marB="12700" anchor="ctr">
                    <a:solidFill>
                      <a:srgbClr val="F4F6F8"/>
                    </a:solidFill>
                  </a:tcPr>
                </a:tc>
                <a:tc>
                  <a:txBody>
                    <a:bodyPr/>
                    <a:lstStyle/>
                    <a:p>
                      <a:pPr algn="ctr"/>
                      <a:r>
                        <a:rPr sz="1000" b="0" i="0">
                          <a:solidFill>
                            <a:srgbClr val="1F2A37"/>
                          </a:solidFill>
                          <a:latin typeface="Calibri"/>
                        </a:rPr>
                        <a:t>appworld</a:t>
                      </a:r>
                    </a:p>
                  </a:txBody>
                  <a:tcPr marL="63500" marR="63500" marT="12700" marB="12700" anchor="ctr">
                    <a:solidFill>
                      <a:srgbClr val="F4F6F8"/>
                    </a:solidFill>
                  </a:tcPr>
                </a:tc>
                <a:tc>
                  <a:txBody>
                    <a:bodyPr/>
                    <a:lstStyle/>
                    <a:p>
                      <a:pPr algn="ctr"/>
                      <a:r>
                        <a:rPr sz="1000" b="0" i="0">
                          <a:solidFill>
                            <a:srgbClr val="1F2A37"/>
                          </a:solidFill>
                          <a:latin typeface="Calibri"/>
                        </a:rPr>
                        <a:t>0.00</a:t>
                      </a:r>
                    </a:p>
                  </a:txBody>
                  <a:tcPr marL="63500" marR="63500" marT="12700" marB="12700" anchor="ctr">
                    <a:solidFill>
                      <a:srgbClr val="F4F6F8"/>
                    </a:solidFill>
                  </a:tcPr>
                </a:tc>
                <a:tc>
                  <a:txBody>
                    <a:bodyPr/>
                    <a:lstStyle/>
                    <a:p>
                      <a:pPr algn="ctr"/>
                      <a:r>
                        <a:rPr sz="1000" b="0" i="0">
                          <a:solidFill>
                            <a:srgbClr val="1F2A37"/>
                          </a:solidFill>
                          <a:latin typeface="Calibri"/>
                        </a:rPr>
                        <a:t>0.00</a:t>
                      </a:r>
                    </a:p>
                  </a:txBody>
                  <a:tcPr marL="63500" marR="63500" marT="12700" marB="12700" anchor="ctr">
                    <a:solidFill>
                      <a:srgbClr val="F4F6F8"/>
                    </a:solidFill>
                  </a:tcPr>
                </a:tc>
                <a:tc>
                  <a:txBody>
                    <a:bodyPr/>
                    <a:lstStyle/>
                    <a:p>
                      <a:pPr algn="ctr"/>
                      <a:r>
                        <a:rPr sz="1000" b="0" i="0">
                          <a:solidFill>
                            <a:srgbClr val="1F2A37"/>
                          </a:solidFill>
                          <a:latin typeface="Calibri"/>
                        </a:rPr>
                        <a:t>5,211,584</a:t>
                      </a:r>
                    </a:p>
                  </a:txBody>
                  <a:tcPr marL="63500" marR="63500" marT="12700" marB="12700" anchor="ctr">
                    <a:solidFill>
                      <a:srgbClr val="F4F6F8"/>
                    </a:solidFill>
                  </a:tcPr>
                </a:tc>
                <a:tc>
                  <a:txBody>
                    <a:bodyPr/>
                    <a:lstStyle/>
                    <a:p>
                      <a:pPr algn="ctr"/>
                      <a:r>
                        <a:rPr sz="1000" b="0" i="0">
                          <a:solidFill>
                            <a:srgbClr val="1F2A37"/>
                          </a:solidFill>
                          <a:latin typeface="Calibri"/>
                        </a:rPr>
                        <a:t>2,009,348</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bl>
          </a:graphicData>
        </a:graphic>
      </p:graphicFrame>
      <p:sp>
        <p:nvSpPr>
          <p:cNvPr id="4" name="Rounded Rectangle 3"/>
          <p:cNvSpPr/>
          <p:nvPr/>
        </p:nvSpPr>
        <p:spPr>
          <a:xfrm>
            <a:off x="7543800" y="1188720"/>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7 of 12 pass rates identical, and all 5 deltas favour KinD</a:t>
            </a:r>
          </a:p>
          <a:p>
            <a:pPr algn="l"/>
            <a:r>
              <a:rPr sz="950" b="0" i="0">
                <a:solidFill>
                  <a:srgbClr val="3A4654"/>
                </a:solidFill>
                <a:latin typeface="Calibri"/>
              </a:rPr>
              <a:t>So read the per-CAUSE table instead of the rate: wrong answers split 2 (OCP) to 1 (KinD), per-task timeouts 4 to 11 — all appworld — and one dropped socket, OCP #6.</a:t>
            </a:r>
          </a:p>
        </p:txBody>
      </p:sp>
      <p:sp>
        <p:nvSpPr>
          <p:cNvPr id="5" name="Rounded Rectangle 4"/>
          <p:cNvSpPr/>
          <p:nvPr/>
        </p:nvSpPr>
        <p:spPr>
          <a:xfrm>
            <a:off x="7543800" y="2139696"/>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6 legs byte-identical on input tokens</a:t>
            </a:r>
          </a:p>
          <a:p>
            <a:pPr algn="l"/>
            <a:r>
              <a:rPr sz="950" b="0" i="0">
                <a:solidFill>
                  <a:srgbClr val="3A4654"/>
                </a:solidFill>
                <a:latin typeface="Calibri"/>
              </a:rPr>
              <a:t>320 / 3,166 / 15,684 / 1,564 x3. Deterministic task selection plus the same model means identical work — the strongest available proof this is a like-for-like comparison, not merely a similar one.</a:t>
            </a:r>
          </a:p>
        </p:txBody>
      </p:sp>
      <p:sp>
        <p:nvSpPr>
          <p:cNvPr id="6" name="Rounded Rectangle 5"/>
          <p:cNvSpPr/>
          <p:nvPr/>
        </p:nvSpPr>
        <p:spPr>
          <a:xfrm>
            <a:off x="7543800" y="3090672"/>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#7 is in that set at 0.80 vs 1.00</a:t>
            </a:r>
          </a:p>
          <a:p>
            <a:pPr algn="l"/>
            <a:r>
              <a:rPr sz="950" b="0" i="0">
                <a:solidFill>
                  <a:srgbClr val="3A4654"/>
                </a:solidFill>
                <a:latin typeface="Calibri"/>
              </a:rPr>
              <a:t>Identical input tokens with different pass rates is not a contradiction: same prompts, different answers. Tokens prove the WORK matched; they say nothing about whether it was right.</a:t>
            </a:r>
          </a:p>
        </p:txBody>
      </p:sp>
      <p:sp>
        <p:nvSpPr>
          <p:cNvPr id="7" name="Rounded Rectangle 6"/>
          <p:cNvSpPr/>
          <p:nvPr/>
        </p:nvSpPr>
        <p:spPr>
          <a:xfrm>
            <a:off x="7543800" y="4041648"/>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Wall time: 5,719 s OCP vs 5,975 s KinD</a:t>
            </a:r>
          </a:p>
          <a:p>
            <a:pPr algn="l"/>
            <a:r>
              <a:rPr sz="950" b="0" i="0">
                <a:solidFill>
                  <a:srgbClr val="3A4654"/>
                </a:solidFill>
                <a:latin typeface="Calibri"/>
              </a:rPr>
              <a:t>Within 5% overall, but individual legs differ by up to 2.3x in either direction, and appworld — which dominates the total — inverts: #11 is faster on KinD, #12 is slower.</a:t>
            </a:r>
          </a:p>
        </p:txBody>
      </p:sp>
      <p:sp>
        <p:nvSpPr>
          <p:cNvPr id="8" name="Rounded Rectangle 7"/>
          <p:cNvSpPr/>
          <p:nvPr/>
        </p:nvSpPr>
        <p:spPr>
          <a:xfrm>
            <a:off x="7543800" y="4992624"/>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0 lost-attribution rows and 0 probe failures on both sides</a:t>
            </a:r>
          </a:p>
          <a:p>
            <a:pPr algn="l"/>
            <a:r>
              <a:rPr sz="950" b="0" i="0">
                <a:solidFill>
                  <a:srgbClr val="3A4654"/>
                </a:solidFill>
                <a:latin typeface="Calibri"/>
              </a:rPr>
              <a:t>137 OCP rows against 130 KinD. The 7-row gap is appworld tasks that timed out before the harness wrote a row (4 OCP, 11 KinD) — not lost telemetry.</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name="9.2 What AuthBridge Costs — and Why It Has No Single Number">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9.2  What AuthBridge Costs — and Why It Has No Single Number</a:t>
            </a:r>
          </a:p>
          <a:p>
            <a:r>
              <a:rPr sz="1400" b="0" i="0">
                <a:solidFill>
                  <a:srgbClr val="C9D9EC"/>
                </a:solidFill>
                <a:latin typeface="Calibri"/>
              </a:rPr>
              <a:t>The designed 13-leg experiment (n=50, crossover replicates, gateway cache spaced), v1.28</a:t>
            </a:r>
          </a:p>
        </p:txBody>
      </p:sp>
      <p:graphicFrame>
        <p:nvGraphicFramePr>
          <p:cNvPr id="3" name="Table 2"/>
          <p:cNvGraphicFramePr>
            <a:graphicFrameLocks noGrp="1"/>
          </p:cNvGraphicFramePr>
          <p:nvPr/>
        </p:nvGraphicFramePr>
        <p:xfrm>
          <a:off x="411480" y="1188720"/>
          <a:ext cx="5806440" cy="2011680"/>
        </p:xfrm>
        <a:graphic>
          <a:graphicData uri="http://schemas.openxmlformats.org/drawingml/2006/table">
            <a:tbl>
              <a:tblPr firstRow="1">
                <a:tableStyleId>{5C22544A-7EE6-4342-B048-85BDC9FD1C3A}</a:tableStyleId>
              </a:tblPr>
              <a:tblGrid>
                <a:gridCol w="2240280"/>
                <a:gridCol w="960120"/>
                <a:gridCol w="868680"/>
                <a:gridCol w="868680"/>
                <a:gridCol w="868680"/>
              </a:tblGrid>
              <a:tr h="335280">
                <a:tc>
                  <a:txBody>
                    <a:bodyPr/>
                    <a:lstStyle/>
                    <a:p>
                      <a:pPr algn="l"/>
                      <a:r>
                        <a:rPr sz="1050" b="1" i="0">
                          <a:solidFill>
                            <a:srgbClr val="FFFFFF"/>
                          </a:solidFill>
                          <a:latin typeface="Calibri"/>
                        </a:rPr>
                        <a:t>non-LLM s / task (steady)</a:t>
                      </a:r>
                    </a:p>
                  </a:txBody>
                  <a:tcPr marL="63500" marR="63500" marT="12700" marB="12700" anchor="ctr">
                    <a:solidFill>
                      <a:srgbClr val="1B3A5C"/>
                    </a:solidFill>
                  </a:tcPr>
                </a:tc>
                <a:tc>
                  <a:txBody>
                    <a:bodyPr/>
                    <a:lstStyle/>
                    <a:p>
                      <a:pPr algn="ctr"/>
                      <a:r>
                        <a:rPr sz="1050" b="1" i="0">
                          <a:solidFill>
                            <a:srgbClr val="FFFFFF"/>
                          </a:solidFill>
                          <a:latin typeface="Calibri"/>
                        </a:rPr>
                        <a:t>OpenShift</a:t>
                      </a:r>
                    </a:p>
                  </a:txBody>
                  <a:tcPr marL="63500" marR="63500" marT="12700" marB="12700" anchor="ctr">
                    <a:solidFill>
                      <a:srgbClr val="1B3A5C"/>
                    </a:solidFill>
                  </a:tcPr>
                </a:tc>
                <a:tc>
                  <a:txBody>
                    <a:bodyPr/>
                    <a:lstStyle/>
                    <a:p>
                      <a:pPr algn="ctr"/>
                      <a:r>
                        <a:rPr sz="1050" b="1" i="0">
                          <a:solidFill>
                            <a:srgbClr val="FFFFFF"/>
                          </a:solidFill>
                          <a:latin typeface="Calibri"/>
                        </a:rPr>
                        <a:t>KinD</a:t>
                      </a:r>
                    </a:p>
                  </a:txBody>
                  <a:tcPr marL="63500" marR="63500" marT="12700" marB="12700" anchor="ctr">
                    <a:solidFill>
                      <a:srgbClr val="1B3A5C"/>
                    </a:solidFill>
                  </a:tcPr>
                </a:tc>
                <a:tc>
                  <a:txBody>
                    <a:bodyPr/>
                    <a:lstStyle/>
                    <a:p>
                      <a:pPr algn="ctr"/>
                      <a:r>
                        <a:rPr sz="1050" b="1" i="0">
                          <a:solidFill>
                            <a:srgbClr val="FFFFFF"/>
                          </a:solidFill>
                          <a:latin typeface="Calibri"/>
                        </a:rPr>
                        <a:t>OCP step</a:t>
                      </a:r>
                    </a:p>
                  </a:txBody>
                  <a:tcPr marL="63500" marR="63500" marT="12700" marB="12700" anchor="ctr">
                    <a:solidFill>
                      <a:srgbClr val="1B3A5C"/>
                    </a:solidFill>
                  </a:tcPr>
                </a:tc>
                <a:tc>
                  <a:txBody>
                    <a:bodyPr/>
                    <a:lstStyle/>
                    <a:p>
                      <a:pPr algn="ctr"/>
                      <a:r>
                        <a:rPr sz="1050" b="1" i="0">
                          <a:solidFill>
                            <a:srgbClr val="FFFFFF"/>
                          </a:solidFill>
                          <a:latin typeface="Calibri"/>
                        </a:rPr>
                        <a:t>KinD step</a:t>
                      </a:r>
                    </a:p>
                  </a:txBody>
                  <a:tcPr marL="63500" marR="63500" marT="12700" marB="12700" anchor="ctr">
                    <a:solidFill>
                      <a:srgbClr val="1B3A5C"/>
                    </a:solidFill>
                  </a:tcPr>
                </a:tc>
              </a:tr>
              <a:tr h="335280">
                <a:tc>
                  <a:txBody>
                    <a:bodyPr/>
                    <a:lstStyle/>
                    <a:p>
                      <a:pPr algn="l"/>
                      <a:r>
                        <a:rPr sz="1050" b="1" i="0">
                          <a:solidFill>
                            <a:srgbClr val="1F2A37"/>
                          </a:solidFill>
                          <a:latin typeface="Calibri"/>
                        </a:rPr>
                        <a:t>baseline (AuthBridge off)</a:t>
                      </a:r>
                    </a:p>
                  </a:txBody>
                  <a:tcPr marL="63500" marR="63500" marT="12700" marB="12700" anchor="ctr">
                    <a:solidFill>
                      <a:srgbClr val="FFFFFF"/>
                    </a:solidFill>
                  </a:tcPr>
                </a:tc>
                <a:tc>
                  <a:txBody>
                    <a:bodyPr/>
                    <a:lstStyle/>
                    <a:p>
                      <a:pPr algn="ctr"/>
                      <a:r>
                        <a:rPr sz="1050" b="0" i="0">
                          <a:solidFill>
                            <a:srgbClr val="1F2A37"/>
                          </a:solidFill>
                          <a:latin typeface="Calibri"/>
                        </a:rPr>
                        <a:t>0.423</a:t>
                      </a:r>
                    </a:p>
                  </a:txBody>
                  <a:tcPr marL="63500" marR="63500" marT="12700" marB="12700" anchor="ctr">
                    <a:solidFill>
                      <a:srgbClr val="FFFFFF"/>
                    </a:solidFill>
                  </a:tcPr>
                </a:tc>
                <a:tc>
                  <a:txBody>
                    <a:bodyPr/>
                    <a:lstStyle/>
                    <a:p>
                      <a:pPr algn="ctr"/>
                      <a:r>
                        <a:rPr sz="1050" b="0" i="0">
                          <a:solidFill>
                            <a:srgbClr val="1F2A37"/>
                          </a:solidFill>
                          <a:latin typeface="Calibri"/>
                        </a:rPr>
                        <a:t>0.099</a:t>
                      </a:r>
                    </a:p>
                  </a:txBody>
                  <a:tcPr marL="63500" marR="63500" marT="12700" marB="12700" anchor="ctr">
                    <a:solidFill>
                      <a:srgbClr val="FFFFFF"/>
                    </a:solidFill>
                  </a:tcPr>
                </a:tc>
                <a:tc>
                  <a:txBody>
                    <a:bodyPr/>
                    <a:lstStyle/>
                    <a:p>
                      <a:pPr algn="ctr"/>
                      <a:r>
                        <a:rPr sz="1050" b="0" i="0">
                          <a:solidFill>
                            <a:srgbClr val="1F2A37"/>
                          </a:solidFill>
                          <a:latin typeface="Calibri"/>
                        </a:rPr>
                        <a:t>—</a:t>
                      </a:r>
                    </a:p>
                  </a:txBody>
                  <a:tcPr marL="63500" marR="63500" marT="12700" marB="12700" anchor="ctr">
                    <a:solidFill>
                      <a:srgbClr val="FFFFFF"/>
                    </a:solidFill>
                  </a:tcPr>
                </a:tc>
                <a:tc>
                  <a:txBody>
                    <a:bodyPr/>
                    <a:lstStyle/>
                    <a:p>
                      <a:pPr algn="ctr"/>
                      <a:r>
                        <a:rPr sz="1050" b="0" i="0">
                          <a:solidFill>
                            <a:srgbClr val="1F2A37"/>
                          </a:solidFill>
                          <a:latin typeface="Calibri"/>
                        </a:rPr>
                        <a:t>—</a:t>
                      </a:r>
                    </a:p>
                  </a:txBody>
                  <a:tcPr marL="63500" marR="63500" marT="12700" marB="12700" anchor="ctr">
                    <a:solidFill>
                      <a:srgbClr val="FFFFFF"/>
                    </a:solidFill>
                  </a:tcPr>
                </a:tc>
              </a:tr>
              <a:tr h="335280">
                <a:tc>
                  <a:txBody>
                    <a:bodyPr/>
                    <a:lstStyle/>
                    <a:p>
                      <a:pPr algn="l"/>
                      <a:r>
                        <a:rPr sz="1050" b="1" i="0">
                          <a:solidFill>
                            <a:srgbClr val="1F2A37"/>
                          </a:solidFill>
                          <a:latin typeface="Calibri"/>
                        </a:rPr>
                        <a:t>auth-only</a:t>
                      </a:r>
                    </a:p>
                  </a:txBody>
                  <a:tcPr marL="63500" marR="63500" marT="12700" marB="12700" anchor="ctr">
                    <a:solidFill>
                      <a:srgbClr val="F4F6F8"/>
                    </a:solidFill>
                  </a:tcPr>
                </a:tc>
                <a:tc>
                  <a:txBody>
                    <a:bodyPr/>
                    <a:lstStyle/>
                    <a:p>
                      <a:pPr algn="ctr"/>
                      <a:r>
                        <a:rPr sz="1050" b="0" i="0">
                          <a:solidFill>
                            <a:srgbClr val="1F2A37"/>
                          </a:solidFill>
                          <a:latin typeface="Calibri"/>
                        </a:rPr>
                        <a:t>14.101</a:t>
                      </a:r>
                    </a:p>
                  </a:txBody>
                  <a:tcPr marL="63500" marR="63500" marT="12700" marB="12700" anchor="ctr">
                    <a:solidFill>
                      <a:srgbClr val="F4F6F8"/>
                    </a:solidFill>
                  </a:tcPr>
                </a:tc>
                <a:tc>
                  <a:txBody>
                    <a:bodyPr/>
                    <a:lstStyle/>
                    <a:p>
                      <a:pPr algn="ctr"/>
                      <a:r>
                        <a:rPr sz="1050" b="0" i="0">
                          <a:solidFill>
                            <a:srgbClr val="1F2A37"/>
                          </a:solidFill>
                          <a:latin typeface="Calibri"/>
                        </a:rPr>
                        <a:t>0.152</a:t>
                      </a:r>
                    </a:p>
                  </a:txBody>
                  <a:tcPr marL="63500" marR="63500" marT="12700" marB="12700" anchor="ctr">
                    <a:solidFill>
                      <a:srgbClr val="F4F6F8"/>
                    </a:solidFill>
                  </a:tcPr>
                </a:tc>
                <a:tc>
                  <a:txBody>
                    <a:bodyPr/>
                    <a:lstStyle/>
                    <a:p>
                      <a:pPr algn="ctr"/>
                      <a:r>
                        <a:rPr sz="1050" b="0" i="0">
                          <a:solidFill>
                            <a:srgbClr val="1F2A37"/>
                          </a:solidFill>
                          <a:latin typeface="Calibri"/>
                        </a:rPr>
                        <a:t>+13.68</a:t>
                      </a:r>
                    </a:p>
                  </a:txBody>
                  <a:tcPr marL="63500" marR="63500" marT="12700" marB="12700" anchor="ctr">
                    <a:solidFill>
                      <a:srgbClr val="F4F6F8"/>
                    </a:solidFill>
                  </a:tcPr>
                </a:tc>
                <a:tc>
                  <a:txBody>
                    <a:bodyPr/>
                    <a:lstStyle/>
                    <a:p>
                      <a:pPr algn="ctr"/>
                      <a:r>
                        <a:rPr sz="1050" b="0" i="0">
                          <a:solidFill>
                            <a:srgbClr val="1F2A37"/>
                          </a:solidFill>
                          <a:latin typeface="Calibri"/>
                        </a:rPr>
                        <a:t>+0.05</a:t>
                      </a:r>
                    </a:p>
                  </a:txBody>
                  <a:tcPr marL="63500" marR="63500" marT="12700" marB="12700" anchor="ctr">
                    <a:solidFill>
                      <a:srgbClr val="F4F6F8"/>
                    </a:solidFill>
                  </a:tcPr>
                </a:tc>
              </a:tr>
              <a:tr h="335280">
                <a:tc>
                  <a:txBody>
                    <a:bodyPr/>
                    <a:lstStyle/>
                    <a:p>
                      <a:pPr algn="l"/>
                      <a:r>
                        <a:rPr sz="1050" b="1" i="0">
                          <a:solidFill>
                            <a:srgbClr val="1F2A37"/>
                          </a:solidFill>
                          <a:latin typeface="Calibri"/>
                        </a:rPr>
                        <a:t>ibac-only</a:t>
                      </a:r>
                    </a:p>
                  </a:txBody>
                  <a:tcPr marL="63500" marR="63500" marT="12700" marB="12700" anchor="ctr">
                    <a:solidFill>
                      <a:srgbClr val="FFFFFF"/>
                    </a:solidFill>
                  </a:tcPr>
                </a:tc>
                <a:tc>
                  <a:txBody>
                    <a:bodyPr/>
                    <a:lstStyle/>
                    <a:p>
                      <a:pPr algn="ctr"/>
                      <a:r>
                        <a:rPr sz="1050" b="0" i="0">
                          <a:solidFill>
                            <a:srgbClr val="1F2A37"/>
                          </a:solidFill>
                          <a:latin typeface="Calibri"/>
                        </a:rPr>
                        <a:t>14.148</a:t>
                      </a:r>
                    </a:p>
                  </a:txBody>
                  <a:tcPr marL="63500" marR="63500" marT="12700" marB="12700" anchor="ctr">
                    <a:solidFill>
                      <a:srgbClr val="FFFFFF"/>
                    </a:solidFill>
                  </a:tcPr>
                </a:tc>
                <a:tc>
                  <a:txBody>
                    <a:bodyPr/>
                    <a:lstStyle/>
                    <a:p>
                      <a:pPr algn="ctr"/>
                      <a:r>
                        <a:rPr sz="1050" b="0" i="0">
                          <a:solidFill>
                            <a:srgbClr val="1F2A37"/>
                          </a:solidFill>
                          <a:latin typeface="Calibri"/>
                        </a:rPr>
                        <a:t>1.688</a:t>
                      </a:r>
                    </a:p>
                  </a:txBody>
                  <a:tcPr marL="63500" marR="63500" marT="12700" marB="12700" anchor="ctr">
                    <a:solidFill>
                      <a:srgbClr val="FFFFFF"/>
                    </a:solidFill>
                  </a:tcPr>
                </a:tc>
                <a:tc>
                  <a:txBody>
                    <a:bodyPr/>
                    <a:lstStyle/>
                    <a:p>
                      <a:pPr algn="ctr"/>
                      <a:r>
                        <a:rPr sz="1050" b="0" i="0">
                          <a:solidFill>
                            <a:srgbClr val="1F2A37"/>
                          </a:solidFill>
                          <a:latin typeface="Calibri"/>
                        </a:rPr>
                        <a:t>+0.05</a:t>
                      </a:r>
                    </a:p>
                  </a:txBody>
                  <a:tcPr marL="63500" marR="63500" marT="12700" marB="12700" anchor="ctr">
                    <a:solidFill>
                      <a:srgbClr val="FFFFFF"/>
                    </a:solidFill>
                  </a:tcPr>
                </a:tc>
                <a:tc>
                  <a:txBody>
                    <a:bodyPr/>
                    <a:lstStyle/>
                    <a:p>
                      <a:pPr algn="ctr"/>
                      <a:r>
                        <a:rPr sz="1050" b="0" i="0">
                          <a:solidFill>
                            <a:srgbClr val="1F2A37"/>
                          </a:solidFill>
                          <a:latin typeface="Calibri"/>
                        </a:rPr>
                        <a:t>+1.54</a:t>
                      </a:r>
                    </a:p>
                  </a:txBody>
                  <a:tcPr marL="63500" marR="63500" marT="12700" marB="12700" anchor="ctr">
                    <a:solidFill>
                      <a:srgbClr val="FFFFFF"/>
                    </a:solidFill>
                  </a:tcPr>
                </a:tc>
              </a:tr>
              <a:tr h="335280">
                <a:tc>
                  <a:txBody>
                    <a:bodyPr/>
                    <a:lstStyle/>
                    <a:p>
                      <a:pPr algn="l"/>
                      <a:r>
                        <a:rPr sz="1050" b="1" i="0">
                          <a:solidFill>
                            <a:srgbClr val="1F2A37"/>
                          </a:solidFill>
                          <a:latin typeface="Calibri"/>
                        </a:rPr>
                        <a:t>full (auth + ibac)</a:t>
                      </a:r>
                    </a:p>
                  </a:txBody>
                  <a:tcPr marL="63500" marR="63500" marT="12700" marB="12700" anchor="ctr">
                    <a:solidFill>
                      <a:srgbClr val="F4F6F8"/>
                    </a:solidFill>
                  </a:tcPr>
                </a:tc>
                <a:tc>
                  <a:txBody>
                    <a:bodyPr/>
                    <a:lstStyle/>
                    <a:p>
                      <a:pPr algn="ctr"/>
                      <a:r>
                        <a:rPr sz="1050" b="0" i="0">
                          <a:solidFill>
                            <a:srgbClr val="1F2A37"/>
                          </a:solidFill>
                          <a:latin typeface="Calibri"/>
                        </a:rPr>
                        <a:t>14.446</a:t>
                      </a:r>
                    </a:p>
                  </a:txBody>
                  <a:tcPr marL="63500" marR="63500" marT="12700" marB="12700" anchor="ctr">
                    <a:solidFill>
                      <a:srgbClr val="F4F6F8"/>
                    </a:solidFill>
                  </a:tcPr>
                </a:tc>
                <a:tc>
                  <a:txBody>
                    <a:bodyPr/>
                    <a:lstStyle/>
                    <a:p>
                      <a:pPr algn="ctr"/>
                      <a:r>
                        <a:rPr sz="1050" b="0" i="0">
                          <a:solidFill>
                            <a:srgbClr val="1F2A37"/>
                          </a:solidFill>
                          <a:latin typeface="Calibri"/>
                        </a:rPr>
                        <a:t>1.824</a:t>
                      </a:r>
                    </a:p>
                  </a:txBody>
                  <a:tcPr marL="63500" marR="63500" marT="12700" marB="12700" anchor="ctr">
                    <a:solidFill>
                      <a:srgbClr val="F4F6F8"/>
                    </a:solidFill>
                  </a:tcPr>
                </a:tc>
                <a:tc>
                  <a:txBody>
                    <a:bodyPr/>
                    <a:lstStyle/>
                    <a:p>
                      <a:pPr algn="ctr"/>
                      <a:r>
                        <a:rPr sz="1050" b="0" i="0">
                          <a:solidFill>
                            <a:srgbClr val="1F2A37"/>
                          </a:solidFill>
                          <a:latin typeface="Calibri"/>
                        </a:rPr>
                        <a:t>+0.30</a:t>
                      </a:r>
                    </a:p>
                  </a:txBody>
                  <a:tcPr marL="63500" marR="63500" marT="12700" marB="12700" anchor="ctr">
                    <a:solidFill>
                      <a:srgbClr val="F4F6F8"/>
                    </a:solidFill>
                  </a:tcPr>
                </a:tc>
                <a:tc>
                  <a:txBody>
                    <a:bodyPr/>
                    <a:lstStyle/>
                    <a:p>
                      <a:pPr algn="ctr"/>
                      <a:r>
                        <a:rPr sz="1050" b="0" i="0">
                          <a:solidFill>
                            <a:srgbClr val="1F2A37"/>
                          </a:solidFill>
                          <a:latin typeface="Calibri"/>
                        </a:rPr>
                        <a:t>+0.14</a:t>
                      </a:r>
                    </a:p>
                  </a:txBody>
                  <a:tcPr marL="63500" marR="63500" marT="12700" marB="12700" anchor="ctr">
                    <a:solidFill>
                      <a:srgbClr val="F4F6F8"/>
                    </a:solidFill>
                  </a:tcPr>
                </a:tc>
              </a:tr>
              <a:tr h="335280">
                <a:tc>
                  <a:txBody>
                    <a:bodyPr/>
                    <a:lstStyle/>
                    <a:p>
                      <a:pPr algn="l"/>
                      <a:r>
                        <a:rPr sz="1050" b="1" i="0">
                          <a:solidFill>
                            <a:srgbClr val="1F2A37"/>
                          </a:solidFill>
                          <a:latin typeface="Calibri"/>
                        </a:rPr>
                        <a:t>full + ibac:observe</a:t>
                      </a:r>
                    </a:p>
                  </a:txBody>
                  <a:tcPr marL="63500" marR="63500" marT="12700" marB="12700" anchor="ctr">
                    <a:solidFill>
                      <a:srgbClr val="FFFFFF"/>
                    </a:solidFill>
                  </a:tcPr>
                </a:tc>
                <a:tc>
                  <a:txBody>
                    <a:bodyPr/>
                    <a:lstStyle/>
                    <a:p>
                      <a:pPr algn="ctr"/>
                      <a:r>
                        <a:rPr sz="1050" b="0" i="0">
                          <a:solidFill>
                            <a:srgbClr val="1F2A37"/>
                          </a:solidFill>
                          <a:latin typeface="Calibri"/>
                        </a:rPr>
                        <a:t>14.598</a:t>
                      </a:r>
                    </a:p>
                  </a:txBody>
                  <a:tcPr marL="63500" marR="63500" marT="12700" marB="12700" anchor="ctr">
                    <a:solidFill>
                      <a:srgbClr val="FFFFFF"/>
                    </a:solidFill>
                  </a:tcPr>
                </a:tc>
                <a:tc>
                  <a:txBody>
                    <a:bodyPr/>
                    <a:lstStyle/>
                    <a:p>
                      <a:pPr algn="ctr"/>
                      <a:r>
                        <a:rPr sz="1050" b="0" i="0">
                          <a:solidFill>
                            <a:srgbClr val="1F2A37"/>
                          </a:solidFill>
                          <a:latin typeface="Calibri"/>
                        </a:rPr>
                        <a:t>1.826</a:t>
                      </a:r>
                    </a:p>
                  </a:txBody>
                  <a:tcPr marL="63500" marR="63500" marT="12700" marB="12700" anchor="ctr">
                    <a:solidFill>
                      <a:srgbClr val="FFFFFF"/>
                    </a:solidFill>
                  </a:tcPr>
                </a:tc>
                <a:tc>
                  <a:txBody>
                    <a:bodyPr/>
                    <a:lstStyle/>
                    <a:p>
                      <a:pPr algn="ctr"/>
                      <a:r>
                        <a:rPr sz="1050" b="0" i="0">
                          <a:solidFill>
                            <a:srgbClr val="1F2A37"/>
                          </a:solidFill>
                          <a:latin typeface="Calibri"/>
                        </a:rPr>
                        <a:t>+0.15</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r>
            </a:tbl>
          </a:graphicData>
        </a:graphic>
      </p:graphicFrame>
      <p:graphicFrame>
        <p:nvGraphicFramePr>
          <p:cNvPr id="4" name="Table 3"/>
          <p:cNvGraphicFramePr>
            <a:graphicFrameLocks noGrp="1"/>
          </p:cNvGraphicFramePr>
          <p:nvPr/>
        </p:nvGraphicFramePr>
        <p:xfrm>
          <a:off x="411480" y="3456432"/>
          <a:ext cx="5806440" cy="2331720"/>
        </p:xfrm>
        <a:graphic>
          <a:graphicData uri="http://schemas.openxmlformats.org/drawingml/2006/table">
            <a:tbl>
              <a:tblPr firstRow="1">
                <a:tableStyleId>{5C22544A-7EE6-4342-B048-85BDC9FD1C3A}</a:tableStyleId>
              </a:tblPr>
              <a:tblGrid>
                <a:gridCol w="2240280"/>
                <a:gridCol w="1280160"/>
                <a:gridCol w="1188720"/>
                <a:gridCol w="1097280"/>
              </a:tblGrid>
              <a:tr h="333102">
                <a:tc>
                  <a:txBody>
                    <a:bodyPr/>
                    <a:lstStyle/>
                    <a:p>
                      <a:pPr algn="l"/>
                      <a:r>
                        <a:rPr sz="1050" b="1" i="0">
                          <a:solidFill>
                            <a:srgbClr val="FFFFFF"/>
                          </a:solidFill>
                          <a:latin typeface="Calibri"/>
                        </a:rPr>
                        <a:t>does the finding travel?</a:t>
                      </a:r>
                    </a:p>
                  </a:txBody>
                  <a:tcPr marL="63500" marR="63500" marT="12700" marB="12700" anchor="ctr">
                    <a:solidFill>
                      <a:srgbClr val="1B3A5C"/>
                    </a:solidFill>
                  </a:tcPr>
                </a:tc>
                <a:tc>
                  <a:txBody>
                    <a:bodyPr/>
                    <a:lstStyle/>
                    <a:p>
                      <a:pPr algn="ctr"/>
                      <a:r>
                        <a:rPr sz="1050" b="1" i="0">
                          <a:solidFill>
                            <a:srgbClr val="FFFFFF"/>
                          </a:solidFill>
                          <a:latin typeface="Calibri"/>
                        </a:rPr>
                        <a:t>OpenShift</a:t>
                      </a:r>
                    </a:p>
                  </a:txBody>
                  <a:tcPr marL="63500" marR="63500" marT="12700" marB="12700" anchor="ctr">
                    <a:solidFill>
                      <a:srgbClr val="1B3A5C"/>
                    </a:solidFill>
                  </a:tcPr>
                </a:tc>
                <a:tc>
                  <a:txBody>
                    <a:bodyPr/>
                    <a:lstStyle/>
                    <a:p>
                      <a:pPr algn="ctr"/>
                      <a:r>
                        <a:rPr sz="1050" b="1" i="0">
                          <a:solidFill>
                            <a:srgbClr val="FFFFFF"/>
                          </a:solidFill>
                          <a:latin typeface="Calibri"/>
                        </a:rPr>
                        <a:t>KinD</a:t>
                      </a:r>
                    </a:p>
                  </a:txBody>
                  <a:tcPr marL="63500" marR="63500" marT="12700" marB="12700" anchor="ctr">
                    <a:solidFill>
                      <a:srgbClr val="1B3A5C"/>
                    </a:solidFill>
                  </a:tcPr>
                </a:tc>
                <a:tc>
                  <a:txBody>
                    <a:bodyPr/>
                    <a:lstStyle/>
                    <a:p>
                      <a:pPr algn="ctr"/>
                      <a:r>
                        <a:rPr sz="1050" b="1" i="0">
                          <a:solidFill>
                            <a:srgbClr val="FFFFFF"/>
                          </a:solidFill>
                          <a:latin typeface="Calibri"/>
                        </a:rPr>
                        <a:t>travels?</a:t>
                      </a:r>
                    </a:p>
                  </a:txBody>
                  <a:tcPr marL="63500" marR="63500" marT="12700" marB="12700" anchor="ctr">
                    <a:solidFill>
                      <a:srgbClr val="1B3A5C"/>
                    </a:solidFill>
                  </a:tcPr>
                </a:tc>
              </a:tr>
              <a:tr h="333102">
                <a:tc>
                  <a:txBody>
                    <a:bodyPr/>
                    <a:lstStyle/>
                    <a:p>
                      <a:pPr algn="l"/>
                      <a:r>
                        <a:rPr sz="1050" b="1" i="0">
                          <a:solidFill>
                            <a:srgbClr val="1F2A37"/>
                          </a:solidFill>
                          <a:latin typeface="Calibri"/>
                        </a:rPr>
                        <a:t>Which layer costs anything</a:t>
                      </a:r>
                    </a:p>
                  </a:txBody>
                  <a:tcPr marL="63500" marR="63500" marT="12700" marB="12700" anchor="ctr">
                    <a:solidFill>
                      <a:srgbClr val="FFFFFF"/>
                    </a:solidFill>
                  </a:tcPr>
                </a:tc>
                <a:tc>
                  <a:txBody>
                    <a:bodyPr/>
                    <a:lstStyle/>
                    <a:p>
                      <a:pPr algn="ctr"/>
                      <a:r>
                        <a:rPr sz="1050" b="0" i="0">
                          <a:solidFill>
                            <a:srgbClr val="1F2A37"/>
                          </a:solidFill>
                          <a:latin typeface="Calibri"/>
                        </a:rPr>
                        <a:t>the sidecar</a:t>
                      </a:r>
                    </a:p>
                  </a:txBody>
                  <a:tcPr marL="63500" marR="63500" marT="12700" marB="12700" anchor="ctr">
                    <a:solidFill>
                      <a:srgbClr val="FFFFFF"/>
                    </a:solidFill>
                  </a:tcPr>
                </a:tc>
                <a:tc>
                  <a:txBody>
                    <a:bodyPr/>
                    <a:lstStyle/>
                    <a:p>
                      <a:pPr algn="ctr"/>
                      <a:r>
                        <a:rPr sz="1050" b="0" i="0">
                          <a:solidFill>
                            <a:srgbClr val="1F2A37"/>
                          </a:solidFill>
                          <a:latin typeface="Calibri"/>
                        </a:rPr>
                        <a:t>the judge</a:t>
                      </a:r>
                    </a:p>
                  </a:txBody>
                  <a:tcPr marL="63500" marR="63500" marT="12700" marB="12700" anchor="ctr">
                    <a:solidFill>
                      <a:srgbClr val="FFFFFF"/>
                    </a:solidFill>
                  </a:tcPr>
                </a:tc>
                <a:tc>
                  <a:txBody>
                    <a:bodyPr/>
                    <a:lstStyle/>
                    <a:p>
                      <a:pPr algn="ctr"/>
                      <a:r>
                        <a:rPr sz="1050" b="0" i="0">
                          <a:solidFill>
                            <a:srgbClr val="1F2A37"/>
                          </a:solidFill>
                          <a:latin typeface="Calibri"/>
                        </a:rPr>
                        <a:t>NO</a:t>
                      </a:r>
                    </a:p>
                  </a:txBody>
                  <a:tcPr marL="63500" marR="63500" marT="12700" marB="12700" anchor="ctr">
                    <a:solidFill>
                      <a:srgbClr val="FFFFFF"/>
                    </a:solidFill>
                  </a:tcPr>
                </a:tc>
              </a:tr>
              <a:tr h="333102">
                <a:tc>
                  <a:txBody>
                    <a:bodyPr/>
                    <a:lstStyle/>
                    <a:p>
                      <a:pPr algn="l"/>
                      <a:r>
                        <a:rPr sz="1050" b="1" i="0">
                          <a:solidFill>
                            <a:srgbClr val="1F2A37"/>
                          </a:solidFill>
                          <a:latin typeface="Calibri"/>
                        </a:rPr>
                        <a:t>Serial tool calls judged (p=1)</a:t>
                      </a:r>
                    </a:p>
                  </a:txBody>
                  <a:tcPr marL="63500" marR="63500" marT="12700" marB="12700" anchor="ctr">
                    <a:solidFill>
                      <a:srgbClr val="F4F6F8"/>
                    </a:solidFill>
                  </a:tcPr>
                </a:tc>
                <a:tc>
                  <a:txBody>
                    <a:bodyPr/>
                    <a:lstStyle/>
                    <a:p>
                      <a:pPr algn="ctr"/>
                      <a:r>
                        <a:rPr sz="1050" b="0" i="0">
                          <a:solidFill>
                            <a:srgbClr val="1F2A37"/>
                          </a:solidFill>
                          <a:latin typeface="Calibri"/>
                        </a:rPr>
                        <a:t>10 / 10</a:t>
                      </a:r>
                    </a:p>
                  </a:txBody>
                  <a:tcPr marL="63500" marR="63500" marT="12700" marB="12700" anchor="ctr">
                    <a:solidFill>
                      <a:srgbClr val="F4F6F8"/>
                    </a:solidFill>
                  </a:tcPr>
                </a:tc>
                <a:tc>
                  <a:txBody>
                    <a:bodyPr/>
                    <a:lstStyle/>
                    <a:p>
                      <a:pPr algn="ctr"/>
                      <a:r>
                        <a:rPr sz="1050" b="0" i="0">
                          <a:solidFill>
                            <a:srgbClr val="1F2A37"/>
                          </a:solidFill>
                          <a:latin typeface="Calibri"/>
                        </a:rPr>
                        <a:t>10 / 10</a:t>
                      </a:r>
                    </a:p>
                  </a:txBody>
                  <a:tcPr marL="63500" marR="63500" marT="12700" marB="12700" anchor="ctr">
                    <a:solidFill>
                      <a:srgbClr val="F4F6F8"/>
                    </a:solidFill>
                  </a:tcPr>
                </a:tc>
                <a:tc>
                  <a:txBody>
                    <a:bodyPr/>
                    <a:lstStyle/>
                    <a:p>
                      <a:pPr algn="ctr"/>
                      <a:r>
                        <a:rPr sz="1050" b="0" i="0">
                          <a:solidFill>
                            <a:srgbClr val="1F2A37"/>
                          </a:solidFill>
                          <a:latin typeface="Calibri"/>
                        </a:rPr>
                        <a:t>YES</a:t>
                      </a:r>
                    </a:p>
                  </a:txBody>
                  <a:tcPr marL="63500" marR="63500" marT="12700" marB="12700" anchor="ctr">
                    <a:solidFill>
                      <a:srgbClr val="F4F6F8"/>
                    </a:solidFill>
                  </a:tcPr>
                </a:tc>
              </a:tr>
              <a:tr h="333102">
                <a:tc>
                  <a:txBody>
                    <a:bodyPr/>
                    <a:lstStyle/>
                    <a:p>
                      <a:pPr algn="l"/>
                      <a:r>
                        <a:rPr sz="1050" b="1" i="0">
                          <a:solidFill>
                            <a:srgbClr val="1F2A37"/>
                          </a:solidFill>
                          <a:latin typeface="Calibri"/>
                        </a:rPr>
                        <a:t>Judged / tool-call ratio, n=50</a:t>
                      </a:r>
                    </a:p>
                  </a:txBody>
                  <a:tcPr marL="63500" marR="63500" marT="12700" marB="12700" anchor="ctr">
                    <a:solidFill>
                      <a:srgbClr val="FFFFFF"/>
                    </a:solidFill>
                  </a:tcPr>
                </a:tc>
                <a:tc>
                  <a:txBody>
                    <a:bodyPr/>
                    <a:lstStyle/>
                    <a:p>
                      <a:pPr algn="ctr"/>
                      <a:r>
                        <a:rPr sz="1050" b="0" i="0">
                          <a:solidFill>
                            <a:srgbClr val="1F2A37"/>
                          </a:solidFill>
                          <a:latin typeface="Calibri"/>
                        </a:rPr>
                        <a:t>0.90–0.98</a:t>
                      </a:r>
                    </a:p>
                  </a:txBody>
                  <a:tcPr marL="63500" marR="63500" marT="12700" marB="12700" anchor="ctr">
                    <a:solidFill>
                      <a:srgbClr val="FFFFFF"/>
                    </a:solidFill>
                  </a:tcPr>
                </a:tc>
                <a:tc>
                  <a:txBody>
                    <a:bodyPr/>
                    <a:lstStyle/>
                    <a:p>
                      <a:pPr algn="ctr"/>
                      <a:r>
                        <a:rPr sz="1050" b="0" i="0">
                          <a:solidFill>
                            <a:srgbClr val="1F2A37"/>
                          </a:solidFill>
                          <a:latin typeface="Calibri"/>
                        </a:rPr>
                        <a:t>0.90–0.98</a:t>
                      </a:r>
                    </a:p>
                  </a:txBody>
                  <a:tcPr marL="63500" marR="63500" marT="12700" marB="12700" anchor="ctr">
                    <a:solidFill>
                      <a:srgbClr val="FFFFFF"/>
                    </a:solidFill>
                  </a:tcPr>
                </a:tc>
                <a:tc>
                  <a:txBody>
                    <a:bodyPr/>
                    <a:lstStyle/>
                    <a:p>
                      <a:pPr algn="ctr"/>
                      <a:r>
                        <a:rPr sz="1050" b="0" i="0">
                          <a:solidFill>
                            <a:srgbClr val="1F2A37"/>
                          </a:solidFill>
                          <a:latin typeface="Calibri"/>
                        </a:rPr>
                        <a:t>YES</a:t>
                      </a:r>
                    </a:p>
                  </a:txBody>
                  <a:tcPr marL="63500" marR="63500" marT="12700" marB="12700" anchor="ctr">
                    <a:solidFill>
                      <a:srgbClr val="FFFFFF"/>
                    </a:solidFill>
                  </a:tcPr>
                </a:tc>
              </a:tr>
              <a:tr h="333102">
                <a:tc>
                  <a:txBody>
                    <a:bodyPr/>
                    <a:lstStyle/>
                    <a:p>
                      <a:pPr algn="l"/>
                      <a:r>
                        <a:rPr sz="1050" b="1" i="0">
                          <a:solidFill>
                            <a:srgbClr val="1F2A37"/>
                          </a:solidFill>
                          <a:latin typeface="Calibri"/>
                        </a:rPr>
                        <a:t>tau2 measured / projected</a:t>
                      </a:r>
                    </a:p>
                  </a:txBody>
                  <a:tcPr marL="63500" marR="63500" marT="12700" marB="12700" anchor="ctr">
                    <a:solidFill>
                      <a:srgbClr val="F4F6F8"/>
                    </a:solidFill>
                  </a:tcPr>
                </a:tc>
                <a:tc>
                  <a:txBody>
                    <a:bodyPr/>
                    <a:lstStyle/>
                    <a:p>
                      <a:pPr algn="ctr"/>
                      <a:r>
                        <a:rPr sz="1050" b="0" i="0">
                          <a:solidFill>
                            <a:srgbClr val="1F2A37"/>
                          </a:solidFill>
                          <a:latin typeface="Calibri"/>
                        </a:rPr>
                        <a:t>0.31x</a:t>
                      </a:r>
                    </a:p>
                  </a:txBody>
                  <a:tcPr marL="63500" marR="63500" marT="12700" marB="12700" anchor="ctr">
                    <a:solidFill>
                      <a:srgbClr val="F4F6F8"/>
                    </a:solidFill>
                  </a:tcPr>
                </a:tc>
                <a:tc>
                  <a:txBody>
                    <a:bodyPr/>
                    <a:lstStyle/>
                    <a:p>
                      <a:pPr algn="ctr"/>
                      <a:r>
                        <a:rPr sz="1050" b="0" i="0">
                          <a:solidFill>
                            <a:srgbClr val="1F2A37"/>
                          </a:solidFill>
                          <a:latin typeface="Calibri"/>
                        </a:rPr>
                        <a:t>2.49x</a:t>
                      </a:r>
                    </a:p>
                  </a:txBody>
                  <a:tcPr marL="63500" marR="63500" marT="12700" marB="12700" anchor="ctr">
                    <a:solidFill>
                      <a:srgbClr val="F4F6F8"/>
                    </a:solidFill>
                  </a:tcPr>
                </a:tc>
                <a:tc>
                  <a:txBody>
                    <a:bodyPr/>
                    <a:lstStyle/>
                    <a:p>
                      <a:pPr algn="ctr"/>
                      <a:r>
                        <a:rPr sz="1050" b="0" i="0">
                          <a:solidFill>
                            <a:srgbClr val="1F2A37"/>
                          </a:solidFill>
                          <a:latin typeface="Calibri"/>
                        </a:rPr>
                        <a:t>NO</a:t>
                      </a:r>
                    </a:p>
                  </a:txBody>
                  <a:tcPr marL="63500" marR="63500" marT="12700" marB="12700" anchor="ctr">
                    <a:solidFill>
                      <a:srgbClr val="F4F6F8"/>
                    </a:solidFill>
                  </a:tcPr>
                </a:tc>
              </a:tr>
              <a:tr h="333102">
                <a:tc>
                  <a:txBody>
                    <a:bodyPr/>
                    <a:lstStyle/>
                    <a:p>
                      <a:pPr algn="l"/>
                      <a:r>
                        <a:rPr sz="1050" b="1" i="0">
                          <a:solidFill>
                            <a:srgbClr val="1F2A37"/>
                          </a:solidFill>
                          <a:latin typeface="Calibri"/>
                        </a:rPr>
                        <a:t>Between-deploy noise floor</a:t>
                      </a:r>
                    </a:p>
                  </a:txBody>
                  <a:tcPr marL="63500" marR="63500" marT="12700" marB="12700" anchor="ctr">
                    <a:solidFill>
                      <a:srgbClr val="FFFFFF"/>
                    </a:solidFill>
                  </a:tcPr>
                </a:tc>
                <a:tc>
                  <a:txBody>
                    <a:bodyPr/>
                    <a:lstStyle/>
                    <a:p>
                      <a:pPr algn="ctr"/>
                      <a:r>
                        <a:rPr sz="1050" b="0" i="0">
                          <a:solidFill>
                            <a:srgbClr val="1F2A37"/>
                          </a:solidFill>
                          <a:latin typeface="Calibri"/>
                        </a:rPr>
                        <a:t>0.22 s</a:t>
                      </a:r>
                    </a:p>
                  </a:txBody>
                  <a:tcPr marL="63500" marR="63500" marT="12700" marB="12700" anchor="ctr">
                    <a:solidFill>
                      <a:srgbClr val="FFFFFF"/>
                    </a:solidFill>
                  </a:tcPr>
                </a:tc>
                <a:tc>
                  <a:txBody>
                    <a:bodyPr/>
                    <a:lstStyle/>
                    <a:p>
                      <a:pPr algn="ctr"/>
                      <a:r>
                        <a:rPr sz="1050" b="0" i="0">
                          <a:solidFill>
                            <a:srgbClr val="1F2A37"/>
                          </a:solidFill>
                          <a:latin typeface="Calibri"/>
                        </a:rPr>
                        <a:t>0.155 s</a:t>
                      </a:r>
                    </a:p>
                  </a:txBody>
                  <a:tcPr marL="63500" marR="63500" marT="12700" marB="12700" anchor="ctr">
                    <a:solidFill>
                      <a:srgbClr val="FFFFFF"/>
                    </a:solidFill>
                  </a:tcPr>
                </a:tc>
                <a:tc>
                  <a:txBody>
                    <a:bodyPr/>
                    <a:lstStyle/>
                    <a:p>
                      <a:pPr algn="ctr"/>
                      <a:r>
                        <a:rPr sz="1050" b="0" i="0">
                          <a:solidFill>
                            <a:srgbClr val="1F2A37"/>
                          </a:solidFill>
                          <a:latin typeface="Calibri"/>
                        </a:rPr>
                        <a:t>YES</a:t>
                      </a:r>
                    </a:p>
                  </a:txBody>
                  <a:tcPr marL="63500" marR="63500" marT="12700" marB="12700" anchor="ctr">
                    <a:solidFill>
                      <a:srgbClr val="FFFFFF"/>
                    </a:solidFill>
                  </a:tcPr>
                </a:tc>
              </a:tr>
              <a:tr h="333108">
                <a:tc>
                  <a:txBody>
                    <a:bodyPr/>
                    <a:lstStyle/>
                    <a:p>
                      <a:pPr algn="l"/>
                      <a:r>
                        <a:rPr sz="1050" b="1" i="0">
                          <a:solidFill>
                            <a:srgbClr val="1F2A37"/>
                          </a:solidFill>
                          <a:latin typeface="Calibri"/>
                        </a:rPr>
                        <a:t>Sidecar CPU / memory</a:t>
                      </a:r>
                    </a:p>
                  </a:txBody>
                  <a:tcPr marL="63500" marR="63500" marT="12700" marB="12700" anchor="ctr">
                    <a:solidFill>
                      <a:srgbClr val="F4F6F8"/>
                    </a:solidFill>
                  </a:tcPr>
                </a:tc>
                <a:tc>
                  <a:txBody>
                    <a:bodyPr/>
                    <a:lstStyle/>
                    <a:p>
                      <a:pPr algn="ctr"/>
                      <a:r>
                        <a:rPr sz="1050" b="0" i="0">
                          <a:solidFill>
                            <a:srgbClr val="1F2A37"/>
                          </a:solidFill>
                          <a:latin typeface="Calibri"/>
                        </a:rPr>
                        <a:t>no data</a:t>
                      </a:r>
                    </a:p>
                  </a:txBody>
                  <a:tcPr marL="63500" marR="63500" marT="12700" marB="12700" anchor="ctr">
                    <a:solidFill>
                      <a:srgbClr val="F4F6F8"/>
                    </a:solidFill>
                  </a:tcPr>
                </a:tc>
                <a:tc>
                  <a:txBody>
                    <a:bodyPr/>
                    <a:lstStyle/>
                    <a:p>
                      <a:pPr algn="ctr"/>
                      <a:r>
                        <a:rPr sz="1050" b="0" i="0">
                          <a:solidFill>
                            <a:srgbClr val="1F2A37"/>
                          </a:solidFill>
                          <a:latin typeface="Calibri"/>
                        </a:rPr>
                        <a:t>no data</a:t>
                      </a:r>
                    </a:p>
                  </a:txBody>
                  <a:tcPr marL="63500" marR="63500" marT="12700" marB="12700" anchor="ctr">
                    <a:solidFill>
                      <a:srgbClr val="F4F6F8"/>
                    </a:solidFill>
                  </a:tcPr>
                </a:tc>
                <a:tc>
                  <a:txBody>
                    <a:bodyPr/>
                    <a:lstStyle/>
                    <a:p>
                      <a:pPr algn="ctr"/>
                      <a:r>
                        <a:rPr sz="1050" b="0" i="0">
                          <a:solidFill>
                            <a:srgbClr val="1F2A37"/>
                          </a:solidFill>
                          <a:latin typeface="Calibri"/>
                        </a:rPr>
                        <a:t>—</a:t>
                      </a:r>
                    </a:p>
                  </a:txBody>
                  <a:tcPr marL="63500" marR="63500" marT="12700" marB="12700" anchor="ctr">
                    <a:solidFill>
                      <a:srgbClr val="F4F6F8"/>
                    </a:solidFill>
                  </a:tcPr>
                </a:tc>
              </a:tr>
            </a:tbl>
          </a:graphicData>
        </a:graphic>
      </p:graphicFrame>
      <p:sp>
        <p:nvSpPr>
          <p:cNvPr id="5" name="Rounded Rectangle 4"/>
          <p:cNvSpPr/>
          <p:nvPr/>
        </p:nvSpPr>
        <p:spPr>
          <a:xfrm>
            <a:off x="6446520" y="1188720"/>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The two clusters disagree about WHICH layer costs anything</a:t>
            </a:r>
          </a:p>
          <a:p>
            <a:pPr algn="l"/>
            <a:r>
              <a:rPr sz="950" b="0" i="0">
                <a:solidFill>
                  <a:srgbClr val="3A4654"/>
                </a:solidFill>
                <a:latin typeface="Calibri"/>
              </a:rPr>
              <a:t>On OpenShift the whole expense is the sidecar's mere presence and the judge is noise; on KinD the sidecar is nearly free and the judge is all of it. Both are right about their own cluster, and the same condition on the same image measures 4–93x apart. Never quote an absolute per-task plugin figure without naming the cluster.</a:t>
            </a:r>
          </a:p>
        </p:txBody>
      </p:sp>
      <p:sp>
        <p:nvSpPr>
          <p:cNvPr id="6" name="Rounded Rectangle 5"/>
          <p:cNvSpPr/>
          <p:nvPr/>
        </p:nvSpPr>
        <p:spPr>
          <a:xfrm>
            <a:off x="6446520" y="2523744"/>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Not a timeout — we checked</a:t>
            </a:r>
          </a:p>
          <a:p>
            <a:pPr algn="l"/>
            <a:r>
              <a:rPr sz="950" b="0" i="0">
                <a:solidFill>
                  <a:srgbClr val="3A4654"/>
                </a:solidFill>
                <a:latin typeface="Calibri"/>
              </a:rPr>
              <a:t>A timeout piles values on a round number. OpenShift's auth-only runs 8.05–17.93 s, SD 1.92, broad and unimodal: contention and queueing. On the quiet cluster the tail moves to full (median 1.82 s, max 14.00 s) because the judge is itself an LLM call — so the sidecar costs reproducibility, not only latency.</a:t>
            </a:r>
          </a:p>
        </p:txBody>
      </p:sp>
      <p:sp>
        <p:nvSpPr>
          <p:cNvPr id="7" name="Rounded Rectangle 6"/>
          <p:cNvSpPr/>
          <p:nvPr/>
        </p:nvSpPr>
        <p:spPr>
          <a:xfrm>
            <a:off x="6446520" y="3858768"/>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One flag decides whether the study measures anything</a:t>
            </a:r>
          </a:p>
          <a:p>
            <a:pPr algn="l"/>
            <a:r>
              <a:rPr sz="950" b="0" i="0">
                <a:solidFill>
                  <a:srgbClr val="3A4654"/>
                </a:solidFill>
                <a:latin typeface="Calibri"/>
              </a:rPr>
              <a:t>Every gsm8k leg sends the SAME 50 prompts and the gateway replays completions for ~10 min: unspaced, later legs measure the cache, in run order — the shape of a plugin effect. BM_CACHE_GAP=900 spaces them. The check needs no statistics: the conditions NEST, so no sidecar leg can beat a sidecar-free one. Clear by 41.8x (OCP), 1.4x (KinD).</a:t>
            </a:r>
          </a:p>
        </p:txBody>
      </p:sp>
      <p:sp>
        <p:nvSpPr>
          <p:cNvPr id="8" name="Rounded Rectangle 7"/>
          <p:cNvSpPr/>
          <p:nvPr/>
        </p:nvSpPr>
        <p:spPr>
          <a:xfrm>
            <a:off x="6446520" y="5193792"/>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The deploy is the unit of replication, not the task</a:t>
            </a:r>
          </a:p>
          <a:p>
            <a:pPr algn="l"/>
            <a:r>
              <a:rPr sz="950" b="0" i="0">
                <a:solidFill>
                  <a:srgbClr val="3A4654"/>
                </a:solidFill>
                <a:latin typeface="Calibri"/>
              </a:rPr>
              <a:t>A per-task interval measures variance WITHIN one deploy. The honest floor is between two deploys of one condition, and it exceeds every step but the dominant layer — so presets cannot be RANKED at any task count; add deploys, not tasks. Cut the other way: at σ ≈ 0.23 s two deploys already resolve a 1 s effect, so the small steps are genuinely small rather than unresolved.</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name="10. What the Service Can &amp; Cannot Enact">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10.  What the Service Can &amp; Cannot Enact</a:t>
            </a:r>
          </a:p>
          <a:p>
            <a:r>
              <a:rPr sz="1400" b="0" i="0">
                <a:solidFill>
                  <a:srgbClr val="C9D9EC"/>
                </a:solidFill>
                <a:latin typeface="Calibri"/>
              </a:rPr>
              <a:t>The HTTP-only boundary, made explicit</a:t>
            </a:r>
          </a:p>
        </p:txBody>
      </p:sp>
      <p:sp>
        <p:nvSpPr>
          <p:cNvPr id="3" name="Rectangle 2"/>
          <p:cNvSpPr/>
          <p:nvPr/>
        </p:nvSpPr>
        <p:spPr>
          <a:xfrm>
            <a:off x="457200" y="1234440"/>
            <a:ext cx="5394960" cy="457200"/>
          </a:xfrm>
          <a:prstGeom prst="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  Enacts over HTTP</a:t>
            </a:r>
          </a:p>
        </p:txBody>
      </p:sp>
      <p:sp>
        <p:nvSpPr>
          <p:cNvPr id="4" name="TextBox 3"/>
          <p:cNvSpPr txBox="1"/>
          <p:nvPr/>
        </p:nvSpPr>
        <p:spPr>
          <a:xfrm>
            <a:off x="548640" y="1828800"/>
            <a:ext cx="5303520" cy="4206240"/>
          </a:xfrm>
          <a:prstGeom prst="rect">
            <a:avLst/>
          </a:prstGeom>
          <a:noFill/>
        </p:spPr>
        <p:txBody>
          <a:bodyPr wrap="square" anchor="t">
            <a:spAutoFit/>
          </a:bodyPr>
          <a:lstStyle/>
          <a:p>
            <a:pPr algn="l" lvl="1">
              <a:spcAft>
                <a:spcPts val="300"/>
              </a:spcAft>
            </a:pPr>
            <a:r>
              <a:rPr sz="1300" b="0" i="0">
                <a:solidFill>
                  <a:srgbClr val="1F2A37"/>
                </a:solidFill>
                <a:latin typeface="Calibri"/>
              </a:rPr>
              <a:t>• Deploy MCP tool + A2A agent (CPU/mem, image, env)</a:t>
            </a:r>
          </a:p>
          <a:p>
            <a:pPr algn="l" lvl="1">
              <a:spcAft>
                <a:spcPts val="300"/>
              </a:spcAft>
            </a:pPr>
            <a:r>
              <a:rPr sz="1300" b="0" i="0">
                <a:solidFill>
                  <a:srgbClr val="1F2A37"/>
                </a:solidFill>
                <a:latin typeface="Calibri"/>
              </a:rPr>
              <a:t>• Deploy-time model swap (per-experiment agent)</a:t>
            </a:r>
          </a:p>
          <a:p>
            <a:pPr algn="l" lvl="1">
              <a:spcAft>
                <a:spcPts val="300"/>
              </a:spcAft>
            </a:pPr>
            <a:r>
              <a:rPr sz="1300" b="0" i="0">
                <a:solidFill>
                  <a:srgbClr val="1F2A37"/>
                </a:solidFill>
                <a:latin typeface="Calibri"/>
              </a:rPr>
              <a:t>• authbridge_enabled → inject the sidecar (layer-2)</a:t>
            </a:r>
          </a:p>
          <a:p>
            <a:pPr algn="l" lvl="1">
              <a:spcAft>
                <a:spcPts val="300"/>
              </a:spcAft>
            </a:pPr>
            <a:r>
              <a:rPr sz="1300" b="0" i="0">
                <a:solidFill>
                  <a:srgbClr val="1F2A37"/>
                </a:solidFill>
                <a:latin typeface="Calibri"/>
              </a:rPr>
              <a:t>• plugin_preset / plugins / on_error → AuthBridge layer-3</a:t>
            </a:r>
          </a:p>
          <a:p>
            <a:pPr algn="l" lvl="2">
              <a:spcAft>
                <a:spcPts val="300"/>
              </a:spcAft>
            </a:pPr>
            <a:r>
              <a:rPr sz="1150" b="0" i="0">
                <a:solidFill>
                  <a:srgbClr val="3A4654"/>
                </a:solidFill>
                <a:latin typeface="Calibri"/>
              </a:rPr>
              <a:t>→ pluginPreset/plugins/onError; operator renders ConfigMap</a:t>
            </a:r>
          </a:p>
          <a:p>
            <a:pPr algn="l" lvl="1">
              <a:spcAft>
                <a:spcPts val="300"/>
              </a:spcAft>
            </a:pPr>
            <a:r>
              <a:rPr sz="1300" b="0" i="0">
                <a:solidFill>
                  <a:srgbClr val="1F2A37"/>
                </a:solidFill>
                <a:latin typeface="Calibri"/>
              </a:rPr>
              <a:t>• Run benchmark sessions; collect pass/fail + latency</a:t>
            </a:r>
          </a:p>
          <a:p>
            <a:pPr algn="l" lvl="1">
              <a:spcAft>
                <a:spcPts val="300"/>
              </a:spcAft>
            </a:pPr>
            <a:r>
              <a:rPr sz="1300" b="0" i="0">
                <a:solidFill>
                  <a:srgbClr val="1F2A37"/>
                </a:solidFill>
                <a:latin typeface="Calibri"/>
              </a:rPr>
              <a:t>• Emit + read MLflow traces; export to S3</a:t>
            </a:r>
          </a:p>
          <a:p>
            <a:pPr algn="l" lvl="1">
              <a:spcAft>
                <a:spcPts val="300"/>
              </a:spcAft>
            </a:pPr>
            <a:r>
              <a:rPr sz="1300" b="0" i="0">
                <a:solidFill>
                  <a:srgbClr val="1F2A37"/>
                </a:solidFill>
                <a:latin typeface="Calibri"/>
              </a:rPr>
              <a:t>• Service-owned config: MLflow + S3 via PUT /config</a:t>
            </a:r>
          </a:p>
          <a:p>
            <a:pPr algn="l" lvl="2">
              <a:spcAft>
                <a:spcPts val="300"/>
              </a:spcAft>
            </a:pPr>
            <a:r>
              <a:rPr sz="1150" b="0" i="0">
                <a:solidFill>
                  <a:srgbClr val="3A4654"/>
                </a:solidFill>
                <a:latin typeface="Calibri"/>
              </a:rPr>
              <a:t>benchmarker only</a:t>
            </a:r>
          </a:p>
        </p:txBody>
      </p:sp>
      <p:sp>
        <p:nvSpPr>
          <p:cNvPr id="5" name="Rectangle 4"/>
          <p:cNvSpPr/>
          <p:nvPr/>
        </p:nvSpPr>
        <p:spPr>
          <a:xfrm>
            <a:off x="6309360" y="1234440"/>
            <a:ext cx="5394960" cy="457200"/>
          </a:xfrm>
          <a:prstGeom prst="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  Out-of-band (reports, doesn't do)</a:t>
            </a:r>
          </a:p>
        </p:txBody>
      </p:sp>
      <p:sp>
        <p:nvSpPr>
          <p:cNvPr id="6" name="TextBox 5"/>
          <p:cNvSpPr txBox="1"/>
          <p:nvPr/>
        </p:nvSpPr>
        <p:spPr>
          <a:xfrm>
            <a:off x="6400800" y="1828800"/>
            <a:ext cx="5303520" cy="4206240"/>
          </a:xfrm>
          <a:prstGeom prst="rect">
            <a:avLst/>
          </a:prstGeom>
          <a:noFill/>
        </p:spPr>
        <p:txBody>
          <a:bodyPr wrap="square" anchor="t">
            <a:spAutoFit/>
          </a:bodyPr>
          <a:lstStyle/>
          <a:p>
            <a:pPr algn="l" lvl="1">
              <a:spcAft>
                <a:spcPts val="300"/>
              </a:spcAft>
            </a:pPr>
            <a:r>
              <a:rPr sz="1300" b="0" i="0">
                <a:solidFill>
                  <a:srgbClr val="1F2A37"/>
                </a:solidFill>
                <a:latin typeface="Calibri"/>
              </a:rPr>
              <a:t>• Cluster Secrets (hf-secret, openai-secret)</a:t>
            </a:r>
          </a:p>
          <a:p>
            <a:pPr algn="l" lvl="2">
              <a:spcAft>
                <a:spcPts val="300"/>
              </a:spcAft>
            </a:pPr>
            <a:r>
              <a:rPr sz="1150" b="0" i="0">
                <a:solidFill>
                  <a:srgbClr val="3A4654"/>
                </a:solidFill>
                <a:latin typeface="Calibri"/>
              </a:rPr>
              <a:t>operator provisions; run precheck returns 424 naming it</a:t>
            </a:r>
          </a:p>
          <a:p>
            <a:pPr algn="l" lvl="1">
              <a:spcAft>
                <a:spcPts val="300"/>
              </a:spcAft>
            </a:pPr>
            <a:r>
              <a:rPr sz="1300" b="0" i="0">
                <a:solidFill>
                  <a:srgbClr val="1F2A37"/>
                </a:solidFill>
                <a:latin typeface="Calibri"/>
              </a:rPr>
              <a:t>• AuthBridge CLUSTER config — ibac judgeEndpoint / judgeModel</a:t>
            </a:r>
          </a:p>
          <a:p>
            <a:pPr algn="l" lvl="2">
              <a:spcAft>
                <a:spcPts val="300"/>
              </a:spcAft>
            </a:pPr>
            <a:r>
              <a:rPr sz="1150" b="0" i="0">
                <a:solidFill>
                  <a:srgbClr val="3A4654"/>
                </a:solidFill>
                <a:latin typeface="Calibri"/>
              </a:rPr>
              <a:t>in the platform-config ConfigMap, not the agent API</a:t>
            </a:r>
          </a:p>
          <a:p>
            <a:pPr algn="l" lvl="1">
              <a:spcAft>
                <a:spcPts val="300"/>
              </a:spcAft>
            </a:pPr>
            <a:r>
              <a:rPr sz="1300" b="0" i="0">
                <a:solidFill>
                  <a:srgbClr val="1F2A37"/>
                </a:solidFill>
                <a:latin typeface="Calibri"/>
              </a:rPr>
              <a:t>• Any cluster-level API call — Rossoctl does these server-side</a:t>
            </a:r>
          </a:p>
          <a:p>
            <a:pPr algn="l">
              <a:spcAft>
                <a:spcPts val="300"/>
              </a:spcAft>
            </a:pPr>
            <a:r>
              <a:rPr sz="1350" b="1" i="0">
                <a:solidFill>
                  <a:srgbClr val="B55A2E"/>
                </a:solidFill>
                <a:latin typeface="Calibri"/>
              </a:rPr>
              <a:t>Principle:</a:t>
            </a:r>
          </a:p>
          <a:p>
            <a:pPr algn="l" lvl="1">
              <a:spcAft>
                <a:spcPts val="300"/>
              </a:spcAft>
            </a:pPr>
            <a:r>
              <a:rPr sz="1300" b="0" i="0">
                <a:solidFill>
                  <a:srgbClr val="1F2A37"/>
                </a:solidFill>
                <a:latin typeface="Calibri"/>
              </a:rPr>
              <a:t>• Never silently ignore an un-enactable request —</a:t>
            </a:r>
          </a:p>
          <a:p>
            <a:pPr algn="l" lvl="2">
              <a:spcAft>
                <a:spcPts val="300"/>
              </a:spcAft>
            </a:pPr>
            <a:r>
              <a:rPr sz="1150" b="0" i="0">
                <a:solidFill>
                  <a:srgbClr val="3A4654"/>
                </a:solidFill>
                <a:latin typeface="Calibri"/>
              </a:rPr>
              <a:t>precheck (424) or reject (422), with an actionable reason</a:t>
            </a:r>
          </a:p>
        </p:txBody>
      </p:sp>
      <p:sp>
        <p:nvSpPr>
          <p:cNvPr id="7" name="Rounded Rectangle 6"/>
          <p:cNvSpPr/>
          <p:nvPr/>
        </p:nvSpPr>
        <p:spPr>
          <a:xfrm>
            <a:off x="1463040" y="5257800"/>
            <a:ext cx="9235440" cy="68580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1F2A37"/>
                </a:solidFill>
                <a:latin typeface="Calibri"/>
              </a:rPr>
              <a:t>Cluster-agnostic by construction: works on kind / vanilla k8s / OpenShift; cross-cluster runs use per-instance route templates + a reachable internal issuer.</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