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2026-09-20 14:05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4.1 inside the workload: sidecar, user simulator, IBAC judge · 4.2 how interception is wired</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6.1 the three benchmarks and the REST flow that drives them · 6.2 what each image bakes in</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difficulty ladder · 7.2 what each stresses · 7.3 the traps · 7.4 picking one · 7.5 what it costs · 7.6 the rate card</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1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4.1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1371600"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71600" y="4407408"/>
            <a:ext cx="6949440"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4.2 How Interception Is Wired — and How It Silently Isn'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4.2  How Interception Is Wired — and How It Silently Isn't</a:t>
            </a:r>
          </a:p>
          <a:p>
            <a:r>
              <a:rPr sz="1400" b="0" i="0">
                <a:solidFill>
                  <a:srgbClr val="C9D9EC"/>
                </a:solidFill>
                <a:latin typeface="Calibri"/>
              </a:rPr>
              <a:t>The sidecar sees traffic only because of two env vars; a plausible config takes it back out of the path</a:t>
            </a:r>
          </a:p>
        </p:txBody>
      </p:sp>
      <p:sp>
        <p:nvSpPr>
          <p:cNvPr id="3" name="Rounded Rectangle 2"/>
          <p:cNvSpPr/>
          <p:nvPr/>
        </p:nvSpPr>
        <p:spPr>
          <a:xfrm>
            <a:off x="411480" y="1115568"/>
            <a:ext cx="11365992" cy="1371600"/>
          </a:xfrm>
          <a:prstGeom prst="roundRect">
            <a:avLst/>
          </a:prstGeom>
          <a:solidFill>
            <a:srgbClr val="F1E8F6"/>
          </a:solidFill>
          <a:ln>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Interception is a blanket forward proxy plus an allowlist — not a tool-aware hook. Three settings decide what the sidecar actually sees:</a:t>
            </a:r>
          </a:p>
        </p:txBody>
      </p:sp>
      <p:sp>
        <p:nvSpPr>
          <p:cNvPr id="5" name="Rounded Rectangle 4"/>
          <p:cNvSpPr/>
          <p:nvPr/>
        </p:nvSpPr>
        <p:spPr>
          <a:xfrm>
            <a:off x="5669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HTTP_PROXY = HTTPS_PROXY = http://127.0.0.1:8081</a:t>
            </a:r>
          </a:p>
          <a:p>
            <a:pPr algn="ctr"/>
            <a:r>
              <a:rPr sz="800" b="0" i="0">
                <a:solidFill>
                  <a:srgbClr val="3A4654"/>
                </a:solidFill>
                <a:latin typeface="Calibri"/>
              </a:rPr>
              <a:t>the OPERATOR injects this into the agent pod when AuthBridge is enabled — 127.0.0.1:8081 IS the sidecar, so by default every outbound HTTP call the agent makes is captured</a:t>
            </a:r>
          </a:p>
        </p:txBody>
      </p:sp>
      <p:sp>
        <p:nvSpPr>
          <p:cNvPr id="6" name="Rounded Rectangle 5"/>
          <p:cNvSpPr/>
          <p:nvPr/>
        </p:nvSpPr>
        <p:spPr>
          <a:xfrm>
            <a:off x="42245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no_proxy = LLM gateway, OTEL collector, Keycloak</a:t>
            </a:r>
          </a:p>
          <a:p>
            <a:pPr algn="ctr"/>
            <a:r>
              <a:rPr sz="800" b="0" i="0">
                <a:solidFill>
                  <a:srgbClr val="3A4654"/>
                </a:solidFill>
                <a:latin typeface="Calibri"/>
              </a:rPr>
              <a:t>instance config — the hosts that stay DIRECT. This is the only reason flow 3, the agent's own chat calls, does not go through the sidecar</a:t>
            </a:r>
          </a:p>
        </p:txBody>
      </p:sp>
      <p:sp>
        <p:nvSpPr>
          <p:cNvPr id="7" name="Rounded Rectangle 6"/>
          <p:cNvSpPr/>
          <p:nvPr/>
        </p:nvSpPr>
        <p:spPr>
          <a:xfrm>
            <a:off x="7882127" y="1463040"/>
            <a:ext cx="3730752"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judge_inference: false</a:t>
            </a:r>
          </a:p>
          <a:p>
            <a:pPr algn="ctr"/>
            <a:r>
              <a:rPr sz="800" b="0" i="0">
                <a:solidFill>
                  <a:srgbClr val="3A4654"/>
                </a:solidFill>
                <a:latin typeface="Calibri"/>
              </a:rPr>
              <a:t>IBAC's own default — even proxied inference is not judged. BOTH this and no_proxy would have to change for the agent's model calls to be authorized</a:t>
            </a:r>
          </a:p>
        </p:txBody>
      </p:sp>
      <p:sp>
        <p:nvSpPr>
          <p:cNvPr id="8" name="Rounded Rectangle 7"/>
          <p:cNvSpPr/>
          <p:nvPr/>
        </p:nvSpPr>
        <p:spPr>
          <a:xfrm>
            <a:off x="411480" y="2596896"/>
            <a:ext cx="5532120" cy="1444752"/>
          </a:xfrm>
          <a:prstGeom prst="roundRect">
            <a:avLst/>
          </a:prstGeom>
          <a:solidFill>
            <a:srgbClr val="E9F3E8"/>
          </a:solidFill>
          <a:ln>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5221224" cy="237744"/>
          </a:xfrm>
          <a:prstGeom prst="rect">
            <a:avLst/>
          </a:prstGeom>
          <a:noFill/>
        </p:spPr>
        <p:txBody>
          <a:bodyPr wrap="square" anchor="t">
            <a:spAutoFit/>
          </a:bodyPr>
          <a:lstStyle/>
          <a:p>
            <a:pPr algn="l">
              <a:spcAft>
                <a:spcPts val="300"/>
              </a:spcAft>
            </a:pPr>
            <a:r>
              <a:rPr sz="1200" b="1" i="0">
                <a:solidFill>
                  <a:srgbClr val="5B8C5A"/>
                </a:solidFill>
                <a:latin typeface="Calibri"/>
              </a:rPr>
              <a:t>✓  Through the sidecar</a:t>
            </a:r>
          </a:p>
        </p:txBody>
      </p:sp>
      <p:sp>
        <p:nvSpPr>
          <p:cNvPr id="10" name="TextBox 9"/>
          <p:cNvSpPr txBox="1"/>
          <p:nvPr/>
        </p:nvSpPr>
        <p:spPr>
          <a:xfrm>
            <a:off x="566928"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MCP tool calls  (flows 5 → 6) — the interception point</a:t>
            </a:r>
          </a:p>
          <a:p>
            <a:pPr algn="l">
              <a:spcAft>
                <a:spcPts val="300"/>
              </a:spcAft>
            </a:pPr>
            <a:r>
              <a:rPr sz="1050" b="0" i="0">
                <a:solidFill>
                  <a:srgbClr val="1F2A37"/>
                </a:solidFill>
                <a:latin typeface="Calibri"/>
              </a:rPr>
              <a:t>•  tools/call → isAction=true → one IBAC judge call each  (flow 7)</a:t>
            </a:r>
          </a:p>
          <a:p>
            <a:pPr algn="l">
              <a:spcAft>
                <a:spcPts val="300"/>
              </a:spcAft>
            </a:pPr>
            <a:r>
              <a:rPr sz="1050" b="0" i="0">
                <a:solidFill>
                  <a:srgbClr val="1F2A37"/>
                </a:solidFill>
                <a:latin typeface="Calibri"/>
              </a:rPr>
              <a:t>•  inbound A2A message/stream → a2a-parser, isAction=false,</a:t>
            </a:r>
          </a:p>
          <a:p>
            <a:pPr algn="l">
              <a:spcAft>
                <a:spcPts val="300"/>
              </a:spcAft>
            </a:pPr>
            <a:r>
              <a:rPr sz="1050" b="0" i="0">
                <a:solidFill>
                  <a:srgbClr val="1F2A37"/>
                </a:solidFill>
                <a:latin typeface="Calibri"/>
              </a:rPr>
              <a:t>    so the Service's send_prompt is logged but never judged</a:t>
            </a:r>
          </a:p>
        </p:txBody>
      </p:sp>
      <p:sp>
        <p:nvSpPr>
          <p:cNvPr id="11" name="Rounded Rectangle 10"/>
          <p:cNvSpPr/>
          <p:nvPr/>
        </p:nvSpPr>
        <p:spPr>
          <a:xfrm>
            <a:off x="6245352" y="2596896"/>
            <a:ext cx="5532120" cy="1444752"/>
          </a:xfrm>
          <a:prstGeom prst="roundRect">
            <a:avLst/>
          </a:prstGeom>
          <a:solidFill>
            <a:srgbClr val="EEEFF1"/>
          </a:solidFill>
          <a:ln>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651760"/>
            <a:ext cx="5221224" cy="237744"/>
          </a:xfrm>
          <a:prstGeom prst="rect">
            <a:avLst/>
          </a:prstGeom>
          <a:noFill/>
        </p:spPr>
        <p:txBody>
          <a:bodyPr wrap="square" anchor="t">
            <a:spAutoFit/>
          </a:bodyPr>
          <a:lstStyle/>
          <a:p>
            <a:pPr algn="l">
              <a:spcAft>
                <a:spcPts val="300"/>
              </a:spcAft>
            </a:pPr>
            <a:r>
              <a:rPr sz="1200" b="1" i="0">
                <a:solidFill>
                  <a:srgbClr val="6B6B6B"/>
                </a:solidFill>
                <a:latin typeface="Calibri"/>
              </a:rPr>
              <a:t>✗  Direct — the plugins never see it</a:t>
            </a:r>
          </a:p>
        </p:txBody>
      </p:sp>
      <p:sp>
        <p:nvSpPr>
          <p:cNvPr id="13" name="TextBox 12"/>
          <p:cNvSpPr txBox="1"/>
          <p:nvPr/>
        </p:nvSpPr>
        <p:spPr>
          <a:xfrm>
            <a:off x="6400800"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LLM gateway  (flow 3) — named in no_proxy, and</a:t>
            </a:r>
          </a:p>
          <a:p>
            <a:pPr algn="l">
              <a:spcAft>
                <a:spcPts val="300"/>
              </a:spcAft>
            </a:pPr>
            <a:r>
              <a:rPr sz="1050" b="0" i="0">
                <a:solidFill>
                  <a:srgbClr val="1F2A37"/>
                </a:solidFill>
                <a:latin typeface="Calibri"/>
              </a:rPr>
              <a:t>    judge_inference: false would exempt it even if proxied</a:t>
            </a:r>
          </a:p>
          <a:p>
            <a:pPr algn="l">
              <a:spcAft>
                <a:spcPts val="300"/>
              </a:spcAft>
            </a:pPr>
            <a:r>
              <a:rPr sz="1050" b="0" i="0">
                <a:solidFill>
                  <a:srgbClr val="1F2A37"/>
                </a:solidFill>
                <a:latin typeface="Calibri"/>
              </a:rPr>
              <a:t>•  Service → MCP server  (flow 2) — a different pod; the Service</a:t>
            </a:r>
          </a:p>
          <a:p>
            <a:pPr algn="l">
              <a:spcAft>
                <a:spcPts val="300"/>
              </a:spcAft>
            </a:pPr>
            <a:r>
              <a:rPr sz="1050" b="0" i="0">
                <a:solidFill>
                  <a:srgbClr val="1F2A37"/>
                </a:solidFill>
                <a:latin typeface="Calibri"/>
              </a:rPr>
              <a:t>    does not dial through the agent's proxy</a:t>
            </a:r>
          </a:p>
          <a:p>
            <a:pPr algn="l">
              <a:spcAft>
                <a:spcPts val="300"/>
              </a:spcAft>
            </a:pPr>
            <a:r>
              <a:rPr sz="1050" b="0" i="0">
                <a:solidFill>
                  <a:srgbClr val="1F2A37"/>
                </a:solidFill>
                <a:latin typeface="Calibri"/>
              </a:rPr>
              <a:t>•  MCP tool → gateway  (flow 4, tau2's user simulator) — different pod</a:t>
            </a:r>
          </a:p>
        </p:txBody>
      </p:sp>
      <p:sp>
        <p:nvSpPr>
          <p:cNvPr id="14" name="Rounded Rectangle 13"/>
          <p:cNvSpPr/>
          <p:nvPr/>
        </p:nvSpPr>
        <p:spPr>
          <a:xfrm>
            <a:off x="411480" y="4151376"/>
            <a:ext cx="11365992" cy="1517904"/>
          </a:xfrm>
          <a:prstGeom prst="roundRect">
            <a:avLst/>
          </a:prstGeom>
          <a:solidFill>
            <a:srgbClr val="FBEEE4"/>
          </a:solidFill>
          <a:ln>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206240"/>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A ready sidecar proves nothing about enforcement — the double bypass we actually shipped:</a:t>
            </a:r>
          </a:p>
        </p:txBody>
      </p:sp>
      <p:sp>
        <p:nvSpPr>
          <p:cNvPr id="16" name="Rounded Rectangle 15"/>
          <p:cNvSpPr/>
          <p:nvPr/>
        </p:nvSpPr>
        <p:spPr>
          <a:xfrm>
            <a:off x="566928"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1.  workload_llm.disable_proxy: true makes the SERVICE inject HTTP_PROXY="" first</a:t>
            </a:r>
          </a:p>
        </p:txBody>
      </p:sp>
      <p:sp>
        <p:nvSpPr>
          <p:cNvPr id="17" name="Rounded Rectangle 16"/>
          <p:cNvSpPr/>
          <p:nvPr/>
        </p:nvSpPr>
        <p:spPr>
          <a:xfrm>
            <a:off x="3364992"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2.  the operator adds a var only when ABSENT → it skips HTTP_PROXY, but still sets HTTPS_PROXY</a:t>
            </a:r>
          </a:p>
        </p:txBody>
      </p:sp>
      <p:sp>
        <p:nvSpPr>
          <p:cNvPr id="18" name="Rounded Rectangle 17"/>
          <p:cNvSpPr/>
          <p:nvPr/>
        </p:nvSpPr>
        <p:spPr>
          <a:xfrm>
            <a:off x="6163056"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3.  MCP_URL is http:// → tool calls take the empty HTTP_PROXY and go direct</a:t>
            </a:r>
          </a:p>
        </p:txBody>
      </p:sp>
      <p:sp>
        <p:nvSpPr>
          <p:cNvPr id="19" name="Rounded Rectangle 18"/>
          <p:cNvSpPr/>
          <p:nvPr/>
        </p:nvSpPr>
        <p:spPr>
          <a:xfrm>
            <a:off x="8961120" y="4498848"/>
            <a:ext cx="2651760"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4.  no_proxy carried .svc.cluster.local → the same calls are excluded a second time</a:t>
            </a:r>
          </a:p>
        </p:txBody>
      </p:sp>
      <p:sp>
        <p:nvSpPr>
          <p:cNvPr id="20" name="Rounded Rectangle 19"/>
          <p:cNvSpPr/>
          <p:nvPr/>
        </p:nvSpPr>
        <p:spPr>
          <a:xfrm>
            <a:off x="566928" y="5321808"/>
            <a:ext cx="11045952" cy="29260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50" b="1" i="0">
                <a:solidFill>
                  <a:srgbClr val="FFFFFF"/>
                </a:solidFill>
                <a:latin typeface="Calibri"/>
              </a:rPr>
              <a:t>Result: sidecar ready = True, pipeline ConfigMap rendered, plugins loaded — and the judge called ZERO times, on both clusters.</a:t>
            </a:r>
          </a:p>
        </p:txBody>
      </p:sp>
      <p:sp>
        <p:nvSpPr>
          <p:cNvPr id="21" name="Rounded Rectangle 20"/>
          <p:cNvSpPr/>
          <p:nvPr/>
        </p:nvSpPr>
        <p:spPr>
          <a:xfrm>
            <a:off x="411480" y="5779008"/>
            <a:ext cx="11365992" cy="768096"/>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77800" rIns="177800"/>
          <a:lstStyle/>
          <a:p>
            <a:pPr algn="ctr"/>
            <a:r>
              <a:rPr sz="1100" b="0" i="0">
                <a:solidFill>
                  <a:srgbClr val="1F2A37"/>
                </a:solidFill>
                <a:latin typeface="Calibri"/>
              </a:rPr>
              <a:t>Verify by COUNTING judge chat completions across a run. IBAC emits no log line of its own, so a healthy sidecar log proves nothing — and initialize / tools/list are isAction=false and legitimately never reach the judge, so a zero count only means something if real tool calls occurred.   Working config: leave disable_proxy off, keep the NAMED hosts in no_proxy, drop the WILDCARDS (.svc, .svc.cluster.local).</a:t>
            </a:r>
          </a:p>
        </p:txBody>
      </p:sp>
      <p:sp>
        <p:nvSpPr>
          <p:cNvPr id="22" name="TextBox 2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6.1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6.1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6.2 What Each Benchmark Bakes In — and What It Needs From U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6.2  What Each Benchmark Bakes In — and What It Needs From Us</a:t>
            </a:r>
          </a:p>
          <a:p>
            <a:r>
              <a:rPr sz="1400" b="0" i="0">
                <a:solidFill>
                  <a:srgbClr val="C9D9EC"/>
                </a:solidFill>
                <a:latin typeface="Calibri"/>
              </a:rPr>
              <a:t>The MCP image carries the benchmark itself; only the credentials and quirk overrides come from tool_env</a:t>
            </a:r>
          </a:p>
        </p:txBody>
      </p:sp>
      <p:graphicFrame>
        <p:nvGraphicFramePr>
          <p:cNvPr id="3" name="Table 2"/>
          <p:cNvGraphicFramePr>
            <a:graphicFrameLocks noGrp="1"/>
          </p:cNvGraphicFramePr>
          <p:nvPr/>
        </p:nvGraphicFramePr>
        <p:xfrm>
          <a:off x="411480" y="1188720"/>
          <a:ext cx="11338559" cy="2103120"/>
        </p:xfrm>
        <a:graphic>
          <a:graphicData uri="http://schemas.openxmlformats.org/drawingml/2006/table">
            <a:tbl>
              <a:tblPr firstRow="1">
                <a:tableStyleId>{5C22544A-7EE6-4342-B048-85BDC9FD1C3A}</a:tableStyleId>
              </a:tblPr>
              <a:tblGrid>
                <a:gridCol w="1280160"/>
                <a:gridCol w="2514600"/>
                <a:gridCol w="3749039"/>
                <a:gridCol w="3794760"/>
              </a:tblGrid>
              <a:tr h="525780">
                <a:tc>
                  <a:txBody>
                    <a:bodyPr/>
                    <a:lstStyle/>
                    <a:p>
                      <a:pPr algn="l"/>
                      <a:r>
                        <a:rPr sz="1150" b="1" i="0">
                          <a:solidFill>
                            <a:srgbClr val="FFFFFF"/>
                          </a:solidFill>
                          <a:latin typeface="Calibri"/>
                        </a:rPr>
                        <a:t/>
                      </a:r>
                    </a:p>
                  </a:txBody>
                  <a:tcPr marL="63500" marR="63500" marT="12700" marB="12700" anchor="ctr">
                    <a:solidFill>
                      <a:srgbClr val="1B3A5C"/>
                    </a:solidFill>
                  </a:tcPr>
                </a:tc>
                <a:tc>
                  <a:txBody>
                    <a:bodyPr/>
                    <a:lstStyle/>
                    <a:p>
                      <a:pPr algn="ctr"/>
                      <a:r>
                        <a:rPr sz="1150" b="1" i="0">
                          <a:solidFill>
                            <a:srgbClr val="FFFFFF"/>
                          </a:solidFill>
                          <a:latin typeface="Calibri"/>
                        </a:rPr>
                        <a:t>MCP tool image</a:t>
                      </a:r>
                    </a:p>
                  </a:txBody>
                  <a:tcPr marL="63500" marR="63500" marT="12700" marB="12700" anchor="ctr">
                    <a:solidFill>
                      <a:srgbClr val="1B3A5C"/>
                    </a:solidFill>
                  </a:tcPr>
                </a:tc>
                <a:tc>
                  <a:txBody>
                    <a:bodyPr/>
                    <a:lstStyle/>
                    <a:p>
                      <a:pPr algn="ctr"/>
                      <a:r>
                        <a:rPr sz="1150" b="1" i="0">
                          <a:solidFill>
                            <a:srgbClr val="FFFFFF"/>
                          </a:solidFill>
                          <a:latin typeface="Calibri"/>
                        </a:rPr>
                        <a:t>what the image bakes in</a:t>
                      </a:r>
                    </a:p>
                  </a:txBody>
                  <a:tcPr marL="63500" marR="63500" marT="12700" marB="12700" anchor="ctr">
                    <a:solidFill>
                      <a:srgbClr val="1B3A5C"/>
                    </a:solidFill>
                  </a:tcPr>
                </a:tc>
                <a:tc>
                  <a:txBody>
                    <a:bodyPr/>
                    <a:lstStyle/>
                    <a:p>
                      <a:pPr algn="ctr"/>
                      <a:r>
                        <a:rPr sz="1150" b="1" i="0">
                          <a:solidFill>
                            <a:srgbClr val="FFFFFF"/>
                          </a:solidFill>
                          <a:latin typeface="Calibri"/>
                        </a:rPr>
                        <a:t>what tool_env must add</a:t>
                      </a:r>
                    </a:p>
                  </a:txBody>
                  <a:tcPr marL="63500" marR="63500" marT="12700" marB="12700" anchor="ctr">
                    <a:solidFill>
                      <a:srgbClr val="1B3A5C"/>
                    </a:solidFill>
                  </a:tcPr>
                </a:tc>
              </a:tr>
              <a:tr h="525780">
                <a:tc>
                  <a:txBody>
                    <a:bodyPr/>
                    <a:lstStyle/>
                    <a:p>
                      <a:pPr algn="l"/>
                      <a:r>
                        <a:rPr sz="1150" b="1" i="0">
                          <a:solidFill>
                            <a:srgbClr val="1F2A37"/>
                          </a:solidFill>
                          <a:latin typeface="Calibri"/>
                        </a:rPr>
                        <a:t>gsm8k</a:t>
                      </a:r>
                    </a:p>
                  </a:txBody>
                  <a:tcPr marL="63500" marR="63500" marT="12700" marB="12700" anchor="ctr">
                    <a:solidFill>
                      <a:srgbClr val="FFFFFF"/>
                    </a:solidFill>
                  </a:tcPr>
                </a:tc>
                <a:tc>
                  <a:txBody>
                    <a:bodyPr/>
                    <a:lstStyle/>
                    <a:p>
                      <a:pPr algn="ctr"/>
                      <a:r>
                        <a:rPr sz="1150" b="0" i="0">
                          <a:solidFill>
                            <a:srgbClr val="1F2A37"/>
                          </a:solidFill>
                          <a:latin typeface="Calibri"/>
                        </a:rPr>
                        <a:t>exgentic-mcp-gsm8k</a:t>
                      </a:r>
                    </a:p>
                  </a:txBody>
                  <a:tcPr marL="63500" marR="63500" marT="12700" marB="12700" anchor="ctr">
                    <a:solidFill>
                      <a:srgbClr val="FFFFFF"/>
                    </a:solidFill>
                  </a:tcPr>
                </a:tc>
                <a:tc>
                  <a:txBody>
                    <a:bodyPr/>
                    <a:lstStyle/>
                    <a:p>
                      <a:pPr algn="ctr"/>
                      <a:r>
                        <a:rPr sz="1150" b="0" i="0">
                          <a:solidFill>
                            <a:srgbClr val="1F2A37"/>
                          </a:solidFill>
                          <a:latin typeface="Calibri"/>
                        </a:rPr>
                        <a:t>the HuggingFace dataset loader — 8.5K problems, fetched at pod startup</a:t>
                      </a:r>
                    </a:p>
                  </a:txBody>
                  <a:tcPr marL="63500" marR="63500" marT="12700" marB="12700" anchor="ctr">
                    <a:solidFill>
                      <a:srgbClr val="FFFFFF"/>
                    </a:solidFill>
                  </a:tcPr>
                </a:tc>
                <a:tc>
                  <a:txBody>
                    <a:bodyPr/>
                    <a:lstStyle/>
                    <a:p>
                      <a:pPr algn="ctr"/>
                      <a:r>
                        <a:rPr sz="1150" b="0" i="0">
                          <a:solidFill>
                            <a:srgbClr val="1F2A37"/>
                          </a:solidFill>
                          <a:latin typeface="Calibri"/>
                        </a:rPr>
                        <a:t>HF_TOKEN (from hf-secret), plus EXGENTIC_SET_BENCHMARK_RUNNER=direct</a:t>
                      </a:r>
                    </a:p>
                  </a:txBody>
                  <a:tcPr marL="63500" marR="63500" marT="12700" marB="12700" anchor="ctr">
                    <a:solidFill>
                      <a:srgbClr val="FFFFFF"/>
                    </a:solidFill>
                  </a:tcPr>
                </a:tc>
              </a:tr>
              <a:tr h="525780">
                <a:tc>
                  <a:txBody>
                    <a:bodyPr/>
                    <a:lstStyle/>
                    <a:p>
                      <a:pPr algn="l"/>
                      <a:r>
                        <a:rPr sz="1150" b="1" i="0">
                          <a:solidFill>
                            <a:srgbClr val="1F2A37"/>
                          </a:solidFill>
                          <a:latin typeface="Calibri"/>
                        </a:rPr>
                        <a:t>tau2</a:t>
                      </a:r>
                    </a:p>
                  </a:txBody>
                  <a:tcPr marL="63500" marR="63500" marT="12700" marB="12700" anchor="ctr">
                    <a:solidFill>
                      <a:srgbClr val="F4F6F8"/>
                    </a:solidFill>
                  </a:tcPr>
                </a:tc>
                <a:tc>
                  <a:txBody>
                    <a:bodyPr/>
                    <a:lstStyle/>
                    <a:p>
                      <a:pPr algn="ctr"/>
                      <a:r>
                        <a:rPr sz="1150" b="0" i="0">
                          <a:solidFill>
                            <a:srgbClr val="1F2A37"/>
                          </a:solidFill>
                          <a:latin typeface="Calibri"/>
                        </a:rPr>
                        <a:t>exgentic-mcp-tau2</a:t>
                      </a:r>
                    </a:p>
                  </a:txBody>
                  <a:tcPr marL="63500" marR="63500" marT="12700" marB="12700" anchor="ctr">
                    <a:solidFill>
                      <a:srgbClr val="F4F6F8"/>
                    </a:solidFill>
                  </a:tcPr>
                </a:tc>
                <a:tc>
                  <a:txBody>
                    <a:bodyPr/>
                    <a:lstStyle/>
                    <a:p>
                      <a:pPr algn="ctr"/>
                      <a:r>
                        <a:rPr sz="1150" b="0" i="0">
                          <a:solidFill>
                            <a:srgbClr val="1F2A37"/>
                          </a:solidFill>
                          <a:latin typeface="Calibri"/>
                        </a:rPr>
                        <a:t>the tau2-bench library + its retail domain (114 tasks), and a user-simulator LLM</a:t>
                      </a:r>
                    </a:p>
                  </a:txBody>
                  <a:tcPr marL="63500" marR="63500" marT="12700" marB="12700" anchor="ctr">
                    <a:solidFill>
                      <a:srgbClr val="F4F6F8"/>
                    </a:solidFill>
                  </a:tcPr>
                </a:tc>
                <a:tc>
                  <a:txBody>
                    <a:bodyPr/>
                    <a:lstStyle/>
                    <a:p>
                      <a:pPr algn="ctr"/>
                      <a:r>
                        <a:rPr sz="1150" b="0" i="0">
                          <a:solidFill>
                            <a:srgbClr val="1F2A37"/>
                          </a:solidFill>
                          <a:latin typeface="Calibri"/>
                        </a:rPr>
                        <a:t>OPENAI_API_KEY (from openai-secret) + EXGENTIC_SET_BENCHMARK_ACTION_TIMEOUT=1000 — the simulator makes its own inference calls (flow 4)</a:t>
                      </a:r>
                    </a:p>
                  </a:txBody>
                  <a:tcPr marL="63500" marR="63500" marT="12700" marB="12700" anchor="ctr">
                    <a:solidFill>
                      <a:srgbClr val="F4F6F8"/>
                    </a:solidFill>
                  </a:tcPr>
                </a:tc>
              </a:tr>
              <a:tr h="525780">
                <a:tc>
                  <a:txBody>
                    <a:bodyPr/>
                    <a:lstStyle/>
                    <a:p>
                      <a:pPr algn="l"/>
                      <a:r>
                        <a:rPr sz="1150" b="1" i="0">
                          <a:solidFill>
                            <a:srgbClr val="1F2A37"/>
                          </a:solidFill>
                          <a:latin typeface="Calibri"/>
                        </a:rPr>
                        <a:t>appworld</a:t>
                      </a:r>
                    </a:p>
                  </a:txBody>
                  <a:tcPr marL="63500" marR="63500" marT="12700" marB="12700" anchor="ctr">
                    <a:solidFill>
                      <a:srgbClr val="FFFFFF"/>
                    </a:solidFill>
                  </a:tcPr>
                </a:tc>
                <a:tc>
                  <a:txBody>
                    <a:bodyPr/>
                    <a:lstStyle/>
                    <a:p>
                      <a:pPr algn="ctr"/>
                      <a:r>
                        <a:rPr sz="1150" b="0" i="0">
                          <a:solidFill>
                            <a:srgbClr val="1F2A37"/>
                          </a:solidFill>
                          <a:latin typeface="Calibri"/>
                        </a:rPr>
                        <a:t>exgentic-mcp-appworld</a:t>
                      </a:r>
                    </a:p>
                  </a:txBody>
                  <a:tcPr marL="63500" marR="63500" marT="12700" marB="12700" anchor="ctr">
                    <a:solidFill>
                      <a:srgbClr val="FFFFFF"/>
                    </a:solidFill>
                  </a:tcPr>
                </a:tc>
                <a:tc>
                  <a:txBody>
                    <a:bodyPr/>
                    <a:lstStyle/>
                    <a:p>
                      <a:pPr algn="ctr"/>
                      <a:r>
                        <a:rPr sz="1150" b="0" i="0">
                          <a:solidFill>
                            <a:srgbClr val="1F2A37"/>
                          </a:solidFill>
                          <a:latin typeface="Calibri"/>
                        </a:rPr>
                        <a:t>the whole app-suite sandbox (exgentic install --benchmark appworld)</a:t>
                      </a:r>
                    </a:p>
                  </a:txBody>
                  <a:tcPr marL="63500" marR="63500" marT="12700" marB="12700" anchor="ctr">
                    <a:solidFill>
                      <a:srgbClr val="FFFFFF"/>
                    </a:solidFill>
                  </a:tcPr>
                </a:tc>
                <a:tc>
                  <a:txBody>
                    <a:bodyPr/>
                    <a:lstStyle/>
                    <a:p>
                      <a:pPr algn="ctr"/>
                      <a:r>
                        <a:rPr sz="1150" b="0" i="0">
                          <a:solidFill>
                            <a:srgbClr val="1F2A37"/>
                          </a:solidFill>
                          <a:latin typeface="Calibri"/>
                        </a:rPr>
                        <a:t>nothing beyond BENCHMARK_NAME — upstream's .env.appworld is explicitly empty</a:t>
                      </a:r>
                    </a:p>
                  </a:txBody>
                  <a:tcPr marL="63500" marR="63500" marT="12700" marB="12700" anchor="ctr">
                    <a:solidFill>
                      <a:srgbClr val="FFFFFF"/>
                    </a:solidFill>
                  </a:tcPr>
                </a:tc>
              </a:tr>
            </a:tbl>
          </a:graphicData>
        </a:graphic>
      </p:graphicFrame>
      <p:sp>
        <p:nvSpPr>
          <p:cNvPr id="4" name="Rounded Rectangle 3"/>
          <p:cNvSpPr/>
          <p:nvPr/>
        </p:nvSpPr>
        <p:spPr>
          <a:xfrm>
            <a:off x="411480" y="3566160"/>
            <a:ext cx="5532120" cy="10972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One agent image serves all three</a:t>
            </a:r>
          </a:p>
          <a:p>
            <a:pPr algn="ctr"/>
            <a:r>
              <a:rPr sz="1100" b="0" i="0">
                <a:solidFill>
                  <a:srgbClr val="1F2A37"/>
                </a:solidFill>
                <a:latin typeface="Calibri"/>
              </a:rPr>
              <a:t>exgentic-a2a-tool_calling:latest is the only key in every agents={...} map; per benchmark it only gains a -&lt;benchmark&gt; name suffix. So the benchmark lives in the MCP pod, and the subject under test is the same binary every time.</a:t>
            </a:r>
          </a:p>
        </p:txBody>
      </p:sp>
      <p:sp>
        <p:nvSpPr>
          <p:cNvPr id="5" name="Rounded Rectangle 4"/>
          <p:cNvSpPr/>
          <p:nvPr/>
        </p:nvSpPr>
        <p:spPr>
          <a:xfrm>
            <a:off x="6217920" y="3566160"/>
            <a:ext cx="5532120" cy="10972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2E6FB5"/>
                </a:solidFill>
                <a:latin typeface="Calibri"/>
              </a:rPr>
              <a:t>The LLM base is never baked in</a:t>
            </a:r>
          </a:p>
          <a:p>
            <a:pPr algn="ctr"/>
            <a:r>
              <a:rPr sz="1100" b="0" i="0">
                <a:solidFill>
                  <a:srgbClr val="1F2A37"/>
                </a:solidFill>
                <a:latin typeface="Calibri"/>
              </a:rPr>
              <a:t>OPENAI_API_BASE is injected per deploy from the instance's workload_llm.api_base, and tau2's simulator model from the run's model — a deploy with no gateway configured is rejected with 422 rather than defaulting.</a:t>
            </a:r>
          </a:p>
        </p:txBody>
      </p:sp>
      <p:sp>
        <p:nvSpPr>
          <p:cNvPr id="6" name="Rounded Rectangle 5"/>
          <p:cNvSpPr/>
          <p:nvPr/>
        </p:nvSpPr>
        <p:spPr>
          <a:xfrm>
            <a:off x="411480" y="489204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Two traps in that last column:  appworld REJECTS the same action-timeout override tau2 needs and crashes at startup with "Unknown benchmark override 'action_timeout'" — the env is per-benchmark, not a shared default.  And hf-secret must EXIST for gsm8k even though the dataset is public: without it the MCP pod sits in CreateContainerConfigError and the agent crash-loops.  Missing secrets surface as a 424 on the run precheck, naming exactly what to provision.</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284117">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284117">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284117">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284117">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284117">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284117">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284117">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284117">
                <a:tc>
                  <a:txBody>
                    <a:bodyPr/>
                    <a:lstStyle/>
                    <a:p>
                      <a:pPr algn="l"/>
                      <a:r>
                        <a:rPr sz="1100" b="1" i="0">
                          <a:solidFill>
                            <a:srgbClr val="1F2A37"/>
                          </a:solidFill>
                          <a:latin typeface="Calibri"/>
                        </a:rPr>
                        <a:t>Cost / task, our rates</a:t>
                      </a:r>
                    </a:p>
                  </a:txBody>
                  <a:tcPr marL="63500" marR="63500" marT="12700" marB="12700" anchor="ctr">
                    <a:solidFill>
                      <a:srgbClr val="FFFFFF"/>
                    </a:solidFill>
                  </a:tcPr>
                </a:tc>
                <a:tc>
                  <a:txBody>
                    <a:bodyPr/>
                    <a:lstStyle/>
                    <a:p>
                      <a:pPr algn="ctr"/>
                      <a:r>
                        <a:rPr sz="1100" b="0" i="0">
                          <a:solidFill>
                            <a:srgbClr val="1F2A37"/>
                          </a:solidFill>
                          <a:latin typeface="Calibri"/>
                        </a:rPr>
                        <a:t>$0.00055</a:t>
                      </a:r>
                    </a:p>
                  </a:txBody>
                  <a:tcPr marL="63500" marR="63500" marT="12700" marB="12700" anchor="ctr">
                    <a:solidFill>
                      <a:srgbClr val="FFFFFF"/>
                    </a:solidFill>
                  </a:tcPr>
                </a:tc>
                <a:tc>
                  <a:txBody>
                    <a:bodyPr/>
                    <a:lstStyle/>
                    <a:p>
                      <a:pPr algn="ctr"/>
                      <a:r>
                        <a:rPr sz="1100" b="0" i="0">
                          <a:solidFill>
                            <a:srgbClr val="1F2A37"/>
                          </a:solidFill>
                          <a:latin typeface="Calibri"/>
                        </a:rPr>
                        <a:t>$0.154</a:t>
                      </a:r>
                    </a:p>
                  </a:txBody>
                  <a:tcPr marL="63500" marR="63500" marT="12700" marB="12700" anchor="ctr">
                    <a:solidFill>
                      <a:srgbClr val="FFFFFF"/>
                    </a:solidFill>
                  </a:tcPr>
                </a:tc>
                <a:tc>
                  <a:txBody>
                    <a:bodyPr/>
                    <a:lstStyle/>
                    <a:p>
                      <a:pPr algn="ctr"/>
                      <a:r>
                        <a:rPr sz="1100" b="0" i="0">
                          <a:solidFill>
                            <a:srgbClr val="1F2A37"/>
                          </a:solidFill>
                          <a:latin typeface="Calibri"/>
                        </a:rPr>
                        <a:t>$0.589</a:t>
                      </a:r>
                    </a:p>
                  </a:txBody>
                  <a:tcPr marL="63500" marR="63500" marT="12700" marB="12700" anchor="ctr">
                    <a:solidFill>
                      <a:srgbClr val="FFFFFF"/>
                    </a:solidFill>
                  </a:tcPr>
                </a:tc>
              </a:tr>
              <a:tr h="284117">
                <a:tc>
                  <a:txBody>
                    <a:bodyPr/>
                    <a:lstStyle/>
                    <a:p>
                      <a:pPr algn="l"/>
                      <a:r>
                        <a:rPr sz="1100" b="1" i="0">
                          <a:solidFill>
                            <a:srgbClr val="1F2A37"/>
                          </a:solidFill>
                          <a:latin typeface="Calibri"/>
                        </a:rPr>
                        <a:t>LLM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29.2</a:t>
                      </a:r>
                    </a:p>
                  </a:txBody>
                  <a:tcPr marL="63500" marR="63500" marT="12700" marB="12700" anchor="ctr">
                    <a:solidFill>
                      <a:srgbClr val="F4F6F8"/>
                    </a:solidFill>
                  </a:tcPr>
                </a:tc>
              </a:tr>
              <a:tr h="284117">
                <a:tc>
                  <a:txBody>
                    <a:bodyPr/>
                    <a:lstStyle/>
                    <a:p>
                      <a:pPr algn="l"/>
                      <a:r>
                        <a:rPr sz="1100" b="1" i="0">
                          <a:solidFill>
                            <a:srgbClr val="1F2A37"/>
                          </a:solidFill>
                          <a:latin typeface="Calibri"/>
                        </a:rPr>
                        <a:t>Tool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14.6</a:t>
                      </a:r>
                    </a:p>
                  </a:txBody>
                  <a:tcPr marL="63500" marR="63500" marT="12700" marB="12700" anchor="ctr">
                    <a:solidFill>
                      <a:srgbClr val="FFFFFF"/>
                    </a:solidFill>
                  </a:tcPr>
                </a:tc>
              </a:tr>
              <a:tr h="284117">
                <a:tc>
                  <a:txBody>
                    <a:bodyPr/>
                    <a:lstStyle/>
                    <a:p>
                      <a:pPr algn="l"/>
                      <a:r>
                        <a:rPr sz="1100" b="1" i="0">
                          <a:solidFill>
                            <a:srgbClr val="1F2A37"/>
                          </a:solidFill>
                          <a:latin typeface="Calibri"/>
                        </a:rPr>
                        <a:t>Median task latency</a:t>
                      </a:r>
                    </a:p>
                  </a:txBody>
                  <a:tcPr marL="63500" marR="63500" marT="12700" marB="12700" anchor="ctr">
                    <a:solidFill>
                      <a:srgbClr val="F4F6F8"/>
                    </a:solidFill>
                  </a:tcPr>
                </a:tc>
                <a:tc>
                  <a:txBody>
                    <a:bodyPr/>
                    <a:lstStyle/>
                    <a:p>
                      <a:pPr algn="ctr"/>
                      <a:r>
                        <a:rPr sz="1100" b="0" i="0">
                          <a:solidFill>
                            <a:srgbClr val="1F2A37"/>
                          </a:solidFill>
                          <a:latin typeface="Calibri"/>
                        </a:rPr>
                        <a:t>4.9 s</a:t>
                      </a:r>
                    </a:p>
                  </a:txBody>
                  <a:tcPr marL="63500" marR="63500" marT="12700" marB="12700" anchor="ctr">
                    <a:solidFill>
                      <a:srgbClr val="F4F6F8"/>
                    </a:solidFill>
                  </a:tcPr>
                </a:tc>
                <a:tc>
                  <a:txBody>
                    <a:bodyPr/>
                    <a:lstStyle/>
                    <a:p>
                      <a:pPr algn="ctr"/>
                      <a:r>
                        <a:rPr sz="1100" b="0" i="0">
                          <a:solidFill>
                            <a:srgbClr val="1F2A37"/>
                          </a:solidFill>
                          <a:latin typeface="Calibri"/>
                        </a:rPr>
                        <a:t>84 s</a:t>
                      </a:r>
                    </a:p>
                  </a:txBody>
                  <a:tcPr marL="63500" marR="63500" marT="12700" marB="12700" anchor="ctr">
                    <a:solidFill>
                      <a:srgbClr val="F4F6F8"/>
                    </a:solidFill>
                  </a:tcPr>
                </a:tc>
                <a:tc>
                  <a:txBody>
                    <a:bodyPr/>
                    <a:lstStyle/>
                    <a:p>
                      <a:pPr algn="ctr"/>
                      <a:r>
                        <a:rPr sz="1100" b="0" i="0">
                          <a:solidFill>
                            <a:srgbClr val="1F2A37"/>
                          </a:solidFill>
                          <a:latin typeface="Calibri"/>
                        </a:rPr>
                        <a:t>264 s</a:t>
                      </a:r>
                    </a:p>
                  </a:txBody>
                  <a:tcPr marL="63500" marR="63500" marT="12700" marB="12700" anchor="ctr">
                    <a:solidFill>
                      <a:srgbClr val="F4F6F8"/>
                    </a:solidFill>
                  </a:tcPr>
                </a:tc>
              </a:tr>
              <a:tr h="284117">
                <a:tc>
                  <a:txBody>
                    <a:bodyPr/>
                    <a:lstStyle/>
                    <a:p>
                      <a:pPr algn="l"/>
                      <a:r>
                        <a:rPr sz="1100" b="1" i="0">
                          <a:solidFill>
                            <a:srgbClr val="1F2A37"/>
                          </a:solidFill>
                          <a:latin typeface="Calibri"/>
                        </a:rPr>
                        <a:t>Slowest task seen</a:t>
                      </a:r>
                    </a:p>
                  </a:txBody>
                  <a:tcPr marL="63500" marR="63500" marT="12700" marB="12700" anchor="ctr">
                    <a:solidFill>
                      <a:srgbClr val="FFFFFF"/>
                    </a:solidFill>
                  </a:tcPr>
                </a:tc>
                <a:tc>
                  <a:txBody>
                    <a:bodyPr/>
                    <a:lstStyle/>
                    <a:p>
                      <a:pPr algn="ctr"/>
                      <a:r>
                        <a:rPr sz="1100" b="0" i="0">
                          <a:solidFill>
                            <a:srgbClr val="1F2A37"/>
                          </a:solidFill>
                          <a:latin typeface="Calibri"/>
                        </a:rPr>
                        <a:t>39 s</a:t>
                      </a:r>
                    </a:p>
                  </a:txBody>
                  <a:tcPr marL="63500" marR="63500" marT="12700" marB="12700" anchor="ctr">
                    <a:solidFill>
                      <a:srgbClr val="FFFFFF"/>
                    </a:solidFill>
                  </a:tcPr>
                </a:tc>
                <a:tc>
                  <a:txBody>
                    <a:bodyPr/>
                    <a:lstStyle/>
                    <a:p>
                      <a:pPr algn="ctr"/>
                      <a:r>
                        <a:rPr sz="1100" b="0" i="0">
                          <a:solidFill>
                            <a:srgbClr val="1F2A37"/>
                          </a:solidFill>
                          <a:latin typeface="Calibri"/>
                        </a:rPr>
                        <a:t>136 s</a:t>
                      </a:r>
                    </a:p>
                  </a:txBody>
                  <a:tcPr marL="63500" marR="63500" marT="12700" marB="12700" anchor="ctr">
                    <a:solidFill>
                      <a:srgbClr val="FFFFFF"/>
                    </a:solidFill>
                  </a:tcPr>
                </a:tc>
                <a:tc>
                  <a:txBody>
                    <a:bodyPr/>
                    <a:lstStyle/>
                    <a:p>
                      <a:pPr algn="ctr"/>
                      <a:r>
                        <a:rPr sz="1100" b="0" i="0">
                          <a:solidFill>
                            <a:srgbClr val="1F2A37"/>
                          </a:solidFill>
                          <a:latin typeface="Calibri"/>
                        </a:rPr>
                        <a:t>592 s</a:t>
                      </a:r>
                    </a:p>
                  </a:txBody>
                  <a:tcPr marL="63500" marR="63500" marT="12700" marB="12700" anchor="ctr">
                    <a:solidFill>
                      <a:srgbClr val="FFFFFF"/>
                    </a:solidFill>
                  </a:tcPr>
                </a:tc>
              </a:tr>
              <a:tr h="284117">
                <a:tc>
                  <a:txBody>
                    <a:bodyPr/>
                    <a:lstStyle/>
                    <a:p>
                      <a:pPr algn="l"/>
                      <a:r>
                        <a:rPr sz="1100" b="1" i="0">
                          <a:solidFill>
                            <a:srgbClr val="1F2A37"/>
                          </a:solidFill>
                          <a:latin typeface="Calibri"/>
                        </a:rPr>
                        <a:t>Model we use</a:t>
                      </a:r>
                    </a:p>
                  </a:txBody>
                  <a:tcPr marL="63500" marR="63500" marT="12700" marB="12700" anchor="ctr">
                    <a:solidFill>
                      <a:srgbClr val="F4F6F8"/>
                    </a:solidFill>
                  </a:tcPr>
                </a:tc>
                <a:tc>
                  <a:txBody>
                    <a:bodyPr/>
                    <a:lstStyle/>
                    <a:p>
                      <a:pPr algn="ctr"/>
                      <a:r>
                        <a:rPr sz="1100" b="0" i="0">
                          <a:solidFill>
                            <a:srgbClr val="1F2A37"/>
                          </a:solidFill>
                          <a:latin typeface="Calibri"/>
                        </a:rPr>
                        <a:t>gpt-5-mini</a:t>
                      </a:r>
                    </a:p>
                  </a:txBody>
                  <a:tcPr marL="63500" marR="63500" marT="12700" marB="12700" anchor="ctr">
                    <a:solidFill>
                      <a:srgbClr val="F4F6F8"/>
                    </a:solidFill>
                  </a:tcPr>
                </a:tc>
                <a:tc>
                  <a:txBody>
                    <a:bodyPr/>
                    <a:lstStyle/>
                    <a:p>
                      <a:pPr algn="ctr"/>
                      <a:r>
                        <a:rPr sz="1100" b="0" i="0">
                          <a:solidFill>
                            <a:srgbClr val="1F2A37"/>
                          </a:solidFill>
                          <a:latin typeface="Calibri"/>
                        </a:rPr>
                        <a:t>claude-sonnet-5</a:t>
                      </a:r>
                    </a:p>
                  </a:txBody>
                  <a:tcPr marL="63500" marR="63500" marT="12700" marB="12700" anchor="ctr">
                    <a:solidFill>
                      <a:srgbClr val="F4F6F8"/>
                    </a:solidFill>
                  </a:tcPr>
                </a:tc>
                <a:tc>
                  <a:txBody>
                    <a:bodyPr/>
                    <a:lstStyle/>
                    <a:p>
                      <a:pPr algn="ctr"/>
                      <a:r>
                        <a:rPr sz="1100" b="0" i="0">
                          <a:solidFill>
                            <a:srgbClr val="1F2A37"/>
                          </a:solidFill>
                          <a:latin typeface="Calibri"/>
                        </a:rPr>
                        <a:t>gemini-2.5-pro</a:t>
                      </a:r>
                    </a:p>
                  </a:txBody>
                  <a:tcPr marL="63500" marR="63500" marT="12700" marB="12700" anchor="ctr">
                    <a:solidFill>
                      <a:srgbClr val="F4F6F8"/>
                    </a:solidFill>
                  </a:tcPr>
                </a:tc>
              </a:tr>
              <a:tr h="284118">
                <a:tc>
                  <a:txBody>
                    <a:bodyPr/>
                    <a:lstStyle/>
                    <a:p>
                      <a:pPr algn="l"/>
                      <a:r>
                        <a:rPr sz="1100" b="1" i="0">
                          <a:solidFill>
                            <a:srgbClr val="1F2A37"/>
                          </a:solidFill>
                          <a:latin typeface="Calibri"/>
                        </a:rPr>
                        <a:t>Task pool</a:t>
                      </a:r>
                    </a:p>
                  </a:txBody>
                  <a:tcPr marL="63500" marR="63500" marT="12700" marB="12700" anchor="ctr">
                    <a:solidFill>
                      <a:srgbClr val="FFFFFF"/>
                    </a:solidFill>
                  </a:tcPr>
                </a:tc>
                <a:tc>
                  <a:txBody>
                    <a:bodyPr/>
                    <a:lstStyle/>
                    <a:p>
                      <a:pPr algn="ctr"/>
                      <a:r>
                        <a:rPr sz="1100" b="0" i="0">
                          <a:solidFill>
                            <a:srgbClr val="1F2A37"/>
                          </a:solidFill>
                          <a:latin typeface="Calibri"/>
                        </a:rPr>
                        <a:t>8.5K (HuggingFace)</a:t>
                      </a:r>
                    </a:p>
                  </a:txBody>
                  <a:tcPr marL="63500" marR="63500" marT="12700" marB="12700" anchor="ctr">
                    <a:solidFill>
                      <a:srgbClr val="FFFFFF"/>
                    </a:solidFill>
                  </a:tcPr>
                </a:tc>
                <a:tc>
                  <a:txBody>
                    <a:bodyPr/>
                    <a:lstStyle/>
                    <a:p>
                      <a:pPr algn="ctr"/>
                      <a:r>
                        <a:rPr sz="1100" b="0" i="0">
                          <a:solidFill>
                            <a:srgbClr val="1F2A37"/>
                          </a:solidFill>
                          <a:latin typeface="Calibri"/>
                        </a:rPr>
                        <a:t>114 (retail domain)</a:t>
                      </a:r>
                    </a:p>
                  </a:txBody>
                  <a:tcPr marL="63500" marR="63500" marT="12700" marB="12700" anchor="ctr">
                    <a:solidFill>
                      <a:srgbClr val="FFFFFF"/>
                    </a:solidFill>
                  </a:tcPr>
                </a:tc>
                <a:tc>
                  <a:txBody>
                    <a:bodyPr/>
                    <a:lstStyle/>
                    <a:p>
                      <a:pPr algn="ctr"/>
                      <a:r>
                        <a:rPr sz="1100" b="0" i="0">
                          <a:solidFill>
                            <a:srgbClr val="1F2A37"/>
                          </a:solidFill>
                          <a:latin typeface="Calibri"/>
                        </a:rPr>
                        <a:t>grouped scenarios</a:t>
                      </a:r>
                    </a:p>
                  </a:txBody>
                  <a:tcPr marL="63500" marR="63500" marT="12700" marB="12700" anchor="ctr">
                    <a:solidFill>
                      <a:srgbClr val="FFFFFF"/>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 and in MONEY 279x and 1,069x, because the harder benchmarks also run the dearer models (7.6). A 50-task gsm8k run is a minute and 2 cents; a 20-task appworld run is 30-45 minutes, millions of tokens and dollars.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416052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a:p>
            <a:pPr algn="l">
              <a:spcAft>
                <a:spcPts val="500"/>
              </a:spcAft>
            </a:pPr>
            <a:r>
              <a:rPr sz="1000" b="0" i="0">
                <a:solidFill>
                  <a:srgbClr val="1F2A37"/>
                </a:solidFill>
                <a:latin typeface="Calibri"/>
              </a:rPr>
              <a:t>• Cheap enough to run often: a 50-task leg is 25 K tokens — 0.4% of the whole 12-run matrix's bill, and less than a SINGLE appworld task (see 7.4).</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416052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a:p>
            <a:pPr algn="l">
              <a:spcAft>
                <a:spcPts val="500"/>
              </a:spcAft>
            </a:pPr>
            <a:r>
              <a:rPr sz="1000" b="0" i="0">
                <a:solidFill>
                  <a:srgbClr val="1F2A37"/>
                </a:solidFill>
                <a:latin typeface="Calibri"/>
              </a:rPr>
              <a:t>• 27% of a task's wall time sits INSIDE tool calls — that is the simulator generating, server-side, and its tokens appear in no report of ours.</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416052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a:p>
            <a:pPr algn="l">
              <a:spcAft>
                <a:spcPts val="500"/>
              </a:spcAft>
            </a:pPr>
            <a:r>
              <a:rPr sz="1000" b="0" i="0">
                <a:solidFill>
                  <a:srgbClr val="1F2A37"/>
                </a:solidFill>
                <a:latin typeface="Calibri"/>
              </a:rPr>
              <a:t>• Two model calls per tool call — tool shortlisting, which only bites with an API surface this large. The first carries 68% of the input tokens.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2" name="TextBox 1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15 of the 22 legs that ran more than one task. On a one-call model gsm8k's prompt is near-constant while answer length swings (IN 0.06-0.09 vs OUT 0.52-0.86); gpt-4.1 needs tool round-trips and varies on the input side too (IN 0.39-0.44). Only long-horizon appworld is input-led, in all four of its legs. Read the CV, not the mechanism.</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7.4 Picking a Benchmark — and What That Leg Cos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7.4  Picking a Benchmark — and What That Leg Costs</a:t>
            </a:r>
          </a:p>
          <a:p>
            <a:r>
              <a:rPr sz="1400" b="0" i="0">
                <a:solidFill>
                  <a:srgbClr val="C9D9EC"/>
                </a:solidFill>
                <a:latin typeface="Calibri"/>
              </a:rPr>
              <a:t>The actionable summary: what each benchmark is FOR, and the bill it hands you — in tokens and in dollars</a:t>
            </a:r>
          </a:p>
        </p:txBody>
      </p:sp>
      <p:graphicFrame>
        <p:nvGraphicFramePr>
          <p:cNvPr id="3" name="Table 2"/>
          <p:cNvGraphicFramePr>
            <a:graphicFrameLocks noGrp="1"/>
          </p:cNvGraphicFramePr>
          <p:nvPr/>
        </p:nvGraphicFramePr>
        <p:xfrm>
          <a:off x="411480" y="1188720"/>
          <a:ext cx="5989320" cy="2331720"/>
        </p:xfrm>
        <a:graphic>
          <a:graphicData uri="http://schemas.openxmlformats.org/drawingml/2006/table">
            <a:tbl>
              <a:tblPr firstRow="1">
                <a:tableStyleId>{5C22544A-7EE6-4342-B048-85BDC9FD1C3A}</a:tableStyleId>
              </a:tblPr>
              <a:tblGrid>
                <a:gridCol w="2880360"/>
                <a:gridCol w="2103120"/>
                <a:gridCol w="1005840"/>
              </a:tblGrid>
              <a:tr h="388620">
                <a:tc>
                  <a:txBody>
                    <a:bodyPr/>
                    <a:lstStyle/>
                    <a:p>
                      <a:pPr algn="l"/>
                      <a:r>
                        <a:rPr sz="1050" b="1" i="0">
                          <a:solidFill>
                            <a:srgbClr val="FFFFFF"/>
                          </a:solidFill>
                          <a:latin typeface="Calibri"/>
                        </a:rPr>
                        <a:t>If you want to …</a:t>
                      </a:r>
                    </a:p>
                  </a:txBody>
                  <a:tcPr marL="63500" marR="63500" marT="12700" marB="12700" anchor="ctr">
                    <a:solidFill>
                      <a:srgbClr val="1B3A5C"/>
                    </a:solidFill>
                  </a:tcPr>
                </a:tc>
                <a:tc>
                  <a:txBody>
                    <a:bodyPr/>
                    <a:lstStyle/>
                    <a:p>
                      <a:pPr algn="ctr"/>
                      <a:r>
                        <a:rPr sz="1050" b="1" i="0">
                          <a:solidFill>
                            <a:srgbClr val="FFFFFF"/>
                          </a:solidFill>
                          <a:latin typeface="Calibri"/>
                        </a:rPr>
                        <a:t>use</a:t>
                      </a:r>
                    </a:p>
                  </a:txBody>
                  <a:tcPr marL="63500" marR="63500" marT="12700" marB="12700" anchor="ctr">
                    <a:solidFill>
                      <a:srgbClr val="1B3A5C"/>
                    </a:solidFill>
                  </a:tcPr>
                </a:tc>
                <a:tc>
                  <a:txBody>
                    <a:bodyPr/>
                    <a:lstStyle/>
                    <a:p>
                      <a:pPr algn="ctr"/>
                      <a:r>
                        <a:rPr sz="1050" b="1" i="0">
                          <a:solidFill>
                            <a:srgbClr val="FFFFFF"/>
                          </a:solidFill>
                          <a:latin typeface="Calibri"/>
                        </a:rPr>
                        <a:t>costs</a:t>
                      </a:r>
                    </a:p>
                  </a:txBody>
                  <a:tcPr marL="63500" marR="63500" marT="12700" marB="12700" anchor="ctr">
                    <a:solidFill>
                      <a:srgbClr val="1B3A5C"/>
                    </a:solidFill>
                  </a:tcPr>
                </a:tc>
              </a:tr>
              <a:tr h="388620">
                <a:tc>
                  <a:txBody>
                    <a:bodyPr/>
                    <a:lstStyle/>
                    <a:p>
                      <a:pPr algn="l"/>
                      <a:r>
                        <a:rPr sz="105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050" b="0" i="0">
                          <a:solidFill>
                            <a:srgbClr val="1F2A37"/>
                          </a:solidFill>
                          <a:latin typeface="Calibri"/>
                        </a:rPr>
                        <a:t>gsm8k, 1–10 tasks</a:t>
                      </a:r>
                    </a:p>
                  </a:txBody>
                  <a:tcPr marL="63500" marR="63500" marT="12700" marB="12700" anchor="ctr">
                    <a:solidFill>
                      <a:srgbClr val="FFFFFF"/>
                    </a:solidFill>
                  </a:tcPr>
                </a:tc>
                <a:tc>
                  <a:txBody>
                    <a:bodyPr/>
                    <a:lstStyle/>
                    <a:p>
                      <a:pPr algn="ctr"/>
                      <a:r>
                        <a:rPr sz="1050" b="0" i="0">
                          <a:solidFill>
                            <a:srgbClr val="1F2A37"/>
                          </a:solidFill>
                          <a:latin typeface="Calibri"/>
                        </a:rPr>
                        <a:t>&lt; $0.01</a:t>
                      </a:r>
                    </a:p>
                  </a:txBody>
                  <a:tcPr marL="63500" marR="63500" marT="12700" marB="12700" anchor="ctr">
                    <a:solidFill>
                      <a:srgbClr val="FFFFFF"/>
                    </a:solidFill>
                  </a:tcPr>
                </a:tc>
              </a:tr>
              <a:tr h="388620">
                <a:tc>
                  <a:txBody>
                    <a:bodyPr/>
                    <a:lstStyle/>
                    <a:p>
                      <a:pPr algn="l"/>
                      <a:r>
                        <a:rPr sz="105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050" b="0" i="0">
                          <a:solidFill>
                            <a:srgbClr val="1F2A37"/>
                          </a:solidFill>
                          <a:latin typeface="Calibri"/>
                        </a:rPr>
                        <a:t>gsm8k, 50 tasks at p=4</a:t>
                      </a:r>
                    </a:p>
                  </a:txBody>
                  <a:tcPr marL="63500" marR="63500" marT="12700" marB="12700" anchor="ctr">
                    <a:solidFill>
                      <a:srgbClr val="F4F6F8"/>
                    </a:solidFill>
                  </a:tcPr>
                </a:tc>
                <a:tc>
                  <a:txBody>
                    <a:bodyPr/>
                    <a:lstStyle/>
                    <a:p>
                      <a:pPr algn="ctr"/>
                      <a:r>
                        <a:rPr sz="1050" b="0" i="0">
                          <a:solidFill>
                            <a:srgbClr val="1F2A37"/>
                          </a:solidFill>
                          <a:latin typeface="Calibri"/>
                        </a:rPr>
                        <a:t>$0.02</a:t>
                      </a:r>
                    </a:p>
                  </a:txBody>
                  <a:tcPr marL="63500" marR="63500" marT="12700" marB="12700" anchor="ctr">
                    <a:solidFill>
                      <a:srgbClr val="F4F6F8"/>
                    </a:solidFill>
                  </a:tcPr>
                </a:tc>
              </a:tr>
              <a:tr h="388620">
                <a:tc>
                  <a:txBody>
                    <a:bodyPr/>
                    <a:lstStyle/>
                    <a:p>
                      <a:pPr algn="l"/>
                      <a:r>
                        <a:rPr sz="105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050" b="0" i="0">
                          <a:solidFill>
                            <a:srgbClr val="1F2A37"/>
                          </a:solidFill>
                          <a:latin typeface="Calibri"/>
                        </a:rPr>
                        <a:t>tau2 — it discriminates; gsm8k saturates</a:t>
                      </a:r>
                    </a:p>
                  </a:txBody>
                  <a:tcPr marL="63500" marR="63500" marT="12700" marB="12700" anchor="ctr">
                    <a:solidFill>
                      <a:srgbClr val="FFFFFF"/>
                    </a:solidFill>
                  </a:tcPr>
                </a:tc>
                <a:tc>
                  <a:txBody>
                    <a:bodyPr/>
                    <a:lstStyle/>
                    <a:p>
                      <a:pPr algn="ctr"/>
                      <a:r>
                        <a:rPr sz="1050" b="0" i="0">
                          <a:solidFill>
                            <a:srgbClr val="1F2A37"/>
                          </a:solidFill>
                          <a:latin typeface="Calibri"/>
                        </a:rPr>
                        <a:t>$1.70 / 10</a:t>
                      </a:r>
                    </a:p>
                  </a:txBody>
                  <a:tcPr marL="63500" marR="63500" marT="12700" marB="12700" anchor="ctr">
                    <a:solidFill>
                      <a:srgbClr val="FFFFFF"/>
                    </a:solidFill>
                  </a:tcPr>
                </a:tc>
              </a:tr>
              <a:tr h="388620">
                <a:tc>
                  <a:txBody>
                    <a:bodyPr/>
                    <a:lstStyle/>
                    <a:p>
                      <a:pPr algn="l"/>
                      <a:r>
                        <a:rPr sz="105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$1.90–2.80 / 5</a:t>
                      </a:r>
                    </a:p>
                  </a:txBody>
                  <a:tcPr marL="63500" marR="63500" marT="12700" marB="12700" anchor="ctr">
                    <a:solidFill>
                      <a:srgbClr val="F4F6F8"/>
                    </a:solidFill>
                  </a:tcPr>
                </a:tc>
              </a:tr>
              <a:tr h="388620">
                <a:tc>
                  <a:txBody>
                    <a:bodyPr/>
                    <a:lstStyle/>
                    <a:p>
                      <a:pPr algn="l"/>
                      <a:r>
                        <a:rPr sz="1050" b="0" i="0">
                          <a:solidFill>
                            <a:srgbClr val="1F2A37"/>
                          </a:solidFill>
                          <a:latin typeface="Calibri"/>
                        </a:rPr>
                        <a:t>get a fast signal that nothing regressed</a:t>
                      </a:r>
                    </a:p>
                  </a:txBody>
                  <a:tcPr marL="63500" marR="63500" marT="12700" marB="12700" anchor="ctr">
                    <a:solidFill>
                      <a:srgbClr val="FFFFFF"/>
                    </a:solidFill>
                  </a:tcPr>
                </a:tc>
                <a:tc>
                  <a:txBody>
                    <a:bodyPr/>
                    <a:lstStyle/>
                    <a:p>
                      <a:pPr algn="ctr"/>
                      <a:r>
                        <a:rPr sz="1050" b="0" i="0">
                          <a:solidFill>
                            <a:srgbClr val="1F2A37"/>
                          </a:solidFill>
                          <a:latin typeface="Calibri"/>
                        </a:rPr>
                        <a:t>gsm8k — if it fails, fix infrastructure</a:t>
                      </a:r>
                    </a:p>
                  </a:txBody>
                  <a:tcPr marL="63500" marR="63500" marT="12700" marB="12700" anchor="ctr">
                    <a:solidFill>
                      <a:srgbClr val="FFFFFF"/>
                    </a:solidFill>
                  </a:tcPr>
                </a:tc>
                <a:tc>
                  <a:txBody>
                    <a:bodyPr/>
                    <a:lstStyle/>
                    <a:p>
                      <a:pPr algn="ctr"/>
                      <a:r>
                        <a:rPr sz="1050" b="0" i="0">
                          <a:solidFill>
                            <a:srgbClr val="1F2A37"/>
                          </a:solidFill>
                          <a:latin typeface="Calibri"/>
                        </a:rPr>
                        <a:t>&lt; $0.01</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6675120" y="1188720"/>
          <a:ext cx="5074920" cy="2331720"/>
        </p:xfrm>
        <a:graphic>
          <a:graphicData uri="http://schemas.openxmlformats.org/drawingml/2006/table">
            <a:tbl>
              <a:tblPr firstRow="1">
                <a:tableStyleId>{5C22544A-7EE6-4342-B048-85BDC9FD1C3A}</a:tableStyleId>
              </a:tblPr>
              <a:tblGrid>
                <a:gridCol w="1965960"/>
                <a:gridCol w="777240"/>
                <a:gridCol w="777240"/>
                <a:gridCol w="777240"/>
                <a:gridCol w="777240"/>
              </a:tblGrid>
              <a:tr h="259080">
                <a:tc>
                  <a:txBody>
                    <a:bodyPr/>
                    <a:lstStyle/>
                    <a:p>
                      <a:pPr algn="l"/>
                      <a:r>
                        <a:rPr sz="1050" b="1" i="0">
                          <a:solidFill>
                            <a:srgbClr val="FFFFFF"/>
                          </a:solidFill>
                          <a:latin typeface="Calibri"/>
                        </a:rPr>
                        <a:t>leg (v1.28)</a:t>
                      </a:r>
                    </a:p>
                  </a:txBody>
                  <a:tcPr marL="63500" marR="63500" marT="12700" marB="12700" anchor="ctr">
                    <a:solidFill>
                      <a:srgbClr val="1B3A5C"/>
                    </a:solidFill>
                  </a:tcPr>
                </a:tc>
                <a:tc>
                  <a:txBody>
                    <a:bodyPr/>
                    <a:lstStyle/>
                    <a:p>
                      <a:pPr algn="ctr"/>
                      <a:r>
                        <a:rPr sz="1050" b="1" i="0">
                          <a:solidFill>
                            <a:srgbClr val="FFFFFF"/>
                          </a:solidFill>
                          <a:latin typeface="Calibri"/>
                        </a:rPr>
                        <a:t>tok OCP</a:t>
                      </a:r>
                    </a:p>
                  </a:txBody>
                  <a:tcPr marL="63500" marR="63500" marT="12700" marB="12700" anchor="ctr">
                    <a:solidFill>
                      <a:srgbClr val="1B3A5C"/>
                    </a:solidFill>
                  </a:tcPr>
                </a:tc>
                <a:tc>
                  <a:txBody>
                    <a:bodyPr/>
                    <a:lstStyle/>
                    <a:p>
                      <a:pPr algn="ctr"/>
                      <a:r>
                        <a:rPr sz="1050" b="1" i="0">
                          <a:solidFill>
                            <a:srgbClr val="FFFFFF"/>
                          </a:solidFill>
                          <a:latin typeface="Calibri"/>
                        </a:rPr>
                        <a:t>$ OCP</a:t>
                      </a:r>
                    </a:p>
                  </a:txBody>
                  <a:tcPr marL="63500" marR="63500" marT="12700" marB="12700" anchor="ctr">
                    <a:solidFill>
                      <a:srgbClr val="1B3A5C"/>
                    </a:solidFill>
                  </a:tcPr>
                </a:tc>
                <a:tc>
                  <a:txBody>
                    <a:bodyPr/>
                    <a:lstStyle/>
                    <a:p>
                      <a:pPr algn="ctr"/>
                      <a:r>
                        <a:rPr sz="1050" b="1" i="0">
                          <a:solidFill>
                            <a:srgbClr val="FFFFFF"/>
                          </a:solidFill>
                          <a:latin typeface="Calibri"/>
                        </a:rPr>
                        <a:t>tok KinD</a:t>
                      </a:r>
                    </a:p>
                  </a:txBody>
                  <a:tcPr marL="63500" marR="63500" marT="12700" marB="12700" anchor="ctr">
                    <a:solidFill>
                      <a:srgbClr val="1B3A5C"/>
                    </a:solidFill>
                  </a:tcPr>
                </a:tc>
                <a:tc>
                  <a:txBody>
                    <a:bodyPr/>
                    <a:lstStyle/>
                    <a:p>
                      <a:pPr algn="ctr"/>
                      <a:r>
                        <a:rPr sz="1050" b="1" i="0">
                          <a:solidFill>
                            <a:srgbClr val="FFFFFF"/>
                          </a:solidFill>
                          <a:latin typeface="Calibri"/>
                        </a:rPr>
                        <a:t>$ KinD</a:t>
                      </a:r>
                    </a:p>
                  </a:txBody>
                  <a:tcPr marL="63500" marR="63500" marT="12700" marB="12700" anchor="ctr">
                    <a:solidFill>
                      <a:srgbClr val="1B3A5C"/>
                    </a:solidFill>
                  </a:tcPr>
                </a:tc>
              </a:tr>
              <a:tr h="259080">
                <a:tc>
                  <a:txBody>
                    <a:bodyPr/>
                    <a:lstStyle/>
                    <a:p>
                      <a:pPr algn="l"/>
                      <a:r>
                        <a:rPr sz="1050" b="1" i="0">
                          <a:solidFill>
                            <a:srgbClr val="1F2A37"/>
                          </a:solidFill>
                          <a:latin typeface="Calibri"/>
                        </a:rPr>
                        <a:t>#1  gsm8k, 1 task</a:t>
                      </a:r>
                    </a:p>
                  </a:txBody>
                  <a:tcPr marL="63500" marR="63500" marT="12700" marB="12700" anchor="ctr">
                    <a:solidFill>
                      <a:srgbClr val="FFFFFF"/>
                    </a:solidFill>
                  </a:tcPr>
                </a:tc>
                <a:tc>
                  <a:txBody>
                    <a:bodyPr/>
                    <a:lstStyle/>
                    <a:p>
                      <a:pPr algn="ctr"/>
                      <a:r>
                        <a:rPr sz="1050" b="0" i="0">
                          <a:solidFill>
                            <a:srgbClr val="1F2A37"/>
                          </a:solidFill>
                          <a:latin typeface="Calibri"/>
                        </a:rPr>
                        <a:t>470</a:t>
                      </a:r>
                    </a:p>
                  </a:txBody>
                  <a:tcPr marL="63500" marR="63500" marT="12700" marB="12700" anchor="ctr">
                    <a:solidFill>
                      <a:srgbClr val="FFFFFF"/>
                    </a:solidFill>
                  </a:tcPr>
                </a:tc>
                <a:tc>
                  <a:txBody>
                    <a:bodyPr/>
                    <a:lstStyle/>
                    <a:p>
                      <a:pPr algn="ctr"/>
                      <a:r>
                        <a:rPr sz="1050" b="0" i="0">
                          <a:solidFill>
                            <a:srgbClr val="1F2A37"/>
                          </a:solidFill>
                          <a:latin typeface="Calibri"/>
                        </a:rPr>
                        <a:t>$0.0004</a:t>
                      </a:r>
                    </a:p>
                  </a:txBody>
                  <a:tcPr marL="63500" marR="63500" marT="12700" marB="12700" anchor="ctr">
                    <a:solidFill>
                      <a:srgbClr val="FFFFFF"/>
                    </a:solidFill>
                  </a:tcPr>
                </a:tc>
                <a:tc>
                  <a:txBody>
                    <a:bodyPr/>
                    <a:lstStyle/>
                    <a:p>
                      <a:pPr algn="ctr"/>
                      <a:r>
                        <a:rPr sz="1050" b="0" i="0">
                          <a:solidFill>
                            <a:srgbClr val="1F2A37"/>
                          </a:solidFill>
                          <a:latin typeface="Calibri"/>
                        </a:rPr>
                        <a:t>790</a:t>
                      </a:r>
                    </a:p>
                  </a:txBody>
                  <a:tcPr marL="63500" marR="63500" marT="12700" marB="12700" anchor="ctr">
                    <a:solidFill>
                      <a:srgbClr val="FFFFFF"/>
                    </a:solidFill>
                  </a:tcPr>
                </a:tc>
                <a:tc>
                  <a:txBody>
                    <a:bodyPr/>
                    <a:lstStyle/>
                    <a:p>
                      <a:pPr algn="ctr"/>
                      <a:r>
                        <a:rPr sz="1050" b="0" i="0">
                          <a:solidFill>
                            <a:srgbClr val="1F2A37"/>
                          </a:solidFill>
                          <a:latin typeface="Calibri"/>
                        </a:rPr>
                        <a:t>$0.0010</a:t>
                      </a:r>
                    </a:p>
                  </a:txBody>
                  <a:tcPr marL="63500" marR="63500" marT="12700" marB="12700" anchor="ctr">
                    <a:solidFill>
                      <a:srgbClr val="FFFFFF"/>
                    </a:solidFill>
                  </a:tcPr>
                </a:tc>
              </a:tr>
              <a:tr h="259080">
                <a:tc>
                  <a:txBody>
                    <a:bodyPr/>
                    <a:lstStyle/>
                    <a:p>
                      <a:pPr algn="l"/>
                      <a:r>
                        <a:rPr sz="1050" b="1" i="0">
                          <a:solidFill>
                            <a:srgbClr val="1F2A37"/>
                          </a:solidFill>
                          <a:latin typeface="Calibri"/>
                        </a:rPr>
                        <a:t>#2  gsm8k, 10 tasks</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c>
                  <a:txBody>
                    <a:bodyPr/>
                    <a:lstStyle/>
                    <a:p>
                      <a:pPr algn="ctr"/>
                      <a:r>
                        <a:rPr sz="1050" b="0" i="0">
                          <a:solidFill>
                            <a:srgbClr val="1F2A37"/>
                          </a:solidFill>
                          <a:latin typeface="Calibri"/>
                        </a:rPr>
                        <a:t>$0.005</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c>
                  <a:txBody>
                    <a:bodyPr/>
                    <a:lstStyle/>
                    <a:p>
                      <a:pPr algn="ctr"/>
                      <a:r>
                        <a:rPr sz="1050" b="0" i="0">
                          <a:solidFill>
                            <a:srgbClr val="1F2A37"/>
                          </a:solidFill>
                          <a:latin typeface="Calibri"/>
                        </a:rPr>
                        <a:t>$0.005</a:t>
                      </a:r>
                    </a:p>
                  </a:txBody>
                  <a:tcPr marL="63500" marR="63500" marT="12700" marB="12700" anchor="ctr">
                    <a:solidFill>
                      <a:srgbClr val="F4F6F8"/>
                    </a:solidFill>
                  </a:tcPr>
                </a:tc>
              </a:tr>
              <a:tr h="259080">
                <a:tc>
                  <a:txBody>
                    <a:bodyPr/>
                    <a:lstStyle/>
                    <a:p>
                      <a:pPr algn="l"/>
                      <a:r>
                        <a:rPr sz="1050" b="1" i="0">
                          <a:solidFill>
                            <a:srgbClr val="1F2A37"/>
                          </a:solidFill>
                          <a:latin typeface="Calibri"/>
                        </a:rPr>
                        <a:t>#3  gsm8k, 50 tasks p=4</a:t>
                      </a:r>
                    </a:p>
                  </a:txBody>
                  <a:tcPr marL="63500" marR="63500" marT="12700" marB="12700" anchor="ctr">
                    <a:solidFill>
                      <a:srgbClr val="FFFFFF"/>
                    </a:solidFill>
                  </a:tcPr>
                </a:tc>
                <a:tc>
                  <a:txBody>
                    <a:bodyPr/>
                    <a:lstStyle/>
                    <a:p>
                      <a:pPr algn="ctr"/>
                      <a:r>
                        <a:rPr sz="1050" b="0" i="0">
                          <a:solidFill>
                            <a:srgbClr val="1F2A37"/>
                          </a:solidFill>
                          <a:latin typeface="Calibri"/>
                        </a:rPr>
                        <a:t>25 K</a:t>
                      </a:r>
                    </a:p>
                  </a:txBody>
                  <a:tcPr marL="63500" marR="63500" marT="12700" marB="12700" anchor="ctr">
                    <a:solidFill>
                      <a:srgbClr val="FFFFFF"/>
                    </a:solidFill>
                  </a:tcPr>
                </a:tc>
                <a:tc>
                  <a:txBody>
                    <a:bodyPr/>
                    <a:lstStyle/>
                    <a:p>
                      <a:pPr algn="ctr"/>
                      <a:r>
                        <a:rPr sz="1050" b="0" i="0">
                          <a:solidFill>
                            <a:srgbClr val="1F2A37"/>
                          </a:solidFill>
                          <a:latin typeface="Calibri"/>
                        </a:rPr>
                        <a:t>$0.023</a:t>
                      </a:r>
                    </a:p>
                  </a:txBody>
                  <a:tcPr marL="63500" marR="63500" marT="12700" marB="12700" anchor="ctr">
                    <a:solidFill>
                      <a:srgbClr val="FFFFFF"/>
                    </a:solidFill>
                  </a:tcPr>
                </a:tc>
                <a:tc>
                  <a:txBody>
                    <a:bodyPr/>
                    <a:lstStyle/>
                    <a:p>
                      <a:pPr algn="ctr"/>
                      <a:r>
                        <a:rPr sz="1050" b="0" i="0">
                          <a:solidFill>
                            <a:srgbClr val="1F2A37"/>
                          </a:solidFill>
                          <a:latin typeface="Calibri"/>
                        </a:rPr>
                        <a:t>24 K</a:t>
                      </a:r>
                    </a:p>
                  </a:txBody>
                  <a:tcPr marL="63500" marR="63500" marT="12700" marB="12700" anchor="ctr">
                    <a:solidFill>
                      <a:srgbClr val="FFFFFF"/>
                    </a:solidFill>
                  </a:tcPr>
                </a:tc>
                <a:tc>
                  <a:txBody>
                    <a:bodyPr/>
                    <a:lstStyle/>
                    <a:p>
                      <a:pPr algn="ctr"/>
                      <a:r>
                        <a:rPr sz="1050" b="0" i="0">
                          <a:solidFill>
                            <a:srgbClr val="1F2A37"/>
                          </a:solidFill>
                          <a:latin typeface="Calibri"/>
                        </a:rPr>
                        <a:t>$0.021</a:t>
                      </a:r>
                    </a:p>
                  </a:txBody>
                  <a:tcPr marL="63500" marR="63500" marT="12700" marB="12700" anchor="ctr">
                    <a:solidFill>
                      <a:srgbClr val="FFFFFF"/>
                    </a:solidFill>
                  </a:tcPr>
                </a:tc>
              </a:tr>
              <a:tr h="259080">
                <a:tc>
                  <a:txBody>
                    <a:bodyPr/>
                    <a:lstStyle/>
                    <a:p>
                      <a:pPr algn="l"/>
                      <a:r>
                        <a:rPr sz="1050" b="1" i="0">
                          <a:solidFill>
                            <a:srgbClr val="1F2A37"/>
                          </a:solidFill>
                          <a:latin typeface="Calibri"/>
                        </a:rPr>
                        <a:t>#9  tau2, 10 tasks</a:t>
                      </a:r>
                    </a:p>
                  </a:txBody>
                  <a:tcPr marL="63500" marR="63500" marT="12700" marB="12700" anchor="ctr">
                    <a:solidFill>
                      <a:srgbClr val="F4F6F8"/>
                    </a:solidFill>
                  </a:tcPr>
                </a:tc>
                <a:tc>
                  <a:txBody>
                    <a:bodyPr/>
                    <a:lstStyle/>
                    <a:p>
                      <a:pPr algn="ctr"/>
                      <a:r>
                        <a:rPr sz="1050" b="0" i="0">
                          <a:solidFill>
                            <a:srgbClr val="1F2A37"/>
                          </a:solidFill>
                          <a:latin typeface="Calibri"/>
                        </a:rPr>
                        <a:t>1.01 M</a:t>
                      </a:r>
                    </a:p>
                  </a:txBody>
                  <a:tcPr marL="63500" marR="63500" marT="12700" marB="12700" anchor="ctr">
                    <a:solidFill>
                      <a:srgbClr val="F4F6F8"/>
                    </a:solidFill>
                  </a:tcPr>
                </a:tc>
                <a:tc>
                  <a:txBody>
                    <a:bodyPr/>
                    <a:lstStyle/>
                    <a:p>
                      <a:pPr algn="ctr"/>
                      <a:r>
                        <a:rPr sz="1050" b="0" i="0">
                          <a:solidFill>
                            <a:srgbClr val="1F2A37"/>
                          </a:solidFill>
                          <a:latin typeface="Calibri"/>
                        </a:rPr>
                        <a:t>$1.66</a:t>
                      </a:r>
                    </a:p>
                  </a:txBody>
                  <a:tcPr marL="63500" marR="63500" marT="12700" marB="12700" anchor="ctr">
                    <a:solidFill>
                      <a:srgbClr val="F4F6F8"/>
                    </a:solidFill>
                  </a:tcPr>
                </a:tc>
                <a:tc>
                  <a:txBody>
                    <a:bodyPr/>
                    <a:lstStyle/>
                    <a:p>
                      <a:pPr algn="ctr"/>
                      <a:r>
                        <a:rPr sz="1050" b="0" i="0">
                          <a:solidFill>
                            <a:srgbClr val="1F2A37"/>
                          </a:solidFill>
                          <a:latin typeface="Calibri"/>
                        </a:rPr>
                        <a:t>1.04 M</a:t>
                      </a:r>
                    </a:p>
                  </a:txBody>
                  <a:tcPr marL="63500" marR="63500" marT="12700" marB="12700" anchor="ctr">
                    <a:solidFill>
                      <a:srgbClr val="F4F6F8"/>
                    </a:solidFill>
                  </a:tcPr>
                </a:tc>
                <a:tc>
                  <a:txBody>
                    <a:bodyPr/>
                    <a:lstStyle/>
                    <a:p>
                      <a:pPr algn="ctr"/>
                      <a:r>
                        <a:rPr sz="1050" b="0" i="0">
                          <a:solidFill>
                            <a:srgbClr val="1F2A37"/>
                          </a:solidFill>
                          <a:latin typeface="Calibri"/>
                        </a:rPr>
                        <a:t>$1.73</a:t>
                      </a:r>
                    </a:p>
                  </a:txBody>
                  <a:tcPr marL="63500" marR="63500" marT="12700" marB="12700" anchor="ctr">
                    <a:solidFill>
                      <a:srgbClr val="F4F6F8"/>
                    </a:solidFill>
                  </a:tcPr>
                </a:tc>
              </a:tr>
              <a:tr h="259080">
                <a:tc>
                  <a:txBody>
                    <a:bodyPr/>
                    <a:lstStyle/>
                    <a:p>
                      <a:pPr algn="l"/>
                      <a:r>
                        <a:rPr sz="1050" b="1" i="0">
                          <a:solidFill>
                            <a:srgbClr val="1F2A37"/>
                          </a:solidFill>
                          <a:latin typeface="Calibri"/>
                        </a:rPr>
                        <a:t>#10  tau2, 20 tasks p=4</a:t>
                      </a:r>
                    </a:p>
                  </a:txBody>
                  <a:tcPr marL="63500" marR="63500" marT="12700" marB="12700" anchor="ctr">
                    <a:solidFill>
                      <a:srgbClr val="FFFFFF"/>
                    </a:solidFill>
                  </a:tcPr>
                </a:tc>
                <a:tc>
                  <a:txBody>
                    <a:bodyPr/>
                    <a:lstStyle/>
                    <a:p>
                      <a:pPr algn="ctr"/>
                      <a:r>
                        <a:rPr sz="1050" b="0" i="0">
                          <a:solidFill>
                            <a:srgbClr val="1F2A37"/>
                          </a:solidFill>
                          <a:latin typeface="Calibri"/>
                        </a:rPr>
                        <a:t>1.74 M</a:t>
                      </a:r>
                    </a:p>
                  </a:txBody>
                  <a:tcPr marL="63500" marR="63500" marT="12700" marB="12700" anchor="ctr">
                    <a:solidFill>
                      <a:srgbClr val="FFFFFF"/>
                    </a:solidFill>
                  </a:tcPr>
                </a:tc>
                <a:tc>
                  <a:txBody>
                    <a:bodyPr/>
                    <a:lstStyle/>
                    <a:p>
                      <a:pPr algn="ctr"/>
                      <a:r>
                        <a:rPr sz="1050" b="0" i="0">
                          <a:solidFill>
                            <a:srgbClr val="1F2A37"/>
                          </a:solidFill>
                          <a:latin typeface="Calibri"/>
                        </a:rPr>
                        <a:t>$2.90</a:t>
                      </a:r>
                    </a:p>
                  </a:txBody>
                  <a:tcPr marL="63500" marR="63500" marT="12700" marB="12700" anchor="ctr">
                    <a:solidFill>
                      <a:srgbClr val="FFFFFF"/>
                    </a:solidFill>
                  </a:tcPr>
                </a:tc>
                <a:tc>
                  <a:txBody>
                    <a:bodyPr/>
                    <a:lstStyle/>
                    <a:p>
                      <a:pPr algn="ctr"/>
                      <a:r>
                        <a:rPr sz="1050" b="0" i="0">
                          <a:solidFill>
                            <a:srgbClr val="1F2A37"/>
                          </a:solidFill>
                          <a:latin typeface="Calibri"/>
                        </a:rPr>
                        <a:t>1.78 M</a:t>
                      </a:r>
                    </a:p>
                  </a:txBody>
                  <a:tcPr marL="63500" marR="63500" marT="12700" marB="12700" anchor="ctr">
                    <a:solidFill>
                      <a:srgbClr val="FFFFFF"/>
                    </a:solidFill>
                  </a:tcPr>
                </a:tc>
                <a:tc>
                  <a:txBody>
                    <a:bodyPr/>
                    <a:lstStyle/>
                    <a:p>
                      <a:pPr algn="ctr"/>
                      <a:r>
                        <a:rPr sz="1050" b="0" i="0">
                          <a:solidFill>
                            <a:srgbClr val="1F2A37"/>
                          </a:solidFill>
                          <a:latin typeface="Calibri"/>
                        </a:rPr>
                        <a:t>$2.94</a:t>
                      </a:r>
                    </a:p>
                  </a:txBody>
                  <a:tcPr marL="63500" marR="63500" marT="12700" marB="12700" anchor="ctr">
                    <a:solidFill>
                      <a:srgbClr val="FFFFFF"/>
                    </a:solidFill>
                  </a:tcPr>
                </a:tc>
              </a:tr>
              <a:tr h="259080">
                <a:tc>
                  <a:txBody>
                    <a:bodyPr/>
                    <a:lstStyle/>
                    <a:p>
                      <a:pPr algn="l"/>
                      <a:r>
                        <a:rPr sz="1050" b="1" i="0">
                          <a:solidFill>
                            <a:srgbClr val="1F2A37"/>
                          </a:solidFill>
                          <a:latin typeface="Calibri"/>
                        </a:rPr>
                        <a:t>#11  appworld, 5 tasks</a:t>
                      </a:r>
                    </a:p>
                  </a:txBody>
                  <a:tcPr marL="63500" marR="63500" marT="12700" marB="12700" anchor="ctr">
                    <a:solidFill>
                      <a:srgbClr val="F4F6F8"/>
                    </a:solidFill>
                  </a:tcPr>
                </a:tc>
                <a:tc>
                  <a:txBody>
                    <a:bodyPr/>
                    <a:lstStyle/>
                    <a:p>
                      <a:pPr algn="ctr"/>
                      <a:r>
                        <a:rPr sz="1050" b="0" i="0">
                          <a:solidFill>
                            <a:srgbClr val="1F2A37"/>
                          </a:solidFill>
                          <a:latin typeface="Calibri"/>
                        </a:rPr>
                        <a:t>1.49 M</a:t>
                      </a:r>
                    </a:p>
                  </a:txBody>
                  <a:tcPr marL="63500" marR="63500" marT="12700" marB="12700" anchor="ctr">
                    <a:solidFill>
                      <a:srgbClr val="F4F6F8"/>
                    </a:solidFill>
                  </a:tcPr>
                </a:tc>
                <a:tc>
                  <a:txBody>
                    <a:bodyPr/>
                    <a:lstStyle/>
                    <a:p>
                      <a:pPr algn="ctr"/>
                      <a:r>
                        <a:rPr sz="1050" b="0" i="0">
                          <a:solidFill>
                            <a:srgbClr val="1F2A37"/>
                          </a:solidFill>
                          <a:latin typeface="Calibri"/>
                        </a:rPr>
                        <a:t>$2.79</a:t>
                      </a:r>
                    </a:p>
                  </a:txBody>
                  <a:tcPr marL="63500" marR="63500" marT="12700" marB="12700" anchor="ctr">
                    <a:solidFill>
                      <a:srgbClr val="F4F6F8"/>
                    </a:solidFill>
                  </a:tcPr>
                </a:tc>
                <a:tc>
                  <a:txBody>
                    <a:bodyPr/>
                    <a:lstStyle/>
                    <a:p>
                      <a:pPr algn="ctr"/>
                      <a:r>
                        <a:rPr sz="1050" b="0" i="0">
                          <a:solidFill>
                            <a:srgbClr val="1F2A37"/>
                          </a:solidFill>
                          <a:latin typeface="Calibri"/>
                        </a:rPr>
                        <a:t>0.93 M</a:t>
                      </a:r>
                    </a:p>
                  </a:txBody>
                  <a:tcPr marL="63500" marR="63500" marT="12700" marB="12700" anchor="ctr">
                    <a:solidFill>
                      <a:srgbClr val="F4F6F8"/>
                    </a:solidFill>
                  </a:tcPr>
                </a:tc>
                <a:tc>
                  <a:txBody>
                    <a:bodyPr/>
                    <a:lstStyle/>
                    <a:p>
                      <a:pPr algn="ctr"/>
                      <a:r>
                        <a:rPr sz="1050" b="0" i="0">
                          <a:solidFill>
                            <a:srgbClr val="1F2A37"/>
                          </a:solidFill>
                          <a:latin typeface="Calibri"/>
                        </a:rPr>
                        <a:t>$1.90</a:t>
                      </a:r>
                    </a:p>
                  </a:txBody>
                  <a:tcPr marL="63500" marR="63500" marT="12700" marB="12700" anchor="ctr">
                    <a:solidFill>
                      <a:srgbClr val="F4F6F8"/>
                    </a:solidFill>
                  </a:tcPr>
                </a:tc>
              </a:tr>
              <a:tr h="259080">
                <a:tc>
                  <a:txBody>
                    <a:bodyPr/>
                    <a:lstStyle/>
                    <a:p>
                      <a:pPr algn="l"/>
                      <a:r>
                        <a:rPr sz="1050" b="1" i="0">
                          <a:solidFill>
                            <a:srgbClr val="1F2A37"/>
                          </a:solidFill>
                          <a:latin typeface="Calibri"/>
                        </a:rPr>
                        <a:t>#12  appworld, 20 tasks p=4</a:t>
                      </a:r>
                    </a:p>
                  </a:txBody>
                  <a:tcPr marL="63500" marR="63500" marT="12700" marB="12700" anchor="ctr">
                    <a:solidFill>
                      <a:srgbClr val="FFFFFF"/>
                    </a:solidFill>
                  </a:tcPr>
                </a:tc>
                <a:tc>
                  <a:txBody>
                    <a:bodyPr/>
                    <a:lstStyle/>
                    <a:p>
                      <a:pPr algn="ctr"/>
                      <a:r>
                        <a:rPr sz="1050" b="0" i="0">
                          <a:solidFill>
                            <a:srgbClr val="1F2A37"/>
                          </a:solidFill>
                          <a:latin typeface="Calibri"/>
                        </a:rPr>
                        <a:t>5.71 M</a:t>
                      </a:r>
                    </a:p>
                  </a:txBody>
                  <a:tcPr marL="63500" marR="63500" marT="12700" marB="12700" anchor="ctr">
                    <a:solidFill>
                      <a:srgbClr val="FFFFFF"/>
                    </a:solidFill>
                  </a:tcPr>
                </a:tc>
                <a:tc>
                  <a:txBody>
                    <a:bodyPr/>
                    <a:lstStyle/>
                    <a:p>
                      <a:pPr algn="ctr"/>
                      <a:r>
                        <a:rPr sz="1050" b="0" i="0">
                          <a:solidFill>
                            <a:srgbClr val="1F2A37"/>
                          </a:solidFill>
                          <a:latin typeface="Calibri"/>
                        </a:rPr>
                        <a:t>$11.52</a:t>
                      </a:r>
                    </a:p>
                  </a:txBody>
                  <a:tcPr marL="63500" marR="63500" marT="12700" marB="12700" anchor="ctr">
                    <a:solidFill>
                      <a:srgbClr val="FFFFFF"/>
                    </a:solidFill>
                  </a:tcPr>
                </a:tc>
                <a:tc>
                  <a:txBody>
                    <a:bodyPr/>
                    <a:lstStyle/>
                    <a:p>
                      <a:pPr algn="ctr"/>
                      <a:r>
                        <a:rPr sz="1050" b="0" i="0">
                          <a:solidFill>
                            <a:srgbClr val="1F2A37"/>
                          </a:solidFill>
                          <a:latin typeface="Calibri"/>
                        </a:rPr>
                        <a:t>2.20 M</a:t>
                      </a:r>
                    </a:p>
                  </a:txBody>
                  <a:tcPr marL="63500" marR="63500" marT="12700" marB="12700" anchor="ctr">
                    <a:solidFill>
                      <a:srgbClr val="FFFFFF"/>
                    </a:solidFill>
                  </a:tcPr>
                </a:tc>
                <a:tc>
                  <a:txBody>
                    <a:bodyPr/>
                    <a:lstStyle/>
                    <a:p>
                      <a:pPr algn="ctr"/>
                      <a:r>
                        <a:rPr sz="1050" b="0" i="0">
                          <a:solidFill>
                            <a:srgbClr val="1F2A37"/>
                          </a:solidFill>
                          <a:latin typeface="Calibri"/>
                        </a:rPr>
                        <a:t>$4.40</a:t>
                      </a:r>
                    </a:p>
                  </a:txBody>
                  <a:tcPr marL="63500" marR="63500" marT="12700" marB="12700" anchor="ctr">
                    <a:solidFill>
                      <a:srgbClr val="FFFFFF"/>
                    </a:solidFill>
                  </a:tcPr>
                </a:tc>
              </a:tr>
              <a:tr h="259080">
                <a:tc>
                  <a:txBody>
                    <a:bodyPr/>
                    <a:lstStyle/>
                    <a:p>
                      <a:pPr algn="l"/>
                      <a:r>
                        <a:rPr sz="1050" b="1" i="0">
                          <a:solidFill>
                            <a:srgbClr val="1F2A37"/>
                          </a:solidFill>
                          <a:latin typeface="Calibri"/>
                        </a:rPr>
                        <a:t>all 12 legs</a:t>
                      </a:r>
                    </a:p>
                  </a:txBody>
                  <a:tcPr marL="63500" marR="63500" marT="12700" marB="12700" anchor="ctr">
                    <a:solidFill>
                      <a:srgbClr val="F4F6F8"/>
                    </a:solidFill>
                  </a:tcPr>
                </a:tc>
                <a:tc>
                  <a:txBody>
                    <a:bodyPr/>
                    <a:lstStyle/>
                    <a:p>
                      <a:pPr algn="ctr"/>
                      <a:r>
                        <a:rPr sz="1050" b="0" i="0">
                          <a:solidFill>
                            <a:srgbClr val="1F2A37"/>
                          </a:solidFill>
                          <a:latin typeface="Calibri"/>
                        </a:rPr>
                        <a:t>10.0 M</a:t>
                      </a:r>
                    </a:p>
                  </a:txBody>
                  <a:tcPr marL="63500" marR="63500" marT="12700" marB="12700" anchor="ctr">
                    <a:solidFill>
                      <a:srgbClr val="F4F6F8"/>
                    </a:solidFill>
                  </a:tcPr>
                </a:tc>
                <a:tc>
                  <a:txBody>
                    <a:bodyPr/>
                    <a:lstStyle/>
                    <a:p>
                      <a:pPr algn="ctr"/>
                      <a:r>
                        <a:rPr sz="1050" b="0" i="0">
                          <a:solidFill>
                            <a:srgbClr val="1F2A37"/>
                          </a:solidFill>
                          <a:latin typeface="Calibri"/>
                        </a:rPr>
                        <a:t>$18.91</a:t>
                      </a:r>
                    </a:p>
                  </a:txBody>
                  <a:tcPr marL="63500" marR="63500" marT="12700" marB="12700" anchor="ctr">
                    <a:solidFill>
                      <a:srgbClr val="F4F6F8"/>
                    </a:solidFill>
                  </a:tcPr>
                </a:tc>
                <a:tc>
                  <a:txBody>
                    <a:bodyPr/>
                    <a:lstStyle/>
                    <a:p>
                      <a:pPr algn="ctr"/>
                      <a:r>
                        <a:rPr sz="1050" b="0" i="0">
                          <a:solidFill>
                            <a:srgbClr val="1F2A37"/>
                          </a:solidFill>
                          <a:latin typeface="Calibri"/>
                        </a:rPr>
                        <a:t>6.0 M</a:t>
                      </a:r>
                    </a:p>
                  </a:txBody>
                  <a:tcPr marL="63500" marR="63500" marT="12700" marB="12700" anchor="ctr">
                    <a:solidFill>
                      <a:srgbClr val="F4F6F8"/>
                    </a:solidFill>
                  </a:tcPr>
                </a:tc>
                <a:tc>
                  <a:txBody>
                    <a:bodyPr/>
                    <a:lstStyle/>
                    <a:p>
                      <a:pPr algn="ctr"/>
                      <a:r>
                        <a:rPr sz="1050" b="0" i="0">
                          <a:solidFill>
                            <a:srgbClr val="1F2A37"/>
                          </a:solidFill>
                          <a:latin typeface="Calibri"/>
                        </a:rPr>
                        <a:t>$11.02</a:t>
                      </a:r>
                    </a:p>
                  </a:txBody>
                  <a:tcPr marL="63500" marR="63500" marT="12700" marB="12700" anchor="ctr">
                    <a:solidFill>
                      <a:srgbClr val="F4F6F8"/>
                    </a:solidFill>
                  </a:tcPr>
                </a:tc>
              </a:tr>
            </a:tbl>
          </a:graphicData>
        </a:graphic>
      </p:graphicFrame>
      <p:sp>
        <p:nvSpPr>
          <p:cNvPr id="5" name="Rounded Rectangle 4"/>
          <p:cNvSpPr/>
          <p:nvPr/>
        </p:nvSpPr>
        <p:spPr>
          <a:xfrm>
            <a:off x="411480" y="3703320"/>
            <a:ext cx="5989320" cy="123444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Budget by benchmark, not by task count</a:t>
            </a:r>
          </a:p>
          <a:p>
            <a:pPr algn="ctr"/>
            <a:r>
              <a:rPr sz="1100" b="0" i="0">
                <a:solidFill>
                  <a:srgbClr val="1F2A37"/>
                </a:solidFill>
                <a:latin typeface="Calibri"/>
              </a:rPr>
              <a:t>The eight gsm8k legs together are 0.2% of the matrix's bill on OpenShift (0.4% on KinD). appworld's two legs are 76% of it (57%); tau2's two are 24% (42%). A 50-task gsm8k leg costs 2 cents — less than a twenty-fifth of a SINGLE appworld task.</a:t>
            </a:r>
          </a:p>
        </p:txBody>
      </p:sp>
      <p:sp>
        <p:nvSpPr>
          <p:cNvPr id="6" name="Rounded Rectangle 5"/>
          <p:cNvSpPr/>
          <p:nvPr/>
        </p:nvSpPr>
        <p:spPr>
          <a:xfrm>
            <a:off x="6675120" y="3703320"/>
            <a:ext cx="5074920" cy="123444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B55A2E"/>
                </a:solidFill>
                <a:latin typeface="Calibri"/>
              </a:rPr>
              <a:t>Two legs of the same size are not the same bill</a:t>
            </a:r>
          </a:p>
          <a:p>
            <a:pPr algn="ctr"/>
            <a:r>
              <a:rPr sz="1100" b="0" i="0">
                <a:solidFill>
                  <a:srgbClr val="1F2A37"/>
                </a:solidFill>
                <a:latin typeface="Calibri"/>
              </a:rPr>
              <a:t>#12 cost 2.6x more on OpenShift than on KinD for the same 20 requested tasks: appworld turn counts are nondeterministic, and the slower cluster's tasks ran longer before the 600 s timeout. So the two $18.91 / $11.02 totals are NOT a platform comparison — OpenShift completed 18 appworld tasks against KinD's 10. Size appworld on YOUR cluster.</a:t>
            </a:r>
          </a:p>
        </p:txBody>
      </p:sp>
      <p:sp>
        <p:nvSpPr>
          <p:cNvPr id="7" name="Rounded Rectangle 6"/>
          <p:cNvSpPr/>
          <p:nvPr/>
        </p:nvSpPr>
        <p:spPr>
          <a:xfrm>
            <a:off x="411480" y="5120640"/>
            <a:ext cx="11338560" cy="11887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And the totals UNDERSTATE it three ways:  a task killed by the per-task timeout burns tokens but leaves no report row, so appworld's 15 timed-out tasks are missing from the numbers above.  tau2's user simulator runs in the MCP pod, which is not instrumented — its inference is billed by the gateway and counted nowhere here.  And a leg that replays the gateway's completion cache re-reports stored usage for calls that were never made upstream.  7.6 puts a dollar figure on the fourth: the IBAC judge, which the agent's spans never see.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7.5 The Cost Model — Tokens, Models, Money">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7.5  The Cost Model — Tokens, Models, Money</a:t>
            </a:r>
          </a:p>
          <a:p>
            <a:r>
              <a:rPr sz="1400" b="0" i="0">
                <a:solidFill>
                  <a:srgbClr val="C9D9EC"/>
                </a:solidFill>
                <a:latin typeface="Calibri"/>
              </a:rPr>
              <a:t>What a task costs in tokens AND in dollars, and why the two rankings disagree</a:t>
            </a:r>
          </a:p>
        </p:txBody>
      </p:sp>
      <p:graphicFrame>
        <p:nvGraphicFramePr>
          <p:cNvPr id="3" name="Table 2"/>
          <p:cNvGraphicFramePr>
            <a:graphicFrameLocks noGrp="1"/>
          </p:cNvGraphicFramePr>
          <p:nvPr/>
        </p:nvGraphicFramePr>
        <p:xfrm>
          <a:off x="411480" y="1188720"/>
          <a:ext cx="5623560" cy="4160520"/>
        </p:xfrm>
        <a:graphic>
          <a:graphicData uri="http://schemas.openxmlformats.org/drawingml/2006/table">
            <a:tbl>
              <a:tblPr firstRow="1">
                <a:tableStyleId>{5C22544A-7EE6-4342-B048-85BDC9FD1C3A}</a:tableStyleId>
              </a:tblPr>
              <a:tblGrid>
                <a:gridCol w="2194560"/>
                <a:gridCol w="1143000"/>
                <a:gridCol w="1143000"/>
                <a:gridCol w="1143000"/>
              </a:tblGrid>
              <a:tr h="297180">
                <a:tc>
                  <a:txBody>
                    <a:bodyPr/>
                    <a:lstStyle/>
                    <a:p>
                      <a:pPr algn="l"/>
                      <a:r>
                        <a:rPr sz="1050" b="1" i="0">
                          <a:solidFill>
                            <a:srgbClr val="FFFFFF"/>
                          </a:solidFill>
                          <a:latin typeface="Calibri"/>
                        </a:rPr>
                        <a:t>per task, pooled</a:t>
                      </a:r>
                    </a:p>
                  </a:txBody>
                  <a:tcPr marL="63500" marR="63500" marT="12700" marB="12700" anchor="ctr">
                    <a:solidFill>
                      <a:srgbClr val="1B3A5C"/>
                    </a:solidFill>
                  </a:tcPr>
                </a:tc>
                <a:tc>
                  <a:txBody>
                    <a:bodyPr/>
                    <a:lstStyle/>
                    <a:p>
                      <a:pPr algn="ctr"/>
                      <a:r>
                        <a:rPr sz="1050" b="1" i="0">
                          <a:solidFill>
                            <a:srgbClr val="FFFFFF"/>
                          </a:solidFill>
                          <a:latin typeface="Calibri"/>
                        </a:rPr>
                        <a:t>gsm8k</a:t>
                      </a:r>
                    </a:p>
                  </a:txBody>
                  <a:tcPr marL="63500" marR="63500" marT="12700" marB="12700" anchor="ctr">
                    <a:solidFill>
                      <a:srgbClr val="1B3A5C"/>
                    </a:solidFill>
                  </a:tcPr>
                </a:tc>
                <a:tc>
                  <a:txBody>
                    <a:bodyPr/>
                    <a:lstStyle/>
                    <a:p>
                      <a:pPr algn="ctr"/>
                      <a:r>
                        <a:rPr sz="1050" b="1" i="0">
                          <a:solidFill>
                            <a:srgbClr val="FFFFFF"/>
                          </a:solidFill>
                          <a:latin typeface="Calibri"/>
                        </a:rPr>
                        <a:t>tau2</a:t>
                      </a:r>
                    </a:p>
                  </a:txBody>
                  <a:tcPr marL="63500" marR="63500" marT="12700" marB="12700" anchor="ctr">
                    <a:solidFill>
                      <a:srgbClr val="1B3A5C"/>
                    </a:solidFill>
                  </a:tcPr>
                </a:tc>
                <a:tc>
                  <a:txBody>
                    <a:bodyPr/>
                    <a:lstStyle/>
                    <a:p>
                      <a:pPr algn="ctr"/>
                      <a:r>
                        <a:rPr sz="1050" b="1" i="0">
                          <a:solidFill>
                            <a:srgbClr val="FFFFFF"/>
                          </a:solidFill>
                          <a:latin typeface="Calibri"/>
                        </a:rPr>
                        <a:t>appworld</a:t>
                      </a:r>
                    </a:p>
                  </a:txBody>
                  <a:tcPr marL="63500" marR="63500" marT="12700" marB="12700" anchor="ctr">
                    <a:solidFill>
                      <a:srgbClr val="1B3A5C"/>
                    </a:solidFill>
                  </a:tcPr>
                </a:tc>
              </a:tr>
              <a:tr h="297180">
                <a:tc>
                  <a:txBody>
                    <a:bodyPr/>
                    <a:lstStyle/>
                    <a:p>
                      <a:pPr algn="l"/>
                      <a:r>
                        <a:rPr sz="1050" b="1" i="0">
                          <a:solidFill>
                            <a:srgbClr val="1F2A37"/>
                          </a:solidFill>
                          <a:latin typeface="Calibri"/>
                        </a:rPr>
                        <a:t>LLM calls</a:t>
                      </a:r>
                    </a:p>
                  </a:txBody>
                  <a:tcPr marL="63500" marR="63500" marT="12700" marB="12700" anchor="ctr">
                    <a:solidFill>
                      <a:srgbClr val="FFFFFF"/>
                    </a:solidFill>
                  </a:tcPr>
                </a:tc>
                <a:tc>
                  <a:txBody>
                    <a:bodyPr/>
                    <a:lstStyle/>
                    <a:p>
                      <a:pPr algn="ctr"/>
                      <a:r>
                        <a:rPr sz="1050" b="0" i="0">
                          <a:solidFill>
                            <a:srgbClr val="1F2A37"/>
                          </a:solidFill>
                          <a:latin typeface="Calibri"/>
                        </a:rPr>
                        <a:t>1.10</a:t>
                      </a:r>
                    </a:p>
                  </a:txBody>
                  <a:tcPr marL="63500" marR="63500" marT="12700" marB="12700" anchor="ctr">
                    <a:solidFill>
                      <a:srgbClr val="FFFFFF"/>
                    </a:solidFill>
                  </a:tcPr>
                </a:tc>
                <a:tc>
                  <a:txBody>
                    <a:bodyPr/>
                    <a:lstStyle/>
                    <a:p>
                      <a:pPr algn="ctr"/>
                      <a:r>
                        <a:rPr sz="1050" b="0" i="0">
                          <a:solidFill>
                            <a:srgbClr val="1F2A37"/>
                          </a:solidFill>
                          <a:latin typeface="Calibri"/>
                        </a:rPr>
                        <a:t>11.38</a:t>
                      </a:r>
                    </a:p>
                  </a:txBody>
                  <a:tcPr marL="63500" marR="63500" marT="12700" marB="12700" anchor="ctr">
                    <a:solidFill>
                      <a:srgbClr val="FFFFFF"/>
                    </a:solidFill>
                  </a:tcPr>
                </a:tc>
                <a:tc>
                  <a:txBody>
                    <a:bodyPr/>
                    <a:lstStyle/>
                    <a:p>
                      <a:pPr algn="ctr"/>
                      <a:r>
                        <a:rPr sz="1050" b="0" i="0">
                          <a:solidFill>
                            <a:srgbClr val="1F2A37"/>
                          </a:solidFill>
                          <a:latin typeface="Calibri"/>
                        </a:rPr>
                        <a:t>29.20</a:t>
                      </a:r>
                    </a:p>
                  </a:txBody>
                  <a:tcPr marL="63500" marR="63500" marT="12700" marB="12700" anchor="ctr">
                    <a:solidFill>
                      <a:srgbClr val="FFFFFF"/>
                    </a:solidFill>
                  </a:tcPr>
                </a:tc>
              </a:tr>
              <a:tr h="297180">
                <a:tc>
                  <a:txBody>
                    <a:bodyPr/>
                    <a:lstStyle/>
                    <a:p>
                      <a:pPr algn="l"/>
                      <a:r>
                        <a:rPr sz="1050" b="1" i="0">
                          <a:solidFill>
                            <a:srgbClr val="1F2A37"/>
                          </a:solidFill>
                          <a:latin typeface="Calibri"/>
                        </a:rPr>
                        <a:t>input tokens</a:t>
                      </a:r>
                    </a:p>
                  </a:txBody>
                  <a:tcPr marL="63500" marR="63500" marT="12700" marB="12700" anchor="ctr">
                    <a:solidFill>
                      <a:srgbClr val="F4F6F8"/>
                    </a:solidFill>
                  </a:tcPr>
                </a:tc>
                <a:tc>
                  <a:txBody>
                    <a:bodyPr/>
                    <a:lstStyle/>
                    <a:p>
                      <a:pPr algn="ctr"/>
                      <a:r>
                        <a:rPr sz="1050" b="0" i="0">
                          <a:solidFill>
                            <a:srgbClr val="1F2A37"/>
                          </a:solidFill>
                          <a:latin typeface="Calibri"/>
                        </a:rPr>
                        <a:t>341</a:t>
                      </a:r>
                    </a:p>
                  </a:txBody>
                  <a:tcPr marL="63500" marR="63500" marT="12700" marB="12700" anchor="ctr">
                    <a:solidFill>
                      <a:srgbClr val="F4F6F8"/>
                    </a:solidFill>
                  </a:tcPr>
                </a:tc>
                <a:tc>
                  <a:txBody>
                    <a:bodyPr/>
                    <a:lstStyle/>
                    <a:p>
                      <a:pPr algn="ctr"/>
                      <a:r>
                        <a:rPr sz="1050" b="0" i="0">
                          <a:solidFill>
                            <a:srgbClr val="1F2A37"/>
                          </a:solidFill>
                          <a:latin typeface="Calibri"/>
                        </a:rPr>
                        <a:t>90,902</a:t>
                      </a:r>
                    </a:p>
                  </a:txBody>
                  <a:tcPr marL="63500" marR="63500" marT="12700" marB="12700" anchor="ctr">
                    <a:solidFill>
                      <a:srgbClr val="F4F6F8"/>
                    </a:solidFill>
                  </a:tcPr>
                </a:tc>
                <a:tc>
                  <a:txBody>
                    <a:bodyPr/>
                    <a:lstStyle/>
                    <a:p>
                      <a:pPr algn="ctr"/>
                      <a:r>
                        <a:rPr sz="1050" b="0" i="0">
                          <a:solidFill>
                            <a:srgbClr val="1F2A37"/>
                          </a:solidFill>
                          <a:latin typeface="Calibri"/>
                        </a:rPr>
                        <a:t>269,953</a:t>
                      </a:r>
                    </a:p>
                  </a:txBody>
                  <a:tcPr marL="63500" marR="63500" marT="12700" marB="12700" anchor="ctr">
                    <a:solidFill>
                      <a:srgbClr val="F4F6F8"/>
                    </a:solidFill>
                  </a:tcPr>
                </a:tc>
              </a:tr>
              <a:tr h="297180">
                <a:tc>
                  <a:txBody>
                    <a:bodyPr/>
                    <a:lstStyle/>
                    <a:p>
                      <a:pPr algn="l"/>
                      <a:r>
                        <a:rPr sz="1050" b="1" i="0">
                          <a:solidFill>
                            <a:srgbClr val="1F2A37"/>
                          </a:solidFill>
                          <a:latin typeface="Calibri"/>
                        </a:rPr>
                        <a:t>output tokens</a:t>
                      </a:r>
                    </a:p>
                  </a:txBody>
                  <a:tcPr marL="63500" marR="63500" marT="12700" marB="12700" anchor="ctr">
                    <a:solidFill>
                      <a:srgbClr val="FFFFFF"/>
                    </a:solidFill>
                  </a:tcPr>
                </a:tc>
                <a:tc>
                  <a:txBody>
                    <a:bodyPr/>
                    <a:lstStyle/>
                    <a:p>
                      <a:pPr algn="ctr"/>
                      <a:r>
                        <a:rPr sz="1050" b="0" i="0">
                          <a:solidFill>
                            <a:srgbClr val="1F2A37"/>
                          </a:solidFill>
                          <a:latin typeface="Calibri"/>
                        </a:rPr>
                        <a:t>180</a:t>
                      </a:r>
                    </a:p>
                  </a:txBody>
                  <a:tcPr marL="63500" marR="63500" marT="12700" marB="12700" anchor="ctr">
                    <a:solidFill>
                      <a:srgbClr val="FFFFFF"/>
                    </a:solidFill>
                  </a:tcPr>
                </a:tc>
                <a:tc>
                  <a:txBody>
                    <a:bodyPr/>
                    <a:lstStyle/>
                    <a:p>
                      <a:pPr algn="ctr"/>
                      <a:r>
                        <a:rPr sz="1050" b="0" i="0">
                          <a:solidFill>
                            <a:srgbClr val="1F2A37"/>
                          </a:solidFill>
                          <a:latin typeface="Calibri"/>
                        </a:rPr>
                        <a:t>2,061</a:t>
                      </a:r>
                    </a:p>
                  </a:txBody>
                  <a:tcPr marL="63500" marR="63500" marT="12700" marB="12700" anchor="ctr">
                    <a:solidFill>
                      <a:srgbClr val="FFFFFF"/>
                    </a:solidFill>
                  </a:tcPr>
                </a:tc>
                <a:tc>
                  <a:txBody>
                    <a:bodyPr/>
                    <a:lstStyle/>
                    <a:p>
                      <a:pPr algn="ctr"/>
                      <a:r>
                        <a:rPr sz="1050" b="0" i="0">
                          <a:solidFill>
                            <a:srgbClr val="1F2A37"/>
                          </a:solidFill>
                          <a:latin typeface="Calibri"/>
                        </a:rPr>
                        <a:t>25,140</a:t>
                      </a:r>
                    </a:p>
                  </a:txBody>
                  <a:tcPr marL="63500" marR="63500" marT="12700" marB="12700" anchor="ctr">
                    <a:solidFill>
                      <a:srgbClr val="FFFFFF"/>
                    </a:solidFill>
                  </a:tcPr>
                </a:tc>
              </a:tr>
              <a:tr h="297180">
                <a:tc>
                  <a:txBody>
                    <a:bodyPr/>
                    <a:lstStyle/>
                    <a:p>
                      <a:pPr algn="l"/>
                      <a:r>
                        <a:rPr sz="1050" b="1" i="0">
                          <a:solidFill>
                            <a:srgbClr val="1F2A37"/>
                          </a:solidFill>
                          <a:latin typeface="Calibri"/>
                        </a:rPr>
                        <a:t>total tokens</a:t>
                      </a:r>
                    </a:p>
                  </a:txBody>
                  <a:tcPr marL="63500" marR="63500" marT="12700" marB="12700" anchor="ctr">
                    <a:solidFill>
                      <a:srgbClr val="F4F6F8"/>
                    </a:solidFill>
                  </a:tcPr>
                </a:tc>
                <a:tc>
                  <a:txBody>
                    <a:bodyPr/>
                    <a:lstStyle/>
                    <a:p>
                      <a:pPr algn="ctr"/>
                      <a:r>
                        <a:rPr sz="1050" b="0" i="0">
                          <a:solidFill>
                            <a:srgbClr val="1F2A37"/>
                          </a:solidFill>
                          <a:latin typeface="Calibri"/>
                        </a:rPr>
                        <a:t>520</a:t>
                      </a:r>
                    </a:p>
                  </a:txBody>
                  <a:tcPr marL="63500" marR="63500" marT="12700" marB="12700" anchor="ctr">
                    <a:solidFill>
                      <a:srgbClr val="F4F6F8"/>
                    </a:solidFill>
                  </a:tcPr>
                </a:tc>
                <a:tc>
                  <a:txBody>
                    <a:bodyPr/>
                    <a:lstStyle/>
                    <a:p>
                      <a:pPr algn="ctr"/>
                      <a:r>
                        <a:rPr sz="1050" b="0" i="0">
                          <a:solidFill>
                            <a:srgbClr val="1F2A37"/>
                          </a:solidFill>
                          <a:latin typeface="Calibri"/>
                        </a:rPr>
                        <a:t>92,963</a:t>
                      </a:r>
                    </a:p>
                  </a:txBody>
                  <a:tcPr marL="63500" marR="63500" marT="12700" marB="12700" anchor="ctr">
                    <a:solidFill>
                      <a:srgbClr val="F4F6F8"/>
                    </a:solidFill>
                  </a:tcPr>
                </a:tc>
                <a:tc>
                  <a:txBody>
                    <a:bodyPr/>
                    <a:lstStyle/>
                    <a:p>
                      <a:pPr algn="ctr"/>
                      <a:r>
                        <a:rPr sz="1050" b="0" i="0">
                          <a:solidFill>
                            <a:srgbClr val="1F2A37"/>
                          </a:solidFill>
                          <a:latin typeface="Calibri"/>
                        </a:rPr>
                        <a:t>295,093</a:t>
                      </a:r>
                    </a:p>
                  </a:txBody>
                  <a:tcPr marL="63500" marR="63500" marT="12700" marB="12700" anchor="ctr">
                    <a:solidFill>
                      <a:srgbClr val="F4F6F8"/>
                    </a:solidFill>
                  </a:tcPr>
                </a:tc>
              </a:tr>
              <a:tr h="297180">
                <a:tc>
                  <a:txBody>
                    <a:bodyPr/>
                    <a:lstStyle/>
                    <a:p>
                      <a:pPr algn="l"/>
                      <a:r>
                        <a:rPr sz="1050" b="1" i="0">
                          <a:solidFill>
                            <a:srgbClr val="1F2A37"/>
                          </a:solidFill>
                          <a:latin typeface="Calibri"/>
                        </a:rPr>
                        <a:t>x a gsm8k task, in TOKENS</a:t>
                      </a:r>
                    </a:p>
                  </a:txBody>
                  <a:tcPr marL="63500" marR="63500" marT="12700" marB="12700" anchor="ctr">
                    <a:solidFill>
                      <a:srgbClr val="FFFFFF"/>
                    </a:solidFill>
                  </a:tcPr>
                </a:tc>
                <a:tc>
                  <a:txBody>
                    <a:bodyPr/>
                    <a:lstStyle/>
                    <a:p>
                      <a:pPr algn="ctr"/>
                      <a:r>
                        <a:rPr sz="1050" b="0" i="0">
                          <a:solidFill>
                            <a:srgbClr val="1F2A37"/>
                          </a:solidFill>
                          <a:latin typeface="Calibri"/>
                        </a:rPr>
                        <a:t>1x</a:t>
                      </a:r>
                    </a:p>
                  </a:txBody>
                  <a:tcPr marL="63500" marR="63500" marT="12700" marB="12700" anchor="ctr">
                    <a:solidFill>
                      <a:srgbClr val="FFFFFF"/>
                    </a:solidFill>
                  </a:tcPr>
                </a:tc>
                <a:tc>
                  <a:txBody>
                    <a:bodyPr/>
                    <a:lstStyle/>
                    <a:p>
                      <a:pPr algn="ctr"/>
                      <a:r>
                        <a:rPr sz="1050" b="0" i="0">
                          <a:solidFill>
                            <a:srgbClr val="1F2A37"/>
                          </a:solidFill>
                          <a:latin typeface="Calibri"/>
                        </a:rPr>
                        <a:t>179x</a:t>
                      </a:r>
                    </a:p>
                  </a:txBody>
                  <a:tcPr marL="63500" marR="63500" marT="12700" marB="12700" anchor="ctr">
                    <a:solidFill>
                      <a:srgbClr val="FFFFFF"/>
                    </a:solidFill>
                  </a:tcPr>
                </a:tc>
                <a:tc>
                  <a:txBody>
                    <a:bodyPr/>
                    <a:lstStyle/>
                    <a:p>
                      <a:pPr algn="ctr"/>
                      <a:r>
                        <a:rPr sz="1050" b="0" i="0">
                          <a:solidFill>
                            <a:srgbClr val="1F2A37"/>
                          </a:solidFill>
                          <a:latin typeface="Calibri"/>
                        </a:rPr>
                        <a:t>567x</a:t>
                      </a:r>
                    </a:p>
                  </a:txBody>
                  <a:tcPr marL="63500" marR="63500" marT="12700" marB="12700" anchor="ctr">
                    <a:solidFill>
                      <a:srgbClr val="FFFFFF"/>
                    </a:solidFill>
                  </a:tcPr>
                </a:tc>
              </a:tr>
              <a:tr h="297180">
                <a:tc>
                  <a:txBody>
                    <a:bodyPr/>
                    <a:lstStyle/>
                    <a:p>
                      <a:pPr algn="l"/>
                      <a:r>
                        <a:rPr sz="1050" b="1" i="0">
                          <a:solidFill>
                            <a:srgbClr val="1F2A37"/>
                          </a:solidFill>
                          <a:latin typeface="Calibri"/>
                        </a:rPr>
                        <a:t>cost at our gateway's rates</a:t>
                      </a:r>
                    </a:p>
                  </a:txBody>
                  <a:tcPr marL="63500" marR="63500" marT="12700" marB="12700" anchor="ctr">
                    <a:solidFill>
                      <a:srgbClr val="F4F6F8"/>
                    </a:solidFill>
                  </a:tcPr>
                </a:tc>
                <a:tc>
                  <a:txBody>
                    <a:bodyPr/>
                    <a:lstStyle/>
                    <a:p>
                      <a:pPr algn="ctr"/>
                      <a:r>
                        <a:rPr sz="1050" b="0" i="0">
                          <a:solidFill>
                            <a:srgbClr val="1F2A37"/>
                          </a:solidFill>
                          <a:latin typeface="Calibri"/>
                        </a:rPr>
                        <a:t>$0.00055</a:t>
                      </a:r>
                    </a:p>
                  </a:txBody>
                  <a:tcPr marL="63500" marR="63500" marT="12700" marB="12700" anchor="ctr">
                    <a:solidFill>
                      <a:srgbClr val="F4F6F8"/>
                    </a:solidFill>
                  </a:tcPr>
                </a:tc>
                <a:tc>
                  <a:txBody>
                    <a:bodyPr/>
                    <a:lstStyle/>
                    <a:p>
                      <a:pPr algn="ctr"/>
                      <a:r>
                        <a:rPr sz="1050" b="0" i="0">
                          <a:solidFill>
                            <a:srgbClr val="1F2A37"/>
                          </a:solidFill>
                          <a:latin typeface="Calibri"/>
                        </a:rPr>
                        <a:t>$0.154</a:t>
                      </a:r>
                    </a:p>
                  </a:txBody>
                  <a:tcPr marL="63500" marR="63500" marT="12700" marB="12700" anchor="ctr">
                    <a:solidFill>
                      <a:srgbClr val="F4F6F8"/>
                    </a:solidFill>
                  </a:tcPr>
                </a:tc>
                <a:tc>
                  <a:txBody>
                    <a:bodyPr/>
                    <a:lstStyle/>
                    <a:p>
                      <a:pPr algn="ctr"/>
                      <a:r>
                        <a:rPr sz="1050" b="0" i="0">
                          <a:solidFill>
                            <a:srgbClr val="1F2A37"/>
                          </a:solidFill>
                          <a:latin typeface="Calibri"/>
                        </a:rPr>
                        <a:t>$0.589</a:t>
                      </a:r>
                    </a:p>
                  </a:txBody>
                  <a:tcPr marL="63500" marR="63500" marT="12700" marB="12700" anchor="ctr">
                    <a:solidFill>
                      <a:srgbClr val="F4F6F8"/>
                    </a:solidFill>
                  </a:tcPr>
                </a:tc>
              </a:tr>
              <a:tr h="297180">
                <a:tc>
                  <a:txBody>
                    <a:bodyPr/>
                    <a:lstStyle/>
                    <a:p>
                      <a:pPr algn="l"/>
                      <a:r>
                        <a:rPr sz="1050" b="1" i="0">
                          <a:solidFill>
                            <a:srgbClr val="1F2A37"/>
                          </a:solidFill>
                          <a:latin typeface="Calibri"/>
                        </a:rPr>
                        <a:t>x a gsm8k task, in DOLLARS</a:t>
                      </a:r>
                    </a:p>
                  </a:txBody>
                  <a:tcPr marL="63500" marR="63500" marT="12700" marB="12700" anchor="ctr">
                    <a:solidFill>
                      <a:srgbClr val="FFFFFF"/>
                    </a:solidFill>
                  </a:tcPr>
                </a:tc>
                <a:tc>
                  <a:txBody>
                    <a:bodyPr/>
                    <a:lstStyle/>
                    <a:p>
                      <a:pPr algn="ctr"/>
                      <a:r>
                        <a:rPr sz="1050" b="0" i="0">
                          <a:solidFill>
                            <a:srgbClr val="1F2A37"/>
                          </a:solidFill>
                          <a:latin typeface="Calibri"/>
                        </a:rPr>
                        <a:t>1x</a:t>
                      </a:r>
                    </a:p>
                  </a:txBody>
                  <a:tcPr marL="63500" marR="63500" marT="12700" marB="12700" anchor="ctr">
                    <a:solidFill>
                      <a:srgbClr val="FFFFFF"/>
                    </a:solidFill>
                  </a:tcPr>
                </a:tc>
                <a:tc>
                  <a:txBody>
                    <a:bodyPr/>
                    <a:lstStyle/>
                    <a:p>
                      <a:pPr algn="ctr"/>
                      <a:r>
                        <a:rPr sz="1050" b="0" i="0">
                          <a:solidFill>
                            <a:srgbClr val="1F2A37"/>
                          </a:solidFill>
                          <a:latin typeface="Calibri"/>
                        </a:rPr>
                        <a:t>279x</a:t>
                      </a:r>
                    </a:p>
                  </a:txBody>
                  <a:tcPr marL="63500" marR="63500" marT="12700" marB="12700" anchor="ctr">
                    <a:solidFill>
                      <a:srgbClr val="FFFFFF"/>
                    </a:solidFill>
                  </a:tcPr>
                </a:tc>
                <a:tc>
                  <a:txBody>
                    <a:bodyPr/>
                    <a:lstStyle/>
                    <a:p>
                      <a:pPr algn="ctr"/>
                      <a:r>
                        <a:rPr sz="1050" b="0" i="0">
                          <a:solidFill>
                            <a:srgbClr val="1F2A37"/>
                          </a:solidFill>
                          <a:latin typeface="Calibri"/>
                        </a:rPr>
                        <a:t>1,069x</a:t>
                      </a:r>
                    </a:p>
                  </a:txBody>
                  <a:tcPr marL="63500" marR="63500" marT="12700" marB="12700" anchor="ctr">
                    <a:solidFill>
                      <a:srgbClr val="FFFFFF"/>
                    </a:solidFill>
                  </a:tcPr>
                </a:tc>
              </a:tr>
              <a:tr h="297180">
                <a:tc>
                  <a:txBody>
                    <a:bodyPr/>
                    <a:lstStyle/>
                    <a:p>
                      <a:pPr algn="l"/>
                      <a:r>
                        <a:rPr sz="1050" b="1" i="0">
                          <a:solidFill>
                            <a:srgbClr val="1F2A37"/>
                          </a:solidFill>
                          <a:latin typeface="Calibri"/>
                        </a:rPr>
                        <a:t>cost of 100 tasks</a:t>
                      </a:r>
                    </a:p>
                  </a:txBody>
                  <a:tcPr marL="63500" marR="63500" marT="12700" marB="12700" anchor="ctr">
                    <a:solidFill>
                      <a:srgbClr val="F4F6F8"/>
                    </a:solidFill>
                  </a:tcPr>
                </a:tc>
                <a:tc>
                  <a:txBody>
                    <a:bodyPr/>
                    <a:lstStyle/>
                    <a:p>
                      <a:pPr algn="ctr"/>
                      <a:r>
                        <a:rPr sz="1050" b="0" i="0">
                          <a:solidFill>
                            <a:srgbClr val="1F2A37"/>
                          </a:solidFill>
                          <a:latin typeface="Calibri"/>
                        </a:rPr>
                        <a:t>$0.06</a:t>
                      </a:r>
                    </a:p>
                  </a:txBody>
                  <a:tcPr marL="63500" marR="63500" marT="12700" marB="12700" anchor="ctr">
                    <a:solidFill>
                      <a:srgbClr val="F4F6F8"/>
                    </a:solidFill>
                  </a:tcPr>
                </a:tc>
                <a:tc>
                  <a:txBody>
                    <a:bodyPr/>
                    <a:lstStyle/>
                    <a:p>
                      <a:pPr algn="ctr"/>
                      <a:r>
                        <a:rPr sz="1050" b="0" i="0">
                          <a:solidFill>
                            <a:srgbClr val="1F2A37"/>
                          </a:solidFill>
                          <a:latin typeface="Calibri"/>
                        </a:rPr>
                        <a:t>$15.38</a:t>
                      </a:r>
                    </a:p>
                  </a:txBody>
                  <a:tcPr marL="63500" marR="63500" marT="12700" marB="12700" anchor="ctr">
                    <a:solidFill>
                      <a:srgbClr val="F4F6F8"/>
                    </a:solidFill>
                  </a:tcPr>
                </a:tc>
                <a:tc>
                  <a:txBody>
                    <a:bodyPr/>
                    <a:lstStyle/>
                    <a:p>
                      <a:pPr algn="ctr"/>
                      <a:r>
                        <a:rPr sz="1050" b="0" i="0">
                          <a:solidFill>
                            <a:srgbClr val="1F2A37"/>
                          </a:solidFill>
                          <a:latin typeface="Calibri"/>
                        </a:rPr>
                        <a:t>$58.88</a:t>
                      </a:r>
                    </a:p>
                  </a:txBody>
                  <a:tcPr marL="63500" marR="63500" marT="12700" marB="12700" anchor="ctr">
                    <a:solidFill>
                      <a:srgbClr val="F4F6F8"/>
                    </a:solidFill>
                  </a:tcPr>
                </a:tc>
              </a:tr>
              <a:tr h="297180">
                <a:tc>
                  <a:txBody>
                    <a:bodyPr/>
                    <a:lstStyle/>
                    <a:p>
                      <a:pPr algn="l"/>
                      <a:r>
                        <a:rPr sz="1050" b="1" i="0">
                          <a:solidFill>
                            <a:srgbClr val="1F2A37"/>
                          </a:solidFill>
                          <a:latin typeface="Calibri"/>
                        </a:rPr>
                        <a:t>input share of tokens</a:t>
                      </a:r>
                    </a:p>
                  </a:txBody>
                  <a:tcPr marL="63500" marR="63500" marT="12700" marB="12700" anchor="ctr">
                    <a:solidFill>
                      <a:srgbClr val="FFFFFF"/>
                    </a:solidFill>
                  </a:tcPr>
                </a:tc>
                <a:tc>
                  <a:txBody>
                    <a:bodyPr/>
                    <a:lstStyle/>
                    <a:p>
                      <a:pPr algn="ctr"/>
                      <a:r>
                        <a:rPr sz="1050" b="0" i="0">
                          <a:solidFill>
                            <a:srgbClr val="1F2A37"/>
                          </a:solidFill>
                          <a:latin typeface="Calibri"/>
                        </a:rPr>
                        <a:t>66%</a:t>
                      </a:r>
                    </a:p>
                  </a:txBody>
                  <a:tcPr marL="63500" marR="63500" marT="12700" marB="12700" anchor="ctr">
                    <a:solidFill>
                      <a:srgbClr val="FFFFFF"/>
                    </a:solidFill>
                  </a:tcPr>
                </a:tc>
                <a:tc>
                  <a:txBody>
                    <a:bodyPr/>
                    <a:lstStyle/>
                    <a:p>
                      <a:pPr algn="ctr"/>
                      <a:r>
                        <a:rPr sz="1050" b="0" i="0">
                          <a:solidFill>
                            <a:srgbClr val="1F2A37"/>
                          </a:solidFill>
                          <a:latin typeface="Calibri"/>
                        </a:rPr>
                        <a:t>98%</a:t>
                      </a:r>
                    </a:p>
                  </a:txBody>
                  <a:tcPr marL="63500" marR="63500" marT="12700" marB="12700" anchor="ctr">
                    <a:solidFill>
                      <a:srgbClr val="FFFFFF"/>
                    </a:solidFill>
                  </a:tcPr>
                </a:tc>
                <a:tc>
                  <a:txBody>
                    <a:bodyPr/>
                    <a:lstStyle/>
                    <a:p>
                      <a:pPr algn="ctr"/>
                      <a:r>
                        <a:rPr sz="1050" b="0" i="0">
                          <a:solidFill>
                            <a:srgbClr val="1F2A37"/>
                          </a:solidFill>
                          <a:latin typeface="Calibri"/>
                        </a:rPr>
                        <a:t>92%</a:t>
                      </a:r>
                    </a:p>
                  </a:txBody>
                  <a:tcPr marL="63500" marR="63500" marT="12700" marB="12700" anchor="ctr">
                    <a:solidFill>
                      <a:srgbClr val="FFFFFF"/>
                    </a:solidFill>
                  </a:tcPr>
                </a:tc>
              </a:tr>
              <a:tr h="297180">
                <a:tc>
                  <a:txBody>
                    <a:bodyPr/>
                    <a:lstStyle/>
                    <a:p>
                      <a:pPr algn="l"/>
                      <a:r>
                        <a:rPr sz="1050" b="1" i="0">
                          <a:solidFill>
                            <a:srgbClr val="1F2A37"/>
                          </a:solidFill>
                          <a:latin typeface="Calibri"/>
                        </a:rPr>
                        <a:t>input share of COST</a:t>
                      </a:r>
                    </a:p>
                  </a:txBody>
                  <a:tcPr marL="63500" marR="63500" marT="12700" marB="12700" anchor="ctr">
                    <a:solidFill>
                      <a:srgbClr val="F4F6F8"/>
                    </a:solidFill>
                  </a:tcPr>
                </a:tc>
                <a:tc>
                  <a:txBody>
                    <a:bodyPr/>
                    <a:lstStyle/>
                    <a:p>
                      <a:pPr algn="ctr"/>
                      <a:r>
                        <a:rPr sz="1050" b="0" i="0">
                          <a:solidFill>
                            <a:srgbClr val="1F2A37"/>
                          </a:solidFill>
                          <a:latin typeface="Calibri"/>
                        </a:rPr>
                        <a:t>31%</a:t>
                      </a:r>
                    </a:p>
                  </a:txBody>
                  <a:tcPr marL="63500" marR="63500" marT="12700" marB="12700" anchor="ctr">
                    <a:solidFill>
                      <a:srgbClr val="F4F6F8"/>
                    </a:solidFill>
                  </a:tcPr>
                </a:tc>
                <a:tc>
                  <a:txBody>
                    <a:bodyPr/>
                    <a:lstStyle/>
                    <a:p>
                      <a:pPr algn="ctr"/>
                      <a:r>
                        <a:rPr sz="1050" b="0" i="0">
                          <a:solidFill>
                            <a:srgbClr val="1F2A37"/>
                          </a:solidFill>
                          <a:latin typeface="Calibri"/>
                        </a:rPr>
                        <a:t>90%</a:t>
                      </a:r>
                    </a:p>
                  </a:txBody>
                  <a:tcPr marL="63500" marR="63500" marT="12700" marB="12700" anchor="ctr">
                    <a:solidFill>
                      <a:srgbClr val="F4F6F8"/>
                    </a:solidFill>
                  </a:tcPr>
                </a:tc>
                <a:tc>
                  <a:txBody>
                    <a:bodyPr/>
                    <a:lstStyle/>
                    <a:p>
                      <a:pPr algn="ctr"/>
                      <a:r>
                        <a:rPr sz="1050" b="0" i="0">
                          <a:solidFill>
                            <a:srgbClr val="1F2A37"/>
                          </a:solidFill>
                          <a:latin typeface="Calibri"/>
                        </a:rPr>
                        <a:t>57%</a:t>
                      </a:r>
                    </a:p>
                  </a:txBody>
                  <a:tcPr marL="63500" marR="63500" marT="12700" marB="12700" anchor="ctr">
                    <a:solidFill>
                      <a:srgbClr val="F4F6F8"/>
                    </a:solidFill>
                  </a:tcPr>
                </a:tc>
              </a:tr>
              <a:tr h="297180">
                <a:tc>
                  <a:txBody>
                    <a:bodyPr/>
                    <a:lstStyle/>
                    <a:p>
                      <a:pPr algn="l"/>
                      <a:r>
                        <a:rPr sz="1050" b="1" i="0">
                          <a:solidFill>
                            <a:srgbClr val="1F2A37"/>
                          </a:solidFill>
                          <a:latin typeface="Calibri"/>
                        </a:rPr>
                        <a:t>median task latency</a:t>
                      </a:r>
                    </a:p>
                  </a:txBody>
                  <a:tcPr marL="63500" marR="63500" marT="12700" marB="12700" anchor="ctr">
                    <a:solidFill>
                      <a:srgbClr val="FFFFFF"/>
                    </a:solidFill>
                  </a:tcPr>
                </a:tc>
                <a:tc>
                  <a:txBody>
                    <a:bodyPr/>
                    <a:lstStyle/>
                    <a:p>
                      <a:pPr algn="ctr"/>
                      <a:r>
                        <a:rPr sz="1050" b="0" i="0">
                          <a:solidFill>
                            <a:srgbClr val="1F2A37"/>
                          </a:solidFill>
                          <a:latin typeface="Calibri"/>
                        </a:rPr>
                        <a:t>4.9 s</a:t>
                      </a:r>
                    </a:p>
                  </a:txBody>
                  <a:tcPr marL="63500" marR="63500" marT="12700" marB="12700" anchor="ctr">
                    <a:solidFill>
                      <a:srgbClr val="FFFFFF"/>
                    </a:solidFill>
                  </a:tcPr>
                </a:tc>
                <a:tc>
                  <a:txBody>
                    <a:bodyPr/>
                    <a:lstStyle/>
                    <a:p>
                      <a:pPr algn="ctr"/>
                      <a:r>
                        <a:rPr sz="1050" b="0" i="0">
                          <a:solidFill>
                            <a:srgbClr val="1F2A37"/>
                          </a:solidFill>
                          <a:latin typeface="Calibri"/>
                        </a:rPr>
                        <a:t>84 s</a:t>
                      </a:r>
                    </a:p>
                  </a:txBody>
                  <a:tcPr marL="63500" marR="63500" marT="12700" marB="12700" anchor="ctr">
                    <a:solidFill>
                      <a:srgbClr val="FFFFFF"/>
                    </a:solidFill>
                  </a:tcPr>
                </a:tc>
                <a:tc>
                  <a:txBody>
                    <a:bodyPr/>
                    <a:lstStyle/>
                    <a:p>
                      <a:pPr algn="ctr"/>
                      <a:r>
                        <a:rPr sz="1050" b="0" i="0">
                          <a:solidFill>
                            <a:srgbClr val="1F2A37"/>
                          </a:solidFill>
                          <a:latin typeface="Calibri"/>
                        </a:rPr>
                        <a:t>264 s</a:t>
                      </a:r>
                    </a:p>
                  </a:txBody>
                  <a:tcPr marL="63500" marR="63500" marT="12700" marB="12700" anchor="ctr">
                    <a:solidFill>
                      <a:srgbClr val="FFFFFF"/>
                    </a:solidFill>
                  </a:tcPr>
                </a:tc>
              </a:tr>
              <a:tr h="297180">
                <a:tc>
                  <a:txBody>
                    <a:bodyPr/>
                    <a:lstStyle/>
                    <a:p>
                      <a:pPr algn="l"/>
                      <a:r>
                        <a:rPr sz="1050" b="1" i="0">
                          <a:solidFill>
                            <a:srgbClr val="1F2A37"/>
                          </a:solidFill>
                          <a:latin typeface="Calibri"/>
                        </a:rPr>
                        <a:t>… of it inside model calls</a:t>
                      </a:r>
                    </a:p>
                  </a:txBody>
                  <a:tcPr marL="63500" marR="63500" marT="12700" marB="12700" anchor="ctr">
                    <a:solidFill>
                      <a:srgbClr val="F4F6F8"/>
                    </a:solidFill>
                  </a:tcPr>
                </a:tc>
                <a:tc>
                  <a:txBody>
                    <a:bodyPr/>
                    <a:lstStyle/>
                    <a:p>
                      <a:pPr algn="ctr"/>
                      <a:r>
                        <a:rPr sz="1050" b="0" i="0">
                          <a:solidFill>
                            <a:srgbClr val="1F2A37"/>
                          </a:solidFill>
                          <a:latin typeface="Calibri"/>
                        </a:rPr>
                        <a:t>90%</a:t>
                      </a:r>
                    </a:p>
                  </a:txBody>
                  <a:tcPr marL="63500" marR="63500" marT="12700" marB="12700" anchor="ctr">
                    <a:solidFill>
                      <a:srgbClr val="F4F6F8"/>
                    </a:solidFill>
                  </a:tcPr>
                </a:tc>
                <a:tc>
                  <a:txBody>
                    <a:bodyPr/>
                    <a:lstStyle/>
                    <a:p>
                      <a:pPr algn="ctr"/>
                      <a:r>
                        <a:rPr sz="1050" b="0" i="0">
                          <a:solidFill>
                            <a:srgbClr val="1F2A37"/>
                          </a:solidFill>
                          <a:latin typeface="Calibri"/>
                        </a:rPr>
                        <a:t>58%</a:t>
                      </a:r>
                    </a:p>
                  </a:txBody>
                  <a:tcPr marL="63500" marR="63500" marT="12700" marB="12700" anchor="ctr">
                    <a:solidFill>
                      <a:srgbClr val="F4F6F8"/>
                    </a:solidFill>
                  </a:tcPr>
                </a:tc>
                <a:tc>
                  <a:txBody>
                    <a:bodyPr/>
                    <a:lstStyle/>
                    <a:p>
                      <a:pPr algn="ctr"/>
                      <a:r>
                        <a:rPr sz="1050" b="0" i="0">
                          <a:solidFill>
                            <a:srgbClr val="1F2A37"/>
                          </a:solidFill>
                          <a:latin typeface="Calibri"/>
                        </a:rPr>
                        <a:t>96%</a:t>
                      </a:r>
                    </a:p>
                  </a:txBody>
                  <a:tcPr marL="63500" marR="63500" marT="12700" marB="12700" anchor="ctr">
                    <a:solidFill>
                      <a:srgbClr val="F4F6F8"/>
                    </a:solidFill>
                  </a:tcPr>
                </a:tc>
              </a:tr>
              <a:tr h="297180">
                <a:tc>
                  <a:txBody>
                    <a:bodyPr/>
                    <a:lstStyle/>
                    <a:p>
                      <a:pPr algn="l"/>
                      <a:r>
                        <a:rPr sz="1050" b="1" i="0">
                          <a:solidFill>
                            <a:srgbClr val="1F2A37"/>
                          </a:solidFill>
                          <a:latin typeface="Calibri"/>
                        </a:rPr>
                        <a:t>pass rate</a:t>
                      </a:r>
                    </a:p>
                  </a:txBody>
                  <a:tcPr marL="63500" marR="63500" marT="12700" marB="12700" anchor="ctr">
                    <a:solidFill>
                      <a:srgbClr val="FFFFFF"/>
                    </a:solidFill>
                  </a:tcPr>
                </a:tc>
                <a:tc>
                  <a:txBody>
                    <a:bodyPr/>
                    <a:lstStyle/>
                    <a:p>
                      <a:pPr algn="ctr"/>
                      <a:r>
                        <a:rPr sz="1050" b="0" i="0">
                          <a:solidFill>
                            <a:srgbClr val="1F2A37"/>
                          </a:solidFill>
                          <a:latin typeface="Calibri"/>
                        </a:rPr>
                        <a:t>0.97</a:t>
                      </a:r>
                    </a:p>
                  </a:txBody>
                  <a:tcPr marL="63500" marR="63500" marT="12700" marB="12700" anchor="ctr">
                    <a:solidFill>
                      <a:srgbClr val="FFFFFF"/>
                    </a:solidFill>
                  </a:tcPr>
                </a:tc>
                <a:tc>
                  <a:txBody>
                    <a:bodyPr/>
                    <a:lstStyle/>
                    <a:p>
                      <a:pPr algn="ctr"/>
                      <a:r>
                        <a:rPr sz="1050" b="0" i="0">
                          <a:solidFill>
                            <a:srgbClr val="1F2A37"/>
                          </a:solidFill>
                          <a:latin typeface="Calibri"/>
                        </a:rPr>
                        <a:t>0.83</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6309360" y="1188720"/>
          <a:ext cx="5440680" cy="2377440"/>
        </p:xfrm>
        <a:graphic>
          <a:graphicData uri="http://schemas.openxmlformats.org/drawingml/2006/table">
            <a:tbl>
              <a:tblPr firstRow="1">
                <a:tableStyleId>{5C22544A-7EE6-4342-B048-85BDC9FD1C3A}</a:tableStyleId>
              </a:tblPr>
              <a:tblGrid>
                <a:gridCol w="2331720"/>
                <a:gridCol w="1554480"/>
                <a:gridCol w="1554480"/>
              </a:tblGrid>
              <a:tr h="339634">
                <a:tc>
                  <a:txBody>
                    <a:bodyPr/>
                    <a:lstStyle/>
                    <a:p>
                      <a:pPr algn="l"/>
                      <a:r>
                        <a:rPr sz="1050" b="1" i="0">
                          <a:solidFill>
                            <a:srgbClr val="FFFFFF"/>
                          </a:solidFill>
                          <a:latin typeface="Calibri"/>
                        </a:rPr>
                        <a:t>same 5 gsm8k tasks, p=4</a:t>
                      </a:r>
                    </a:p>
                  </a:txBody>
                  <a:tcPr marL="63500" marR="63500" marT="12700" marB="12700" anchor="ctr">
                    <a:solidFill>
                      <a:srgbClr val="1B3A5C"/>
                    </a:solidFill>
                  </a:tcPr>
                </a:tc>
                <a:tc>
                  <a:txBody>
                    <a:bodyPr/>
                    <a:lstStyle/>
                    <a:p>
                      <a:pPr algn="ctr"/>
                      <a:r>
                        <a:rPr sz="1050" b="1" i="0">
                          <a:solidFill>
                            <a:srgbClr val="FFFFFF"/>
                          </a:solidFill>
                          <a:latin typeface="Calibri"/>
                        </a:rPr>
                        <a:t>gpt-4.1</a:t>
                      </a:r>
                    </a:p>
                  </a:txBody>
                  <a:tcPr marL="63500" marR="63500" marT="12700" marB="12700" anchor="ctr">
                    <a:solidFill>
                      <a:srgbClr val="1B3A5C"/>
                    </a:solidFill>
                  </a:tcPr>
                </a:tc>
                <a:tc>
                  <a:txBody>
                    <a:bodyPr/>
                    <a:lstStyle/>
                    <a:p>
                      <a:pPr algn="ctr"/>
                      <a:r>
                        <a:rPr sz="1050" b="1" i="0">
                          <a:solidFill>
                            <a:srgbClr val="FFFFFF"/>
                          </a:solidFill>
                          <a:latin typeface="Calibri"/>
                        </a:rPr>
                        <a:t>gpt-5-mini</a:t>
                      </a:r>
                    </a:p>
                  </a:txBody>
                  <a:tcPr marL="63500" marR="63500" marT="12700" marB="12700" anchor="ctr">
                    <a:solidFill>
                      <a:srgbClr val="1B3A5C"/>
                    </a:solidFill>
                  </a:tcPr>
                </a:tc>
              </a:tr>
              <a:tr h="339634">
                <a:tc>
                  <a:txBody>
                    <a:bodyPr/>
                    <a:lstStyle/>
                    <a:p>
                      <a:pPr algn="l"/>
                      <a:r>
                        <a:rPr sz="1050" b="1" i="0">
                          <a:solidFill>
                            <a:srgbClr val="1F2A37"/>
                          </a:solidFill>
                          <a:latin typeface="Calibri"/>
                        </a:rPr>
                        <a:t>pass rate  (OCP / KinD)</a:t>
                      </a:r>
                    </a:p>
                  </a:txBody>
                  <a:tcPr marL="63500" marR="63500" marT="12700" marB="12700" anchor="ctr">
                    <a:solidFill>
                      <a:srgbClr val="FFFFFF"/>
                    </a:solidFill>
                  </a:tcPr>
                </a:tc>
                <a:tc>
                  <a:txBody>
                    <a:bodyPr/>
                    <a:lstStyle/>
                    <a:p>
                      <a:pPr algn="ctr"/>
                      <a:r>
                        <a:rPr sz="1050" b="0" i="0">
                          <a:solidFill>
                            <a:srgbClr val="1F2A37"/>
                          </a:solidFill>
                          <a:latin typeface="Calibri"/>
                        </a:rPr>
                        <a:t>0.80 / 1.00</a:t>
                      </a:r>
                    </a:p>
                  </a:txBody>
                  <a:tcPr marL="63500" marR="63500" marT="12700" marB="12700" anchor="ctr">
                    <a:solidFill>
                      <a:srgbClr val="FFFFFF"/>
                    </a:solidFill>
                  </a:tcPr>
                </a:tc>
                <a:tc>
                  <a:txBody>
                    <a:bodyPr/>
                    <a:lstStyle/>
                    <a:p>
                      <a:pPr algn="ctr"/>
                      <a:r>
                        <a:rPr sz="1050" b="0" i="0">
                          <a:solidFill>
                            <a:srgbClr val="1F2A37"/>
                          </a:solidFill>
                          <a:latin typeface="Calibri"/>
                        </a:rPr>
                        <a:t>1.00 / 1.00</a:t>
                      </a:r>
                    </a:p>
                  </a:txBody>
                  <a:tcPr marL="63500" marR="63500" marT="12700" marB="12700" anchor="ctr">
                    <a:solidFill>
                      <a:srgbClr val="FFFFFF"/>
                    </a:solidFill>
                  </a:tcPr>
                </a:tc>
              </a:tr>
              <a:tr h="339634">
                <a:tc>
                  <a:txBody>
                    <a:bodyPr/>
                    <a:lstStyle/>
                    <a:p>
                      <a:pPr algn="l"/>
                      <a:r>
                        <a:rPr sz="1050" b="1" i="0">
                          <a:solidFill>
                            <a:srgbClr val="1F2A37"/>
                          </a:solidFill>
                          <a:latin typeface="Calibri"/>
                        </a:rPr>
                        <a:t>LLM calls per task</a:t>
                      </a:r>
                    </a:p>
                  </a:txBody>
                  <a:tcPr marL="63500" marR="63500" marT="12700" marB="12700" anchor="ctr">
                    <a:solidFill>
                      <a:srgbClr val="F4F6F8"/>
                    </a:solidFill>
                  </a:tcPr>
                </a:tc>
                <a:tc>
                  <a:txBody>
                    <a:bodyPr/>
                    <a:lstStyle/>
                    <a:p>
                      <a:pPr algn="ctr"/>
                      <a:r>
                        <a:rPr sz="1050" b="0" i="0">
                          <a:solidFill>
                            <a:srgbClr val="1F2A37"/>
                          </a:solidFill>
                          <a:latin typeface="Calibri"/>
                        </a:rPr>
                        <a:t>2.8 – 3.0</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r>
              <a:tr h="339634">
                <a:tc>
                  <a:txBody>
                    <a:bodyPr/>
                    <a:lstStyle/>
                    <a:p>
                      <a:pPr algn="l"/>
                      <a:r>
                        <a:rPr sz="1050" b="1" i="0">
                          <a:solidFill>
                            <a:srgbClr val="1F2A37"/>
                          </a:solidFill>
                          <a:latin typeface="Calibri"/>
                        </a:rPr>
                        <a:t>input tokens per task</a:t>
                      </a:r>
                    </a:p>
                  </a:txBody>
                  <a:tcPr marL="63500" marR="63500" marT="12700" marB="12700" anchor="ctr">
                    <a:solidFill>
                      <a:srgbClr val="FFFFFF"/>
                    </a:solidFill>
                  </a:tcPr>
                </a:tc>
                <a:tc>
                  <a:txBody>
                    <a:bodyPr/>
                    <a:lstStyle/>
                    <a:p>
                      <a:pPr algn="ctr"/>
                      <a:r>
                        <a:rPr sz="1050" b="0" i="0">
                          <a:solidFill>
                            <a:srgbClr val="1F2A37"/>
                          </a:solidFill>
                          <a:latin typeface="Calibri"/>
                        </a:rPr>
                        <a:t>775 – 837</a:t>
                      </a:r>
                    </a:p>
                  </a:txBody>
                  <a:tcPr marL="63500" marR="63500" marT="12700" marB="12700" anchor="ctr">
                    <a:solidFill>
                      <a:srgbClr val="FFFFFF"/>
                    </a:solidFill>
                  </a:tcPr>
                </a:tc>
                <a:tc>
                  <a:txBody>
                    <a:bodyPr/>
                    <a:lstStyle/>
                    <a:p>
                      <a:pPr algn="ctr"/>
                      <a:r>
                        <a:rPr sz="1050" b="0" i="0">
                          <a:solidFill>
                            <a:srgbClr val="1F2A37"/>
                          </a:solidFill>
                          <a:latin typeface="Calibri"/>
                        </a:rPr>
                        <a:t>313</a:t>
                      </a:r>
                    </a:p>
                  </a:txBody>
                  <a:tcPr marL="63500" marR="63500" marT="12700" marB="12700" anchor="ctr">
                    <a:solidFill>
                      <a:srgbClr val="FFFFFF"/>
                    </a:solidFill>
                  </a:tcPr>
                </a:tc>
              </a:tr>
              <a:tr h="339634">
                <a:tc>
                  <a:txBody>
                    <a:bodyPr/>
                    <a:lstStyle/>
                    <a:p>
                      <a:pPr algn="l"/>
                      <a:r>
                        <a:rPr sz="1050" b="1" i="0">
                          <a:solidFill>
                            <a:srgbClr val="1F2A37"/>
                          </a:solidFill>
                          <a:latin typeface="Calibri"/>
                        </a:rPr>
                        <a:t>output tokens per task</a:t>
                      </a:r>
                    </a:p>
                  </a:txBody>
                  <a:tcPr marL="63500" marR="63500" marT="12700" marB="12700" anchor="ctr">
                    <a:solidFill>
                      <a:srgbClr val="F4F6F8"/>
                    </a:solidFill>
                  </a:tcPr>
                </a:tc>
                <a:tc>
                  <a:txBody>
                    <a:bodyPr/>
                    <a:lstStyle/>
                    <a:p>
                      <a:pPr algn="ctr"/>
                      <a:r>
                        <a:rPr sz="1050" b="0" i="0">
                          <a:solidFill>
                            <a:srgbClr val="1F2A37"/>
                          </a:solidFill>
                          <a:latin typeface="Calibri"/>
                        </a:rPr>
                        <a:t>57 – 63</a:t>
                      </a:r>
                    </a:p>
                  </a:txBody>
                  <a:tcPr marL="63500" marR="63500" marT="12700" marB="12700" anchor="ctr">
                    <a:solidFill>
                      <a:srgbClr val="F4F6F8"/>
                    </a:solidFill>
                  </a:tcPr>
                </a:tc>
                <a:tc>
                  <a:txBody>
                    <a:bodyPr/>
                    <a:lstStyle/>
                    <a:p>
                      <a:pPr algn="ctr"/>
                      <a:r>
                        <a:rPr sz="1050" b="0" i="0">
                          <a:solidFill>
                            <a:srgbClr val="1F2A37"/>
                          </a:solidFill>
                          <a:latin typeface="Calibri"/>
                        </a:rPr>
                        <a:t>125 – 368</a:t>
                      </a:r>
                    </a:p>
                  </a:txBody>
                  <a:tcPr marL="63500" marR="63500" marT="12700" marB="12700" anchor="ctr">
                    <a:solidFill>
                      <a:srgbClr val="F4F6F8"/>
                    </a:solidFill>
                  </a:tcPr>
                </a:tc>
              </a:tr>
              <a:tr h="339634">
                <a:tc>
                  <a:txBody>
                    <a:bodyPr/>
                    <a:lstStyle/>
                    <a:p>
                      <a:pPr algn="l"/>
                      <a:r>
                        <a:rPr sz="1050" b="1" i="0">
                          <a:solidFill>
                            <a:srgbClr val="1F2A37"/>
                          </a:solidFill>
                          <a:latin typeface="Calibri"/>
                        </a:rPr>
                        <a:t>total tokens per task</a:t>
                      </a:r>
                    </a:p>
                  </a:txBody>
                  <a:tcPr marL="63500" marR="63500" marT="12700" marB="12700" anchor="ctr">
                    <a:solidFill>
                      <a:srgbClr val="FFFFFF"/>
                    </a:solidFill>
                  </a:tcPr>
                </a:tc>
                <a:tc>
                  <a:txBody>
                    <a:bodyPr/>
                    <a:lstStyle/>
                    <a:p>
                      <a:pPr algn="ctr"/>
                      <a:r>
                        <a:rPr sz="1050" b="0" i="0">
                          <a:solidFill>
                            <a:srgbClr val="1F2A37"/>
                          </a:solidFill>
                          <a:latin typeface="Calibri"/>
                        </a:rPr>
                        <a:t>832 – 900</a:t>
                      </a:r>
                    </a:p>
                  </a:txBody>
                  <a:tcPr marL="63500" marR="63500" marT="12700" marB="12700" anchor="ctr">
                    <a:solidFill>
                      <a:srgbClr val="FFFFFF"/>
                    </a:solidFill>
                  </a:tcPr>
                </a:tc>
                <a:tc>
                  <a:txBody>
                    <a:bodyPr/>
                    <a:lstStyle/>
                    <a:p>
                      <a:pPr algn="ctr"/>
                      <a:r>
                        <a:rPr sz="1050" b="0" i="0">
                          <a:solidFill>
                            <a:srgbClr val="1F2A37"/>
                          </a:solidFill>
                          <a:latin typeface="Calibri"/>
                        </a:rPr>
                        <a:t>438 – 681</a:t>
                      </a:r>
                    </a:p>
                  </a:txBody>
                  <a:tcPr marL="63500" marR="63500" marT="12700" marB="12700" anchor="ctr">
                    <a:solidFill>
                      <a:srgbClr val="FFFFFF"/>
                    </a:solidFill>
                  </a:tcPr>
                </a:tc>
              </a:tr>
              <a:tr h="339636">
                <a:tc>
                  <a:txBody>
                    <a:bodyPr/>
                    <a:lstStyle/>
                    <a:p>
                      <a:pPr algn="l"/>
                      <a:r>
                        <a:rPr sz="1050" b="1" i="0">
                          <a:solidFill>
                            <a:srgbClr val="1F2A37"/>
                          </a:solidFill>
                          <a:latin typeface="Calibri"/>
                        </a:rPr>
                        <a:t>cost per task</a:t>
                      </a:r>
                    </a:p>
                  </a:txBody>
                  <a:tcPr marL="63500" marR="63500" marT="12700" marB="12700" anchor="ctr">
                    <a:solidFill>
                      <a:srgbClr val="F4F6F8"/>
                    </a:solidFill>
                  </a:tcPr>
                </a:tc>
                <a:tc>
                  <a:txBody>
                    <a:bodyPr/>
                    <a:lstStyle/>
                    <a:p>
                      <a:pPr algn="ctr"/>
                      <a:r>
                        <a:rPr sz="1050" b="0" i="0">
                          <a:solidFill>
                            <a:srgbClr val="1F2A37"/>
                          </a:solidFill>
                          <a:latin typeface="Calibri"/>
                        </a:rPr>
                        <a:t>$0.0020 – 0.0022</a:t>
                      </a:r>
                    </a:p>
                  </a:txBody>
                  <a:tcPr marL="63500" marR="63500" marT="12700" marB="12700" anchor="ctr">
                    <a:solidFill>
                      <a:srgbClr val="F4F6F8"/>
                    </a:solidFill>
                  </a:tcPr>
                </a:tc>
                <a:tc>
                  <a:txBody>
                    <a:bodyPr/>
                    <a:lstStyle/>
                    <a:p>
                      <a:pPr algn="ctr"/>
                      <a:r>
                        <a:rPr sz="1050" b="0" i="0">
                          <a:solidFill>
                            <a:srgbClr val="1F2A37"/>
                          </a:solidFill>
                          <a:latin typeface="Calibri"/>
                        </a:rPr>
                        <a:t>$0.00033 – 0.00081</a:t>
                      </a:r>
                    </a:p>
                  </a:txBody>
                  <a:tcPr marL="63500" marR="63500" marT="12700" marB="12700" anchor="ctr">
                    <a:solidFill>
                      <a:srgbClr val="F4F6F8"/>
                    </a:solidFill>
                  </a:tcPr>
                </a:tc>
              </a:tr>
            </a:tbl>
          </a:graphicData>
        </a:graphic>
      </p:graphicFrame>
      <p:sp>
        <p:nvSpPr>
          <p:cNvPr id="5" name="Rounded Rectangle 4"/>
          <p:cNvSpPr/>
          <p:nvPr/>
        </p:nvSpPr>
        <p:spPr>
          <a:xfrm>
            <a:off x="6309360" y="3749039"/>
            <a:ext cx="5440680" cy="16002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8E44AD"/>
                </a:solidFill>
                <a:latin typeface="Calibri"/>
              </a:rPr>
              <a:t>Same five tasks: gpt-4.1 costs 4.1x gpt-5-mini</a:t>
            </a:r>
          </a:p>
          <a:p>
            <a:pPr algn="ctr"/>
            <a:r>
              <a:rPr sz="1050" b="0" i="0">
                <a:solidFill>
                  <a:srgbClr val="1F2A37"/>
                </a:solidFill>
                <a:latin typeface="Calibri"/>
              </a:rPr>
              <a:t>Mean of its 2 legs against gpt-5-mini's 7; leg-to-leg the ratio spans 2.5x–6.7x, because gpt-5-mini's output length swings with reasoning effort. The reasoning model answers in ONE call; gpt-4.1 needs ~3 tool round-trips. On our card the INPUT side decides it alone — 2.6x the tokens at 8x the price is a 21x input bill, and the output side cannot offset it (gpt-5-mini emits 3.6x more output at a quarter the rate, so the two output bills land within 10% of each other).</a:t>
            </a:r>
          </a:p>
        </p:txBody>
      </p:sp>
      <p:sp>
        <p:nvSpPr>
          <p:cNvPr id="6" name="Rounded Rectangle 5"/>
          <p:cNvSpPr/>
          <p:nvPr/>
        </p:nvSpPr>
        <p:spPr>
          <a:xfrm>
            <a:off x="411480" y="548640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1" i="0">
                <a:solidFill>
                  <a:srgbClr val="1F2A37"/>
                </a:solidFill>
                <a:latin typeface="Calibri"/>
              </a:rPr>
              <a:t>cost per task  =  (input tokens x P_in  +  output tokens x P_out) / 1 M     — which model is cheaper is a property of the PRICE LIST, not of the models: compute it for your own rates.  Money AMPLIFIES the difficulty ladder rather than tracking it (tau2 179x a gsm8k task in tokens but 279x in dollars; appworld 567x but 1,069x), because the harder benchmarks also run the dearer models — a budget scaled off the token ratios is short by 1.6–1.9x.</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7.6 The Rate Card — and Which Way the Dollars Are Wrong">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7.6  The Rate Card — and Which Way the Dollars Are Wrong</a:t>
            </a:r>
          </a:p>
          <a:p>
            <a:r>
              <a:rPr sz="1400" b="0" i="0">
                <a:solidFill>
                  <a:srgbClr val="C9D9EC"/>
                </a:solidFill>
                <a:latin typeface="Calibri"/>
              </a:rPr>
              <a:t>Read off the gateway's admin UI on 2026-09-17 and kept in reference/model_prices.json — posted rates, not an invoice</a:t>
            </a:r>
          </a:p>
        </p:txBody>
      </p:sp>
      <p:graphicFrame>
        <p:nvGraphicFramePr>
          <p:cNvPr id="3" name="Table 2"/>
          <p:cNvGraphicFramePr>
            <a:graphicFrameLocks noGrp="1"/>
          </p:cNvGraphicFramePr>
          <p:nvPr/>
        </p:nvGraphicFramePr>
        <p:xfrm>
          <a:off x="411480" y="1188720"/>
          <a:ext cx="11338560" cy="1783080"/>
        </p:xfrm>
        <a:graphic>
          <a:graphicData uri="http://schemas.openxmlformats.org/drawingml/2006/table">
            <a:tbl>
              <a:tblPr firstRow="1">
                <a:tableStyleId>{5C22544A-7EE6-4342-B048-85BDC9FD1C3A}</a:tableStyleId>
              </a:tblPr>
              <a:tblGrid>
                <a:gridCol w="3931920"/>
                <a:gridCol w="1417320"/>
                <a:gridCol w="1234440"/>
                <a:gridCol w="1234440"/>
                <a:gridCol w="1051560"/>
                <a:gridCol w="2468880"/>
              </a:tblGrid>
              <a:tr h="356616">
                <a:tc>
                  <a:txBody>
                    <a:bodyPr/>
                    <a:lstStyle/>
                    <a:p>
                      <a:pPr algn="l"/>
                      <a:r>
                        <a:rPr sz="1100" b="1" i="0">
                          <a:solidFill>
                            <a:srgbClr val="FFFFFF"/>
                          </a:solidFill>
                          <a:latin typeface="Calibri"/>
                        </a:rPr>
                        <a:t>model (as report.ndjson records it)</a:t>
                      </a:r>
                    </a:p>
                  </a:txBody>
                  <a:tcPr marL="63500" marR="63500" marT="12700" marB="12700" anchor="ctr">
                    <a:solidFill>
                      <a:srgbClr val="1B3A5C"/>
                    </a:solidFill>
                  </a:tcPr>
                </a:tc>
                <a:tc>
                  <a:txBody>
                    <a:bodyPr/>
                    <a:lstStyle/>
                    <a:p>
                      <a:pPr algn="ctr"/>
                      <a:r>
                        <a:rPr sz="1100" b="1" i="0">
                          <a:solidFill>
                            <a:srgbClr val="FFFFFF"/>
                          </a:solidFill>
                          <a:latin typeface="Calibri"/>
                        </a:rPr>
                        <a:t>provider</a:t>
                      </a:r>
                    </a:p>
                  </a:txBody>
                  <a:tcPr marL="63500" marR="63500" marT="12700" marB="12700" anchor="ctr">
                    <a:solidFill>
                      <a:srgbClr val="1B3A5C"/>
                    </a:solidFill>
                  </a:tcPr>
                </a:tc>
                <a:tc>
                  <a:txBody>
                    <a:bodyPr/>
                    <a:lstStyle/>
                    <a:p>
                      <a:pPr algn="ctr"/>
                      <a:r>
                        <a:rPr sz="1100" b="1" i="0">
                          <a:solidFill>
                            <a:srgbClr val="FFFFFF"/>
                          </a:solidFill>
                          <a:latin typeface="Calibri"/>
                        </a:rPr>
                        <a:t>in $/1M</a:t>
                      </a:r>
                    </a:p>
                  </a:txBody>
                  <a:tcPr marL="63500" marR="63500" marT="12700" marB="12700" anchor="ctr">
                    <a:solidFill>
                      <a:srgbClr val="1B3A5C"/>
                    </a:solidFill>
                  </a:tcPr>
                </a:tc>
                <a:tc>
                  <a:txBody>
                    <a:bodyPr/>
                    <a:lstStyle/>
                    <a:p>
                      <a:pPr algn="ctr"/>
                      <a:r>
                        <a:rPr sz="1100" b="1" i="0">
                          <a:solidFill>
                            <a:srgbClr val="FFFFFF"/>
                          </a:solidFill>
                          <a:latin typeface="Calibri"/>
                        </a:rPr>
                        <a:t>out $/1M</a:t>
                      </a:r>
                    </a:p>
                  </a:txBody>
                  <a:tcPr marL="63500" marR="63500" marT="12700" marB="12700" anchor="ctr">
                    <a:solidFill>
                      <a:srgbClr val="1B3A5C"/>
                    </a:solidFill>
                  </a:tcPr>
                </a:tc>
                <a:tc>
                  <a:txBody>
                    <a:bodyPr/>
                    <a:lstStyle/>
                    <a:p>
                      <a:pPr algn="ctr"/>
                      <a:r>
                        <a:rPr sz="1100" b="1" i="0">
                          <a:solidFill>
                            <a:srgbClr val="FFFFFF"/>
                          </a:solidFill>
                          <a:latin typeface="Calibri"/>
                        </a:rPr>
                        <a:t>out/in</a:t>
                      </a:r>
                    </a:p>
                  </a:txBody>
                  <a:tcPr marL="63500" marR="63500" marT="12700" marB="12700" anchor="ctr">
                    <a:solidFill>
                      <a:srgbClr val="1B3A5C"/>
                    </a:solidFill>
                  </a:tcPr>
                </a:tc>
                <a:tc>
                  <a:txBody>
                    <a:bodyPr/>
                    <a:lstStyle/>
                    <a:p>
                      <a:pPr algn="ctr"/>
                      <a:r>
                        <a:rPr sz="1100" b="1" i="0">
                          <a:solidFill>
                            <a:srgbClr val="FFFFFF"/>
                          </a:solidFill>
                          <a:latin typeface="Calibri"/>
                        </a:rPr>
                        <a:t>used by</a:t>
                      </a:r>
                    </a:p>
                  </a:txBody>
                  <a:tcPr marL="63500" marR="63500" marT="12700" marB="12700" anchor="ctr">
                    <a:solidFill>
                      <a:srgbClr val="1B3A5C"/>
                    </a:solidFill>
                  </a:tcPr>
                </a:tc>
              </a:tr>
              <a:tr h="356616">
                <a:tc>
                  <a:txBody>
                    <a:bodyPr/>
                    <a:lstStyle/>
                    <a:p>
                      <a:pPr algn="l"/>
                      <a:r>
                        <a:rPr sz="1100" b="1" i="0">
                          <a:solidFill>
                            <a:srgbClr val="1F2A37"/>
                          </a:solidFill>
                          <a:latin typeface="Calibri"/>
                        </a:rPr>
                        <a:t>Azure/gpt-5-mini-2025-08-07</a:t>
                      </a:r>
                    </a:p>
                  </a:txBody>
                  <a:tcPr marL="63500" marR="63500" marT="12700" marB="12700" anchor="ctr">
                    <a:solidFill>
                      <a:srgbClr val="FFFFFF"/>
                    </a:solidFill>
                  </a:tcPr>
                </a:tc>
                <a:tc>
                  <a:txBody>
                    <a:bodyPr/>
                    <a:lstStyle/>
                    <a:p>
                      <a:pPr algn="ctr"/>
                      <a:r>
                        <a:rPr sz="1100" b="0" i="0">
                          <a:solidFill>
                            <a:srgbClr val="1F2A37"/>
                          </a:solidFill>
                          <a:latin typeface="Calibri"/>
                        </a:rPr>
                        <a:t>azure</a:t>
                      </a:r>
                    </a:p>
                  </a:txBody>
                  <a:tcPr marL="63500" marR="63500" marT="12700" marB="12700" anchor="ctr">
                    <a:solidFill>
                      <a:srgbClr val="FFFFFF"/>
                    </a:solidFill>
                  </a:tcPr>
                </a:tc>
                <a:tc>
                  <a:txBody>
                    <a:bodyPr/>
                    <a:lstStyle/>
                    <a:p>
                      <a:pPr algn="ctr"/>
                      <a:r>
                        <a:rPr sz="1100" b="0" i="0">
                          <a:solidFill>
                            <a:srgbClr val="1F2A37"/>
                          </a:solidFill>
                          <a:latin typeface="Calibri"/>
                        </a:rPr>
                        <a:t>0.25</a:t>
                      </a:r>
                    </a:p>
                  </a:txBody>
                  <a:tcPr marL="63500" marR="63500" marT="12700" marB="12700" anchor="ctr">
                    <a:solidFill>
                      <a:srgbClr val="FFFFFF"/>
                    </a:solidFill>
                  </a:tcPr>
                </a:tc>
                <a:tc>
                  <a:txBody>
                    <a:bodyPr/>
                    <a:lstStyle/>
                    <a:p>
                      <a:pPr algn="ctr"/>
                      <a:r>
                        <a:rPr sz="1100" b="0" i="0">
                          <a:solidFill>
                            <a:srgbClr val="1F2A37"/>
                          </a:solidFill>
                          <a:latin typeface="Calibri"/>
                        </a:rPr>
                        <a:t>2.00</a:t>
                      </a:r>
                    </a:p>
                  </a:txBody>
                  <a:tcPr marL="63500" marR="63500" marT="12700" marB="12700" anchor="ctr">
                    <a:solidFill>
                      <a:srgbClr val="FFFFFF"/>
                    </a:solidFill>
                  </a:tcPr>
                </a:tc>
                <a:tc>
                  <a:txBody>
                    <a:bodyPr/>
                    <a:lstStyle/>
                    <a:p>
                      <a:pPr algn="ctr"/>
                      <a:r>
                        <a:rPr sz="1100" b="0" i="0">
                          <a:solidFill>
                            <a:srgbClr val="1F2A37"/>
                          </a:solidFill>
                          <a:latin typeface="Calibri"/>
                        </a:rPr>
                        <a:t>8.0x</a:t>
                      </a:r>
                    </a:p>
                  </a:txBody>
                  <a:tcPr marL="63500" marR="63500" marT="12700" marB="12700" anchor="ctr">
                    <a:solidFill>
                      <a:srgbClr val="FFFFFF"/>
                    </a:solidFill>
                  </a:tcPr>
                </a:tc>
                <a:tc>
                  <a:txBody>
                    <a:bodyPr/>
                    <a:lstStyle/>
                    <a:p>
                      <a:pPr algn="ctr"/>
                      <a:r>
                        <a:rPr sz="1100" b="0" i="0">
                          <a:solidFill>
                            <a:srgbClr val="1F2A37"/>
                          </a:solidFill>
                          <a:latin typeface="Calibri"/>
                        </a:rPr>
                        <a:t>gsm8k default</a:t>
                      </a:r>
                    </a:p>
                  </a:txBody>
                  <a:tcPr marL="63500" marR="63500" marT="12700" marB="12700" anchor="ctr">
                    <a:solidFill>
                      <a:srgbClr val="FFFFFF"/>
                    </a:solidFill>
                  </a:tcPr>
                </a:tc>
              </a:tr>
              <a:tr h="356616">
                <a:tc>
                  <a:txBody>
                    <a:bodyPr/>
                    <a:lstStyle/>
                    <a:p>
                      <a:pPr algn="l"/>
                      <a:r>
                        <a:rPr sz="1100" b="1" i="0">
                          <a:solidFill>
                            <a:srgbClr val="1F2A37"/>
                          </a:solidFill>
                          <a:latin typeface="Calibri"/>
                        </a:rPr>
                        <a:t>gemini-2.5-pro</a:t>
                      </a:r>
                    </a:p>
                  </a:txBody>
                  <a:tcPr marL="63500" marR="63500" marT="12700" marB="12700" anchor="ctr">
                    <a:solidFill>
                      <a:srgbClr val="F4F6F8"/>
                    </a:solidFill>
                  </a:tcPr>
                </a:tc>
                <a:tc>
                  <a:txBody>
                    <a:bodyPr/>
                    <a:lstStyle/>
                    <a:p>
                      <a:pPr algn="ctr"/>
                      <a:r>
                        <a:rPr sz="1100" b="0" i="0">
                          <a:solidFill>
                            <a:srgbClr val="1F2A37"/>
                          </a:solidFill>
                          <a:latin typeface="Calibri"/>
                        </a:rPr>
                        <a:t>vertex_ai</a:t>
                      </a:r>
                    </a:p>
                  </a:txBody>
                  <a:tcPr marL="63500" marR="63500" marT="12700" marB="12700" anchor="ctr">
                    <a:solidFill>
                      <a:srgbClr val="F4F6F8"/>
                    </a:solidFill>
                  </a:tcPr>
                </a:tc>
                <a:tc>
                  <a:txBody>
                    <a:bodyPr/>
                    <a:lstStyle/>
                    <a:p>
                      <a:pPr algn="ctr"/>
                      <a:r>
                        <a:rPr sz="1100" b="0" i="0">
                          <a:solidFill>
                            <a:srgbClr val="1F2A37"/>
                          </a:solidFill>
                          <a:latin typeface="Calibri"/>
                        </a:rPr>
                        <a:t>1.25</a:t>
                      </a:r>
                    </a:p>
                  </a:txBody>
                  <a:tcPr marL="63500" marR="63500" marT="12700" marB="12700" anchor="ctr">
                    <a:solidFill>
                      <a:srgbClr val="F4F6F8"/>
                    </a:solidFill>
                  </a:tcPr>
                </a:tc>
                <a:tc>
                  <a:txBody>
                    <a:bodyPr/>
                    <a:lstStyle/>
                    <a:p>
                      <a:pPr algn="ctr"/>
                      <a:r>
                        <a:rPr sz="1100" b="0" i="0">
                          <a:solidFill>
                            <a:srgbClr val="1F2A37"/>
                          </a:solidFill>
                          <a:latin typeface="Calibri"/>
                        </a:rPr>
                        <a:t>10.00</a:t>
                      </a:r>
                    </a:p>
                  </a:txBody>
                  <a:tcPr marL="63500" marR="63500" marT="12700" marB="12700" anchor="ctr">
                    <a:solidFill>
                      <a:srgbClr val="F4F6F8"/>
                    </a:solidFill>
                  </a:tcPr>
                </a:tc>
                <a:tc>
                  <a:txBody>
                    <a:bodyPr/>
                    <a:lstStyle/>
                    <a:p>
                      <a:pPr algn="ctr"/>
                      <a:r>
                        <a:rPr sz="1100" b="0" i="0">
                          <a:solidFill>
                            <a:srgbClr val="1F2A37"/>
                          </a:solidFill>
                          <a:latin typeface="Calibri"/>
                        </a:rPr>
                        <a:t>8.0x</a:t>
                      </a:r>
                    </a:p>
                  </a:txBody>
                  <a:tcPr marL="63500" marR="63500" marT="12700" marB="12700" anchor="ctr">
                    <a:solidFill>
                      <a:srgbClr val="F4F6F8"/>
                    </a:solidFill>
                  </a:tcPr>
                </a:tc>
                <a:tc>
                  <a:txBody>
                    <a:bodyPr/>
                    <a:lstStyle/>
                    <a:p>
                      <a:pPr algn="ctr"/>
                      <a:r>
                        <a:rPr sz="1100" b="0" i="0">
                          <a:solidFill>
                            <a:srgbClr val="1F2A37"/>
                          </a:solidFill>
                          <a:latin typeface="Calibri"/>
                        </a:rPr>
                        <a:t>appworld</a:t>
                      </a:r>
                    </a:p>
                  </a:txBody>
                  <a:tcPr marL="63500" marR="63500" marT="12700" marB="12700" anchor="ctr">
                    <a:solidFill>
                      <a:srgbClr val="F4F6F8"/>
                    </a:solidFill>
                  </a:tcPr>
                </a:tc>
              </a:tr>
              <a:tr h="356616">
                <a:tc>
                  <a:txBody>
                    <a:bodyPr/>
                    <a:lstStyle/>
                    <a:p>
                      <a:pPr algn="l"/>
                      <a:r>
                        <a:rPr sz="1100" b="1" i="0">
                          <a:solidFill>
                            <a:srgbClr val="1F2A37"/>
                          </a:solidFill>
                          <a:latin typeface="Calibri"/>
                        </a:rPr>
                        <a:t>aws/claude-sonnet-5</a:t>
                      </a:r>
                    </a:p>
                  </a:txBody>
                  <a:tcPr marL="63500" marR="63500" marT="12700" marB="12700" anchor="ctr">
                    <a:solidFill>
                      <a:srgbClr val="FFFFFF"/>
                    </a:solidFill>
                  </a:tcPr>
                </a:tc>
                <a:tc>
                  <a:txBody>
                    <a:bodyPr/>
                    <a:lstStyle/>
                    <a:p>
                      <a:pPr algn="ctr"/>
                      <a:r>
                        <a:rPr sz="1100" b="0" i="0">
                          <a:solidFill>
                            <a:srgbClr val="1F2A37"/>
                          </a:solidFill>
                          <a:latin typeface="Calibri"/>
                        </a:rPr>
                        <a:t>bedrock</a:t>
                      </a:r>
                    </a:p>
                  </a:txBody>
                  <a:tcPr marL="63500" marR="63500" marT="12700" marB="12700" anchor="ctr">
                    <a:solidFill>
                      <a:srgbClr val="FFFFFF"/>
                    </a:solidFill>
                  </a:tcPr>
                </a:tc>
                <a:tc>
                  <a:txBody>
                    <a:bodyPr/>
                    <a:lstStyle/>
                    <a:p>
                      <a:pPr algn="ctr"/>
                      <a:r>
                        <a:rPr sz="1100" b="0" i="0">
                          <a:solidFill>
                            <a:srgbClr val="1F2A37"/>
                          </a:solidFill>
                          <a:latin typeface="Calibri"/>
                        </a:rPr>
                        <a:t>1.52</a:t>
                      </a:r>
                    </a:p>
                  </a:txBody>
                  <a:tcPr marL="63500" marR="63500" marT="12700" marB="12700" anchor="ctr">
                    <a:solidFill>
                      <a:srgbClr val="FFFFFF"/>
                    </a:solidFill>
                  </a:tcPr>
                </a:tc>
                <a:tc>
                  <a:txBody>
                    <a:bodyPr/>
                    <a:lstStyle/>
                    <a:p>
                      <a:pPr algn="ctr"/>
                      <a:r>
                        <a:rPr sz="1100" b="0" i="0">
                          <a:solidFill>
                            <a:srgbClr val="1F2A37"/>
                          </a:solidFill>
                          <a:latin typeface="Calibri"/>
                        </a:rPr>
                        <a:t>7.60</a:t>
                      </a:r>
                    </a:p>
                  </a:txBody>
                  <a:tcPr marL="63500" marR="63500" marT="12700" marB="12700" anchor="ctr">
                    <a:solidFill>
                      <a:srgbClr val="FFFFFF"/>
                    </a:solidFill>
                  </a:tcPr>
                </a:tc>
                <a:tc>
                  <a:txBody>
                    <a:bodyPr/>
                    <a:lstStyle/>
                    <a:p>
                      <a:pPr algn="ctr"/>
                      <a:r>
                        <a:rPr sz="1100" b="0" i="0">
                          <a:solidFill>
                            <a:srgbClr val="1F2A37"/>
                          </a:solidFill>
                          <a:latin typeface="Calibri"/>
                        </a:rPr>
                        <a:t>5.0x</a:t>
                      </a:r>
                    </a:p>
                  </a:txBody>
                  <a:tcPr marL="63500" marR="63500" marT="12700" marB="12700" anchor="ctr">
                    <a:solidFill>
                      <a:srgbClr val="FFFFFF"/>
                    </a:solidFill>
                  </a:tcPr>
                </a:tc>
                <a:tc>
                  <a:txBody>
                    <a:bodyPr/>
                    <a:lstStyle/>
                    <a:p>
                      <a:pPr algn="ctr"/>
                      <a:r>
                        <a:rPr sz="1100" b="0" i="0">
                          <a:solidFill>
                            <a:srgbClr val="1F2A37"/>
                          </a:solidFill>
                          <a:latin typeface="Calibri"/>
                        </a:rPr>
                        <a:t>tau2</a:t>
                      </a:r>
                    </a:p>
                  </a:txBody>
                  <a:tcPr marL="63500" marR="63500" marT="12700" marB="12700" anchor="ctr">
                    <a:solidFill>
                      <a:srgbClr val="FFFFFF"/>
                    </a:solidFill>
                  </a:tcPr>
                </a:tc>
              </a:tr>
              <a:tr h="356616">
                <a:tc>
                  <a:txBody>
                    <a:bodyPr/>
                    <a:lstStyle/>
                    <a:p>
                      <a:pPr algn="l"/>
                      <a:r>
                        <a:rPr sz="1100" b="1" i="0">
                          <a:solidFill>
                            <a:srgbClr val="1F2A37"/>
                          </a:solidFill>
                          <a:latin typeface="Calibri"/>
                        </a:rPr>
                        <a:t>Azure/gpt-4.1</a:t>
                      </a:r>
                    </a:p>
                  </a:txBody>
                  <a:tcPr marL="63500" marR="63500" marT="12700" marB="12700" anchor="ctr">
                    <a:solidFill>
                      <a:srgbClr val="F4F6F8"/>
                    </a:solidFill>
                  </a:tcPr>
                </a:tc>
                <a:tc>
                  <a:txBody>
                    <a:bodyPr/>
                    <a:lstStyle/>
                    <a:p>
                      <a:pPr algn="ctr"/>
                      <a:r>
                        <a:rPr sz="1100" b="0" i="0">
                          <a:solidFill>
                            <a:srgbClr val="1F2A37"/>
                          </a:solidFill>
                          <a:latin typeface="Calibri"/>
                        </a:rPr>
                        <a:t>azure</a:t>
                      </a:r>
                    </a:p>
                  </a:txBody>
                  <a:tcPr marL="63500" marR="63500" marT="12700" marB="12700" anchor="ctr">
                    <a:solidFill>
                      <a:srgbClr val="F4F6F8"/>
                    </a:solidFill>
                  </a:tcPr>
                </a:tc>
                <a:tc>
                  <a:txBody>
                    <a:bodyPr/>
                    <a:lstStyle/>
                    <a:p>
                      <a:pPr algn="ctr"/>
                      <a:r>
                        <a:rPr sz="1100" b="0" i="0">
                          <a:solidFill>
                            <a:srgbClr val="1F2A37"/>
                          </a:solidFill>
                          <a:latin typeface="Calibri"/>
                        </a:rPr>
                        <a:t>2.00</a:t>
                      </a:r>
                    </a:p>
                  </a:txBody>
                  <a:tcPr marL="63500" marR="63500" marT="12700" marB="12700" anchor="ctr">
                    <a:solidFill>
                      <a:srgbClr val="F4F6F8"/>
                    </a:solidFill>
                  </a:tcPr>
                </a:tc>
                <a:tc>
                  <a:txBody>
                    <a:bodyPr/>
                    <a:lstStyle/>
                    <a:p>
                      <a:pPr algn="ctr"/>
                      <a:r>
                        <a:rPr sz="1100" b="0" i="0">
                          <a:solidFill>
                            <a:srgbClr val="1F2A37"/>
                          </a:solidFill>
                          <a:latin typeface="Calibri"/>
                        </a:rPr>
                        <a:t>8.00</a:t>
                      </a:r>
                    </a:p>
                  </a:txBody>
                  <a:tcPr marL="63500" marR="63500" marT="12700" marB="12700" anchor="ctr">
                    <a:solidFill>
                      <a:srgbClr val="F4F6F8"/>
                    </a:solidFill>
                  </a:tcPr>
                </a:tc>
                <a:tc>
                  <a:txBody>
                    <a:bodyPr/>
                    <a:lstStyle/>
                    <a:p>
                      <a:pPr algn="ctr"/>
                      <a:r>
                        <a:rPr sz="1100" b="0" i="0">
                          <a:solidFill>
                            <a:srgbClr val="1F2A37"/>
                          </a:solidFill>
                          <a:latin typeface="Calibri"/>
                        </a:rPr>
                        <a:t>4.0x</a:t>
                      </a:r>
                    </a:p>
                  </a:txBody>
                  <a:tcPr marL="63500" marR="63500" marT="12700" marB="12700" anchor="ctr">
                    <a:solidFill>
                      <a:srgbClr val="F4F6F8"/>
                    </a:solidFill>
                  </a:tcPr>
                </a:tc>
                <a:tc>
                  <a:txBody>
                    <a:bodyPr/>
                    <a:lstStyle/>
                    <a:p>
                      <a:pPr algn="ctr"/>
                      <a:r>
                        <a:rPr sz="1100" b="0" i="0">
                          <a:solidFill>
                            <a:srgbClr val="1F2A37"/>
                          </a:solidFill>
                          <a:latin typeface="Calibri"/>
                        </a:rPr>
                        <a:t>leg #4, AND the IBAC judge</a:t>
                      </a:r>
                    </a:p>
                  </a:txBody>
                  <a:tcPr marL="63500" marR="63500" marT="12700" marB="12700" anchor="ctr">
                    <a:solidFill>
                      <a:srgbClr val="F4F6F8"/>
                    </a:solidFill>
                  </a:tcPr>
                </a:tc>
              </a:tr>
            </a:tbl>
          </a:graphicData>
        </a:graphic>
      </p:graphicFrame>
      <p:sp>
        <p:nvSpPr>
          <p:cNvPr id="4" name="Rounded Rectangle 3"/>
          <p:cNvSpPr/>
          <p:nvPr/>
        </p:nvSpPr>
        <p:spPr>
          <a:xfrm>
            <a:off x="411480" y="3154680"/>
            <a:ext cx="11338560" cy="82296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Output is priced 4–8x input at every provider</a:t>
            </a:r>
          </a:p>
          <a:p>
            <a:pPr algn="ctr"/>
            <a:r>
              <a:rPr sz="1100" b="0" i="0">
                <a:solidFill>
                  <a:srgbClr val="1F2A37"/>
                </a:solidFill>
                <a:latin typeface="Calibri"/>
              </a:rPr>
              <a:t>That one fact explains the counter-intuitive results: a reasoning model's verbosity is charged at the expensive end, so a model can win on token count and lose on the bill. Read the input-share-of-COST row, not the share of tokens, to find the driver.</a:t>
            </a:r>
          </a:p>
        </p:txBody>
      </p:sp>
      <p:sp>
        <p:nvSpPr>
          <p:cNvPr id="5" name="Rounded Rectangle 4"/>
          <p:cNvSpPr/>
          <p:nvPr/>
        </p:nvSpPr>
        <p:spPr>
          <a:xfrm>
            <a:off x="411480" y="4160520"/>
            <a:ext cx="5623560" cy="214884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B55A2E"/>
                </a:solidFill>
                <a:latin typeface="Calibri"/>
              </a:rPr>
              <a:t>Too LOW:  the IBAC judge is not in our telemetry</a:t>
            </a:r>
          </a:p>
          <a:p>
            <a:pPr algn="ctr"/>
            <a:r>
              <a:rPr sz="1050" b="0" i="0">
                <a:solidFill>
                  <a:srgbClr val="1F2A37"/>
                </a:solidFill>
                <a:latin typeface="Calibri"/>
              </a:rPr>
              <a:t>The judge makes ~1 completion per authorized tool call, on Azure/gpt-4.1 — the dearest model on the card — against a FIXED 1,577-char system prompt that does not shrink with the task. That is ≥ $0.00111 per call, which is 2.4x the entire gsm8k task it is authorizing ($0.00045), and 1.4x–4.4x the agent's whole bill across legs #6–#8. On the plugin legs IBAC is not overhead on the bill; it IS the bill.  tau2's user simulator is invisible the same way: same model as the agent, but inside the uninstrumented MCP pod.</a:t>
            </a:r>
          </a:p>
        </p:txBody>
      </p:sp>
      <p:sp>
        <p:nvSpPr>
          <p:cNvPr id="6" name="Rounded Rectangle 5"/>
          <p:cNvSpPr/>
          <p:nvPr/>
        </p:nvSpPr>
        <p:spPr>
          <a:xfrm>
            <a:off x="6309360" y="4160520"/>
            <a:ext cx="5440680" cy="214884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8E44AD"/>
                </a:solidFill>
                <a:latin typeface="Calibri"/>
              </a:rPr>
              <a:t>Too HIGH:  an unmodelled cache discount</a:t>
            </a:r>
          </a:p>
          <a:p>
            <a:pPr algn="ctr"/>
            <a:r>
              <a:rPr sz="1050" b="0" i="0">
                <a:solidFill>
                  <a:srgbClr val="1F2A37"/>
                </a:solidFill>
                <a:latin typeface="Calibri"/>
              </a:rPr>
              <a:t>The gateway REPORTS cached input (usage.prompt_tokens_details.cached_tokens, verified by probe) but publishes no cached-input rate, and report.ndjson stores one undifferentiated llm_input_tokens — so no past run can be re-priced. The exposure is capped by input's share of the bill: if cached input were FREE, tau2 would floor at $0.0157 a task instead of $0.154 and appworld at $0.251 instead of $0.589, while gsm8k barely moves. That ordering is structural — caching pays off on a long re-sent prefix, which is what makes input dominate.</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