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2026-09-17 08:56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6.1 the three benchmarks and the REST flow that drives them · 6.2 what each image bakes in</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ladder · 7.2 what each stresses · 7.3 the traps · 7.4 picking one · 7.5 what it costs</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1371600"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71600" y="4407408"/>
            <a:ext cx="6949440"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1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6.1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6.2 What Each Benchmark Bakes In — and What It Needs From U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6.2  What Each Benchmark Bakes In — and What It Needs From Us</a:t>
            </a:r>
          </a:p>
          <a:p>
            <a:r>
              <a:rPr sz="1400" b="0" i="0">
                <a:solidFill>
                  <a:srgbClr val="C9D9EC"/>
                </a:solidFill>
                <a:latin typeface="Calibri"/>
              </a:rPr>
              <a:t>The MCP image carries the benchmark itself; only the credentials and quirk overrides come from tool_env</a:t>
            </a:r>
          </a:p>
        </p:txBody>
      </p:sp>
      <p:graphicFrame>
        <p:nvGraphicFramePr>
          <p:cNvPr id="3" name="Table 2"/>
          <p:cNvGraphicFramePr>
            <a:graphicFrameLocks noGrp="1"/>
          </p:cNvGraphicFramePr>
          <p:nvPr/>
        </p:nvGraphicFramePr>
        <p:xfrm>
          <a:off x="411480" y="1188720"/>
          <a:ext cx="11338559" cy="2103120"/>
        </p:xfrm>
        <a:graphic>
          <a:graphicData uri="http://schemas.openxmlformats.org/drawingml/2006/table">
            <a:tbl>
              <a:tblPr firstRow="1">
                <a:tableStyleId>{5C22544A-7EE6-4342-B048-85BDC9FD1C3A}</a:tableStyleId>
              </a:tblPr>
              <a:tblGrid>
                <a:gridCol w="1280160"/>
                <a:gridCol w="2514600"/>
                <a:gridCol w="3749039"/>
                <a:gridCol w="3794760"/>
              </a:tblGrid>
              <a:tr h="525780">
                <a:tc>
                  <a:txBody>
                    <a:bodyPr/>
                    <a:lstStyle/>
                    <a:p>
                      <a:pPr algn="l"/>
                      <a:r>
                        <a:rPr sz="1150" b="1" i="0">
                          <a:solidFill>
                            <a:srgbClr val="FFFFFF"/>
                          </a:solidFill>
                          <a:latin typeface="Calibri"/>
                        </a:rPr>
                        <a:t/>
                      </a:r>
                    </a:p>
                  </a:txBody>
                  <a:tcPr marL="63500" marR="63500" marT="12700" marB="12700" anchor="ctr">
                    <a:solidFill>
                      <a:srgbClr val="1B3A5C"/>
                    </a:solidFill>
                  </a:tcPr>
                </a:tc>
                <a:tc>
                  <a:txBody>
                    <a:bodyPr/>
                    <a:lstStyle/>
                    <a:p>
                      <a:pPr algn="ctr"/>
                      <a:r>
                        <a:rPr sz="1150" b="1" i="0">
                          <a:solidFill>
                            <a:srgbClr val="FFFFFF"/>
                          </a:solidFill>
                          <a:latin typeface="Calibri"/>
                        </a:rPr>
                        <a:t>MCP tool image</a:t>
                      </a:r>
                    </a:p>
                  </a:txBody>
                  <a:tcPr marL="63500" marR="63500" marT="12700" marB="12700" anchor="ctr">
                    <a:solidFill>
                      <a:srgbClr val="1B3A5C"/>
                    </a:solidFill>
                  </a:tcPr>
                </a:tc>
                <a:tc>
                  <a:txBody>
                    <a:bodyPr/>
                    <a:lstStyle/>
                    <a:p>
                      <a:pPr algn="ctr"/>
                      <a:r>
                        <a:rPr sz="1150" b="1" i="0">
                          <a:solidFill>
                            <a:srgbClr val="FFFFFF"/>
                          </a:solidFill>
                          <a:latin typeface="Calibri"/>
                        </a:rPr>
                        <a:t>what the image bakes in</a:t>
                      </a:r>
                    </a:p>
                  </a:txBody>
                  <a:tcPr marL="63500" marR="63500" marT="12700" marB="12700" anchor="ctr">
                    <a:solidFill>
                      <a:srgbClr val="1B3A5C"/>
                    </a:solidFill>
                  </a:tcPr>
                </a:tc>
                <a:tc>
                  <a:txBody>
                    <a:bodyPr/>
                    <a:lstStyle/>
                    <a:p>
                      <a:pPr algn="ctr"/>
                      <a:r>
                        <a:rPr sz="1150" b="1" i="0">
                          <a:solidFill>
                            <a:srgbClr val="FFFFFF"/>
                          </a:solidFill>
                          <a:latin typeface="Calibri"/>
                        </a:rPr>
                        <a:t>what tool_env must add</a:t>
                      </a:r>
                    </a:p>
                  </a:txBody>
                  <a:tcPr marL="63500" marR="63500" marT="12700" marB="12700" anchor="ctr">
                    <a:solidFill>
                      <a:srgbClr val="1B3A5C"/>
                    </a:solidFill>
                  </a:tcPr>
                </a:tc>
              </a:tr>
              <a:tr h="525780">
                <a:tc>
                  <a:txBody>
                    <a:bodyPr/>
                    <a:lstStyle/>
                    <a:p>
                      <a:pPr algn="l"/>
                      <a:r>
                        <a:rPr sz="1150" b="1" i="0">
                          <a:solidFill>
                            <a:srgbClr val="1F2A37"/>
                          </a:solidFill>
                          <a:latin typeface="Calibri"/>
                        </a:rPr>
                        <a:t>gsm8k</a:t>
                      </a:r>
                    </a:p>
                  </a:txBody>
                  <a:tcPr marL="63500" marR="63500" marT="12700" marB="12700" anchor="ctr">
                    <a:solidFill>
                      <a:srgbClr val="FFFFFF"/>
                    </a:solidFill>
                  </a:tcPr>
                </a:tc>
                <a:tc>
                  <a:txBody>
                    <a:bodyPr/>
                    <a:lstStyle/>
                    <a:p>
                      <a:pPr algn="ctr"/>
                      <a:r>
                        <a:rPr sz="1150" b="0" i="0">
                          <a:solidFill>
                            <a:srgbClr val="1F2A37"/>
                          </a:solidFill>
                          <a:latin typeface="Calibri"/>
                        </a:rPr>
                        <a:t>exgentic-mcp-gsm8k</a:t>
                      </a:r>
                    </a:p>
                  </a:txBody>
                  <a:tcPr marL="63500" marR="63500" marT="12700" marB="12700" anchor="ctr">
                    <a:solidFill>
                      <a:srgbClr val="FFFFFF"/>
                    </a:solidFill>
                  </a:tcPr>
                </a:tc>
                <a:tc>
                  <a:txBody>
                    <a:bodyPr/>
                    <a:lstStyle/>
                    <a:p>
                      <a:pPr algn="ctr"/>
                      <a:r>
                        <a:rPr sz="1150" b="0" i="0">
                          <a:solidFill>
                            <a:srgbClr val="1F2A37"/>
                          </a:solidFill>
                          <a:latin typeface="Calibri"/>
                        </a:rPr>
                        <a:t>the HuggingFace dataset loader — 8.5K problems, fetched at pod startup</a:t>
                      </a:r>
                    </a:p>
                  </a:txBody>
                  <a:tcPr marL="63500" marR="63500" marT="12700" marB="12700" anchor="ctr">
                    <a:solidFill>
                      <a:srgbClr val="FFFFFF"/>
                    </a:solidFill>
                  </a:tcPr>
                </a:tc>
                <a:tc>
                  <a:txBody>
                    <a:bodyPr/>
                    <a:lstStyle/>
                    <a:p>
                      <a:pPr algn="ctr"/>
                      <a:r>
                        <a:rPr sz="1150" b="0" i="0">
                          <a:solidFill>
                            <a:srgbClr val="1F2A37"/>
                          </a:solidFill>
                          <a:latin typeface="Calibri"/>
                        </a:rPr>
                        <a:t>HF_TOKEN (from hf-secret), plus EXGENTIC_SET_BENCHMARK_RUNNER=direct</a:t>
                      </a:r>
                    </a:p>
                  </a:txBody>
                  <a:tcPr marL="63500" marR="63500" marT="12700" marB="12700" anchor="ctr">
                    <a:solidFill>
                      <a:srgbClr val="FFFFFF"/>
                    </a:solidFill>
                  </a:tcPr>
                </a:tc>
              </a:tr>
              <a:tr h="525780">
                <a:tc>
                  <a:txBody>
                    <a:bodyPr/>
                    <a:lstStyle/>
                    <a:p>
                      <a:pPr algn="l"/>
                      <a:r>
                        <a:rPr sz="1150" b="1" i="0">
                          <a:solidFill>
                            <a:srgbClr val="1F2A37"/>
                          </a:solidFill>
                          <a:latin typeface="Calibri"/>
                        </a:rPr>
                        <a:t>tau2</a:t>
                      </a:r>
                    </a:p>
                  </a:txBody>
                  <a:tcPr marL="63500" marR="63500" marT="12700" marB="12700" anchor="ctr">
                    <a:solidFill>
                      <a:srgbClr val="F4F6F8"/>
                    </a:solidFill>
                  </a:tcPr>
                </a:tc>
                <a:tc>
                  <a:txBody>
                    <a:bodyPr/>
                    <a:lstStyle/>
                    <a:p>
                      <a:pPr algn="ctr"/>
                      <a:r>
                        <a:rPr sz="1150" b="0" i="0">
                          <a:solidFill>
                            <a:srgbClr val="1F2A37"/>
                          </a:solidFill>
                          <a:latin typeface="Calibri"/>
                        </a:rPr>
                        <a:t>exgentic-mcp-tau2</a:t>
                      </a:r>
                    </a:p>
                  </a:txBody>
                  <a:tcPr marL="63500" marR="63500" marT="12700" marB="12700" anchor="ctr">
                    <a:solidFill>
                      <a:srgbClr val="F4F6F8"/>
                    </a:solidFill>
                  </a:tcPr>
                </a:tc>
                <a:tc>
                  <a:txBody>
                    <a:bodyPr/>
                    <a:lstStyle/>
                    <a:p>
                      <a:pPr algn="ctr"/>
                      <a:r>
                        <a:rPr sz="1150" b="0" i="0">
                          <a:solidFill>
                            <a:srgbClr val="1F2A37"/>
                          </a:solidFill>
                          <a:latin typeface="Calibri"/>
                        </a:rPr>
                        <a:t>the tau2-bench library + its retail domain (114 tasks), and a user-simulator LLM</a:t>
                      </a:r>
                    </a:p>
                  </a:txBody>
                  <a:tcPr marL="63500" marR="63500" marT="12700" marB="12700" anchor="ctr">
                    <a:solidFill>
                      <a:srgbClr val="F4F6F8"/>
                    </a:solidFill>
                  </a:tcPr>
                </a:tc>
                <a:tc>
                  <a:txBody>
                    <a:bodyPr/>
                    <a:lstStyle/>
                    <a:p>
                      <a:pPr algn="ctr"/>
                      <a:r>
                        <a:rPr sz="1150" b="0" i="0">
                          <a:solidFill>
                            <a:srgbClr val="1F2A37"/>
                          </a:solidFill>
                          <a:latin typeface="Calibri"/>
                        </a:rPr>
                        <a:t>OPENAI_API_KEY (from openai-secret) + EXGENTIC_SET_BENCHMARK_ACTION_TIMEOUT=1000 — the simulator makes its own inference calls (flow 4)</a:t>
                      </a:r>
                    </a:p>
                  </a:txBody>
                  <a:tcPr marL="63500" marR="63500" marT="12700" marB="12700" anchor="ctr">
                    <a:solidFill>
                      <a:srgbClr val="F4F6F8"/>
                    </a:solidFill>
                  </a:tcPr>
                </a:tc>
              </a:tr>
              <a:tr h="525780">
                <a:tc>
                  <a:txBody>
                    <a:bodyPr/>
                    <a:lstStyle/>
                    <a:p>
                      <a:pPr algn="l"/>
                      <a:r>
                        <a:rPr sz="1150" b="1" i="0">
                          <a:solidFill>
                            <a:srgbClr val="1F2A37"/>
                          </a:solidFill>
                          <a:latin typeface="Calibri"/>
                        </a:rPr>
                        <a:t>appworld</a:t>
                      </a:r>
                    </a:p>
                  </a:txBody>
                  <a:tcPr marL="63500" marR="63500" marT="12700" marB="12700" anchor="ctr">
                    <a:solidFill>
                      <a:srgbClr val="FFFFFF"/>
                    </a:solidFill>
                  </a:tcPr>
                </a:tc>
                <a:tc>
                  <a:txBody>
                    <a:bodyPr/>
                    <a:lstStyle/>
                    <a:p>
                      <a:pPr algn="ctr"/>
                      <a:r>
                        <a:rPr sz="1150" b="0" i="0">
                          <a:solidFill>
                            <a:srgbClr val="1F2A37"/>
                          </a:solidFill>
                          <a:latin typeface="Calibri"/>
                        </a:rPr>
                        <a:t>exgentic-mcp-appworld</a:t>
                      </a:r>
                    </a:p>
                  </a:txBody>
                  <a:tcPr marL="63500" marR="63500" marT="12700" marB="12700" anchor="ctr">
                    <a:solidFill>
                      <a:srgbClr val="FFFFFF"/>
                    </a:solidFill>
                  </a:tcPr>
                </a:tc>
                <a:tc>
                  <a:txBody>
                    <a:bodyPr/>
                    <a:lstStyle/>
                    <a:p>
                      <a:pPr algn="ctr"/>
                      <a:r>
                        <a:rPr sz="1150" b="0" i="0">
                          <a:solidFill>
                            <a:srgbClr val="1F2A37"/>
                          </a:solidFill>
                          <a:latin typeface="Calibri"/>
                        </a:rPr>
                        <a:t>the whole app-suite sandbox (exgentic install --benchmark appworld)</a:t>
                      </a:r>
                    </a:p>
                  </a:txBody>
                  <a:tcPr marL="63500" marR="63500" marT="12700" marB="12700" anchor="ctr">
                    <a:solidFill>
                      <a:srgbClr val="FFFFFF"/>
                    </a:solidFill>
                  </a:tcPr>
                </a:tc>
                <a:tc>
                  <a:txBody>
                    <a:bodyPr/>
                    <a:lstStyle/>
                    <a:p>
                      <a:pPr algn="ctr"/>
                      <a:r>
                        <a:rPr sz="1150" b="0" i="0">
                          <a:solidFill>
                            <a:srgbClr val="1F2A37"/>
                          </a:solidFill>
                          <a:latin typeface="Calibri"/>
                        </a:rPr>
                        <a:t>nothing beyond BENCHMARK_NAME — upstream's .env.appworld is explicitly empty</a:t>
                      </a:r>
                    </a:p>
                  </a:txBody>
                  <a:tcPr marL="63500" marR="63500" marT="12700" marB="12700" anchor="ctr">
                    <a:solidFill>
                      <a:srgbClr val="FFFFFF"/>
                    </a:solidFill>
                  </a:tcPr>
                </a:tc>
              </a:tr>
            </a:tbl>
          </a:graphicData>
        </a:graphic>
      </p:graphicFrame>
      <p:sp>
        <p:nvSpPr>
          <p:cNvPr id="4" name="Rounded Rectangle 3"/>
          <p:cNvSpPr/>
          <p:nvPr/>
        </p:nvSpPr>
        <p:spPr>
          <a:xfrm>
            <a:off x="411480" y="3566160"/>
            <a:ext cx="5532120" cy="10972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One agent image serves all three</a:t>
            </a:r>
          </a:p>
          <a:p>
            <a:pPr algn="ctr"/>
            <a:r>
              <a:rPr sz="1100" b="0" i="0">
                <a:solidFill>
                  <a:srgbClr val="1F2A37"/>
                </a:solidFill>
                <a:latin typeface="Calibri"/>
              </a:rPr>
              <a:t>exgentic-a2a-tool_calling:latest is the only key in every agents={...} map; per benchmark it only gains a -&lt;benchmark&gt; name suffix. So the benchmark lives in the MCP pod, and the subject under test is the same binary every time.</a:t>
            </a:r>
          </a:p>
        </p:txBody>
      </p:sp>
      <p:sp>
        <p:nvSpPr>
          <p:cNvPr id="5" name="Rounded Rectangle 4"/>
          <p:cNvSpPr/>
          <p:nvPr/>
        </p:nvSpPr>
        <p:spPr>
          <a:xfrm>
            <a:off x="6217920" y="3566160"/>
            <a:ext cx="5532120" cy="10972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2E6FB5"/>
                </a:solidFill>
                <a:latin typeface="Calibri"/>
              </a:rPr>
              <a:t>The LLM base is never baked in</a:t>
            </a:r>
          </a:p>
          <a:p>
            <a:pPr algn="ctr"/>
            <a:r>
              <a:rPr sz="1100" b="0" i="0">
                <a:solidFill>
                  <a:srgbClr val="1F2A37"/>
                </a:solidFill>
                <a:latin typeface="Calibri"/>
              </a:rPr>
              <a:t>OPENAI_API_BASE is injected per deploy from the instance's workload_llm.api_base, and tau2's simulator model from the run's model — a deploy with no gateway configured is rejected with 422 rather than defaulting.</a:t>
            </a:r>
          </a:p>
        </p:txBody>
      </p:sp>
      <p:sp>
        <p:nvSpPr>
          <p:cNvPr id="6" name="Rounded Rectangle 5"/>
          <p:cNvSpPr/>
          <p:nvPr/>
        </p:nvSpPr>
        <p:spPr>
          <a:xfrm>
            <a:off x="411480" y="489204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Two traps in that last column:  appworld REJECTS the same action-timeout override tau2 needs and crashes at startup with "Unknown benchmark override 'action_timeout'" — the env is per-benchmark, not a shared default.  And hf-secret must EXIST for gsm8k even though the dataset is public: without it the MCP pod sits in CreateContainerConfigError and the agent crash-loops.  Missing secrets surface as a 424 on the run precheck, naming exactly what to provision.</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305972">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305972">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305972">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305972">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305972">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305972">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305972">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305972">
                <a:tc>
                  <a:txBody>
                    <a:bodyPr/>
                    <a:lstStyle/>
                    <a:p>
                      <a:pPr algn="l"/>
                      <a:r>
                        <a:rPr sz="1100" b="1" i="0">
                          <a:solidFill>
                            <a:srgbClr val="1F2A37"/>
                          </a:solidFill>
                          <a:latin typeface="Calibri"/>
                        </a:rPr>
                        <a:t>LLM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29.2</a:t>
                      </a:r>
                    </a:p>
                  </a:txBody>
                  <a:tcPr marL="63500" marR="63500" marT="12700" marB="12700" anchor="ctr">
                    <a:solidFill>
                      <a:srgbClr val="FFFFFF"/>
                    </a:solidFill>
                  </a:tcPr>
                </a:tc>
              </a:tr>
              <a:tr h="305972">
                <a:tc>
                  <a:txBody>
                    <a:bodyPr/>
                    <a:lstStyle/>
                    <a:p>
                      <a:pPr algn="l"/>
                      <a:r>
                        <a:rPr sz="1100" b="1" i="0">
                          <a:solidFill>
                            <a:srgbClr val="1F2A37"/>
                          </a:solidFill>
                          <a:latin typeface="Calibri"/>
                        </a:rPr>
                        <a:t>Tool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14.6</a:t>
                      </a:r>
                    </a:p>
                  </a:txBody>
                  <a:tcPr marL="63500" marR="63500" marT="12700" marB="12700" anchor="ctr">
                    <a:solidFill>
                      <a:srgbClr val="F4F6F8"/>
                    </a:solidFill>
                  </a:tcPr>
                </a:tc>
              </a:tr>
              <a:tr h="305972">
                <a:tc>
                  <a:txBody>
                    <a:bodyPr/>
                    <a:lstStyle/>
                    <a:p>
                      <a:pPr algn="l"/>
                      <a:r>
                        <a:rPr sz="1100" b="1" i="0">
                          <a:solidFill>
                            <a:srgbClr val="1F2A37"/>
                          </a:solidFill>
                          <a:latin typeface="Calibri"/>
                        </a:rPr>
                        <a:t>Median task latency</a:t>
                      </a:r>
                    </a:p>
                  </a:txBody>
                  <a:tcPr marL="63500" marR="63500" marT="12700" marB="12700" anchor="ctr">
                    <a:solidFill>
                      <a:srgbClr val="FFFFFF"/>
                    </a:solidFill>
                  </a:tcPr>
                </a:tc>
                <a:tc>
                  <a:txBody>
                    <a:bodyPr/>
                    <a:lstStyle/>
                    <a:p>
                      <a:pPr algn="ctr"/>
                      <a:r>
                        <a:rPr sz="1100" b="0" i="0">
                          <a:solidFill>
                            <a:srgbClr val="1F2A37"/>
                          </a:solidFill>
                          <a:latin typeface="Calibri"/>
                        </a:rPr>
                        <a:t>4.9 s</a:t>
                      </a:r>
                    </a:p>
                  </a:txBody>
                  <a:tcPr marL="63500" marR="63500" marT="12700" marB="12700" anchor="ctr">
                    <a:solidFill>
                      <a:srgbClr val="FFFFFF"/>
                    </a:solidFill>
                  </a:tcPr>
                </a:tc>
                <a:tc>
                  <a:txBody>
                    <a:bodyPr/>
                    <a:lstStyle/>
                    <a:p>
                      <a:pPr algn="ctr"/>
                      <a:r>
                        <a:rPr sz="1100" b="0" i="0">
                          <a:solidFill>
                            <a:srgbClr val="1F2A37"/>
                          </a:solidFill>
                          <a:latin typeface="Calibri"/>
                        </a:rPr>
                        <a:t>84 s</a:t>
                      </a:r>
                    </a:p>
                  </a:txBody>
                  <a:tcPr marL="63500" marR="63500" marT="12700" marB="12700" anchor="ctr">
                    <a:solidFill>
                      <a:srgbClr val="FFFFFF"/>
                    </a:solidFill>
                  </a:tcPr>
                </a:tc>
                <a:tc>
                  <a:txBody>
                    <a:bodyPr/>
                    <a:lstStyle/>
                    <a:p>
                      <a:pPr algn="ctr"/>
                      <a:r>
                        <a:rPr sz="1100" b="0" i="0">
                          <a:solidFill>
                            <a:srgbClr val="1F2A37"/>
                          </a:solidFill>
                          <a:latin typeface="Calibri"/>
                        </a:rPr>
                        <a:t>264 s</a:t>
                      </a:r>
                    </a:p>
                  </a:txBody>
                  <a:tcPr marL="63500" marR="63500" marT="12700" marB="12700" anchor="ctr">
                    <a:solidFill>
                      <a:srgbClr val="FFFFFF"/>
                    </a:solidFill>
                  </a:tcPr>
                </a:tc>
              </a:tr>
              <a:tr h="305972">
                <a:tc>
                  <a:txBody>
                    <a:bodyPr/>
                    <a:lstStyle/>
                    <a:p>
                      <a:pPr algn="l"/>
                      <a:r>
                        <a:rPr sz="1100" b="1" i="0">
                          <a:solidFill>
                            <a:srgbClr val="1F2A37"/>
                          </a:solidFill>
                          <a:latin typeface="Calibri"/>
                        </a:rPr>
                        <a:t>Slowest task seen</a:t>
                      </a:r>
                    </a:p>
                  </a:txBody>
                  <a:tcPr marL="63500" marR="63500" marT="12700" marB="12700" anchor="ctr">
                    <a:solidFill>
                      <a:srgbClr val="F4F6F8"/>
                    </a:solidFill>
                  </a:tcPr>
                </a:tc>
                <a:tc>
                  <a:txBody>
                    <a:bodyPr/>
                    <a:lstStyle/>
                    <a:p>
                      <a:pPr algn="ctr"/>
                      <a:r>
                        <a:rPr sz="1100" b="0" i="0">
                          <a:solidFill>
                            <a:srgbClr val="1F2A37"/>
                          </a:solidFill>
                          <a:latin typeface="Calibri"/>
                        </a:rPr>
                        <a:t>39 s</a:t>
                      </a:r>
                    </a:p>
                  </a:txBody>
                  <a:tcPr marL="63500" marR="63500" marT="12700" marB="12700" anchor="ctr">
                    <a:solidFill>
                      <a:srgbClr val="F4F6F8"/>
                    </a:solidFill>
                  </a:tcPr>
                </a:tc>
                <a:tc>
                  <a:txBody>
                    <a:bodyPr/>
                    <a:lstStyle/>
                    <a:p>
                      <a:pPr algn="ctr"/>
                      <a:r>
                        <a:rPr sz="1100" b="0" i="0">
                          <a:solidFill>
                            <a:srgbClr val="1F2A37"/>
                          </a:solidFill>
                          <a:latin typeface="Calibri"/>
                        </a:rPr>
                        <a:t>136 s</a:t>
                      </a:r>
                    </a:p>
                  </a:txBody>
                  <a:tcPr marL="63500" marR="63500" marT="12700" marB="12700" anchor="ctr">
                    <a:solidFill>
                      <a:srgbClr val="F4F6F8"/>
                    </a:solidFill>
                  </a:tcPr>
                </a:tc>
                <a:tc>
                  <a:txBody>
                    <a:bodyPr/>
                    <a:lstStyle/>
                    <a:p>
                      <a:pPr algn="ctr"/>
                      <a:r>
                        <a:rPr sz="1100" b="0" i="0">
                          <a:solidFill>
                            <a:srgbClr val="1F2A37"/>
                          </a:solidFill>
                          <a:latin typeface="Calibri"/>
                        </a:rPr>
                        <a:t>592 s</a:t>
                      </a:r>
                    </a:p>
                  </a:txBody>
                  <a:tcPr marL="63500" marR="63500" marT="12700" marB="12700" anchor="ctr">
                    <a:solidFill>
                      <a:srgbClr val="F4F6F8"/>
                    </a:solidFill>
                  </a:tcPr>
                </a:tc>
              </a:tr>
              <a:tr h="305972">
                <a:tc>
                  <a:txBody>
                    <a:bodyPr/>
                    <a:lstStyle/>
                    <a:p>
                      <a:pPr algn="l"/>
                      <a:r>
                        <a:rPr sz="1100" b="1" i="0">
                          <a:solidFill>
                            <a:srgbClr val="1F2A37"/>
                          </a:solidFill>
                          <a:latin typeface="Calibri"/>
                        </a:rPr>
                        <a:t>Model we use</a:t>
                      </a:r>
                    </a:p>
                  </a:txBody>
                  <a:tcPr marL="63500" marR="63500" marT="12700" marB="12700" anchor="ctr">
                    <a:solidFill>
                      <a:srgbClr val="FFFFFF"/>
                    </a:solidFill>
                  </a:tcPr>
                </a:tc>
                <a:tc>
                  <a:txBody>
                    <a:bodyPr/>
                    <a:lstStyle/>
                    <a:p>
                      <a:pPr algn="ctr"/>
                      <a:r>
                        <a:rPr sz="1100" b="0" i="0">
                          <a:solidFill>
                            <a:srgbClr val="1F2A37"/>
                          </a:solidFill>
                          <a:latin typeface="Calibri"/>
                        </a:rPr>
                        <a:t>gpt-5-mini</a:t>
                      </a:r>
                    </a:p>
                  </a:txBody>
                  <a:tcPr marL="63500" marR="63500" marT="12700" marB="12700" anchor="ctr">
                    <a:solidFill>
                      <a:srgbClr val="FFFFFF"/>
                    </a:solidFill>
                  </a:tcPr>
                </a:tc>
                <a:tc>
                  <a:txBody>
                    <a:bodyPr/>
                    <a:lstStyle/>
                    <a:p>
                      <a:pPr algn="ctr"/>
                      <a:r>
                        <a:rPr sz="1100" b="0" i="0">
                          <a:solidFill>
                            <a:srgbClr val="1F2A37"/>
                          </a:solidFill>
                          <a:latin typeface="Calibri"/>
                        </a:rPr>
                        <a:t>claude-sonnet-5</a:t>
                      </a:r>
                    </a:p>
                  </a:txBody>
                  <a:tcPr marL="63500" marR="63500" marT="12700" marB="12700" anchor="ctr">
                    <a:solidFill>
                      <a:srgbClr val="FFFFFF"/>
                    </a:solidFill>
                  </a:tcPr>
                </a:tc>
                <a:tc>
                  <a:txBody>
                    <a:bodyPr/>
                    <a:lstStyle/>
                    <a:p>
                      <a:pPr algn="ctr"/>
                      <a:r>
                        <a:rPr sz="1100" b="0" i="0">
                          <a:solidFill>
                            <a:srgbClr val="1F2A37"/>
                          </a:solidFill>
                          <a:latin typeface="Calibri"/>
                        </a:rPr>
                        <a:t>gemini-2.5-pro</a:t>
                      </a:r>
                    </a:p>
                  </a:txBody>
                  <a:tcPr marL="63500" marR="63500" marT="12700" marB="12700" anchor="ctr">
                    <a:solidFill>
                      <a:srgbClr val="FFFFFF"/>
                    </a:solidFill>
                  </a:tcPr>
                </a:tc>
              </a:tr>
              <a:tr h="305975">
                <a:tc>
                  <a:txBody>
                    <a:bodyPr/>
                    <a:lstStyle/>
                    <a:p>
                      <a:pPr algn="l"/>
                      <a:r>
                        <a:rPr sz="1100" b="1" i="0">
                          <a:solidFill>
                            <a:srgbClr val="1F2A37"/>
                          </a:solidFill>
                          <a:latin typeface="Calibri"/>
                        </a:rPr>
                        <a:t>Task pool</a:t>
                      </a:r>
                    </a:p>
                  </a:txBody>
                  <a:tcPr marL="63500" marR="63500" marT="12700" marB="12700" anchor="ctr">
                    <a:solidFill>
                      <a:srgbClr val="F4F6F8"/>
                    </a:solidFill>
                  </a:tcPr>
                </a:tc>
                <a:tc>
                  <a:txBody>
                    <a:bodyPr/>
                    <a:lstStyle/>
                    <a:p>
                      <a:pPr algn="ctr"/>
                      <a:r>
                        <a:rPr sz="1100" b="0" i="0">
                          <a:solidFill>
                            <a:srgbClr val="1F2A37"/>
                          </a:solidFill>
                          <a:latin typeface="Calibri"/>
                        </a:rPr>
                        <a:t>8.5K (HuggingFace)</a:t>
                      </a:r>
                    </a:p>
                  </a:txBody>
                  <a:tcPr marL="63500" marR="63500" marT="12700" marB="12700" anchor="ctr">
                    <a:solidFill>
                      <a:srgbClr val="F4F6F8"/>
                    </a:solidFill>
                  </a:tcPr>
                </a:tc>
                <a:tc>
                  <a:txBody>
                    <a:bodyPr/>
                    <a:lstStyle/>
                    <a:p>
                      <a:pPr algn="ctr"/>
                      <a:r>
                        <a:rPr sz="1100" b="0" i="0">
                          <a:solidFill>
                            <a:srgbClr val="1F2A37"/>
                          </a:solidFill>
                          <a:latin typeface="Calibri"/>
                        </a:rPr>
                        <a:t>114 (retail domain)</a:t>
                      </a:r>
                    </a:p>
                  </a:txBody>
                  <a:tcPr marL="63500" marR="63500" marT="12700" marB="12700" anchor="ctr">
                    <a:solidFill>
                      <a:srgbClr val="F4F6F8"/>
                    </a:solidFill>
                  </a:tcPr>
                </a:tc>
                <a:tc>
                  <a:txBody>
                    <a:bodyPr/>
                    <a:lstStyle/>
                    <a:p>
                      <a:pPr algn="ctr"/>
                      <a:r>
                        <a:rPr sz="1100" b="0" i="0">
                          <a:solidFill>
                            <a:srgbClr val="1F2A37"/>
                          </a:solidFill>
                          <a:latin typeface="Calibri"/>
                        </a:rPr>
                        <a:t>grouped scenarios</a:t>
                      </a:r>
                    </a:p>
                  </a:txBody>
                  <a:tcPr marL="63500" marR="63500" marT="12700" marB="12700" anchor="ctr">
                    <a:solidFill>
                      <a:srgbClr val="F4F6F8"/>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A 50-task gsm8k run is a minute; a 20-task appworld run is 30-45 minutes and millions of tokens.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416052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a:p>
            <a:pPr algn="l">
              <a:spcAft>
                <a:spcPts val="500"/>
              </a:spcAft>
            </a:pPr>
            <a:r>
              <a:rPr sz="1000" b="0" i="0">
                <a:solidFill>
                  <a:srgbClr val="1F2A37"/>
                </a:solidFill>
                <a:latin typeface="Calibri"/>
              </a:rPr>
              <a:t>• Cheap enough to run often: a 50-task leg is 25 K tokens — 0.4% of the whole 12-run matrix's bill, and less than a SINGLE appworld task (see 7.4).</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416052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a:p>
            <a:pPr algn="l">
              <a:spcAft>
                <a:spcPts val="500"/>
              </a:spcAft>
            </a:pPr>
            <a:r>
              <a:rPr sz="1000" b="0" i="0">
                <a:solidFill>
                  <a:srgbClr val="1F2A37"/>
                </a:solidFill>
                <a:latin typeface="Calibri"/>
              </a:rPr>
              <a:t>• 27% of a task's wall time sits INSIDE tool calls — that is the simulator generating, server-side, and its tokens appear in no report of ours.</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416052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a:p>
            <a:pPr algn="l">
              <a:spcAft>
                <a:spcPts val="500"/>
              </a:spcAft>
            </a:pPr>
            <a:r>
              <a:rPr sz="1000" b="0" i="0">
                <a:solidFill>
                  <a:srgbClr val="1F2A37"/>
                </a:solidFill>
                <a:latin typeface="Calibri"/>
              </a:rPr>
              <a:t>• Two model calls per tool call — tool shortlisting, which only bites with an API surface this large. The first carries 68% of the input tokens.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2" name="TextBox 1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On a one-call model gsm8k's prompt is near-constant while answer length swings (IN 0.06-0.09 vs OUT 0.52-0.86); gpt-4.1 needs tool round-trips and varies on the input side too (IN 0.39-0.44). Only long-horizon appworld is input-led, in all four of its legs. Read the CV, not the mechanism.</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7.4 Picking a Benchmark — and What That Leg Cos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7.4  Picking a Benchmark — and What That Leg Costs</a:t>
            </a:r>
          </a:p>
          <a:p>
            <a:r>
              <a:rPr sz="1400" b="0" i="0">
                <a:solidFill>
                  <a:srgbClr val="C9D9EC"/>
                </a:solidFill>
                <a:latin typeface="Calibri"/>
              </a:rPr>
              <a:t>The actionable summary: what each benchmark is FOR, and the token bill it hands you</a:t>
            </a:r>
          </a:p>
        </p:txBody>
      </p:sp>
      <p:graphicFrame>
        <p:nvGraphicFramePr>
          <p:cNvPr id="3" name="Table 2"/>
          <p:cNvGraphicFramePr>
            <a:graphicFrameLocks noGrp="1"/>
          </p:cNvGraphicFramePr>
          <p:nvPr/>
        </p:nvGraphicFramePr>
        <p:xfrm>
          <a:off x="411480" y="1188720"/>
          <a:ext cx="5989320" cy="2331720"/>
        </p:xfrm>
        <a:graphic>
          <a:graphicData uri="http://schemas.openxmlformats.org/drawingml/2006/table">
            <a:tbl>
              <a:tblPr firstRow="1">
                <a:tableStyleId>{5C22544A-7EE6-4342-B048-85BDC9FD1C3A}</a:tableStyleId>
              </a:tblPr>
              <a:tblGrid>
                <a:gridCol w="3291840"/>
                <a:gridCol w="2697480"/>
              </a:tblGrid>
              <a:tr h="388620">
                <a:tc>
                  <a:txBody>
                    <a:bodyPr/>
                    <a:lstStyle/>
                    <a:p>
                      <a:pPr algn="l"/>
                      <a:r>
                        <a:rPr sz="1050" b="1" i="0">
                          <a:solidFill>
                            <a:srgbClr val="FFFFFF"/>
                          </a:solidFill>
                          <a:latin typeface="Calibri"/>
                        </a:rPr>
                        <a:t>If you want to …</a:t>
                      </a:r>
                    </a:p>
                  </a:txBody>
                  <a:tcPr marL="63500" marR="63500" marT="12700" marB="12700" anchor="ctr">
                    <a:solidFill>
                      <a:srgbClr val="1B3A5C"/>
                    </a:solidFill>
                  </a:tcPr>
                </a:tc>
                <a:tc>
                  <a:txBody>
                    <a:bodyPr/>
                    <a:lstStyle/>
                    <a:p>
                      <a:pPr algn="ctr"/>
                      <a:r>
                        <a:rPr sz="1050" b="1" i="0">
                          <a:solidFill>
                            <a:srgbClr val="FFFFFF"/>
                          </a:solidFill>
                          <a:latin typeface="Calibri"/>
                        </a:rPr>
                        <a:t>use</a:t>
                      </a:r>
                    </a:p>
                  </a:txBody>
                  <a:tcPr marL="63500" marR="63500" marT="12700" marB="12700" anchor="ctr">
                    <a:solidFill>
                      <a:srgbClr val="1B3A5C"/>
                    </a:solidFill>
                  </a:tcPr>
                </a:tc>
              </a:tr>
              <a:tr h="388620">
                <a:tc>
                  <a:txBody>
                    <a:bodyPr/>
                    <a:lstStyle/>
                    <a:p>
                      <a:pPr algn="l"/>
                      <a:r>
                        <a:rPr sz="105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050" b="0" i="0">
                          <a:solidFill>
                            <a:srgbClr val="1F2A37"/>
                          </a:solidFill>
                          <a:latin typeface="Calibri"/>
                        </a:rPr>
                        <a:t>gsm8k, 1–10 tasks</a:t>
                      </a:r>
                    </a:p>
                  </a:txBody>
                  <a:tcPr marL="63500" marR="63500" marT="12700" marB="12700" anchor="ctr">
                    <a:solidFill>
                      <a:srgbClr val="FFFFFF"/>
                    </a:solidFill>
                  </a:tcPr>
                </a:tc>
              </a:tr>
              <a:tr h="388620">
                <a:tc>
                  <a:txBody>
                    <a:bodyPr/>
                    <a:lstStyle/>
                    <a:p>
                      <a:pPr algn="l"/>
                      <a:r>
                        <a:rPr sz="105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050" b="0" i="0">
                          <a:solidFill>
                            <a:srgbClr val="1F2A37"/>
                          </a:solidFill>
                          <a:latin typeface="Calibri"/>
                        </a:rPr>
                        <a:t>gsm8k, 50 tasks at p=4</a:t>
                      </a:r>
                    </a:p>
                  </a:txBody>
                  <a:tcPr marL="63500" marR="63500" marT="12700" marB="12700" anchor="ctr">
                    <a:solidFill>
                      <a:srgbClr val="F4F6F8"/>
                    </a:solidFill>
                  </a:tcPr>
                </a:tc>
              </a:tr>
              <a:tr h="388620">
                <a:tc>
                  <a:txBody>
                    <a:bodyPr/>
                    <a:lstStyle/>
                    <a:p>
                      <a:pPr algn="l"/>
                      <a:r>
                        <a:rPr sz="105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050" b="0" i="0">
                          <a:solidFill>
                            <a:srgbClr val="1F2A37"/>
                          </a:solidFill>
                          <a:latin typeface="Calibri"/>
                        </a:rPr>
                        <a:t>tau2 — it discriminates; gsm8k saturates at ~1.0</a:t>
                      </a:r>
                    </a:p>
                  </a:txBody>
                  <a:tcPr marL="63500" marR="63500" marT="12700" marB="12700" anchor="ctr">
                    <a:solidFill>
                      <a:srgbClr val="FFFFFF"/>
                    </a:solidFill>
                  </a:tcPr>
                </a:tc>
              </a:tr>
              <a:tr h="388620">
                <a:tc>
                  <a:txBody>
                    <a:bodyPr/>
                    <a:lstStyle/>
                    <a:p>
                      <a:pPr algn="l"/>
                      <a:r>
                        <a:rPr sz="105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r>
              <a:tr h="388620">
                <a:tc>
                  <a:txBody>
                    <a:bodyPr/>
                    <a:lstStyle/>
                    <a:p>
                      <a:pPr algn="l"/>
                      <a:r>
                        <a:rPr sz="1050" b="0" i="0">
                          <a:solidFill>
                            <a:srgbClr val="1F2A37"/>
                          </a:solidFill>
                          <a:latin typeface="Calibri"/>
                        </a:rPr>
                        <a:t>get a fast signal that nothing regressed</a:t>
                      </a:r>
                    </a:p>
                  </a:txBody>
                  <a:tcPr marL="63500" marR="63500" marT="12700" marB="12700" anchor="ctr">
                    <a:solidFill>
                      <a:srgbClr val="FFFFFF"/>
                    </a:solidFill>
                  </a:tcPr>
                </a:tc>
                <a:tc>
                  <a:txBody>
                    <a:bodyPr/>
                    <a:lstStyle/>
                    <a:p>
                      <a:pPr algn="ctr"/>
                      <a:r>
                        <a:rPr sz="1050" b="0" i="0">
                          <a:solidFill>
                            <a:srgbClr val="1F2A37"/>
                          </a:solidFill>
                          <a:latin typeface="Calibri"/>
                        </a:rPr>
                        <a:t>gsm8k — if it fails, stop and fix infrastructure</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6675120" y="1188720"/>
          <a:ext cx="5074920" cy="2331720"/>
        </p:xfrm>
        <a:graphic>
          <a:graphicData uri="http://schemas.openxmlformats.org/drawingml/2006/table">
            <a:tbl>
              <a:tblPr firstRow="1">
                <a:tableStyleId>{5C22544A-7EE6-4342-B048-85BDC9FD1C3A}</a:tableStyleId>
              </a:tblPr>
              <a:tblGrid>
                <a:gridCol w="2697480"/>
                <a:gridCol w="1188720"/>
                <a:gridCol w="1188720"/>
              </a:tblGrid>
              <a:tr h="259080">
                <a:tc>
                  <a:txBody>
                    <a:bodyPr/>
                    <a:lstStyle/>
                    <a:p>
                      <a:pPr algn="l"/>
                      <a:r>
                        <a:rPr sz="1050" b="1" i="0">
                          <a:solidFill>
                            <a:srgbClr val="FFFFFF"/>
                          </a:solidFill>
                          <a:latin typeface="Calibri"/>
                        </a:rPr>
                        <a:t>leg (v1.28)</a:t>
                      </a:r>
                    </a:p>
                  </a:txBody>
                  <a:tcPr marL="63500" marR="63500" marT="12700" marB="12700" anchor="ctr">
                    <a:solidFill>
                      <a:srgbClr val="1B3A5C"/>
                    </a:solidFill>
                  </a:tcPr>
                </a:tc>
                <a:tc>
                  <a:txBody>
                    <a:bodyPr/>
                    <a:lstStyle/>
                    <a:p>
                      <a:pPr algn="ctr"/>
                      <a:r>
                        <a:rPr sz="1050" b="1" i="0">
                          <a:solidFill>
                            <a:srgbClr val="FFFFFF"/>
                          </a:solidFill>
                          <a:latin typeface="Calibri"/>
                        </a:rPr>
                        <a:t>tokens OCP</a:t>
                      </a:r>
                    </a:p>
                  </a:txBody>
                  <a:tcPr marL="63500" marR="63500" marT="12700" marB="12700" anchor="ctr">
                    <a:solidFill>
                      <a:srgbClr val="1B3A5C"/>
                    </a:solidFill>
                  </a:tcPr>
                </a:tc>
                <a:tc>
                  <a:txBody>
                    <a:bodyPr/>
                    <a:lstStyle/>
                    <a:p>
                      <a:pPr algn="ctr"/>
                      <a:r>
                        <a:rPr sz="1050" b="1" i="0">
                          <a:solidFill>
                            <a:srgbClr val="FFFFFF"/>
                          </a:solidFill>
                          <a:latin typeface="Calibri"/>
                        </a:rPr>
                        <a:t>tokens KinD</a:t>
                      </a:r>
                    </a:p>
                  </a:txBody>
                  <a:tcPr marL="63500" marR="63500" marT="12700" marB="12700" anchor="ctr">
                    <a:solidFill>
                      <a:srgbClr val="1B3A5C"/>
                    </a:solidFill>
                  </a:tcPr>
                </a:tc>
              </a:tr>
              <a:tr h="259080">
                <a:tc>
                  <a:txBody>
                    <a:bodyPr/>
                    <a:lstStyle/>
                    <a:p>
                      <a:pPr algn="l"/>
                      <a:r>
                        <a:rPr sz="1050" b="1" i="0">
                          <a:solidFill>
                            <a:srgbClr val="1F2A37"/>
                          </a:solidFill>
                          <a:latin typeface="Calibri"/>
                        </a:rPr>
                        <a:t>#1  gsm8k, 1 task</a:t>
                      </a:r>
                    </a:p>
                  </a:txBody>
                  <a:tcPr marL="63500" marR="63500" marT="12700" marB="12700" anchor="ctr">
                    <a:solidFill>
                      <a:srgbClr val="FFFFFF"/>
                    </a:solidFill>
                  </a:tcPr>
                </a:tc>
                <a:tc>
                  <a:txBody>
                    <a:bodyPr/>
                    <a:lstStyle/>
                    <a:p>
                      <a:pPr algn="ctr"/>
                      <a:r>
                        <a:rPr sz="1050" b="0" i="0">
                          <a:solidFill>
                            <a:srgbClr val="1F2A37"/>
                          </a:solidFill>
                          <a:latin typeface="Calibri"/>
                        </a:rPr>
                        <a:t>470</a:t>
                      </a:r>
                    </a:p>
                  </a:txBody>
                  <a:tcPr marL="63500" marR="63500" marT="12700" marB="12700" anchor="ctr">
                    <a:solidFill>
                      <a:srgbClr val="FFFFFF"/>
                    </a:solidFill>
                  </a:tcPr>
                </a:tc>
                <a:tc>
                  <a:txBody>
                    <a:bodyPr/>
                    <a:lstStyle/>
                    <a:p>
                      <a:pPr algn="ctr"/>
                      <a:r>
                        <a:rPr sz="1050" b="0" i="0">
                          <a:solidFill>
                            <a:srgbClr val="1F2A37"/>
                          </a:solidFill>
                          <a:latin typeface="Calibri"/>
                        </a:rPr>
                        <a:t>790</a:t>
                      </a:r>
                    </a:p>
                  </a:txBody>
                  <a:tcPr marL="63500" marR="63500" marT="12700" marB="12700" anchor="ctr">
                    <a:solidFill>
                      <a:srgbClr val="FFFFFF"/>
                    </a:solidFill>
                  </a:tcPr>
                </a:tc>
              </a:tr>
              <a:tr h="259080">
                <a:tc>
                  <a:txBody>
                    <a:bodyPr/>
                    <a:lstStyle/>
                    <a:p>
                      <a:pPr algn="l"/>
                      <a:r>
                        <a:rPr sz="1050" b="1" i="0">
                          <a:solidFill>
                            <a:srgbClr val="1F2A37"/>
                          </a:solidFill>
                          <a:latin typeface="Calibri"/>
                        </a:rPr>
                        <a:t>#2  gsm8k, 10 tasks</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c>
                  <a:txBody>
                    <a:bodyPr/>
                    <a:lstStyle/>
                    <a:p>
                      <a:pPr algn="ctr"/>
                      <a:r>
                        <a:rPr sz="1050" b="0" i="0">
                          <a:solidFill>
                            <a:srgbClr val="1F2A37"/>
                          </a:solidFill>
                          <a:latin typeface="Calibri"/>
                        </a:rPr>
                        <a:t>5.1 K</a:t>
                      </a:r>
                    </a:p>
                  </a:txBody>
                  <a:tcPr marL="63500" marR="63500" marT="12700" marB="12700" anchor="ctr">
                    <a:solidFill>
                      <a:srgbClr val="F4F6F8"/>
                    </a:solidFill>
                  </a:tcPr>
                </a:tc>
              </a:tr>
              <a:tr h="259080">
                <a:tc>
                  <a:txBody>
                    <a:bodyPr/>
                    <a:lstStyle/>
                    <a:p>
                      <a:pPr algn="l"/>
                      <a:r>
                        <a:rPr sz="1050" b="1" i="0">
                          <a:solidFill>
                            <a:srgbClr val="1F2A37"/>
                          </a:solidFill>
                          <a:latin typeface="Calibri"/>
                        </a:rPr>
                        <a:t>#3  gsm8k, 50 tasks p=4</a:t>
                      </a:r>
                    </a:p>
                  </a:txBody>
                  <a:tcPr marL="63500" marR="63500" marT="12700" marB="12700" anchor="ctr">
                    <a:solidFill>
                      <a:srgbClr val="FFFFFF"/>
                    </a:solidFill>
                  </a:tcPr>
                </a:tc>
                <a:tc>
                  <a:txBody>
                    <a:bodyPr/>
                    <a:lstStyle/>
                    <a:p>
                      <a:pPr algn="ctr"/>
                      <a:r>
                        <a:rPr sz="1050" b="0" i="0">
                          <a:solidFill>
                            <a:srgbClr val="1F2A37"/>
                          </a:solidFill>
                          <a:latin typeface="Calibri"/>
                        </a:rPr>
                        <a:t>25 K</a:t>
                      </a:r>
                    </a:p>
                  </a:txBody>
                  <a:tcPr marL="63500" marR="63500" marT="12700" marB="12700" anchor="ctr">
                    <a:solidFill>
                      <a:srgbClr val="FFFFFF"/>
                    </a:solidFill>
                  </a:tcPr>
                </a:tc>
                <a:tc>
                  <a:txBody>
                    <a:bodyPr/>
                    <a:lstStyle/>
                    <a:p>
                      <a:pPr algn="ctr"/>
                      <a:r>
                        <a:rPr sz="1050" b="0" i="0">
                          <a:solidFill>
                            <a:srgbClr val="1F2A37"/>
                          </a:solidFill>
                          <a:latin typeface="Calibri"/>
                        </a:rPr>
                        <a:t>24 K</a:t>
                      </a:r>
                    </a:p>
                  </a:txBody>
                  <a:tcPr marL="63500" marR="63500" marT="12700" marB="12700" anchor="ctr">
                    <a:solidFill>
                      <a:srgbClr val="FFFFFF"/>
                    </a:solidFill>
                  </a:tcPr>
                </a:tc>
              </a:tr>
              <a:tr h="259080">
                <a:tc>
                  <a:txBody>
                    <a:bodyPr/>
                    <a:lstStyle/>
                    <a:p>
                      <a:pPr algn="l"/>
                      <a:r>
                        <a:rPr sz="1050" b="1" i="0">
                          <a:solidFill>
                            <a:srgbClr val="1F2A37"/>
                          </a:solidFill>
                          <a:latin typeface="Calibri"/>
                        </a:rPr>
                        <a:t>#9  tau2, 10 tasks</a:t>
                      </a:r>
                    </a:p>
                  </a:txBody>
                  <a:tcPr marL="63500" marR="63500" marT="12700" marB="12700" anchor="ctr">
                    <a:solidFill>
                      <a:srgbClr val="F4F6F8"/>
                    </a:solidFill>
                  </a:tcPr>
                </a:tc>
                <a:tc>
                  <a:txBody>
                    <a:bodyPr/>
                    <a:lstStyle/>
                    <a:p>
                      <a:pPr algn="ctr"/>
                      <a:r>
                        <a:rPr sz="1050" b="0" i="0">
                          <a:solidFill>
                            <a:srgbClr val="1F2A37"/>
                          </a:solidFill>
                          <a:latin typeface="Calibri"/>
                        </a:rPr>
                        <a:t>1.01 M</a:t>
                      </a:r>
                    </a:p>
                  </a:txBody>
                  <a:tcPr marL="63500" marR="63500" marT="12700" marB="12700" anchor="ctr">
                    <a:solidFill>
                      <a:srgbClr val="F4F6F8"/>
                    </a:solidFill>
                  </a:tcPr>
                </a:tc>
                <a:tc>
                  <a:txBody>
                    <a:bodyPr/>
                    <a:lstStyle/>
                    <a:p>
                      <a:pPr algn="ctr"/>
                      <a:r>
                        <a:rPr sz="1050" b="0" i="0">
                          <a:solidFill>
                            <a:srgbClr val="1F2A37"/>
                          </a:solidFill>
                          <a:latin typeface="Calibri"/>
                        </a:rPr>
                        <a:t>1.04 M</a:t>
                      </a:r>
                    </a:p>
                  </a:txBody>
                  <a:tcPr marL="63500" marR="63500" marT="12700" marB="12700" anchor="ctr">
                    <a:solidFill>
                      <a:srgbClr val="F4F6F8"/>
                    </a:solidFill>
                  </a:tcPr>
                </a:tc>
              </a:tr>
              <a:tr h="259080">
                <a:tc>
                  <a:txBody>
                    <a:bodyPr/>
                    <a:lstStyle/>
                    <a:p>
                      <a:pPr algn="l"/>
                      <a:r>
                        <a:rPr sz="1050" b="1" i="0">
                          <a:solidFill>
                            <a:srgbClr val="1F2A37"/>
                          </a:solidFill>
                          <a:latin typeface="Calibri"/>
                        </a:rPr>
                        <a:t>#10  tau2, 20 tasks p=4</a:t>
                      </a:r>
                    </a:p>
                  </a:txBody>
                  <a:tcPr marL="63500" marR="63500" marT="12700" marB="12700" anchor="ctr">
                    <a:solidFill>
                      <a:srgbClr val="FFFFFF"/>
                    </a:solidFill>
                  </a:tcPr>
                </a:tc>
                <a:tc>
                  <a:txBody>
                    <a:bodyPr/>
                    <a:lstStyle/>
                    <a:p>
                      <a:pPr algn="ctr"/>
                      <a:r>
                        <a:rPr sz="1050" b="0" i="0">
                          <a:solidFill>
                            <a:srgbClr val="1F2A37"/>
                          </a:solidFill>
                          <a:latin typeface="Calibri"/>
                        </a:rPr>
                        <a:t>1.74 M</a:t>
                      </a:r>
                    </a:p>
                  </a:txBody>
                  <a:tcPr marL="63500" marR="63500" marT="12700" marB="12700" anchor="ctr">
                    <a:solidFill>
                      <a:srgbClr val="FFFFFF"/>
                    </a:solidFill>
                  </a:tcPr>
                </a:tc>
                <a:tc>
                  <a:txBody>
                    <a:bodyPr/>
                    <a:lstStyle/>
                    <a:p>
                      <a:pPr algn="ctr"/>
                      <a:r>
                        <a:rPr sz="1050" b="0" i="0">
                          <a:solidFill>
                            <a:srgbClr val="1F2A37"/>
                          </a:solidFill>
                          <a:latin typeface="Calibri"/>
                        </a:rPr>
                        <a:t>1.78 M</a:t>
                      </a:r>
                    </a:p>
                  </a:txBody>
                  <a:tcPr marL="63500" marR="63500" marT="12700" marB="12700" anchor="ctr">
                    <a:solidFill>
                      <a:srgbClr val="FFFFFF"/>
                    </a:solidFill>
                  </a:tcPr>
                </a:tc>
              </a:tr>
              <a:tr h="259080">
                <a:tc>
                  <a:txBody>
                    <a:bodyPr/>
                    <a:lstStyle/>
                    <a:p>
                      <a:pPr algn="l"/>
                      <a:r>
                        <a:rPr sz="1050" b="1" i="0">
                          <a:solidFill>
                            <a:srgbClr val="1F2A37"/>
                          </a:solidFill>
                          <a:latin typeface="Calibri"/>
                        </a:rPr>
                        <a:t>#11  appworld, 5 tasks</a:t>
                      </a:r>
                    </a:p>
                  </a:txBody>
                  <a:tcPr marL="63500" marR="63500" marT="12700" marB="12700" anchor="ctr">
                    <a:solidFill>
                      <a:srgbClr val="F4F6F8"/>
                    </a:solidFill>
                  </a:tcPr>
                </a:tc>
                <a:tc>
                  <a:txBody>
                    <a:bodyPr/>
                    <a:lstStyle/>
                    <a:p>
                      <a:pPr algn="ctr"/>
                      <a:r>
                        <a:rPr sz="1050" b="0" i="0">
                          <a:solidFill>
                            <a:srgbClr val="1F2A37"/>
                          </a:solidFill>
                          <a:latin typeface="Calibri"/>
                        </a:rPr>
                        <a:t>1.49 M</a:t>
                      </a:r>
                    </a:p>
                  </a:txBody>
                  <a:tcPr marL="63500" marR="63500" marT="12700" marB="12700" anchor="ctr">
                    <a:solidFill>
                      <a:srgbClr val="F4F6F8"/>
                    </a:solidFill>
                  </a:tcPr>
                </a:tc>
                <a:tc>
                  <a:txBody>
                    <a:bodyPr/>
                    <a:lstStyle/>
                    <a:p>
                      <a:pPr algn="ctr"/>
                      <a:r>
                        <a:rPr sz="1050" b="0" i="0">
                          <a:solidFill>
                            <a:srgbClr val="1F2A37"/>
                          </a:solidFill>
                          <a:latin typeface="Calibri"/>
                        </a:rPr>
                        <a:t>0.93 M</a:t>
                      </a:r>
                    </a:p>
                  </a:txBody>
                  <a:tcPr marL="63500" marR="63500" marT="12700" marB="12700" anchor="ctr">
                    <a:solidFill>
                      <a:srgbClr val="F4F6F8"/>
                    </a:solidFill>
                  </a:tcPr>
                </a:tc>
              </a:tr>
              <a:tr h="259080">
                <a:tc>
                  <a:txBody>
                    <a:bodyPr/>
                    <a:lstStyle/>
                    <a:p>
                      <a:pPr algn="l"/>
                      <a:r>
                        <a:rPr sz="1050" b="1" i="0">
                          <a:solidFill>
                            <a:srgbClr val="1F2A37"/>
                          </a:solidFill>
                          <a:latin typeface="Calibri"/>
                        </a:rPr>
                        <a:t>#12  appworld, 20 tasks p=4</a:t>
                      </a:r>
                    </a:p>
                  </a:txBody>
                  <a:tcPr marL="63500" marR="63500" marT="12700" marB="12700" anchor="ctr">
                    <a:solidFill>
                      <a:srgbClr val="FFFFFF"/>
                    </a:solidFill>
                  </a:tcPr>
                </a:tc>
                <a:tc>
                  <a:txBody>
                    <a:bodyPr/>
                    <a:lstStyle/>
                    <a:p>
                      <a:pPr algn="ctr"/>
                      <a:r>
                        <a:rPr sz="1050" b="0" i="0">
                          <a:solidFill>
                            <a:srgbClr val="1F2A37"/>
                          </a:solidFill>
                          <a:latin typeface="Calibri"/>
                        </a:rPr>
                        <a:t>5.71 M</a:t>
                      </a:r>
                    </a:p>
                  </a:txBody>
                  <a:tcPr marL="63500" marR="63500" marT="12700" marB="12700" anchor="ctr">
                    <a:solidFill>
                      <a:srgbClr val="FFFFFF"/>
                    </a:solidFill>
                  </a:tcPr>
                </a:tc>
                <a:tc>
                  <a:txBody>
                    <a:bodyPr/>
                    <a:lstStyle/>
                    <a:p>
                      <a:pPr algn="ctr"/>
                      <a:r>
                        <a:rPr sz="1050" b="0" i="0">
                          <a:solidFill>
                            <a:srgbClr val="1F2A37"/>
                          </a:solidFill>
                          <a:latin typeface="Calibri"/>
                        </a:rPr>
                        <a:t>2.20 M</a:t>
                      </a:r>
                    </a:p>
                  </a:txBody>
                  <a:tcPr marL="63500" marR="63500" marT="12700" marB="12700" anchor="ctr">
                    <a:solidFill>
                      <a:srgbClr val="FFFFFF"/>
                    </a:solidFill>
                  </a:tcPr>
                </a:tc>
              </a:tr>
              <a:tr h="259080">
                <a:tc>
                  <a:txBody>
                    <a:bodyPr/>
                    <a:lstStyle/>
                    <a:p>
                      <a:pPr algn="l"/>
                      <a:r>
                        <a:rPr sz="1050" b="1" i="0">
                          <a:solidFill>
                            <a:srgbClr val="1F2A37"/>
                          </a:solidFill>
                          <a:latin typeface="Calibri"/>
                        </a:rPr>
                        <a:t>all 12 legs</a:t>
                      </a:r>
                    </a:p>
                  </a:txBody>
                  <a:tcPr marL="63500" marR="63500" marT="12700" marB="12700" anchor="ctr">
                    <a:solidFill>
                      <a:srgbClr val="F4F6F8"/>
                    </a:solidFill>
                  </a:tcPr>
                </a:tc>
                <a:tc>
                  <a:txBody>
                    <a:bodyPr/>
                    <a:lstStyle/>
                    <a:p>
                      <a:pPr algn="ctr"/>
                      <a:r>
                        <a:rPr sz="1050" b="0" i="0">
                          <a:solidFill>
                            <a:srgbClr val="1F2A37"/>
                          </a:solidFill>
                          <a:latin typeface="Calibri"/>
                        </a:rPr>
                        <a:t>10.0 M</a:t>
                      </a:r>
                    </a:p>
                  </a:txBody>
                  <a:tcPr marL="63500" marR="63500" marT="12700" marB="12700" anchor="ctr">
                    <a:solidFill>
                      <a:srgbClr val="F4F6F8"/>
                    </a:solidFill>
                  </a:tcPr>
                </a:tc>
                <a:tc>
                  <a:txBody>
                    <a:bodyPr/>
                    <a:lstStyle/>
                    <a:p>
                      <a:pPr algn="ctr"/>
                      <a:r>
                        <a:rPr sz="1050" b="0" i="0">
                          <a:solidFill>
                            <a:srgbClr val="1F2A37"/>
                          </a:solidFill>
                          <a:latin typeface="Calibri"/>
                        </a:rPr>
                        <a:t>6.0 M</a:t>
                      </a:r>
                    </a:p>
                  </a:txBody>
                  <a:tcPr marL="63500" marR="63500" marT="12700" marB="12700" anchor="ctr">
                    <a:solidFill>
                      <a:srgbClr val="F4F6F8"/>
                    </a:solidFill>
                  </a:tcPr>
                </a:tc>
              </a:tr>
            </a:tbl>
          </a:graphicData>
        </a:graphic>
      </p:graphicFrame>
      <p:sp>
        <p:nvSpPr>
          <p:cNvPr id="5" name="Rounded Rectangle 4"/>
          <p:cNvSpPr/>
          <p:nvPr/>
        </p:nvSpPr>
        <p:spPr>
          <a:xfrm>
            <a:off x="411480" y="3703320"/>
            <a:ext cx="5989320" cy="123444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3D6E70"/>
                </a:solidFill>
                <a:latin typeface="Calibri"/>
              </a:rPr>
              <a:t>Budget by benchmark, not by task count</a:t>
            </a:r>
          </a:p>
          <a:p>
            <a:pPr algn="ctr"/>
            <a:r>
              <a:rPr sz="1100" b="0" i="0">
                <a:solidFill>
                  <a:srgbClr val="1F2A37"/>
                </a:solidFill>
                <a:latin typeface="Calibri"/>
              </a:rPr>
              <a:t>The eight gsm8k legs together are 0.4% of the matrix's token bill (0.8% on KinD). appworld's two legs are 72% of it (52% on KinD). A 50-task gsm8k leg is cheaper than a SINGLE appworld task — 25 K tokens against 295 K.</a:t>
            </a:r>
          </a:p>
        </p:txBody>
      </p:sp>
      <p:sp>
        <p:nvSpPr>
          <p:cNvPr id="6" name="Rounded Rectangle 5"/>
          <p:cNvSpPr/>
          <p:nvPr/>
        </p:nvSpPr>
        <p:spPr>
          <a:xfrm>
            <a:off x="6675120" y="3703320"/>
            <a:ext cx="5074920" cy="123444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400" b="1" i="0">
                <a:solidFill>
                  <a:srgbClr val="B55A2E"/>
                </a:solidFill>
                <a:latin typeface="Calibri"/>
              </a:rPr>
              <a:t>Two legs of the same size are not the same bill</a:t>
            </a:r>
          </a:p>
          <a:p>
            <a:pPr algn="ctr"/>
            <a:r>
              <a:rPr sz="1100" b="0" i="0">
                <a:solidFill>
                  <a:srgbClr val="1F2A37"/>
                </a:solidFill>
                <a:latin typeface="Calibri"/>
              </a:rPr>
              <a:t>#12 cost 2.6x more on OpenShift than on KinD for the same 20 requested tasks: appworld turn counts are nondeterministic, and the slower cluster's tasks ran longer before the 600 s timeout. Size appworld on YOUR cluster.</a:t>
            </a:r>
          </a:p>
        </p:txBody>
      </p:sp>
      <p:sp>
        <p:nvSpPr>
          <p:cNvPr id="7" name="Rounded Rectangle 6"/>
          <p:cNvSpPr/>
          <p:nvPr/>
        </p:nvSpPr>
        <p:spPr>
          <a:xfrm>
            <a:off x="411480" y="5120640"/>
            <a:ext cx="11338560" cy="11887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And the totals UNDERSTATE it three ways:  a task killed by the per-task timeout burns tokens but leaves no report row, so appworld's 15 timed-out tasks are missing from the numbers above.  tau2's user simulator runs in the MCP pod, which is not instrumented — its inference is billed by the gateway and counted nowhere here.  And a leg that replays the gateway's completion cache re-reports stored usage for calls that were never made upstream.</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7.5 The Cost Model — Tokens, Models, Money">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7.5  The Cost Model — Tokens, Models, Money</a:t>
            </a:r>
          </a:p>
          <a:p>
            <a:r>
              <a:rPr sz="1400" b="0" i="0">
                <a:solidFill>
                  <a:srgbClr val="C9D9EC"/>
                </a:solidFill>
                <a:latin typeface="Calibri"/>
              </a:rPr>
              <a:t>What a task costs, what a model choice costs, and the one ratio that decides it</a:t>
            </a:r>
          </a:p>
        </p:txBody>
      </p:sp>
      <p:graphicFrame>
        <p:nvGraphicFramePr>
          <p:cNvPr id="3" name="Table 2"/>
          <p:cNvGraphicFramePr>
            <a:graphicFrameLocks noGrp="1"/>
          </p:cNvGraphicFramePr>
          <p:nvPr/>
        </p:nvGraphicFramePr>
        <p:xfrm>
          <a:off x="411480" y="1188720"/>
          <a:ext cx="5623560" cy="3703320"/>
        </p:xfrm>
        <a:graphic>
          <a:graphicData uri="http://schemas.openxmlformats.org/drawingml/2006/table">
            <a:tbl>
              <a:tblPr firstRow="1">
                <a:tableStyleId>{5C22544A-7EE6-4342-B048-85BDC9FD1C3A}</a:tableStyleId>
              </a:tblPr>
              <a:tblGrid>
                <a:gridCol w="2194560"/>
                <a:gridCol w="1143000"/>
                <a:gridCol w="1143000"/>
                <a:gridCol w="1143000"/>
              </a:tblGrid>
              <a:tr h="336665">
                <a:tc>
                  <a:txBody>
                    <a:bodyPr/>
                    <a:lstStyle/>
                    <a:p>
                      <a:pPr algn="l"/>
                      <a:r>
                        <a:rPr sz="1050" b="1" i="0">
                          <a:solidFill>
                            <a:srgbClr val="FFFFFF"/>
                          </a:solidFill>
                          <a:latin typeface="Calibri"/>
                        </a:rPr>
                        <a:t>per task, pooled</a:t>
                      </a:r>
                    </a:p>
                  </a:txBody>
                  <a:tcPr marL="63500" marR="63500" marT="12700" marB="12700" anchor="ctr">
                    <a:solidFill>
                      <a:srgbClr val="1B3A5C"/>
                    </a:solidFill>
                  </a:tcPr>
                </a:tc>
                <a:tc>
                  <a:txBody>
                    <a:bodyPr/>
                    <a:lstStyle/>
                    <a:p>
                      <a:pPr algn="ctr"/>
                      <a:r>
                        <a:rPr sz="1050" b="1" i="0">
                          <a:solidFill>
                            <a:srgbClr val="FFFFFF"/>
                          </a:solidFill>
                          <a:latin typeface="Calibri"/>
                        </a:rPr>
                        <a:t>gsm8k</a:t>
                      </a:r>
                    </a:p>
                  </a:txBody>
                  <a:tcPr marL="63500" marR="63500" marT="12700" marB="12700" anchor="ctr">
                    <a:solidFill>
                      <a:srgbClr val="1B3A5C"/>
                    </a:solidFill>
                  </a:tcPr>
                </a:tc>
                <a:tc>
                  <a:txBody>
                    <a:bodyPr/>
                    <a:lstStyle/>
                    <a:p>
                      <a:pPr algn="ctr"/>
                      <a:r>
                        <a:rPr sz="1050" b="1" i="0">
                          <a:solidFill>
                            <a:srgbClr val="FFFFFF"/>
                          </a:solidFill>
                          <a:latin typeface="Calibri"/>
                        </a:rPr>
                        <a:t>tau2</a:t>
                      </a:r>
                    </a:p>
                  </a:txBody>
                  <a:tcPr marL="63500" marR="63500" marT="12700" marB="12700" anchor="ctr">
                    <a:solidFill>
                      <a:srgbClr val="1B3A5C"/>
                    </a:solidFill>
                  </a:tcPr>
                </a:tc>
                <a:tc>
                  <a:txBody>
                    <a:bodyPr/>
                    <a:lstStyle/>
                    <a:p>
                      <a:pPr algn="ctr"/>
                      <a:r>
                        <a:rPr sz="1050" b="1" i="0">
                          <a:solidFill>
                            <a:srgbClr val="FFFFFF"/>
                          </a:solidFill>
                          <a:latin typeface="Calibri"/>
                        </a:rPr>
                        <a:t>appworld</a:t>
                      </a:r>
                    </a:p>
                  </a:txBody>
                  <a:tcPr marL="63500" marR="63500" marT="12700" marB="12700" anchor="ctr">
                    <a:solidFill>
                      <a:srgbClr val="1B3A5C"/>
                    </a:solidFill>
                  </a:tcPr>
                </a:tc>
              </a:tr>
              <a:tr h="336665">
                <a:tc>
                  <a:txBody>
                    <a:bodyPr/>
                    <a:lstStyle/>
                    <a:p>
                      <a:pPr algn="l"/>
                      <a:r>
                        <a:rPr sz="1050" b="1" i="0">
                          <a:solidFill>
                            <a:srgbClr val="1F2A37"/>
                          </a:solidFill>
                          <a:latin typeface="Calibri"/>
                        </a:rPr>
                        <a:t>LLM calls</a:t>
                      </a:r>
                    </a:p>
                  </a:txBody>
                  <a:tcPr marL="63500" marR="63500" marT="12700" marB="12700" anchor="ctr">
                    <a:solidFill>
                      <a:srgbClr val="FFFFFF"/>
                    </a:solidFill>
                  </a:tcPr>
                </a:tc>
                <a:tc>
                  <a:txBody>
                    <a:bodyPr/>
                    <a:lstStyle/>
                    <a:p>
                      <a:pPr algn="ctr"/>
                      <a:r>
                        <a:rPr sz="1050" b="0" i="0">
                          <a:solidFill>
                            <a:srgbClr val="1F2A37"/>
                          </a:solidFill>
                          <a:latin typeface="Calibri"/>
                        </a:rPr>
                        <a:t>1.10</a:t>
                      </a:r>
                    </a:p>
                  </a:txBody>
                  <a:tcPr marL="63500" marR="63500" marT="12700" marB="12700" anchor="ctr">
                    <a:solidFill>
                      <a:srgbClr val="FFFFFF"/>
                    </a:solidFill>
                  </a:tcPr>
                </a:tc>
                <a:tc>
                  <a:txBody>
                    <a:bodyPr/>
                    <a:lstStyle/>
                    <a:p>
                      <a:pPr algn="ctr"/>
                      <a:r>
                        <a:rPr sz="1050" b="0" i="0">
                          <a:solidFill>
                            <a:srgbClr val="1F2A37"/>
                          </a:solidFill>
                          <a:latin typeface="Calibri"/>
                        </a:rPr>
                        <a:t>11.38</a:t>
                      </a:r>
                    </a:p>
                  </a:txBody>
                  <a:tcPr marL="63500" marR="63500" marT="12700" marB="12700" anchor="ctr">
                    <a:solidFill>
                      <a:srgbClr val="FFFFFF"/>
                    </a:solidFill>
                  </a:tcPr>
                </a:tc>
                <a:tc>
                  <a:txBody>
                    <a:bodyPr/>
                    <a:lstStyle/>
                    <a:p>
                      <a:pPr algn="ctr"/>
                      <a:r>
                        <a:rPr sz="1050" b="0" i="0">
                          <a:solidFill>
                            <a:srgbClr val="1F2A37"/>
                          </a:solidFill>
                          <a:latin typeface="Calibri"/>
                        </a:rPr>
                        <a:t>29.20</a:t>
                      </a:r>
                    </a:p>
                  </a:txBody>
                  <a:tcPr marL="63500" marR="63500" marT="12700" marB="12700" anchor="ctr">
                    <a:solidFill>
                      <a:srgbClr val="FFFFFF"/>
                    </a:solidFill>
                  </a:tcPr>
                </a:tc>
              </a:tr>
              <a:tr h="336665">
                <a:tc>
                  <a:txBody>
                    <a:bodyPr/>
                    <a:lstStyle/>
                    <a:p>
                      <a:pPr algn="l"/>
                      <a:r>
                        <a:rPr sz="1050" b="1" i="0">
                          <a:solidFill>
                            <a:srgbClr val="1F2A37"/>
                          </a:solidFill>
                          <a:latin typeface="Calibri"/>
                        </a:rPr>
                        <a:t>input tokens</a:t>
                      </a:r>
                    </a:p>
                  </a:txBody>
                  <a:tcPr marL="63500" marR="63500" marT="12700" marB="12700" anchor="ctr">
                    <a:solidFill>
                      <a:srgbClr val="F4F6F8"/>
                    </a:solidFill>
                  </a:tcPr>
                </a:tc>
                <a:tc>
                  <a:txBody>
                    <a:bodyPr/>
                    <a:lstStyle/>
                    <a:p>
                      <a:pPr algn="ctr"/>
                      <a:r>
                        <a:rPr sz="1050" b="0" i="0">
                          <a:solidFill>
                            <a:srgbClr val="1F2A37"/>
                          </a:solidFill>
                          <a:latin typeface="Calibri"/>
                        </a:rPr>
                        <a:t>341</a:t>
                      </a:r>
                    </a:p>
                  </a:txBody>
                  <a:tcPr marL="63500" marR="63500" marT="12700" marB="12700" anchor="ctr">
                    <a:solidFill>
                      <a:srgbClr val="F4F6F8"/>
                    </a:solidFill>
                  </a:tcPr>
                </a:tc>
                <a:tc>
                  <a:txBody>
                    <a:bodyPr/>
                    <a:lstStyle/>
                    <a:p>
                      <a:pPr algn="ctr"/>
                      <a:r>
                        <a:rPr sz="1050" b="0" i="0">
                          <a:solidFill>
                            <a:srgbClr val="1F2A37"/>
                          </a:solidFill>
                          <a:latin typeface="Calibri"/>
                        </a:rPr>
                        <a:t>90,902</a:t>
                      </a:r>
                    </a:p>
                  </a:txBody>
                  <a:tcPr marL="63500" marR="63500" marT="12700" marB="12700" anchor="ctr">
                    <a:solidFill>
                      <a:srgbClr val="F4F6F8"/>
                    </a:solidFill>
                  </a:tcPr>
                </a:tc>
                <a:tc>
                  <a:txBody>
                    <a:bodyPr/>
                    <a:lstStyle/>
                    <a:p>
                      <a:pPr algn="ctr"/>
                      <a:r>
                        <a:rPr sz="1050" b="0" i="0">
                          <a:solidFill>
                            <a:srgbClr val="1F2A37"/>
                          </a:solidFill>
                          <a:latin typeface="Calibri"/>
                        </a:rPr>
                        <a:t>269,953</a:t>
                      </a:r>
                    </a:p>
                  </a:txBody>
                  <a:tcPr marL="63500" marR="63500" marT="12700" marB="12700" anchor="ctr">
                    <a:solidFill>
                      <a:srgbClr val="F4F6F8"/>
                    </a:solidFill>
                  </a:tcPr>
                </a:tc>
              </a:tr>
              <a:tr h="336665">
                <a:tc>
                  <a:txBody>
                    <a:bodyPr/>
                    <a:lstStyle/>
                    <a:p>
                      <a:pPr algn="l"/>
                      <a:r>
                        <a:rPr sz="1050" b="1" i="0">
                          <a:solidFill>
                            <a:srgbClr val="1F2A37"/>
                          </a:solidFill>
                          <a:latin typeface="Calibri"/>
                        </a:rPr>
                        <a:t>output tokens</a:t>
                      </a:r>
                    </a:p>
                  </a:txBody>
                  <a:tcPr marL="63500" marR="63500" marT="12700" marB="12700" anchor="ctr">
                    <a:solidFill>
                      <a:srgbClr val="FFFFFF"/>
                    </a:solidFill>
                  </a:tcPr>
                </a:tc>
                <a:tc>
                  <a:txBody>
                    <a:bodyPr/>
                    <a:lstStyle/>
                    <a:p>
                      <a:pPr algn="ctr"/>
                      <a:r>
                        <a:rPr sz="1050" b="0" i="0">
                          <a:solidFill>
                            <a:srgbClr val="1F2A37"/>
                          </a:solidFill>
                          <a:latin typeface="Calibri"/>
                        </a:rPr>
                        <a:t>180</a:t>
                      </a:r>
                    </a:p>
                  </a:txBody>
                  <a:tcPr marL="63500" marR="63500" marT="12700" marB="12700" anchor="ctr">
                    <a:solidFill>
                      <a:srgbClr val="FFFFFF"/>
                    </a:solidFill>
                  </a:tcPr>
                </a:tc>
                <a:tc>
                  <a:txBody>
                    <a:bodyPr/>
                    <a:lstStyle/>
                    <a:p>
                      <a:pPr algn="ctr"/>
                      <a:r>
                        <a:rPr sz="1050" b="0" i="0">
                          <a:solidFill>
                            <a:srgbClr val="1F2A37"/>
                          </a:solidFill>
                          <a:latin typeface="Calibri"/>
                        </a:rPr>
                        <a:t>2,061</a:t>
                      </a:r>
                    </a:p>
                  </a:txBody>
                  <a:tcPr marL="63500" marR="63500" marT="12700" marB="12700" anchor="ctr">
                    <a:solidFill>
                      <a:srgbClr val="FFFFFF"/>
                    </a:solidFill>
                  </a:tcPr>
                </a:tc>
                <a:tc>
                  <a:txBody>
                    <a:bodyPr/>
                    <a:lstStyle/>
                    <a:p>
                      <a:pPr algn="ctr"/>
                      <a:r>
                        <a:rPr sz="1050" b="0" i="0">
                          <a:solidFill>
                            <a:srgbClr val="1F2A37"/>
                          </a:solidFill>
                          <a:latin typeface="Calibri"/>
                        </a:rPr>
                        <a:t>25,140</a:t>
                      </a:r>
                    </a:p>
                  </a:txBody>
                  <a:tcPr marL="63500" marR="63500" marT="12700" marB="12700" anchor="ctr">
                    <a:solidFill>
                      <a:srgbClr val="FFFFFF"/>
                    </a:solidFill>
                  </a:tcPr>
                </a:tc>
              </a:tr>
              <a:tr h="336665">
                <a:tc>
                  <a:txBody>
                    <a:bodyPr/>
                    <a:lstStyle/>
                    <a:p>
                      <a:pPr algn="l"/>
                      <a:r>
                        <a:rPr sz="1050" b="1" i="0">
                          <a:solidFill>
                            <a:srgbClr val="1F2A37"/>
                          </a:solidFill>
                          <a:latin typeface="Calibri"/>
                        </a:rPr>
                        <a:t>total tokens</a:t>
                      </a:r>
                    </a:p>
                  </a:txBody>
                  <a:tcPr marL="63500" marR="63500" marT="12700" marB="12700" anchor="ctr">
                    <a:solidFill>
                      <a:srgbClr val="F4F6F8"/>
                    </a:solidFill>
                  </a:tcPr>
                </a:tc>
                <a:tc>
                  <a:txBody>
                    <a:bodyPr/>
                    <a:lstStyle/>
                    <a:p>
                      <a:pPr algn="ctr"/>
                      <a:r>
                        <a:rPr sz="1050" b="0" i="0">
                          <a:solidFill>
                            <a:srgbClr val="1F2A37"/>
                          </a:solidFill>
                          <a:latin typeface="Calibri"/>
                        </a:rPr>
                        <a:t>520</a:t>
                      </a:r>
                    </a:p>
                  </a:txBody>
                  <a:tcPr marL="63500" marR="63500" marT="12700" marB="12700" anchor="ctr">
                    <a:solidFill>
                      <a:srgbClr val="F4F6F8"/>
                    </a:solidFill>
                  </a:tcPr>
                </a:tc>
                <a:tc>
                  <a:txBody>
                    <a:bodyPr/>
                    <a:lstStyle/>
                    <a:p>
                      <a:pPr algn="ctr"/>
                      <a:r>
                        <a:rPr sz="1050" b="0" i="0">
                          <a:solidFill>
                            <a:srgbClr val="1F2A37"/>
                          </a:solidFill>
                          <a:latin typeface="Calibri"/>
                        </a:rPr>
                        <a:t>92,963</a:t>
                      </a:r>
                    </a:p>
                  </a:txBody>
                  <a:tcPr marL="63500" marR="63500" marT="12700" marB="12700" anchor="ctr">
                    <a:solidFill>
                      <a:srgbClr val="F4F6F8"/>
                    </a:solidFill>
                  </a:tcPr>
                </a:tc>
                <a:tc>
                  <a:txBody>
                    <a:bodyPr/>
                    <a:lstStyle/>
                    <a:p>
                      <a:pPr algn="ctr"/>
                      <a:r>
                        <a:rPr sz="1050" b="0" i="0">
                          <a:solidFill>
                            <a:srgbClr val="1F2A37"/>
                          </a:solidFill>
                          <a:latin typeface="Calibri"/>
                        </a:rPr>
                        <a:t>295,093</a:t>
                      </a:r>
                    </a:p>
                  </a:txBody>
                  <a:tcPr marL="63500" marR="63500" marT="12700" marB="12700" anchor="ctr">
                    <a:solidFill>
                      <a:srgbClr val="F4F6F8"/>
                    </a:solidFill>
                  </a:tcPr>
                </a:tc>
              </a:tr>
              <a:tr h="336665">
                <a:tc>
                  <a:txBody>
                    <a:bodyPr/>
                    <a:lstStyle/>
                    <a:p>
                      <a:pPr algn="l"/>
                      <a:r>
                        <a:rPr sz="1050" b="1" i="0">
                          <a:solidFill>
                            <a:srgbClr val="1F2A37"/>
                          </a:solidFill>
                          <a:latin typeface="Calibri"/>
                        </a:rPr>
                        <a:t>x a gsm8k task</a:t>
                      </a:r>
                    </a:p>
                  </a:txBody>
                  <a:tcPr marL="63500" marR="63500" marT="12700" marB="12700" anchor="ctr">
                    <a:solidFill>
                      <a:srgbClr val="FFFFFF"/>
                    </a:solidFill>
                  </a:tcPr>
                </a:tc>
                <a:tc>
                  <a:txBody>
                    <a:bodyPr/>
                    <a:lstStyle/>
                    <a:p>
                      <a:pPr algn="ctr"/>
                      <a:r>
                        <a:rPr sz="1050" b="0" i="0">
                          <a:solidFill>
                            <a:srgbClr val="1F2A37"/>
                          </a:solidFill>
                          <a:latin typeface="Calibri"/>
                        </a:rPr>
                        <a:t>1x</a:t>
                      </a:r>
                    </a:p>
                  </a:txBody>
                  <a:tcPr marL="63500" marR="63500" marT="12700" marB="12700" anchor="ctr">
                    <a:solidFill>
                      <a:srgbClr val="FFFFFF"/>
                    </a:solidFill>
                  </a:tcPr>
                </a:tc>
                <a:tc>
                  <a:txBody>
                    <a:bodyPr/>
                    <a:lstStyle/>
                    <a:p>
                      <a:pPr algn="ctr"/>
                      <a:r>
                        <a:rPr sz="1050" b="0" i="0">
                          <a:solidFill>
                            <a:srgbClr val="1F2A37"/>
                          </a:solidFill>
                          <a:latin typeface="Calibri"/>
                        </a:rPr>
                        <a:t>179x</a:t>
                      </a:r>
                    </a:p>
                  </a:txBody>
                  <a:tcPr marL="63500" marR="63500" marT="12700" marB="12700" anchor="ctr">
                    <a:solidFill>
                      <a:srgbClr val="FFFFFF"/>
                    </a:solidFill>
                  </a:tcPr>
                </a:tc>
                <a:tc>
                  <a:txBody>
                    <a:bodyPr/>
                    <a:lstStyle/>
                    <a:p>
                      <a:pPr algn="ctr"/>
                      <a:r>
                        <a:rPr sz="1050" b="0" i="0">
                          <a:solidFill>
                            <a:srgbClr val="1F2A37"/>
                          </a:solidFill>
                          <a:latin typeface="Calibri"/>
                        </a:rPr>
                        <a:t>567x</a:t>
                      </a:r>
                    </a:p>
                  </a:txBody>
                  <a:tcPr marL="63500" marR="63500" marT="12700" marB="12700" anchor="ctr">
                    <a:solidFill>
                      <a:srgbClr val="FFFFFF"/>
                    </a:solidFill>
                  </a:tcPr>
                </a:tc>
              </a:tr>
              <a:tr h="336665">
                <a:tc>
                  <a:txBody>
                    <a:bodyPr/>
                    <a:lstStyle/>
                    <a:p>
                      <a:pPr algn="l"/>
                      <a:r>
                        <a:rPr sz="1050" b="1" i="0">
                          <a:solidFill>
                            <a:srgbClr val="1F2A37"/>
                          </a:solidFill>
                          <a:latin typeface="Calibri"/>
                        </a:rPr>
                        <a:t>input share of tokens</a:t>
                      </a:r>
                    </a:p>
                  </a:txBody>
                  <a:tcPr marL="63500" marR="63500" marT="12700" marB="12700" anchor="ctr">
                    <a:solidFill>
                      <a:srgbClr val="F4F6F8"/>
                    </a:solidFill>
                  </a:tcPr>
                </a:tc>
                <a:tc>
                  <a:txBody>
                    <a:bodyPr/>
                    <a:lstStyle/>
                    <a:p>
                      <a:pPr algn="ctr"/>
                      <a:r>
                        <a:rPr sz="1050" b="0" i="0">
                          <a:solidFill>
                            <a:srgbClr val="1F2A37"/>
                          </a:solidFill>
                          <a:latin typeface="Calibri"/>
                        </a:rPr>
                        <a:t>66%</a:t>
                      </a:r>
                    </a:p>
                  </a:txBody>
                  <a:tcPr marL="63500" marR="63500" marT="12700" marB="12700" anchor="ctr">
                    <a:solidFill>
                      <a:srgbClr val="F4F6F8"/>
                    </a:solidFill>
                  </a:tcPr>
                </a:tc>
                <a:tc>
                  <a:txBody>
                    <a:bodyPr/>
                    <a:lstStyle/>
                    <a:p>
                      <a:pPr algn="ctr"/>
                      <a:r>
                        <a:rPr sz="1050" b="0" i="0">
                          <a:solidFill>
                            <a:srgbClr val="1F2A37"/>
                          </a:solidFill>
                          <a:latin typeface="Calibri"/>
                        </a:rPr>
                        <a:t>98%</a:t>
                      </a:r>
                    </a:p>
                  </a:txBody>
                  <a:tcPr marL="63500" marR="63500" marT="12700" marB="12700" anchor="ctr">
                    <a:solidFill>
                      <a:srgbClr val="F4F6F8"/>
                    </a:solidFill>
                  </a:tcPr>
                </a:tc>
                <a:tc>
                  <a:txBody>
                    <a:bodyPr/>
                    <a:lstStyle/>
                    <a:p>
                      <a:pPr algn="ctr"/>
                      <a:r>
                        <a:rPr sz="1050" b="0" i="0">
                          <a:solidFill>
                            <a:srgbClr val="1F2A37"/>
                          </a:solidFill>
                          <a:latin typeface="Calibri"/>
                        </a:rPr>
                        <a:t>92%</a:t>
                      </a:r>
                    </a:p>
                  </a:txBody>
                  <a:tcPr marL="63500" marR="63500" marT="12700" marB="12700" anchor="ctr">
                    <a:solidFill>
                      <a:srgbClr val="F4F6F8"/>
                    </a:solidFill>
                  </a:tcPr>
                </a:tc>
              </a:tr>
              <a:tr h="336665">
                <a:tc>
                  <a:txBody>
                    <a:bodyPr/>
                    <a:lstStyle/>
                    <a:p>
                      <a:pPr algn="l"/>
                      <a:r>
                        <a:rPr sz="1050" b="1" i="0">
                          <a:solidFill>
                            <a:srgbClr val="1F2A37"/>
                          </a:solidFill>
                          <a:latin typeface="Calibri"/>
                        </a:rPr>
                        <a:t>median task latency</a:t>
                      </a:r>
                    </a:p>
                  </a:txBody>
                  <a:tcPr marL="63500" marR="63500" marT="12700" marB="12700" anchor="ctr">
                    <a:solidFill>
                      <a:srgbClr val="FFFFFF"/>
                    </a:solidFill>
                  </a:tcPr>
                </a:tc>
                <a:tc>
                  <a:txBody>
                    <a:bodyPr/>
                    <a:lstStyle/>
                    <a:p>
                      <a:pPr algn="ctr"/>
                      <a:r>
                        <a:rPr sz="1050" b="0" i="0">
                          <a:solidFill>
                            <a:srgbClr val="1F2A37"/>
                          </a:solidFill>
                          <a:latin typeface="Calibri"/>
                        </a:rPr>
                        <a:t>4.9 s</a:t>
                      </a:r>
                    </a:p>
                  </a:txBody>
                  <a:tcPr marL="63500" marR="63500" marT="12700" marB="12700" anchor="ctr">
                    <a:solidFill>
                      <a:srgbClr val="FFFFFF"/>
                    </a:solidFill>
                  </a:tcPr>
                </a:tc>
                <a:tc>
                  <a:txBody>
                    <a:bodyPr/>
                    <a:lstStyle/>
                    <a:p>
                      <a:pPr algn="ctr"/>
                      <a:r>
                        <a:rPr sz="1050" b="0" i="0">
                          <a:solidFill>
                            <a:srgbClr val="1F2A37"/>
                          </a:solidFill>
                          <a:latin typeface="Calibri"/>
                        </a:rPr>
                        <a:t>84 s</a:t>
                      </a:r>
                    </a:p>
                  </a:txBody>
                  <a:tcPr marL="63500" marR="63500" marT="12700" marB="12700" anchor="ctr">
                    <a:solidFill>
                      <a:srgbClr val="FFFFFF"/>
                    </a:solidFill>
                  </a:tcPr>
                </a:tc>
                <a:tc>
                  <a:txBody>
                    <a:bodyPr/>
                    <a:lstStyle/>
                    <a:p>
                      <a:pPr algn="ctr"/>
                      <a:r>
                        <a:rPr sz="1050" b="0" i="0">
                          <a:solidFill>
                            <a:srgbClr val="1F2A37"/>
                          </a:solidFill>
                          <a:latin typeface="Calibri"/>
                        </a:rPr>
                        <a:t>264 s</a:t>
                      </a:r>
                    </a:p>
                  </a:txBody>
                  <a:tcPr marL="63500" marR="63500" marT="12700" marB="12700" anchor="ctr">
                    <a:solidFill>
                      <a:srgbClr val="FFFFFF"/>
                    </a:solidFill>
                  </a:tcPr>
                </a:tc>
              </a:tr>
              <a:tr h="336665">
                <a:tc>
                  <a:txBody>
                    <a:bodyPr/>
                    <a:lstStyle/>
                    <a:p>
                      <a:pPr algn="l"/>
                      <a:r>
                        <a:rPr sz="1050" b="1" i="0">
                          <a:solidFill>
                            <a:srgbClr val="1F2A37"/>
                          </a:solidFill>
                          <a:latin typeface="Calibri"/>
                        </a:rPr>
                        <a:t>… of it inside model calls</a:t>
                      </a:r>
                    </a:p>
                  </a:txBody>
                  <a:tcPr marL="63500" marR="63500" marT="12700" marB="12700" anchor="ctr">
                    <a:solidFill>
                      <a:srgbClr val="F4F6F8"/>
                    </a:solidFill>
                  </a:tcPr>
                </a:tc>
                <a:tc>
                  <a:txBody>
                    <a:bodyPr/>
                    <a:lstStyle/>
                    <a:p>
                      <a:pPr algn="ctr"/>
                      <a:r>
                        <a:rPr sz="1050" b="0" i="0">
                          <a:solidFill>
                            <a:srgbClr val="1F2A37"/>
                          </a:solidFill>
                          <a:latin typeface="Calibri"/>
                        </a:rPr>
                        <a:t>90%</a:t>
                      </a:r>
                    </a:p>
                  </a:txBody>
                  <a:tcPr marL="63500" marR="63500" marT="12700" marB="12700" anchor="ctr">
                    <a:solidFill>
                      <a:srgbClr val="F4F6F8"/>
                    </a:solidFill>
                  </a:tcPr>
                </a:tc>
                <a:tc>
                  <a:txBody>
                    <a:bodyPr/>
                    <a:lstStyle/>
                    <a:p>
                      <a:pPr algn="ctr"/>
                      <a:r>
                        <a:rPr sz="1050" b="0" i="0">
                          <a:solidFill>
                            <a:srgbClr val="1F2A37"/>
                          </a:solidFill>
                          <a:latin typeface="Calibri"/>
                        </a:rPr>
                        <a:t>58%</a:t>
                      </a:r>
                    </a:p>
                  </a:txBody>
                  <a:tcPr marL="63500" marR="63500" marT="12700" marB="12700" anchor="ctr">
                    <a:solidFill>
                      <a:srgbClr val="F4F6F8"/>
                    </a:solidFill>
                  </a:tcPr>
                </a:tc>
                <a:tc>
                  <a:txBody>
                    <a:bodyPr/>
                    <a:lstStyle/>
                    <a:p>
                      <a:pPr algn="ctr"/>
                      <a:r>
                        <a:rPr sz="1050" b="0" i="0">
                          <a:solidFill>
                            <a:srgbClr val="1F2A37"/>
                          </a:solidFill>
                          <a:latin typeface="Calibri"/>
                        </a:rPr>
                        <a:t>96%</a:t>
                      </a:r>
                    </a:p>
                  </a:txBody>
                  <a:tcPr marL="63500" marR="63500" marT="12700" marB="12700" anchor="ctr">
                    <a:solidFill>
                      <a:srgbClr val="F4F6F8"/>
                    </a:solidFill>
                  </a:tcPr>
                </a:tc>
              </a:tr>
              <a:tr h="336665">
                <a:tc>
                  <a:txBody>
                    <a:bodyPr/>
                    <a:lstStyle/>
                    <a:p>
                      <a:pPr algn="l"/>
                      <a:r>
                        <a:rPr sz="1050" b="1" i="0">
                          <a:solidFill>
                            <a:srgbClr val="1F2A37"/>
                          </a:solidFill>
                          <a:latin typeface="Calibri"/>
                        </a:rPr>
                        <a:t>pass rate</a:t>
                      </a:r>
                    </a:p>
                  </a:txBody>
                  <a:tcPr marL="63500" marR="63500" marT="12700" marB="12700" anchor="ctr">
                    <a:solidFill>
                      <a:srgbClr val="FFFFFF"/>
                    </a:solidFill>
                  </a:tcPr>
                </a:tc>
                <a:tc>
                  <a:txBody>
                    <a:bodyPr/>
                    <a:lstStyle/>
                    <a:p>
                      <a:pPr algn="ctr"/>
                      <a:r>
                        <a:rPr sz="1050" b="0" i="0">
                          <a:solidFill>
                            <a:srgbClr val="1F2A37"/>
                          </a:solidFill>
                          <a:latin typeface="Calibri"/>
                        </a:rPr>
                        <a:t>0.97</a:t>
                      </a:r>
                    </a:p>
                  </a:txBody>
                  <a:tcPr marL="63500" marR="63500" marT="12700" marB="12700" anchor="ctr">
                    <a:solidFill>
                      <a:srgbClr val="FFFFFF"/>
                    </a:solidFill>
                  </a:tcPr>
                </a:tc>
                <a:tc>
                  <a:txBody>
                    <a:bodyPr/>
                    <a:lstStyle/>
                    <a:p>
                      <a:pPr algn="ctr"/>
                      <a:r>
                        <a:rPr sz="1050" b="0" i="0">
                          <a:solidFill>
                            <a:srgbClr val="1F2A37"/>
                          </a:solidFill>
                          <a:latin typeface="Calibri"/>
                        </a:rPr>
                        <a:t>0.83</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r h="336670">
                <a:tc>
                  <a:txBody>
                    <a:bodyPr/>
                    <a:lstStyle/>
                    <a:p>
                      <a:pPr algn="l"/>
                      <a:r>
                        <a:rPr sz="1050" b="1" i="0">
                          <a:solidFill>
                            <a:srgbClr val="1F2A37"/>
                          </a:solidFill>
                          <a:latin typeface="Calibri"/>
                        </a:rPr>
                        <a:t>tokens per PASSED task</a:t>
                      </a:r>
                    </a:p>
                  </a:txBody>
                  <a:tcPr marL="63500" marR="63500" marT="12700" marB="12700" anchor="ctr">
                    <a:solidFill>
                      <a:srgbClr val="F4F6F8"/>
                    </a:solidFill>
                  </a:tcPr>
                </a:tc>
                <a:tc>
                  <a:txBody>
                    <a:bodyPr/>
                    <a:lstStyle/>
                    <a:p>
                      <a:pPr algn="ctr"/>
                      <a:r>
                        <a:rPr sz="1050" b="0" i="0">
                          <a:solidFill>
                            <a:srgbClr val="1F2A37"/>
                          </a:solidFill>
                          <a:latin typeface="Calibri"/>
                        </a:rPr>
                        <a:t>537</a:t>
                      </a:r>
                    </a:p>
                  </a:txBody>
                  <a:tcPr marL="63500" marR="63500" marT="12700" marB="12700" anchor="ctr">
                    <a:solidFill>
                      <a:srgbClr val="F4F6F8"/>
                    </a:solidFill>
                  </a:tcPr>
                </a:tc>
                <a:tc>
                  <a:txBody>
                    <a:bodyPr/>
                    <a:lstStyle/>
                    <a:p>
                      <a:pPr algn="ctr"/>
                      <a:r>
                        <a:rPr sz="1050" b="0" i="0">
                          <a:solidFill>
                            <a:srgbClr val="1F2A37"/>
                          </a:solidFill>
                          <a:latin typeface="Calibri"/>
                        </a:rPr>
                        <a:t>112 K</a:t>
                      </a:r>
                    </a:p>
                  </a:txBody>
                  <a:tcPr marL="63500" marR="63500" marT="12700" marB="12700" anchor="ctr">
                    <a:solidFill>
                      <a:srgbClr val="F4F6F8"/>
                    </a:solidFill>
                  </a:tcPr>
                </a:tc>
                <a:tc>
                  <a:txBody>
                    <a:bodyPr/>
                    <a:lstStyle/>
                    <a:p>
                      <a:pPr algn="ctr"/>
                      <a:r>
                        <a:rPr sz="1050" b="0" i="0">
                          <a:solidFill>
                            <a:srgbClr val="1F2A37"/>
                          </a:solidFill>
                          <a:latin typeface="Calibri"/>
                        </a:rPr>
                        <a:t>no finite value</a:t>
                      </a:r>
                    </a:p>
                  </a:txBody>
                  <a:tcPr marL="63500" marR="63500" marT="12700" marB="12700" anchor="ctr">
                    <a:solidFill>
                      <a:srgbClr val="F4F6F8"/>
                    </a:solidFill>
                  </a:tcPr>
                </a:tc>
              </a:tr>
            </a:tbl>
          </a:graphicData>
        </a:graphic>
      </p:graphicFrame>
      <p:graphicFrame>
        <p:nvGraphicFramePr>
          <p:cNvPr id="4" name="Table 3"/>
          <p:cNvGraphicFramePr>
            <a:graphicFrameLocks noGrp="1"/>
          </p:cNvGraphicFramePr>
          <p:nvPr/>
        </p:nvGraphicFramePr>
        <p:xfrm>
          <a:off x="6309360" y="1188720"/>
          <a:ext cx="5440680" cy="2377440"/>
        </p:xfrm>
        <a:graphic>
          <a:graphicData uri="http://schemas.openxmlformats.org/drawingml/2006/table">
            <a:tbl>
              <a:tblPr firstRow="1">
                <a:tableStyleId>{5C22544A-7EE6-4342-B048-85BDC9FD1C3A}</a:tableStyleId>
              </a:tblPr>
              <a:tblGrid>
                <a:gridCol w="2514600"/>
                <a:gridCol w="1463040"/>
                <a:gridCol w="1463040"/>
              </a:tblGrid>
              <a:tr h="339634">
                <a:tc>
                  <a:txBody>
                    <a:bodyPr/>
                    <a:lstStyle/>
                    <a:p>
                      <a:pPr algn="l"/>
                      <a:r>
                        <a:rPr sz="1050" b="1" i="0">
                          <a:solidFill>
                            <a:srgbClr val="FFFFFF"/>
                          </a:solidFill>
                          <a:latin typeface="Calibri"/>
                        </a:rPr>
                        <a:t>same 5 gsm8k tasks, p=4</a:t>
                      </a:r>
                    </a:p>
                  </a:txBody>
                  <a:tcPr marL="63500" marR="63500" marT="12700" marB="12700" anchor="ctr">
                    <a:solidFill>
                      <a:srgbClr val="1B3A5C"/>
                    </a:solidFill>
                  </a:tcPr>
                </a:tc>
                <a:tc>
                  <a:txBody>
                    <a:bodyPr/>
                    <a:lstStyle/>
                    <a:p>
                      <a:pPr algn="ctr"/>
                      <a:r>
                        <a:rPr sz="1050" b="1" i="0">
                          <a:solidFill>
                            <a:srgbClr val="FFFFFF"/>
                          </a:solidFill>
                          <a:latin typeface="Calibri"/>
                        </a:rPr>
                        <a:t>gpt-4.1</a:t>
                      </a:r>
                    </a:p>
                  </a:txBody>
                  <a:tcPr marL="63500" marR="63500" marT="12700" marB="12700" anchor="ctr">
                    <a:solidFill>
                      <a:srgbClr val="1B3A5C"/>
                    </a:solidFill>
                  </a:tcPr>
                </a:tc>
                <a:tc>
                  <a:txBody>
                    <a:bodyPr/>
                    <a:lstStyle/>
                    <a:p>
                      <a:pPr algn="ctr"/>
                      <a:r>
                        <a:rPr sz="1050" b="1" i="0">
                          <a:solidFill>
                            <a:srgbClr val="FFFFFF"/>
                          </a:solidFill>
                          <a:latin typeface="Calibri"/>
                        </a:rPr>
                        <a:t>gpt-5-mini</a:t>
                      </a:r>
                    </a:p>
                  </a:txBody>
                  <a:tcPr marL="63500" marR="63500" marT="12700" marB="12700" anchor="ctr">
                    <a:solidFill>
                      <a:srgbClr val="1B3A5C"/>
                    </a:solidFill>
                  </a:tcPr>
                </a:tc>
              </a:tr>
              <a:tr h="339634">
                <a:tc>
                  <a:txBody>
                    <a:bodyPr/>
                    <a:lstStyle/>
                    <a:p>
                      <a:pPr algn="l"/>
                      <a:r>
                        <a:rPr sz="1050" b="1" i="0">
                          <a:solidFill>
                            <a:srgbClr val="1F2A37"/>
                          </a:solidFill>
                          <a:latin typeface="Calibri"/>
                        </a:rPr>
                        <a:t>pass rate  (OCP / KinD)</a:t>
                      </a:r>
                    </a:p>
                  </a:txBody>
                  <a:tcPr marL="63500" marR="63500" marT="12700" marB="12700" anchor="ctr">
                    <a:solidFill>
                      <a:srgbClr val="FFFFFF"/>
                    </a:solidFill>
                  </a:tcPr>
                </a:tc>
                <a:tc>
                  <a:txBody>
                    <a:bodyPr/>
                    <a:lstStyle/>
                    <a:p>
                      <a:pPr algn="ctr"/>
                      <a:r>
                        <a:rPr sz="1050" b="0" i="0">
                          <a:solidFill>
                            <a:srgbClr val="1F2A37"/>
                          </a:solidFill>
                          <a:latin typeface="Calibri"/>
                        </a:rPr>
                        <a:t>0.80 / 1.00</a:t>
                      </a:r>
                    </a:p>
                  </a:txBody>
                  <a:tcPr marL="63500" marR="63500" marT="12700" marB="12700" anchor="ctr">
                    <a:solidFill>
                      <a:srgbClr val="FFFFFF"/>
                    </a:solidFill>
                  </a:tcPr>
                </a:tc>
                <a:tc>
                  <a:txBody>
                    <a:bodyPr/>
                    <a:lstStyle/>
                    <a:p>
                      <a:pPr algn="ctr"/>
                      <a:r>
                        <a:rPr sz="1050" b="0" i="0">
                          <a:solidFill>
                            <a:srgbClr val="1F2A37"/>
                          </a:solidFill>
                          <a:latin typeface="Calibri"/>
                        </a:rPr>
                        <a:t>1.00 / 1.00</a:t>
                      </a:r>
                    </a:p>
                  </a:txBody>
                  <a:tcPr marL="63500" marR="63500" marT="12700" marB="12700" anchor="ctr">
                    <a:solidFill>
                      <a:srgbClr val="FFFFFF"/>
                    </a:solidFill>
                  </a:tcPr>
                </a:tc>
              </a:tr>
              <a:tr h="339634">
                <a:tc>
                  <a:txBody>
                    <a:bodyPr/>
                    <a:lstStyle/>
                    <a:p>
                      <a:pPr algn="l"/>
                      <a:r>
                        <a:rPr sz="1050" b="1" i="0">
                          <a:solidFill>
                            <a:srgbClr val="1F2A37"/>
                          </a:solidFill>
                          <a:latin typeface="Calibri"/>
                        </a:rPr>
                        <a:t>LLM calls per task</a:t>
                      </a:r>
                    </a:p>
                  </a:txBody>
                  <a:tcPr marL="63500" marR="63500" marT="12700" marB="12700" anchor="ctr">
                    <a:solidFill>
                      <a:srgbClr val="F4F6F8"/>
                    </a:solidFill>
                  </a:tcPr>
                </a:tc>
                <a:tc>
                  <a:txBody>
                    <a:bodyPr/>
                    <a:lstStyle/>
                    <a:p>
                      <a:pPr algn="ctr"/>
                      <a:r>
                        <a:rPr sz="1050" b="0" i="0">
                          <a:solidFill>
                            <a:srgbClr val="1F2A37"/>
                          </a:solidFill>
                          <a:latin typeface="Calibri"/>
                        </a:rPr>
                        <a:t>2.8 – 3.0</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r>
              <a:tr h="339634">
                <a:tc>
                  <a:txBody>
                    <a:bodyPr/>
                    <a:lstStyle/>
                    <a:p>
                      <a:pPr algn="l"/>
                      <a:r>
                        <a:rPr sz="1050" b="1" i="0">
                          <a:solidFill>
                            <a:srgbClr val="1F2A37"/>
                          </a:solidFill>
                          <a:latin typeface="Calibri"/>
                        </a:rPr>
                        <a:t>input tokens per task</a:t>
                      </a:r>
                    </a:p>
                  </a:txBody>
                  <a:tcPr marL="63500" marR="63500" marT="12700" marB="12700" anchor="ctr">
                    <a:solidFill>
                      <a:srgbClr val="FFFFFF"/>
                    </a:solidFill>
                  </a:tcPr>
                </a:tc>
                <a:tc>
                  <a:txBody>
                    <a:bodyPr/>
                    <a:lstStyle/>
                    <a:p>
                      <a:pPr algn="ctr"/>
                      <a:r>
                        <a:rPr sz="1050" b="0" i="0">
                          <a:solidFill>
                            <a:srgbClr val="1F2A37"/>
                          </a:solidFill>
                          <a:latin typeface="Calibri"/>
                        </a:rPr>
                        <a:t>775 – 837</a:t>
                      </a:r>
                    </a:p>
                  </a:txBody>
                  <a:tcPr marL="63500" marR="63500" marT="12700" marB="12700" anchor="ctr">
                    <a:solidFill>
                      <a:srgbClr val="FFFFFF"/>
                    </a:solidFill>
                  </a:tcPr>
                </a:tc>
                <a:tc>
                  <a:txBody>
                    <a:bodyPr/>
                    <a:lstStyle/>
                    <a:p>
                      <a:pPr algn="ctr"/>
                      <a:r>
                        <a:rPr sz="1050" b="0" i="0">
                          <a:solidFill>
                            <a:srgbClr val="1F2A37"/>
                          </a:solidFill>
                          <a:latin typeface="Calibri"/>
                        </a:rPr>
                        <a:t>313</a:t>
                      </a:r>
                    </a:p>
                  </a:txBody>
                  <a:tcPr marL="63500" marR="63500" marT="12700" marB="12700" anchor="ctr">
                    <a:solidFill>
                      <a:srgbClr val="FFFFFF"/>
                    </a:solidFill>
                  </a:tcPr>
                </a:tc>
              </a:tr>
              <a:tr h="339634">
                <a:tc>
                  <a:txBody>
                    <a:bodyPr/>
                    <a:lstStyle/>
                    <a:p>
                      <a:pPr algn="l"/>
                      <a:r>
                        <a:rPr sz="1050" b="1" i="0">
                          <a:solidFill>
                            <a:srgbClr val="1F2A37"/>
                          </a:solidFill>
                          <a:latin typeface="Calibri"/>
                        </a:rPr>
                        <a:t>output tokens per task</a:t>
                      </a:r>
                    </a:p>
                  </a:txBody>
                  <a:tcPr marL="63500" marR="63500" marT="12700" marB="12700" anchor="ctr">
                    <a:solidFill>
                      <a:srgbClr val="F4F6F8"/>
                    </a:solidFill>
                  </a:tcPr>
                </a:tc>
                <a:tc>
                  <a:txBody>
                    <a:bodyPr/>
                    <a:lstStyle/>
                    <a:p>
                      <a:pPr algn="ctr"/>
                      <a:r>
                        <a:rPr sz="1050" b="0" i="0">
                          <a:solidFill>
                            <a:srgbClr val="1F2A37"/>
                          </a:solidFill>
                          <a:latin typeface="Calibri"/>
                        </a:rPr>
                        <a:t>57 – 63</a:t>
                      </a:r>
                    </a:p>
                  </a:txBody>
                  <a:tcPr marL="63500" marR="63500" marT="12700" marB="12700" anchor="ctr">
                    <a:solidFill>
                      <a:srgbClr val="F4F6F8"/>
                    </a:solidFill>
                  </a:tcPr>
                </a:tc>
                <a:tc>
                  <a:txBody>
                    <a:bodyPr/>
                    <a:lstStyle/>
                    <a:p>
                      <a:pPr algn="ctr"/>
                      <a:r>
                        <a:rPr sz="1050" b="0" i="0">
                          <a:solidFill>
                            <a:srgbClr val="1F2A37"/>
                          </a:solidFill>
                          <a:latin typeface="Calibri"/>
                        </a:rPr>
                        <a:t>137 – 355</a:t>
                      </a:r>
                    </a:p>
                  </a:txBody>
                  <a:tcPr marL="63500" marR="63500" marT="12700" marB="12700" anchor="ctr">
                    <a:solidFill>
                      <a:srgbClr val="F4F6F8"/>
                    </a:solidFill>
                  </a:tcPr>
                </a:tc>
              </a:tr>
              <a:tr h="339634">
                <a:tc>
                  <a:txBody>
                    <a:bodyPr/>
                    <a:lstStyle/>
                    <a:p>
                      <a:pPr algn="l"/>
                      <a:r>
                        <a:rPr sz="1050" b="1" i="0">
                          <a:solidFill>
                            <a:srgbClr val="1F2A37"/>
                          </a:solidFill>
                          <a:latin typeface="Calibri"/>
                        </a:rPr>
                        <a:t>total tokens per task</a:t>
                      </a:r>
                    </a:p>
                  </a:txBody>
                  <a:tcPr marL="63500" marR="63500" marT="12700" marB="12700" anchor="ctr">
                    <a:solidFill>
                      <a:srgbClr val="FFFFFF"/>
                    </a:solidFill>
                  </a:tcPr>
                </a:tc>
                <a:tc>
                  <a:txBody>
                    <a:bodyPr/>
                    <a:lstStyle/>
                    <a:p>
                      <a:pPr algn="ctr"/>
                      <a:r>
                        <a:rPr sz="1050" b="0" i="0">
                          <a:solidFill>
                            <a:srgbClr val="1F2A37"/>
                          </a:solidFill>
                          <a:latin typeface="Calibri"/>
                        </a:rPr>
                        <a:t>832 – 900</a:t>
                      </a:r>
                    </a:p>
                  </a:txBody>
                  <a:tcPr marL="63500" marR="63500" marT="12700" marB="12700" anchor="ctr">
                    <a:solidFill>
                      <a:srgbClr val="FFFFFF"/>
                    </a:solidFill>
                  </a:tcPr>
                </a:tc>
                <a:tc>
                  <a:txBody>
                    <a:bodyPr/>
                    <a:lstStyle/>
                    <a:p>
                      <a:pPr algn="ctr"/>
                      <a:r>
                        <a:rPr sz="1050" b="0" i="0">
                          <a:solidFill>
                            <a:srgbClr val="1F2A37"/>
                          </a:solidFill>
                          <a:latin typeface="Calibri"/>
                        </a:rPr>
                        <a:t>450 – 668</a:t>
                      </a:r>
                    </a:p>
                  </a:txBody>
                  <a:tcPr marL="63500" marR="63500" marT="12700" marB="12700" anchor="ctr">
                    <a:solidFill>
                      <a:srgbClr val="FFFFFF"/>
                    </a:solidFill>
                  </a:tcPr>
                </a:tc>
              </a:tr>
              <a:tr h="339636">
                <a:tc>
                  <a:txBody>
                    <a:bodyPr/>
                    <a:lstStyle/>
                    <a:p>
                      <a:pPr algn="l"/>
                      <a:r>
                        <a:rPr sz="1050" b="1" i="0">
                          <a:solidFill>
                            <a:srgbClr val="1F2A37"/>
                          </a:solidFill>
                          <a:latin typeface="Calibri"/>
                        </a:rPr>
                        <a:t>median task latency</a:t>
                      </a:r>
                    </a:p>
                  </a:txBody>
                  <a:tcPr marL="63500" marR="63500" marT="12700" marB="12700" anchor="ctr">
                    <a:solidFill>
                      <a:srgbClr val="F4F6F8"/>
                    </a:solidFill>
                  </a:tcPr>
                </a:tc>
                <a:tc>
                  <a:txBody>
                    <a:bodyPr/>
                    <a:lstStyle/>
                    <a:p>
                      <a:pPr algn="ctr"/>
                      <a:r>
                        <a:rPr sz="1050" b="0" i="0">
                          <a:solidFill>
                            <a:srgbClr val="1F2A37"/>
                          </a:solidFill>
                          <a:latin typeface="Calibri"/>
                        </a:rPr>
                        <a:t>10.4 – 10.8 s</a:t>
                      </a:r>
                    </a:p>
                  </a:txBody>
                  <a:tcPr marL="63500" marR="63500" marT="12700" marB="12700" anchor="ctr">
                    <a:solidFill>
                      <a:srgbClr val="F4F6F8"/>
                    </a:solidFill>
                  </a:tcPr>
                </a:tc>
                <a:tc>
                  <a:txBody>
                    <a:bodyPr/>
                    <a:lstStyle/>
                    <a:p>
                      <a:pPr algn="ctr"/>
                      <a:r>
                        <a:rPr sz="1050" b="0" i="0">
                          <a:solidFill>
                            <a:srgbClr val="1F2A37"/>
                          </a:solidFill>
                          <a:latin typeface="Calibri"/>
                        </a:rPr>
                        <a:t>11.2 – 16.4 s</a:t>
                      </a:r>
                    </a:p>
                  </a:txBody>
                  <a:tcPr marL="63500" marR="63500" marT="12700" marB="12700" anchor="ctr">
                    <a:solidFill>
                      <a:srgbClr val="F4F6F8"/>
                    </a:solidFill>
                  </a:tcPr>
                </a:tc>
              </a:tr>
            </a:tbl>
          </a:graphicData>
        </a:graphic>
      </p:graphicFrame>
      <p:sp>
        <p:nvSpPr>
          <p:cNvPr id="5" name="Rounded Rectangle 4"/>
          <p:cNvSpPr/>
          <p:nvPr/>
        </p:nvSpPr>
        <p:spPr>
          <a:xfrm>
            <a:off x="6309360" y="3749039"/>
            <a:ext cx="5440680" cy="11430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8E44AD"/>
                </a:solidFill>
                <a:latin typeface="Calibri"/>
              </a:rPr>
              <a:t>The token ranking and the money ranking disagree</a:t>
            </a:r>
          </a:p>
          <a:p>
            <a:pPr algn="ctr"/>
            <a:r>
              <a:rPr sz="1050" b="0" i="0">
                <a:solidFill>
                  <a:srgbClr val="1F2A37"/>
                </a:solidFill>
                <a:latin typeface="Calibri"/>
              </a:rPr>
              <a:t>The reasoning model answers in ONE call; gpt-4.1 needs ~3 tool round-trips, so it sends 2.6x the input but emits a quarter of the output. Equating the two bills solves for break-even at output:input ≈ 2.7x (the platforms bracket it, 1.8x–5.8x). Priced above that ratio gpt-4.1 is cheaper; below it, gpt-5-mini.</a:t>
            </a:r>
          </a:p>
        </p:txBody>
      </p:sp>
      <p:sp>
        <p:nvSpPr>
          <p:cNvPr id="6" name="Rounded Rectangle 5"/>
          <p:cNvSpPr/>
          <p:nvPr/>
        </p:nvSpPr>
        <p:spPr>
          <a:xfrm>
            <a:off x="411480" y="5074920"/>
            <a:ext cx="11338560" cy="123444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1" i="0">
                <a:solidFill>
                  <a:srgbClr val="1F2A37"/>
                </a:solidFill>
                <a:latin typeface="Calibri"/>
              </a:rPr>
              <a:t>cost per task  =  (input tokens x P_in  +  output tokens x P_out) / 1 M     — we publish the token counts, you supply your own rates; our gateway does not bill us, so no dollar figure here would be ours to quote.  Two consequences of the input-share row:  for tau2 and appworld the bill IS the input side, so the cost driver is turn count and context compounding, not verbosity — and a cheaper-input model beats a terser one.  For gsm8k, output is a third of the tokens and reasoning effort moves it 2.6x between clusters.</a:t>
            </a:r>
          </a:p>
        </p:txBody>
      </p:sp>
      <p:sp>
        <p:nvSpPr>
          <p:cNvPr id="7" name="TextBox 6"/>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