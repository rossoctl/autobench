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B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3977639"/>
            <a:ext cx="12192000" cy="91440"/>
          </a:xfrm>
          <a:prstGeom prst="rect">
            <a:avLst/>
          </a:prstGeom>
          <a:solidFill>
            <a:srgbClr val="E87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2103120"/>
            <a:ext cx="10515600" cy="12801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4400" b="1" i="0">
                <a:solidFill>
                  <a:srgbClr val="FFFFFF"/>
                </a:solidFill>
                <a:latin typeface="Calibri"/>
              </a:rPr>
              <a:t>AutoBench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200400"/>
            <a:ext cx="105156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2200" b="0" i="0">
                <a:solidFill>
                  <a:srgbClr val="C9D9EC"/>
                </a:solidFill>
                <a:latin typeface="Calibri"/>
              </a:rPr>
              <a:t>Architecture &amp; Design Overview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4297680"/>
            <a:ext cx="1051560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0" i="0">
                <a:solidFill>
                  <a:srgbClr val="D8E3F0"/>
                </a:solidFill>
                <a:latin typeface="Calibri"/>
              </a:rPr>
              <a:t>A pure-Python, HTTP-only service that deploys and evaluates agent benchmarks</a:t>
            </a:r>
          </a:p>
          <a:p>
            <a:pPr algn="l">
              <a:spcAft>
                <a:spcPts val="300"/>
              </a:spcAft>
            </a:pPr>
            <a:r>
              <a:rPr sz="1600" b="0" i="0">
                <a:solidFill>
                  <a:srgbClr val="D8E3F0"/>
                </a:solidFill>
                <a:latin typeface="Calibri"/>
              </a:rPr>
              <a:t>across multiple cluster-specific Rossoctl instances.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5715000"/>
            <a:ext cx="10515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 i="0">
                <a:solidFill>
                  <a:srgbClr val="9AB4D0"/>
                </a:solidFill>
                <a:latin typeface="Calibri"/>
              </a:rPr>
              <a:t>Last modified 2026-09-09 14:53 EDT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795760" y="6437376"/>
            <a:ext cx="320040" cy="31089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spcAft>
                <a:spcPts val="3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950000"/>
          </a:xfrm>
          <a:prstGeom prst="rect">
            <a:avLst/>
          </a:prstGeom>
          <a:solidFill>
            <a:srgbClr val="1B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55600"/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Agenda</a:t>
            </a:r>
          </a:p>
          <a:p>
            <a:r>
              <a:rPr sz="1400" b="0" i="0">
                <a:solidFill>
                  <a:srgbClr val="C9D9EC"/>
                </a:solidFill>
                <a:latin typeface="Calibri"/>
              </a:rPr>
              <a:t>What this deck covers, in order</a:t>
            </a:r>
          </a:p>
        </p:txBody>
      </p:sp>
      <p:sp>
        <p:nvSpPr>
          <p:cNvPr id="3" name="Oval 2"/>
          <p:cNvSpPr/>
          <p:nvPr/>
        </p:nvSpPr>
        <p:spPr>
          <a:xfrm>
            <a:off x="685800" y="1353312"/>
            <a:ext cx="420624" cy="420624"/>
          </a:xfrm>
          <a:prstGeom prst="ellipse">
            <a:avLst/>
          </a:prstGeom>
          <a:solidFill>
            <a:srgbClr val="E87A1E"/>
          </a:solidFill>
          <a:ln w="158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80160" y="1298448"/>
            <a:ext cx="452628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700" b="1" i="0">
                <a:solidFill>
                  <a:srgbClr val="1B3A5C"/>
                </a:solidFill>
                <a:latin typeface="Calibri"/>
              </a:rPr>
              <a:t>Overview &amp; key design decisions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80160" y="1600200"/>
            <a:ext cx="45262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0" i="0">
                <a:solidFill>
                  <a:srgbClr val="3A4654"/>
                </a:solidFill>
                <a:latin typeface="Calibri"/>
              </a:rPr>
              <a:t>what the Service is, and the seven choices that shape it</a:t>
            </a:r>
          </a:p>
        </p:txBody>
      </p:sp>
      <p:sp>
        <p:nvSpPr>
          <p:cNvPr id="6" name="Oval 5"/>
          <p:cNvSpPr/>
          <p:nvPr/>
        </p:nvSpPr>
        <p:spPr>
          <a:xfrm>
            <a:off x="685800" y="2304288"/>
            <a:ext cx="420624" cy="420624"/>
          </a:xfrm>
          <a:prstGeom prst="ellipse">
            <a:avLst/>
          </a:prstGeom>
          <a:solidFill>
            <a:srgbClr val="E87A1E"/>
          </a:solidFill>
          <a:ln w="158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80160" y="2249424"/>
            <a:ext cx="452628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700" b="1" i="0">
                <a:solidFill>
                  <a:srgbClr val="1B3A5C"/>
                </a:solidFill>
                <a:latin typeface="Calibri"/>
              </a:rPr>
              <a:t>Auto-benchmarking design motif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80160" y="2551176"/>
            <a:ext cx="45262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0" i="0">
                <a:solidFill>
                  <a:srgbClr val="3A4654"/>
                </a:solidFill>
                <a:latin typeface="Calibri"/>
              </a:rPr>
              <a:t>the shape of the system, before the wiring detail</a:t>
            </a:r>
          </a:p>
        </p:txBody>
      </p:sp>
      <p:sp>
        <p:nvSpPr>
          <p:cNvPr id="9" name="Oval 8"/>
          <p:cNvSpPr/>
          <p:nvPr/>
        </p:nvSpPr>
        <p:spPr>
          <a:xfrm>
            <a:off x="685800" y="3255264"/>
            <a:ext cx="420624" cy="420624"/>
          </a:xfrm>
          <a:prstGeom prst="ellipse">
            <a:avLst/>
          </a:prstGeom>
          <a:solidFill>
            <a:srgbClr val="E87A1E"/>
          </a:solidFill>
          <a:ln w="158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80160" y="3200400"/>
            <a:ext cx="452628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700" b="1" i="0">
                <a:solidFill>
                  <a:srgbClr val="1B3A5C"/>
                </a:solidFill>
                <a:latin typeface="Calibri"/>
              </a:rPr>
              <a:t>Architecture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80160" y="3502152"/>
            <a:ext cx="45262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0" i="0">
                <a:solidFill>
                  <a:srgbClr val="3A4654"/>
                </a:solidFill>
                <a:latin typeface="Calibri"/>
              </a:rPr>
              <a:t>client, Service, and the per-cluster instance selected by JWT iss</a:t>
            </a:r>
          </a:p>
        </p:txBody>
      </p:sp>
      <p:sp>
        <p:nvSpPr>
          <p:cNvPr id="12" name="Oval 11"/>
          <p:cNvSpPr/>
          <p:nvPr/>
        </p:nvSpPr>
        <p:spPr>
          <a:xfrm>
            <a:off x="685800" y="4206240"/>
            <a:ext cx="420624" cy="420624"/>
          </a:xfrm>
          <a:prstGeom prst="ellipse">
            <a:avLst/>
          </a:prstGeom>
          <a:solidFill>
            <a:srgbClr val="E87A1E"/>
          </a:solidFill>
          <a:ln w="158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80160" y="4151376"/>
            <a:ext cx="452628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700" b="1" i="0">
                <a:solidFill>
                  <a:srgbClr val="1B3A5C"/>
                </a:solidFill>
                <a:latin typeface="Calibri"/>
              </a:rPr>
              <a:t>Architecture with workload specific components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80160" y="4453128"/>
            <a:ext cx="45262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0" i="0">
                <a:solidFill>
                  <a:srgbClr val="3A4654"/>
                </a:solidFill>
                <a:latin typeface="Calibri"/>
              </a:rPr>
              <a:t>inside the workload: sidecar, user simulator, IBAC judge</a:t>
            </a:r>
          </a:p>
        </p:txBody>
      </p:sp>
      <p:sp>
        <p:nvSpPr>
          <p:cNvPr id="15" name="Oval 14"/>
          <p:cNvSpPr/>
          <p:nvPr/>
        </p:nvSpPr>
        <p:spPr>
          <a:xfrm>
            <a:off x="685800" y="5157216"/>
            <a:ext cx="420624" cy="420624"/>
          </a:xfrm>
          <a:prstGeom prst="ellipse">
            <a:avLst/>
          </a:prstGeom>
          <a:solidFill>
            <a:srgbClr val="E87A1E"/>
          </a:solidFill>
          <a:ln w="158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280160" y="5102352"/>
            <a:ext cx="452628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700" b="1" i="0">
                <a:solidFill>
                  <a:srgbClr val="1B3A5C"/>
                </a:solidFill>
                <a:latin typeface="Calibri"/>
              </a:rPr>
              <a:t>The two-token auth model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280160" y="5404104"/>
            <a:ext cx="45262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0" i="0">
                <a:solidFill>
                  <a:srgbClr val="3A4654"/>
                </a:solidFill>
                <a:latin typeface="Calibri"/>
              </a:rPr>
              <a:t>why the caller's token is never forwarded upstream</a:t>
            </a:r>
          </a:p>
        </p:txBody>
      </p:sp>
      <p:sp>
        <p:nvSpPr>
          <p:cNvPr id="18" name="Oval 17"/>
          <p:cNvSpPr/>
          <p:nvPr/>
        </p:nvSpPr>
        <p:spPr>
          <a:xfrm>
            <a:off x="6492240" y="1353312"/>
            <a:ext cx="420624" cy="420624"/>
          </a:xfrm>
          <a:prstGeom prst="ellipse">
            <a:avLst/>
          </a:prstGeom>
          <a:solidFill>
            <a:srgbClr val="E87A1E"/>
          </a:solidFill>
          <a:ln w="158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6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086600" y="1298448"/>
            <a:ext cx="466344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700" b="1" i="0">
                <a:solidFill>
                  <a:srgbClr val="1B3A5C"/>
                </a:solidFill>
                <a:latin typeface="Calibri"/>
              </a:rPr>
              <a:t>Benchmark catalog &amp; run lifecycle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086600" y="1600200"/>
            <a:ext cx="46634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0" i="0">
                <a:solidFill>
                  <a:srgbClr val="3A4654"/>
                </a:solidFill>
                <a:latin typeface="Calibri"/>
              </a:rPr>
              <a:t>the three benchmarks and the REST flow that drives them</a:t>
            </a:r>
          </a:p>
        </p:txBody>
      </p:sp>
      <p:sp>
        <p:nvSpPr>
          <p:cNvPr id="21" name="Oval 20"/>
          <p:cNvSpPr/>
          <p:nvPr/>
        </p:nvSpPr>
        <p:spPr>
          <a:xfrm>
            <a:off x="6492240" y="2304288"/>
            <a:ext cx="420624" cy="420624"/>
          </a:xfrm>
          <a:prstGeom prst="ellipse">
            <a:avLst/>
          </a:prstGeom>
          <a:solidFill>
            <a:srgbClr val="E87A1E"/>
          </a:solidFill>
          <a:ln w="158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7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086600" y="2249424"/>
            <a:ext cx="466344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700" b="1" i="0">
                <a:solidFill>
                  <a:srgbClr val="1B3A5C"/>
                </a:solidFill>
                <a:latin typeface="Calibri"/>
              </a:rPr>
              <a:t>The three benchmarks — what they measure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86600" y="2551176"/>
            <a:ext cx="46634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0" i="0">
                <a:solidFill>
                  <a:srgbClr val="3A4654"/>
                </a:solidFill>
                <a:latin typeface="Calibri"/>
              </a:rPr>
              <a:t>7.1 the difficulty ladder · 7.2 what each stresses · 7.3 the traps</a:t>
            </a:r>
          </a:p>
        </p:txBody>
      </p:sp>
      <p:sp>
        <p:nvSpPr>
          <p:cNvPr id="24" name="Oval 23"/>
          <p:cNvSpPr/>
          <p:nvPr/>
        </p:nvSpPr>
        <p:spPr>
          <a:xfrm>
            <a:off x="6492240" y="3255264"/>
            <a:ext cx="420624" cy="420624"/>
          </a:xfrm>
          <a:prstGeom prst="ellipse">
            <a:avLst/>
          </a:prstGeom>
          <a:solidFill>
            <a:srgbClr val="E87A1E"/>
          </a:solidFill>
          <a:ln w="158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8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086600" y="3200400"/>
            <a:ext cx="466344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700" b="1" i="0">
                <a:solidFill>
                  <a:srgbClr val="1B3A5C"/>
                </a:solidFill>
                <a:latin typeface="Calibri"/>
              </a:rPr>
              <a:t>The canonical 12-run matrix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086600" y="3502152"/>
            <a:ext cx="46634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0" i="0">
                <a:solidFill>
                  <a:srgbClr val="3A4654"/>
                </a:solidFill>
                <a:latin typeface="Calibri"/>
              </a:rPr>
              <a:t>8.1 what the 12 runs parameterize · 8.2 what they measured</a:t>
            </a:r>
          </a:p>
        </p:txBody>
      </p:sp>
      <p:sp>
        <p:nvSpPr>
          <p:cNvPr id="27" name="Oval 26"/>
          <p:cNvSpPr/>
          <p:nvPr/>
        </p:nvSpPr>
        <p:spPr>
          <a:xfrm>
            <a:off x="6492240" y="4206240"/>
            <a:ext cx="420624" cy="420624"/>
          </a:xfrm>
          <a:prstGeom prst="ellipse">
            <a:avLst/>
          </a:prstGeom>
          <a:solidFill>
            <a:srgbClr val="E87A1E"/>
          </a:solidFill>
          <a:ln w="158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9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086600" y="4151376"/>
            <a:ext cx="466344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700" b="1" i="0">
                <a:solidFill>
                  <a:srgbClr val="1B3A5C"/>
                </a:solidFill>
                <a:latin typeface="Calibri"/>
              </a:rPr>
              <a:t>Cross-platform &amp; plugin overhead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086600" y="4453128"/>
            <a:ext cx="46634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0" i="0">
                <a:solidFill>
                  <a:srgbClr val="3A4654"/>
                </a:solidFill>
                <a:latin typeface="Calibri"/>
              </a:rPr>
              <a:t>9.1 OpenShift vs KinD, like-for-like · 9.2 what AuthBridge costs</a:t>
            </a:r>
          </a:p>
        </p:txBody>
      </p:sp>
      <p:sp>
        <p:nvSpPr>
          <p:cNvPr id="30" name="Oval 29"/>
          <p:cNvSpPr/>
          <p:nvPr/>
        </p:nvSpPr>
        <p:spPr>
          <a:xfrm>
            <a:off x="6492240" y="5157216"/>
            <a:ext cx="420624" cy="420624"/>
          </a:xfrm>
          <a:prstGeom prst="ellipse">
            <a:avLst/>
          </a:prstGeom>
          <a:solidFill>
            <a:srgbClr val="E87A1E"/>
          </a:solidFill>
          <a:ln w="158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10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086600" y="5102352"/>
            <a:ext cx="466344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700" b="1" i="0">
                <a:solidFill>
                  <a:srgbClr val="1B3A5C"/>
                </a:solidFill>
                <a:latin typeface="Calibri"/>
              </a:rPr>
              <a:t>What the Service can &amp; cannot enact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086600" y="5404104"/>
            <a:ext cx="46634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0" i="0">
                <a:solidFill>
                  <a:srgbClr val="3A4654"/>
                </a:solidFill>
                <a:latin typeface="Calibri"/>
              </a:rPr>
              <a:t>the HTTP-only boundary, made explicit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6080760" y="1280160"/>
            <a:ext cx="0" cy="4251960"/>
          </a:xfrm>
          <a:prstGeom prst="line">
            <a:avLst/>
          </a:prstGeom>
          <a:ln w="12700">
            <a:solidFill>
              <a:srgbClr val="C7CED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TextBox 33"/>
          <p:cNvSpPr txBox="1"/>
          <p:nvPr/>
        </p:nvSpPr>
        <p:spPr>
          <a:xfrm>
            <a:off x="11795760" y="6437376"/>
            <a:ext cx="320040" cy="31089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spcAft>
                <a:spcPts val="300"/>
              </a:spcAft>
            </a:pPr>
            <a:r>
              <a:rPr sz="1200" b="0" i="0">
                <a:solidFill>
                  <a:srgbClr val="6B6B6B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950000"/>
          </a:xfrm>
          <a:prstGeom prst="rect">
            <a:avLst/>
          </a:prstGeom>
          <a:solidFill>
            <a:srgbClr val="1B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55600"/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1.  Overview &amp; Key Design Decisions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43000"/>
            <a:ext cx="5394960" cy="502920"/>
          </a:xfrm>
          <a:prstGeom prst="rect">
            <a:avLst/>
          </a:prstGeom>
          <a:solidFill>
            <a:srgbClr val="1B3A5C"/>
          </a:solidFill>
          <a:ln w="12700">
            <a:solidFill>
              <a:srgbClr val="1B3A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What it 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783080"/>
            <a:ext cx="5349240" cy="4480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0" i="0">
                <a:solidFill>
                  <a:srgbClr val="1F2A37"/>
                </a:solidFill>
                <a:latin typeface="Calibri"/>
              </a:rPr>
              <a:t>Deploys a benchmark's MCP tool + A2A agent, runs the evaluation, reads results, and exports them — all over HTTP.</a:t>
            </a:r>
          </a:p>
          <a:p>
            <a:pPr algn="l">
              <a:spcAft>
                <a:spcPts val="300"/>
              </a:spcAft>
            </a:pPr>
            <a:r>
              <a:rPr sz="1400" b="1" i="0">
                <a:solidFill>
                  <a:srgbClr val="2E6FB5"/>
                </a:solidFill>
                <a:latin typeface="Calibri"/>
              </a:rPr>
              <a:t>Objectives</a:t>
            </a:r>
          </a:p>
          <a:p>
            <a:pPr algn="l" lvl="1">
              <a:spcAft>
                <a:spcPts val="300"/>
              </a:spcAft>
            </a:pPr>
            <a:r>
              <a:rPr sz="1350" b="0" i="0">
                <a:solidFill>
                  <a:srgbClr val="1F2A37"/>
                </a:solidFill>
                <a:latin typeface="Calibri"/>
              </a:rPr>
              <a:t>• Automate benchmarking lifecycle operations</a:t>
            </a:r>
          </a:p>
          <a:p>
            <a:pPr algn="l" lvl="1">
              <a:spcAft>
                <a:spcPts val="300"/>
              </a:spcAft>
            </a:pPr>
            <a:r>
              <a:rPr sz="1350" b="0" i="0">
                <a:solidFill>
                  <a:srgbClr val="1F2A37"/>
                </a:solidFill>
                <a:latin typeface="Calibri"/>
              </a:rPr>
              <a:t>• Cross-user/cluster sharing of benchmark run results</a:t>
            </a:r>
          </a:p>
          <a:p>
            <a:pPr algn="l" lvl="1">
              <a:spcAft>
                <a:spcPts val="300"/>
              </a:spcAft>
            </a:pPr>
            <a:r>
              <a:rPr sz="1350" b="0" i="0">
                <a:solidFill>
                  <a:srgbClr val="1F2A37"/>
                </a:solidFill>
                <a:latin typeface="Calibri"/>
              </a:rPr>
              <a:t>• Easy to configure in-cluster &amp; cross-cluster benchmark runs</a:t>
            </a:r>
          </a:p>
          <a:p>
            <a:pPr algn="l" lvl="1">
              <a:spcAft>
                <a:spcPts val="300"/>
              </a:spcAft>
            </a:pPr>
            <a:r>
              <a:rPr sz="1350" b="0" i="0">
                <a:solidFill>
                  <a:srgbClr val="1F2A37"/>
                </a:solidFill>
                <a:latin typeface="Calibri"/>
              </a:rPr>
              <a:t>• Asynchronous parallel benchmark runs</a:t>
            </a:r>
          </a:p>
          <a:p>
            <a:pPr algn="l" lvl="1">
              <a:spcAft>
                <a:spcPts val="300"/>
              </a:spcAft>
            </a:pPr>
            <a:r>
              <a:rPr sz="1350" b="0" i="0">
                <a:solidFill>
                  <a:srgbClr val="1F2A37"/>
                </a:solidFill>
                <a:latin typeface="Calibri"/>
              </a:rPr>
              <a:t>• Secure, scalable, auditable &amp; resilient</a:t>
            </a:r>
          </a:p>
          <a:p>
            <a:pPr algn="l">
              <a:spcAft>
                <a:spcPts val="300"/>
              </a:spcAft>
            </a:pPr>
            <a:r>
              <a:rPr sz="1400" b="1" i="0">
                <a:solidFill>
                  <a:srgbClr val="2E6FB5"/>
                </a:solidFill>
                <a:latin typeface="Calibri"/>
              </a:rPr>
              <a:t>3 benchmarks</a:t>
            </a:r>
          </a:p>
          <a:p>
            <a:pPr algn="l" lvl="1">
              <a:spcAft>
                <a:spcPts val="300"/>
              </a:spcAft>
            </a:pPr>
            <a:r>
              <a:rPr sz="1300" b="0" i="0">
                <a:solidFill>
                  <a:srgbClr val="1F2A37"/>
                </a:solidFill>
                <a:latin typeface="Calibri"/>
              </a:rPr>
              <a:t>• gsm8k — single-turn: one prompt in, one answer out, no dialogue partner</a:t>
            </a:r>
          </a:p>
          <a:p>
            <a:pPr algn="l" lvl="1">
              <a:spcAft>
                <a:spcPts val="300"/>
              </a:spcAft>
            </a:pPr>
            <a:r>
              <a:rPr sz="1300" b="0" i="0">
                <a:solidFill>
                  <a:srgbClr val="1F2A37"/>
                </a:solidFill>
                <a:latin typeface="Calibri"/>
              </a:rPr>
              <a:t>• tau2 — multi-turn: a server-side user simulator LLM plays the customer</a:t>
            </a:r>
          </a:p>
          <a:p>
            <a:pPr algn="l" lvl="1">
              <a:spcAft>
                <a:spcPts val="300"/>
              </a:spcAft>
            </a:pPr>
            <a:r>
              <a:rPr sz="1300" b="0" i="0">
                <a:solidFill>
                  <a:srgbClr val="1F2A37"/>
                </a:solidFill>
                <a:latin typeface="Calibri"/>
              </a:rPr>
              <a:t>• appworld — long-horizon: many API calls across simulated apps</a:t>
            </a:r>
          </a:p>
          <a:p>
            <a:pPr algn="l">
              <a:spcAft>
                <a:spcPts val="300"/>
              </a:spcAft>
            </a:pPr>
            <a:r>
              <a:rPr sz="1400" b="1" i="0">
                <a:solidFill>
                  <a:srgbClr val="2E6FB5"/>
                </a:solidFill>
                <a:latin typeface="Calibri"/>
              </a:rPr>
              <a:t>Client contract</a:t>
            </a:r>
          </a:p>
          <a:p>
            <a:pPr algn="l" lvl="1">
              <a:spcAft>
                <a:spcPts val="300"/>
              </a:spcAft>
            </a:pPr>
            <a:r>
              <a:rPr sz="1350" b="0" i="0">
                <a:solidFill>
                  <a:srgbClr val="1F2A37"/>
                </a:solidFill>
                <a:latin typeface="Calibri"/>
              </a:rPr>
              <a:t>• Point at a hostname, send Authorization: Bearer &lt;caller JWT&gt; — same from kind to prod</a:t>
            </a:r>
          </a:p>
        </p:txBody>
      </p:sp>
      <p:sp>
        <p:nvSpPr>
          <p:cNvPr id="5" name="Rectangle 4"/>
          <p:cNvSpPr/>
          <p:nvPr/>
        </p:nvSpPr>
        <p:spPr>
          <a:xfrm>
            <a:off x="6035040" y="1143000"/>
            <a:ext cx="5715000" cy="502920"/>
          </a:xfrm>
          <a:prstGeom prst="rect">
            <a:avLst/>
          </a:prstGeom>
          <a:solidFill>
            <a:srgbClr val="1B3A5C"/>
          </a:solidFill>
          <a:ln w="12700">
            <a:solidFill>
              <a:srgbClr val="1B3A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Key design decisions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035040" y="1783080"/>
            <a:ext cx="5715000" cy="603504"/>
          </a:xfrm>
          <a:prstGeom prst="roundRect">
            <a:avLst/>
          </a:prstGeom>
          <a:solidFill>
            <a:srgbClr val="E8F1FB"/>
          </a:solidFill>
          <a:ln w="12700">
            <a:solidFill>
              <a:srgbClr val="2E6F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 lIns="101600"/>
          <a:lstStyle/>
          <a:p>
            <a:pPr algn="l"/>
            <a:r>
              <a:rPr sz="1250" b="1" i="0">
                <a:solidFill>
                  <a:srgbClr val="1F2A37"/>
                </a:solidFill>
                <a:latin typeface="Calibri"/>
              </a:rPr>
              <a:t>Pure-Python, HTTPS-only to Rossoctl</a:t>
            </a:r>
          </a:p>
          <a:p>
            <a:pPr algn="l"/>
            <a:r>
              <a:rPr sz="1050" b="0" i="0">
                <a:solidFill>
                  <a:srgbClr val="3A4654"/>
                </a:solidFill>
                <a:latin typeface="Calibri"/>
              </a:rPr>
              <a:t>No shell-out: smaller image, no injection surface, structured errors, testable.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035040" y="2423160"/>
            <a:ext cx="5715000" cy="603504"/>
          </a:xfrm>
          <a:prstGeom prst="roundRect">
            <a:avLst/>
          </a:prstGeom>
          <a:solidFill>
            <a:srgbClr val="E8F1FB"/>
          </a:solidFill>
          <a:ln w="12700">
            <a:solidFill>
              <a:srgbClr val="2E6F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 lIns="101600"/>
          <a:lstStyle/>
          <a:p>
            <a:pPr algn="l"/>
            <a:r>
              <a:rPr sz="1250" b="1" i="0">
                <a:solidFill>
                  <a:srgbClr val="1F2A37"/>
                </a:solidFill>
                <a:latin typeface="Calibri"/>
              </a:rPr>
              <a:t>Two-token auth model</a:t>
            </a:r>
          </a:p>
          <a:p>
            <a:pPr algn="l"/>
            <a:r>
              <a:rPr sz="1050" b="0" i="0">
                <a:solidFill>
                  <a:srgbClr val="3A4654"/>
                </a:solidFill>
                <a:latin typeface="Calibri"/>
              </a:rPr>
              <a:t>Caller JWT attributes + routes only (never forwarded); Service mints its own benchmarker (ROPC) token to Rossoctl.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035040" y="3063240"/>
            <a:ext cx="5715000" cy="603504"/>
          </a:xfrm>
          <a:prstGeom prst="roundRect">
            <a:avLst/>
          </a:prstGeom>
          <a:solidFill>
            <a:srgbClr val="E8F1FB"/>
          </a:solidFill>
          <a:ln w="12700">
            <a:solidFill>
              <a:srgbClr val="2E6F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 lIns="101600"/>
          <a:lstStyle/>
          <a:p>
            <a:pPr algn="l"/>
            <a:r>
              <a:rPr sz="1250" b="1" i="0">
                <a:solidFill>
                  <a:srgbClr val="1F2A37"/>
                </a:solidFill>
                <a:latin typeface="Calibri"/>
              </a:rPr>
              <a:t>iss is the trust anchor</a:t>
            </a:r>
          </a:p>
          <a:p>
            <a:pPr algn="l"/>
            <a:r>
              <a:rPr sz="1050" b="0" i="0">
                <a:solidFill>
                  <a:srgbClr val="3A4654"/>
                </a:solidFill>
                <a:latin typeface="Calibri"/>
              </a:rPr>
              <a:t>The JWT issuer selects the per-instance config — no separate instance argument, so no confused-deputy escape.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035040" y="3703320"/>
            <a:ext cx="5715000" cy="603504"/>
          </a:xfrm>
          <a:prstGeom prst="roundRect">
            <a:avLst/>
          </a:prstGeom>
          <a:solidFill>
            <a:srgbClr val="E8F1FB"/>
          </a:solidFill>
          <a:ln w="12700">
            <a:solidFill>
              <a:srgbClr val="2E6F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 lIns="101600"/>
          <a:lstStyle/>
          <a:p>
            <a:pPr algn="l"/>
            <a:r>
              <a:rPr sz="1250" b="1" i="0">
                <a:solidFill>
                  <a:srgbClr val="1F2A37"/>
                </a:solidFill>
                <a:latin typeface="Calibri"/>
              </a:rPr>
              <a:t>Per-request ROPC login</a:t>
            </a:r>
          </a:p>
          <a:p>
            <a:pPr algn="l"/>
            <a:r>
              <a:rPr sz="1050" b="0" i="0">
                <a:solidFill>
                  <a:srgbClr val="3A4654"/>
                </a:solidFill>
                <a:latin typeface="Calibri"/>
              </a:rPr>
              <a:t>Fresh Service token every request — no expiry handling.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035040" y="4343400"/>
            <a:ext cx="5715000" cy="603504"/>
          </a:xfrm>
          <a:prstGeom prst="roundRect">
            <a:avLst/>
          </a:prstGeom>
          <a:solidFill>
            <a:srgbClr val="E8F1FB"/>
          </a:solidFill>
          <a:ln w="12700">
            <a:solidFill>
              <a:srgbClr val="2E6F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 lIns="101600"/>
          <a:lstStyle/>
          <a:p>
            <a:pPr algn="l"/>
            <a:r>
              <a:rPr sz="1250" b="1" i="0">
                <a:solidFill>
                  <a:srgbClr val="1F2A37"/>
                </a:solidFill>
                <a:latin typeface="Calibri"/>
              </a:rPr>
              <a:t>iss-keyed per-instance config</a:t>
            </a:r>
          </a:p>
          <a:p>
            <a:pPr algn="l"/>
            <a:r>
              <a:rPr sz="1050" b="0" i="0">
                <a:solidFill>
                  <a:srgbClr val="3A4654"/>
                </a:solidFill>
                <a:latin typeface="Calibri"/>
              </a:rPr>
              <a:t>One file per issuer: Rossoctl URL, benchmarker cred, MLflow/S3, optional Keycloak backchannel + workload route templates.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035040" y="4983480"/>
            <a:ext cx="5715000" cy="603504"/>
          </a:xfrm>
          <a:prstGeom prst="roundRect">
            <a:avLst/>
          </a:prstGeom>
          <a:solidFill>
            <a:srgbClr val="E8F1FB"/>
          </a:solidFill>
          <a:ln w="12700">
            <a:solidFill>
              <a:srgbClr val="2E6F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 lIns="101600"/>
          <a:lstStyle/>
          <a:p>
            <a:pPr algn="l"/>
            <a:r>
              <a:rPr sz="1250" b="1" i="0">
                <a:solidFill>
                  <a:srgbClr val="1F2A37"/>
                </a:solidFill>
                <a:latin typeface="Calibri"/>
              </a:rPr>
              <a:t>Enact only what the API allows</a:t>
            </a:r>
          </a:p>
          <a:p>
            <a:pPr algn="l"/>
            <a:r>
              <a:rPr sz="1050" b="0" i="0">
                <a:solidFill>
                  <a:srgbClr val="3A4654"/>
                </a:solidFill>
                <a:latin typeface="Calibri"/>
              </a:rPr>
              <a:t>Deploy/run/report/export — now including AuthBridge plugin presets (layer-3). Only workload Secrets remain out-of-band: prechecked and reported (424), never silently ignored.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035040" y="5623560"/>
            <a:ext cx="5715000" cy="603504"/>
          </a:xfrm>
          <a:prstGeom prst="roundRect">
            <a:avLst/>
          </a:prstGeom>
          <a:solidFill>
            <a:srgbClr val="E8F1FB"/>
          </a:solidFill>
          <a:ln w="12700">
            <a:solidFill>
              <a:srgbClr val="2E6F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 lIns="101600"/>
          <a:lstStyle/>
          <a:p>
            <a:pPr algn="l"/>
            <a:r>
              <a:rPr sz="1250" b="1" i="0">
                <a:solidFill>
                  <a:srgbClr val="1F2A37"/>
                </a:solidFill>
                <a:latin typeface="Calibri"/>
              </a:rPr>
              <a:t>MLflow with Service; S3 in the cloud</a:t>
            </a:r>
          </a:p>
          <a:p>
            <a:pPr algn="l"/>
            <a:r>
              <a:rPr sz="1050" b="0" i="0">
                <a:solidFill>
                  <a:srgbClr val="3A4654"/>
                </a:solidFill>
                <a:latin typeface="Calibri"/>
              </a:rPr>
              <a:t>MLflow is co-located with the Service (per-service traces it emits + reads), not in the workload cluster; S3 is an external cloud service — the shared cross-service sink.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795760" y="6437376"/>
            <a:ext cx="320040" cy="31089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spcAft>
                <a:spcPts val="300"/>
              </a:spcAft>
            </a:pPr>
            <a:r>
              <a:rPr sz="1200" b="0" i="0">
                <a:solidFill>
                  <a:srgbClr val="6B6B6B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950000"/>
          </a:xfrm>
          <a:prstGeom prst="rect">
            <a:avLst/>
          </a:prstGeom>
          <a:solidFill>
            <a:srgbClr val="1B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55600"/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2.  Auto-Benchmarking Design Motif</a:t>
            </a:r>
          </a:p>
          <a:p>
            <a:r>
              <a:rPr sz="1400" b="0" i="0">
                <a:solidFill>
                  <a:srgbClr val="C9D9EC"/>
                </a:solidFill>
                <a:latin typeface="Calibri"/>
              </a:rPr>
              <a:t>One client, one Service, N workload deployments — and every result ends up in one place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365760" y="1188720"/>
            <a:ext cx="2560320" cy="777240"/>
          </a:xfrm>
          <a:prstGeom prst="roundRect">
            <a:avLst/>
          </a:prstGeom>
          <a:solidFill>
            <a:srgbClr val="5B8C5A"/>
          </a:solidFill>
          <a:ln w="12700">
            <a:solidFill>
              <a:srgbClr val="5B8C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350" b="1" i="0">
                <a:solidFill>
                  <a:srgbClr val="FFFFFF"/>
                </a:solidFill>
                <a:latin typeface="Calibri"/>
              </a:rPr>
              <a:t>AutoBench Client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65760" y="2240280"/>
            <a:ext cx="2560320" cy="1691640"/>
          </a:xfrm>
          <a:prstGeom prst="roundRect">
            <a:avLst/>
          </a:prstGeom>
          <a:solidFill>
            <a:srgbClr val="2E6FB5"/>
          </a:solidFill>
          <a:ln w="12700">
            <a:solidFill>
              <a:srgbClr val="2E6F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350" b="1" i="0">
                <a:solidFill>
                  <a:srgbClr val="FFFFFF"/>
                </a:solidFill>
                <a:latin typeface="Calibri"/>
              </a:rPr>
              <a:t>AutoBench Service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65760" y="4343400"/>
            <a:ext cx="1325880" cy="868680"/>
          </a:xfrm>
          <a:prstGeom prst="roundRect">
            <a:avLst/>
          </a:prstGeom>
          <a:solidFill>
            <a:srgbClr val="6B6B6B"/>
          </a:solidFill>
          <a:ln w="12700">
            <a:solidFill>
              <a:srgbClr val="E87A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950" b="1" i="0">
                <a:solidFill>
                  <a:srgbClr val="FFFFFF"/>
                </a:solidFill>
                <a:latin typeface="Calibri"/>
              </a:rPr>
              <a:t>Shared store of benchmark run results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783080" y="4343400"/>
            <a:ext cx="1325880" cy="868680"/>
          </a:xfrm>
          <a:prstGeom prst="roundRect">
            <a:avLst/>
          </a:prstGeom>
          <a:solidFill>
            <a:srgbClr val="6B6B6B"/>
          </a:solidFill>
          <a:ln w="12700">
            <a:solidFill>
              <a:srgbClr val="6B6B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Experiment Tracker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849624" y="1243584"/>
            <a:ext cx="8001000" cy="3977639"/>
          </a:xfrm>
          <a:prstGeom prst="roundRect">
            <a:avLst/>
          </a:prstGeom>
          <a:solidFill>
            <a:srgbClr val="F0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3776472" y="1170432"/>
            <a:ext cx="8001000" cy="3977639"/>
          </a:xfrm>
          <a:prstGeom prst="roundRect">
            <a:avLst/>
          </a:prstGeom>
          <a:solidFill>
            <a:srgbClr val="E3E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3703320" y="1097280"/>
            <a:ext cx="8001000" cy="3977639"/>
          </a:xfrm>
          <a:prstGeom prst="roundRect">
            <a:avLst/>
          </a:prstGeom>
          <a:solidFill>
            <a:srgbClr val="FBFCFD"/>
          </a:solidFill>
          <a:ln w="19050">
            <a:solidFill>
              <a:srgbClr val="1B3A5C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886200" y="1188720"/>
            <a:ext cx="76809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 i="0">
                <a:solidFill>
                  <a:srgbClr val="1B3A5C"/>
                </a:solidFill>
                <a:latin typeface="Calibri"/>
              </a:rPr>
              <a:t>Workload Deployment Instances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977639" y="2377440"/>
            <a:ext cx="2331720" cy="1234440"/>
          </a:xfrm>
          <a:prstGeom prst="roundRect">
            <a:avLst/>
          </a:prstGeom>
          <a:solidFill>
            <a:srgbClr val="8E44AD"/>
          </a:solidFill>
          <a:ln w="12700">
            <a:solidFill>
              <a:srgbClr val="8E44A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Deployment helper for harnessed benchmark workload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366760" y="2103120"/>
            <a:ext cx="3154680" cy="1463040"/>
          </a:xfrm>
          <a:prstGeom prst="roundRect">
            <a:avLst/>
          </a:prstGeom>
          <a:solidFill>
            <a:srgbClr val="E4F0F0"/>
          </a:solidFill>
          <a:ln w="15875">
            <a:solidFill>
              <a:srgbClr val="3D6E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 i="0">
                <a:solidFill>
                  <a:srgbClr val="3D6E70"/>
                </a:solidFill>
                <a:latin typeface="Calibri"/>
              </a:rPr>
              <a:t>Harnessed benchmark workload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23560" y="4315968"/>
            <a:ext cx="2468880" cy="640080"/>
          </a:xfrm>
          <a:prstGeom prst="roundRect">
            <a:avLst/>
          </a:prstGeom>
          <a:solidFill>
            <a:srgbClr val="3D6E70"/>
          </a:solidFill>
          <a:ln w="12700">
            <a:solidFill>
              <a:srgbClr val="3D6E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250" b="1" i="0">
                <a:solidFill>
                  <a:srgbClr val="FFFFFF"/>
                </a:solidFill>
                <a:latin typeface="Calibri"/>
              </a:rPr>
              <a:t>Telemetry Collector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1645920" y="1965960"/>
            <a:ext cx="0" cy="274320"/>
          </a:xfrm>
          <a:prstGeom prst="line">
            <a:avLst/>
          </a:prstGeom>
          <a:ln w="25400">
            <a:solidFill>
              <a:srgbClr val="E87A1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Oval 14"/>
          <p:cNvSpPr/>
          <p:nvPr/>
        </p:nvSpPr>
        <p:spPr>
          <a:xfrm>
            <a:off x="1755647" y="1984248"/>
            <a:ext cx="237744" cy="237744"/>
          </a:xfrm>
          <a:prstGeom prst="ellipse">
            <a:avLst/>
          </a:prstGeom>
          <a:solidFill>
            <a:srgbClr val="E87A1E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05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2926080" y="2880360"/>
            <a:ext cx="1051559" cy="0"/>
          </a:xfrm>
          <a:prstGeom prst="line">
            <a:avLst/>
          </a:prstGeom>
          <a:ln w="25400">
            <a:solidFill>
              <a:srgbClr val="8E44AD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Oval 16"/>
          <p:cNvSpPr/>
          <p:nvPr/>
        </p:nvSpPr>
        <p:spPr>
          <a:xfrm>
            <a:off x="3337560" y="2587752"/>
            <a:ext cx="237744" cy="237744"/>
          </a:xfrm>
          <a:prstGeom prst="ellipse">
            <a:avLst/>
          </a:prstGeom>
          <a:solidFill>
            <a:srgbClr val="E87A1E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05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6309360" y="2743200"/>
            <a:ext cx="2057400" cy="0"/>
          </a:xfrm>
          <a:prstGeom prst="line">
            <a:avLst/>
          </a:prstGeom>
          <a:ln w="25400">
            <a:solidFill>
              <a:srgbClr val="8E44AD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Oval 18"/>
          <p:cNvSpPr/>
          <p:nvPr/>
        </p:nvSpPr>
        <p:spPr>
          <a:xfrm>
            <a:off x="7214616" y="2450592"/>
            <a:ext cx="237744" cy="237744"/>
          </a:xfrm>
          <a:prstGeom prst="ellipse">
            <a:avLst/>
          </a:prstGeom>
          <a:solidFill>
            <a:srgbClr val="E87A1E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05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cxnSp>
        <p:nvCxnSpPr>
          <p:cNvPr id="20" name="Connector 19"/>
          <p:cNvCxnSpPr/>
          <p:nvPr/>
        </p:nvCxnSpPr>
        <p:spPr>
          <a:xfrm flipV="1">
            <a:off x="2926080" y="3383280"/>
            <a:ext cx="5440680" cy="365759"/>
          </a:xfrm>
          <a:prstGeom prst="line">
            <a:avLst/>
          </a:prstGeom>
          <a:ln w="25400">
            <a:solidFill>
              <a:srgbClr val="3D6E7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Oval 20"/>
          <p:cNvSpPr/>
          <p:nvPr/>
        </p:nvSpPr>
        <p:spPr>
          <a:xfrm>
            <a:off x="6922008" y="3346704"/>
            <a:ext cx="237744" cy="237744"/>
          </a:xfrm>
          <a:prstGeom prst="ellipse">
            <a:avLst/>
          </a:prstGeom>
          <a:solidFill>
            <a:srgbClr val="E87A1E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05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2148840" y="3931920"/>
            <a:ext cx="0" cy="411480"/>
          </a:xfrm>
          <a:prstGeom prst="line">
            <a:avLst/>
          </a:prstGeom>
          <a:ln w="25400">
            <a:solidFill>
              <a:srgbClr val="6B6B6B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Oval 22"/>
          <p:cNvSpPr/>
          <p:nvPr/>
        </p:nvSpPr>
        <p:spPr>
          <a:xfrm>
            <a:off x="2029968" y="4014215"/>
            <a:ext cx="237744" cy="237744"/>
          </a:xfrm>
          <a:prstGeom prst="ellipse">
            <a:avLst/>
          </a:prstGeom>
          <a:solidFill>
            <a:srgbClr val="E87A1E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05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cxnSp>
        <p:nvCxnSpPr>
          <p:cNvPr id="24" name="Connector 23"/>
          <p:cNvCxnSpPr/>
          <p:nvPr/>
        </p:nvCxnSpPr>
        <p:spPr>
          <a:xfrm flipH="1">
            <a:off x="8092440" y="3566160"/>
            <a:ext cx="640080" cy="749808"/>
          </a:xfrm>
          <a:prstGeom prst="line">
            <a:avLst/>
          </a:prstGeom>
          <a:ln w="25400">
            <a:solidFill>
              <a:srgbClr val="3D6E70"/>
            </a:solidFill>
            <a:tailEnd type="triangle" w="med" len="med"/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Oval 24"/>
          <p:cNvSpPr/>
          <p:nvPr/>
        </p:nvSpPr>
        <p:spPr>
          <a:xfrm>
            <a:off x="8302752" y="3803904"/>
            <a:ext cx="310896" cy="310896"/>
          </a:xfrm>
          <a:prstGeom prst="ellipse">
            <a:avLst/>
          </a:prstGeom>
          <a:solidFill>
            <a:srgbClr val="E87A1E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050" b="1" i="0">
                <a:solidFill>
                  <a:srgbClr val="FFFFFF"/>
                </a:solidFill>
                <a:latin typeface="Calibri"/>
              </a:rPr>
              <a:t>6a</a:t>
            </a:r>
          </a:p>
        </p:txBody>
      </p:sp>
      <p:cxnSp>
        <p:nvCxnSpPr>
          <p:cNvPr id="26" name="Connector 25"/>
          <p:cNvCxnSpPr/>
          <p:nvPr/>
        </p:nvCxnSpPr>
        <p:spPr>
          <a:xfrm flipH="1">
            <a:off x="3108960" y="4636008"/>
            <a:ext cx="2514600" cy="137160"/>
          </a:xfrm>
          <a:prstGeom prst="line">
            <a:avLst/>
          </a:prstGeom>
          <a:ln w="25400">
            <a:solidFill>
              <a:srgbClr val="6B6B6B"/>
            </a:solidFill>
            <a:tailEnd type="triangle" w="med" len="med"/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Oval 26"/>
          <p:cNvSpPr/>
          <p:nvPr/>
        </p:nvSpPr>
        <p:spPr>
          <a:xfrm>
            <a:off x="4215384" y="4549140"/>
            <a:ext cx="310896" cy="310896"/>
          </a:xfrm>
          <a:prstGeom prst="ellipse">
            <a:avLst/>
          </a:prstGeom>
          <a:solidFill>
            <a:srgbClr val="E87A1E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050" b="1" i="0">
                <a:solidFill>
                  <a:srgbClr val="FFFFFF"/>
                </a:solidFill>
                <a:latin typeface="Calibri"/>
              </a:rPr>
              <a:t>6b</a:t>
            </a:r>
          </a:p>
        </p:txBody>
      </p:sp>
      <p:cxnSp>
        <p:nvCxnSpPr>
          <p:cNvPr id="28" name="Connector 27"/>
          <p:cNvCxnSpPr/>
          <p:nvPr/>
        </p:nvCxnSpPr>
        <p:spPr>
          <a:xfrm flipV="1">
            <a:off x="2788920" y="3931920"/>
            <a:ext cx="0" cy="411480"/>
          </a:xfrm>
          <a:prstGeom prst="line">
            <a:avLst/>
          </a:prstGeom>
          <a:ln w="25400">
            <a:solidFill>
              <a:srgbClr val="6B6B6B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Oval 28"/>
          <p:cNvSpPr/>
          <p:nvPr/>
        </p:nvSpPr>
        <p:spPr>
          <a:xfrm>
            <a:off x="2670048" y="4014215"/>
            <a:ext cx="237744" cy="237744"/>
          </a:xfrm>
          <a:prstGeom prst="ellipse">
            <a:avLst/>
          </a:prstGeom>
          <a:solidFill>
            <a:srgbClr val="E87A1E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050" b="1" i="0">
                <a:solidFill>
                  <a:srgbClr val="FFFFFF"/>
                </a:solidFill>
                <a:latin typeface="Calibri"/>
              </a:rPr>
              <a:t>7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960120" y="3931920"/>
            <a:ext cx="0" cy="411480"/>
          </a:xfrm>
          <a:prstGeom prst="line">
            <a:avLst/>
          </a:prstGeom>
          <a:ln w="25400">
            <a:solidFill>
              <a:srgbClr val="E87A1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Oval 30"/>
          <p:cNvSpPr/>
          <p:nvPr/>
        </p:nvSpPr>
        <p:spPr>
          <a:xfrm>
            <a:off x="640080" y="4014215"/>
            <a:ext cx="237744" cy="237744"/>
          </a:xfrm>
          <a:prstGeom prst="ellipse">
            <a:avLst/>
          </a:prstGeom>
          <a:solidFill>
            <a:srgbClr val="E87A1E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050" b="1" i="0">
                <a:solidFill>
                  <a:srgbClr val="FFFFFF"/>
                </a:solidFill>
                <a:latin typeface="Calibri"/>
              </a:rPr>
              <a:t>8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365760" y="5349240"/>
            <a:ext cx="11430000" cy="1051560"/>
          </a:xfrm>
          <a:prstGeom prst="roundRect">
            <a:avLst/>
          </a:prstGeom>
          <a:solidFill>
            <a:srgbClr val="F4F6F8"/>
          </a:solidFill>
          <a:ln>
            <a:solidFill>
              <a:srgbClr val="C7CE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48640" y="5440680"/>
            <a:ext cx="5486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100" b="0" i="0">
                <a:solidFill>
                  <a:srgbClr val="1F2A37"/>
                </a:solidFill>
                <a:latin typeface="Calibri"/>
              </a:rPr>
              <a:t>1  Client → Service</a:t>
            </a:r>
          </a:p>
          <a:p>
            <a:pPr>
              <a:spcAft>
                <a:spcPts val="0"/>
              </a:spcAft>
            </a:pPr>
            <a:r>
              <a:rPr sz="1100" b="0" i="0">
                <a:solidFill>
                  <a:srgbClr val="1F2A37"/>
                </a:solidFill>
                <a:latin typeface="Calibri"/>
              </a:rPr>
              <a:t>2  Service → deployment helper:  create the harnessed workload</a:t>
            </a:r>
          </a:p>
          <a:p>
            <a:pPr>
              <a:spcAft>
                <a:spcPts val="0"/>
              </a:spcAft>
            </a:pPr>
            <a:r>
              <a:rPr sz="1100" b="0" i="0">
                <a:solidFill>
                  <a:srgbClr val="1F2A37"/>
                </a:solidFill>
                <a:latin typeface="Calibri"/>
              </a:rPr>
              <a:t>3  helper → harnessed workload</a:t>
            </a:r>
          </a:p>
          <a:p>
            <a:pPr>
              <a:spcAft>
                <a:spcPts val="0"/>
              </a:spcAft>
            </a:pPr>
            <a:r>
              <a:rPr sz="1100" b="0" i="0">
                <a:solidFill>
                  <a:srgbClr val="1F2A37"/>
                </a:solidFill>
                <a:latin typeface="Calibri"/>
              </a:rPr>
              <a:t>4  Service → harnessed workload:  run and monitor benchmark execution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126480" y="5440680"/>
            <a:ext cx="5486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100" b="0" i="0">
                <a:solidFill>
                  <a:srgbClr val="1F2A37"/>
                </a:solidFill>
                <a:latin typeface="Calibri"/>
              </a:rPr>
              <a:t>5  Service → Experiment Tracker:  emit the trace</a:t>
            </a:r>
          </a:p>
          <a:p>
            <a:pPr>
              <a:spcAft>
                <a:spcPts val="0"/>
              </a:spcAft>
            </a:pPr>
            <a:r>
              <a:rPr sz="1100" b="0" i="0">
                <a:solidFill>
                  <a:srgbClr val="1F2A37"/>
                </a:solidFill>
                <a:latin typeface="Calibri"/>
              </a:rPr>
              <a:t>6a workload → Telemetry Collector  ·  6b collector → Tracker</a:t>
            </a:r>
          </a:p>
          <a:p>
            <a:pPr>
              <a:spcAft>
                <a:spcPts val="0"/>
              </a:spcAft>
            </a:pPr>
            <a:r>
              <a:rPr sz="1100" b="0" i="0">
                <a:solidFill>
                  <a:srgbClr val="1F2A37"/>
                </a:solidFill>
                <a:latin typeface="Calibri"/>
              </a:rPr>
              <a:t>7  Experiment Tracker → Service:  read the records back</a:t>
            </a:r>
          </a:p>
          <a:p>
            <a:pPr>
              <a:spcAft>
                <a:spcPts val="0"/>
              </a:spcAft>
            </a:pPr>
            <a:r>
              <a:rPr sz="1100" b="0" i="0">
                <a:solidFill>
                  <a:srgbClr val="1F2A37"/>
                </a:solidFill>
                <a:latin typeface="Calibri"/>
              </a:rPr>
              <a:t>8  Service → shared store:  export the run's artifacts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1795760" y="6437376"/>
            <a:ext cx="320040" cy="31089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spcAft>
                <a:spcPts val="300"/>
              </a:spcAft>
            </a:pPr>
            <a:r>
              <a:rPr sz="1200" b="0" i="0">
                <a:solidFill>
                  <a:srgbClr val="6B6B6B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950000"/>
          </a:xfrm>
          <a:prstGeom prst="rect">
            <a:avLst/>
          </a:prstGeom>
          <a:solidFill>
            <a:srgbClr val="1B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55600"/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3.  Architecture</a:t>
            </a:r>
          </a:p>
          <a:p>
            <a:r>
              <a:rPr sz="1400" b="0" i="0">
                <a:solidFill>
                  <a:srgbClr val="C9D9EC"/>
                </a:solidFill>
                <a:latin typeface="Calibri"/>
              </a:rPr>
              <a:t>Relations between client, service, cluster-specific Keycloak / Rossoctl / workload, MLflow &amp; S3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365760" y="1188720"/>
            <a:ext cx="2560320" cy="777240"/>
          </a:xfrm>
          <a:prstGeom prst="roundRect">
            <a:avLst/>
          </a:prstGeom>
          <a:solidFill>
            <a:srgbClr val="5B8C5A"/>
          </a:solidFill>
          <a:ln w="12700">
            <a:solidFill>
              <a:srgbClr val="5B8C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350" b="1" i="0">
                <a:solidFill>
                  <a:srgbClr val="FFFFFF"/>
                </a:solidFill>
                <a:latin typeface="Calibri"/>
              </a:rPr>
              <a:t>AutoBench Client</a:t>
            </a:r>
          </a:p>
          <a:p>
            <a:pPr algn="ctr"/>
            <a:r>
              <a:rPr sz="1050" b="0" i="0">
                <a:solidFill>
                  <a:srgbClr val="E6F0E6"/>
                </a:solidFill>
                <a:latin typeface="Calibri"/>
              </a:rPr>
              <a:t>off-cluster (host / CI)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65760" y="2240280"/>
            <a:ext cx="2560320" cy="1691640"/>
          </a:xfrm>
          <a:prstGeom prst="roundRect">
            <a:avLst/>
          </a:prstGeom>
          <a:solidFill>
            <a:srgbClr val="2E6FB5"/>
          </a:solidFill>
          <a:ln>
            <a:solidFill>
              <a:srgbClr val="2E6F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1600" tIns="88900"/>
          <a:lstStyle/>
          <a:p>
            <a:pPr algn="ctr"/>
            <a:r>
              <a:rPr sz="1350" b="1" i="0">
                <a:solidFill>
                  <a:srgbClr val="FFFFFF"/>
                </a:solidFill>
                <a:latin typeface="Calibri"/>
              </a:rPr>
              <a:t>AutoBench Service</a:t>
            </a:r>
          </a:p>
          <a:p>
            <a:pPr algn="l" lvl="1"/>
            <a:r>
              <a:rPr sz="1000" b="0" i="0">
                <a:solidFill>
                  <a:srgbClr val="FFFFFF"/>
                </a:solidFill>
                <a:latin typeface="Calibri"/>
              </a:rPr>
              <a:t>• pure-Python · async</a:t>
            </a:r>
          </a:p>
          <a:p>
            <a:pPr algn="l" lvl="1"/>
            <a:r>
              <a:rPr sz="1000" b="0" i="0">
                <a:solidFill>
                  <a:srgbClr val="FFFFFF"/>
                </a:solidFill>
                <a:latin typeface="Calibri"/>
              </a:rPr>
              <a:t>• iss-keyed InstanceRegistry</a:t>
            </a:r>
          </a:p>
          <a:p>
            <a:pPr algn="l" lvl="1"/>
            <a:r>
              <a:rPr sz="1000" b="0" i="0">
                <a:solidFill>
                  <a:srgbClr val="FFFFFF"/>
                </a:solidFill>
                <a:latin typeface="Calibri"/>
              </a:rPr>
              <a:t>• per-request ROPC login</a:t>
            </a:r>
          </a:p>
          <a:p>
            <a:pPr algn="l" lvl="1"/>
            <a:r>
              <a:rPr sz="1000" b="0" i="0">
                <a:solidFill>
                  <a:srgbClr val="FFFFFF"/>
                </a:solidFill>
                <a:latin typeface="Calibri"/>
              </a:rPr>
              <a:t>• deploy / run / report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65760" y="4343400"/>
            <a:ext cx="1234440" cy="868680"/>
          </a:xfrm>
          <a:prstGeom prst="roundRect">
            <a:avLst/>
          </a:prstGeom>
          <a:solidFill>
            <a:srgbClr val="6B6B6B"/>
          </a:solidFill>
          <a:ln w="12700">
            <a:solidFill>
              <a:srgbClr val="E87A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S3</a:t>
            </a:r>
          </a:p>
          <a:p>
            <a:pPr algn="ctr"/>
            <a:r>
              <a:rPr sz="1000" b="0" i="0">
                <a:solidFill>
                  <a:srgbClr val="EEEFF1"/>
                </a:solidFill>
                <a:latin typeface="Calibri"/>
              </a:rPr>
              <a:t>cloud (external)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691640" y="4343400"/>
            <a:ext cx="1234440" cy="868680"/>
          </a:xfrm>
          <a:prstGeom prst="roundRect">
            <a:avLst/>
          </a:prstGeom>
          <a:solidFill>
            <a:srgbClr val="6B6B6B"/>
          </a:solidFill>
          <a:ln w="12700">
            <a:solidFill>
              <a:srgbClr val="6B6B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MLflow</a:t>
            </a:r>
          </a:p>
          <a:p>
            <a:pPr algn="ctr"/>
            <a:r>
              <a:rPr sz="1000" b="0" i="0">
                <a:solidFill>
                  <a:srgbClr val="EEEFF1"/>
                </a:solidFill>
                <a:latin typeface="Calibri"/>
              </a:rPr>
              <a:t>same cluster as Service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849624" y="1243584"/>
            <a:ext cx="8001000" cy="3977639"/>
          </a:xfrm>
          <a:prstGeom prst="roundRect">
            <a:avLst/>
          </a:prstGeom>
          <a:solidFill>
            <a:srgbClr val="F0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3776472" y="1170432"/>
            <a:ext cx="8001000" cy="3977639"/>
          </a:xfrm>
          <a:prstGeom prst="roundRect">
            <a:avLst/>
          </a:prstGeom>
          <a:solidFill>
            <a:srgbClr val="E3E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3703320" y="1097280"/>
            <a:ext cx="8001000" cy="3977639"/>
          </a:xfrm>
          <a:prstGeom prst="roundRect">
            <a:avLst/>
          </a:prstGeom>
          <a:solidFill>
            <a:srgbClr val="FBFCFD"/>
          </a:solidFill>
          <a:ln w="19050">
            <a:solidFill>
              <a:srgbClr val="1B3A5C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840480" y="1170432"/>
            <a:ext cx="76809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1" i="0">
                <a:solidFill>
                  <a:srgbClr val="1B3A5C"/>
                </a:solidFill>
                <a:latin typeface="Calibri"/>
              </a:rPr>
              <a:t>Per-cluster instance — selected by JWT  iss   (ykt3 · kind · …)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977639" y="1783080"/>
            <a:ext cx="2331720" cy="914400"/>
          </a:xfrm>
          <a:prstGeom prst="roundRect">
            <a:avLst/>
          </a:prstGeom>
          <a:solidFill>
            <a:srgbClr val="B55A2E"/>
          </a:solidFill>
          <a:ln w="12700">
            <a:solidFill>
              <a:srgbClr val="B55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Keycloak</a:t>
            </a:r>
          </a:p>
          <a:p>
            <a:pPr algn="ctr"/>
            <a:r>
              <a:rPr sz="1000" b="0" i="0">
                <a:solidFill>
                  <a:srgbClr val="FBEEE4"/>
                </a:solidFill>
                <a:latin typeface="Calibri"/>
              </a:rPr>
              <a:t>issuer + backchannel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977639" y="2926080"/>
            <a:ext cx="2331720" cy="1005840"/>
          </a:xfrm>
          <a:prstGeom prst="roundRect">
            <a:avLst/>
          </a:prstGeom>
          <a:solidFill>
            <a:srgbClr val="8E44AD"/>
          </a:solidFill>
          <a:ln w="12700">
            <a:solidFill>
              <a:srgbClr val="8E44A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Rossoctl</a:t>
            </a:r>
          </a:p>
          <a:p>
            <a:pPr algn="ctr"/>
            <a:r>
              <a:rPr sz="1000" b="0" i="0">
                <a:solidFill>
                  <a:srgbClr val="F1E8F6"/>
                </a:solidFill>
                <a:latin typeface="Calibri"/>
              </a:rPr>
              <a:t>backend API (server-side ops)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366760" y="1783080"/>
            <a:ext cx="3154680" cy="2148840"/>
          </a:xfrm>
          <a:prstGeom prst="roundRect">
            <a:avLst/>
          </a:prstGeom>
          <a:solidFill>
            <a:srgbClr val="E4F0F0"/>
          </a:solidFill>
          <a:ln w="15875">
            <a:solidFill>
              <a:srgbClr val="3D6E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458200" y="1847088"/>
            <a:ext cx="2971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 i="0">
                <a:solidFill>
                  <a:srgbClr val="3D6E70"/>
                </a:solidFill>
                <a:latin typeface="Calibri"/>
              </a:rPr>
              <a:t>Benchmark Workload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549640" y="2212848"/>
            <a:ext cx="2788920" cy="731520"/>
          </a:xfrm>
          <a:prstGeom prst="roundRect">
            <a:avLst/>
          </a:prstGeom>
          <a:solidFill>
            <a:srgbClr val="3D6E70"/>
          </a:solidFill>
          <a:ln w="12700">
            <a:solidFill>
              <a:srgbClr val="3D6E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250" b="1" i="0">
                <a:solidFill>
                  <a:srgbClr val="FFFFFF"/>
                </a:solidFill>
                <a:latin typeface="Calibri"/>
              </a:rPr>
              <a:t>MCP tool</a:t>
            </a:r>
          </a:p>
          <a:p>
            <a:pPr algn="ctr"/>
            <a:r>
              <a:rPr sz="950" b="0" i="0">
                <a:solidFill>
                  <a:srgbClr val="E4F0F0"/>
                </a:solidFill>
                <a:latin typeface="Calibri"/>
              </a:rPr>
              <a:t>exgentic-mcp-&lt;benchmark&gt;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549640" y="3063240"/>
            <a:ext cx="2788920" cy="731520"/>
          </a:xfrm>
          <a:prstGeom prst="roundRect">
            <a:avLst/>
          </a:prstGeom>
          <a:solidFill>
            <a:srgbClr val="3D6E70"/>
          </a:solidFill>
          <a:ln w="12700">
            <a:solidFill>
              <a:srgbClr val="3D6E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250" b="1" i="0">
                <a:solidFill>
                  <a:srgbClr val="FFFFFF"/>
                </a:solidFill>
                <a:latin typeface="Calibri"/>
              </a:rPr>
              <a:t>A2A agent</a:t>
            </a:r>
          </a:p>
          <a:p>
            <a:pPr algn="ctr"/>
            <a:r>
              <a:rPr sz="950" b="0" i="0">
                <a:solidFill>
                  <a:srgbClr val="E4F0F0"/>
                </a:solidFill>
                <a:latin typeface="Calibri"/>
              </a:rPr>
              <a:t>exgentic-a2a-tool_calling-&lt;b&gt;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623560" y="4315968"/>
            <a:ext cx="2468880" cy="640080"/>
          </a:xfrm>
          <a:prstGeom prst="roundRect">
            <a:avLst/>
          </a:prstGeom>
          <a:solidFill>
            <a:srgbClr val="3D6E70"/>
          </a:solidFill>
          <a:ln w="12700">
            <a:solidFill>
              <a:srgbClr val="3D6E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250" b="1" i="0">
                <a:solidFill>
                  <a:srgbClr val="FFFFFF"/>
                </a:solidFill>
                <a:latin typeface="Calibri"/>
              </a:rPr>
              <a:t>OTEL collector</a:t>
            </a:r>
          </a:p>
          <a:p>
            <a:pPr algn="ctr"/>
            <a:r>
              <a:rPr sz="950" b="0" i="0">
                <a:solidFill>
                  <a:srgbClr val="E4F0F0"/>
                </a:solidFill>
                <a:latin typeface="Calibri"/>
              </a:rPr>
              <a:t>forwards agent spans → MLflow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2926080" y="1554480"/>
            <a:ext cx="1051559" cy="502920"/>
          </a:xfrm>
          <a:prstGeom prst="line">
            <a:avLst/>
          </a:prstGeom>
          <a:ln w="25400">
            <a:solidFill>
              <a:srgbClr val="E87A1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Oval 18"/>
          <p:cNvSpPr/>
          <p:nvPr/>
        </p:nvSpPr>
        <p:spPr>
          <a:xfrm>
            <a:off x="3282696" y="1664208"/>
            <a:ext cx="237744" cy="237744"/>
          </a:xfrm>
          <a:prstGeom prst="ellipse">
            <a:avLst/>
          </a:prstGeom>
          <a:solidFill>
            <a:srgbClr val="E87A1E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05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1645920" y="1965960"/>
            <a:ext cx="0" cy="274320"/>
          </a:xfrm>
          <a:prstGeom prst="line">
            <a:avLst/>
          </a:prstGeom>
          <a:ln w="25400">
            <a:solidFill>
              <a:srgbClr val="E87A1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Oval 20"/>
          <p:cNvSpPr/>
          <p:nvPr/>
        </p:nvSpPr>
        <p:spPr>
          <a:xfrm>
            <a:off x="1755647" y="1984248"/>
            <a:ext cx="237744" cy="237744"/>
          </a:xfrm>
          <a:prstGeom prst="ellipse">
            <a:avLst/>
          </a:prstGeom>
          <a:solidFill>
            <a:srgbClr val="E87A1E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05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cxnSp>
        <p:nvCxnSpPr>
          <p:cNvPr id="22" name="Connector 21"/>
          <p:cNvCxnSpPr/>
          <p:nvPr/>
        </p:nvCxnSpPr>
        <p:spPr>
          <a:xfrm flipV="1">
            <a:off x="2926080" y="2377440"/>
            <a:ext cx="1051559" cy="137160"/>
          </a:xfrm>
          <a:prstGeom prst="line">
            <a:avLst/>
          </a:prstGeom>
          <a:ln w="25400">
            <a:solidFill>
              <a:srgbClr val="E87A1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Oval 22"/>
          <p:cNvSpPr/>
          <p:nvPr/>
        </p:nvSpPr>
        <p:spPr>
          <a:xfrm>
            <a:off x="3337560" y="2313432"/>
            <a:ext cx="237744" cy="237744"/>
          </a:xfrm>
          <a:prstGeom prst="ellipse">
            <a:avLst/>
          </a:prstGeom>
          <a:solidFill>
            <a:srgbClr val="E87A1E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05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2926080" y="3246120"/>
            <a:ext cx="1051559" cy="91440"/>
          </a:xfrm>
          <a:prstGeom prst="line">
            <a:avLst/>
          </a:prstGeom>
          <a:ln w="25400">
            <a:solidFill>
              <a:srgbClr val="E87A1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Oval 24"/>
          <p:cNvSpPr/>
          <p:nvPr/>
        </p:nvSpPr>
        <p:spPr>
          <a:xfrm>
            <a:off x="3337560" y="3154680"/>
            <a:ext cx="237744" cy="237744"/>
          </a:xfrm>
          <a:prstGeom prst="ellipse">
            <a:avLst/>
          </a:prstGeom>
          <a:solidFill>
            <a:srgbClr val="E87A1E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05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cxnSp>
        <p:nvCxnSpPr>
          <p:cNvPr id="26" name="Connector 25"/>
          <p:cNvCxnSpPr/>
          <p:nvPr/>
        </p:nvCxnSpPr>
        <p:spPr>
          <a:xfrm flipV="1">
            <a:off x="6309360" y="2944368"/>
            <a:ext cx="2057400" cy="301752"/>
          </a:xfrm>
          <a:prstGeom prst="line">
            <a:avLst/>
          </a:prstGeom>
          <a:ln w="25400">
            <a:solidFill>
              <a:srgbClr val="8E44AD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Oval 26"/>
          <p:cNvSpPr/>
          <p:nvPr/>
        </p:nvSpPr>
        <p:spPr>
          <a:xfrm>
            <a:off x="6784848" y="3040380"/>
            <a:ext cx="237744" cy="237744"/>
          </a:xfrm>
          <a:prstGeom prst="ellipse">
            <a:avLst/>
          </a:prstGeom>
          <a:solidFill>
            <a:srgbClr val="E87A1E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05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cxnSp>
        <p:nvCxnSpPr>
          <p:cNvPr id="28" name="Connector 27"/>
          <p:cNvCxnSpPr/>
          <p:nvPr/>
        </p:nvCxnSpPr>
        <p:spPr>
          <a:xfrm flipV="1">
            <a:off x="2926080" y="2807208"/>
            <a:ext cx="0" cy="896112"/>
          </a:xfrm>
          <a:prstGeom prst="line">
            <a:avLst/>
          </a:prstGeom>
          <a:ln w="25400">
            <a:solidFill>
              <a:srgbClr val="3D6E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>
            <a:off x="2926080" y="2807208"/>
            <a:ext cx="3383280" cy="0"/>
          </a:xfrm>
          <a:prstGeom prst="line">
            <a:avLst/>
          </a:prstGeom>
          <a:ln w="25400">
            <a:solidFill>
              <a:srgbClr val="3D6E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6309360" y="2807208"/>
            <a:ext cx="2057400" cy="256032"/>
          </a:xfrm>
          <a:prstGeom prst="line">
            <a:avLst/>
          </a:prstGeom>
          <a:ln w="25400">
            <a:solidFill>
              <a:srgbClr val="3D6E7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Oval 30"/>
          <p:cNvSpPr/>
          <p:nvPr/>
        </p:nvSpPr>
        <p:spPr>
          <a:xfrm>
            <a:off x="4498848" y="2688336"/>
            <a:ext cx="237744" cy="237744"/>
          </a:xfrm>
          <a:prstGeom prst="ellipse">
            <a:avLst/>
          </a:prstGeom>
          <a:solidFill>
            <a:srgbClr val="E87A1E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050" b="1" i="0">
                <a:solidFill>
                  <a:srgbClr val="FFFFFF"/>
                </a:solidFill>
                <a:latin typeface="Calibri"/>
              </a:rPr>
              <a:t>6</a:t>
            </a:r>
          </a:p>
        </p:txBody>
      </p:sp>
      <p:cxnSp>
        <p:nvCxnSpPr>
          <p:cNvPr id="32" name="Connector 31"/>
          <p:cNvCxnSpPr/>
          <p:nvPr/>
        </p:nvCxnSpPr>
        <p:spPr>
          <a:xfrm>
            <a:off x="1965960" y="3931920"/>
            <a:ext cx="0" cy="411480"/>
          </a:xfrm>
          <a:prstGeom prst="line">
            <a:avLst/>
          </a:prstGeom>
          <a:ln w="25400">
            <a:solidFill>
              <a:srgbClr val="6B6B6B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Oval 32"/>
          <p:cNvSpPr/>
          <p:nvPr/>
        </p:nvSpPr>
        <p:spPr>
          <a:xfrm>
            <a:off x="1847088" y="4014215"/>
            <a:ext cx="237744" cy="237744"/>
          </a:xfrm>
          <a:prstGeom prst="ellipse">
            <a:avLst/>
          </a:prstGeom>
          <a:solidFill>
            <a:srgbClr val="E87A1E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050" b="1" i="0">
                <a:solidFill>
                  <a:srgbClr val="FFFFFF"/>
                </a:solidFill>
                <a:latin typeface="Calibri"/>
              </a:rPr>
              <a:t>7</a:t>
            </a:r>
          </a:p>
        </p:txBody>
      </p:sp>
      <p:cxnSp>
        <p:nvCxnSpPr>
          <p:cNvPr id="34" name="Connector 33"/>
          <p:cNvCxnSpPr/>
          <p:nvPr/>
        </p:nvCxnSpPr>
        <p:spPr>
          <a:xfrm flipH="1">
            <a:off x="7955279" y="3794760"/>
            <a:ext cx="777241" cy="521208"/>
          </a:xfrm>
          <a:prstGeom prst="line">
            <a:avLst/>
          </a:prstGeom>
          <a:ln w="25400">
            <a:solidFill>
              <a:srgbClr val="3D6E70"/>
            </a:solidFill>
            <a:tailEnd type="triangle" w="med" len="med"/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Oval 34"/>
          <p:cNvSpPr/>
          <p:nvPr/>
        </p:nvSpPr>
        <p:spPr>
          <a:xfrm>
            <a:off x="8119872" y="3941064"/>
            <a:ext cx="310896" cy="310896"/>
          </a:xfrm>
          <a:prstGeom prst="ellipse">
            <a:avLst/>
          </a:prstGeom>
          <a:solidFill>
            <a:srgbClr val="E87A1E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050" b="1" i="0">
                <a:solidFill>
                  <a:srgbClr val="FFFFFF"/>
                </a:solidFill>
                <a:latin typeface="Calibri"/>
              </a:rPr>
              <a:t>8a</a:t>
            </a:r>
          </a:p>
        </p:txBody>
      </p:sp>
      <p:cxnSp>
        <p:nvCxnSpPr>
          <p:cNvPr id="36" name="Connector 35"/>
          <p:cNvCxnSpPr/>
          <p:nvPr/>
        </p:nvCxnSpPr>
        <p:spPr>
          <a:xfrm flipH="1">
            <a:off x="2926080" y="4636008"/>
            <a:ext cx="2697480" cy="155448"/>
          </a:xfrm>
          <a:prstGeom prst="line">
            <a:avLst/>
          </a:prstGeom>
          <a:ln w="25400">
            <a:solidFill>
              <a:srgbClr val="6B6B6B"/>
            </a:solidFill>
            <a:tailEnd type="triangle" w="med" len="med"/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Oval 36"/>
          <p:cNvSpPr/>
          <p:nvPr/>
        </p:nvSpPr>
        <p:spPr>
          <a:xfrm>
            <a:off x="4096512" y="4558284"/>
            <a:ext cx="310896" cy="310896"/>
          </a:xfrm>
          <a:prstGeom prst="ellipse">
            <a:avLst/>
          </a:prstGeom>
          <a:solidFill>
            <a:srgbClr val="E87A1E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050" b="1" i="0">
                <a:solidFill>
                  <a:srgbClr val="FFFFFF"/>
                </a:solidFill>
                <a:latin typeface="Calibri"/>
              </a:rPr>
              <a:t>8b</a:t>
            </a:r>
          </a:p>
        </p:txBody>
      </p:sp>
      <p:cxnSp>
        <p:nvCxnSpPr>
          <p:cNvPr id="38" name="Connector 37"/>
          <p:cNvCxnSpPr/>
          <p:nvPr/>
        </p:nvCxnSpPr>
        <p:spPr>
          <a:xfrm flipV="1">
            <a:off x="2651760" y="3931920"/>
            <a:ext cx="0" cy="411480"/>
          </a:xfrm>
          <a:prstGeom prst="line">
            <a:avLst/>
          </a:prstGeom>
          <a:ln w="25400">
            <a:solidFill>
              <a:srgbClr val="6B6B6B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Oval 38"/>
          <p:cNvSpPr/>
          <p:nvPr/>
        </p:nvSpPr>
        <p:spPr>
          <a:xfrm>
            <a:off x="2532888" y="4014215"/>
            <a:ext cx="237744" cy="237744"/>
          </a:xfrm>
          <a:prstGeom prst="ellipse">
            <a:avLst/>
          </a:prstGeom>
          <a:solidFill>
            <a:srgbClr val="E87A1E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050" b="1" i="0">
                <a:solidFill>
                  <a:srgbClr val="FFFFFF"/>
                </a:solidFill>
                <a:latin typeface="Calibri"/>
              </a:rPr>
              <a:t>9</a:t>
            </a:r>
          </a:p>
        </p:txBody>
      </p:sp>
      <p:cxnSp>
        <p:nvCxnSpPr>
          <p:cNvPr id="40" name="Connector 39"/>
          <p:cNvCxnSpPr/>
          <p:nvPr/>
        </p:nvCxnSpPr>
        <p:spPr>
          <a:xfrm>
            <a:off x="1005840" y="3931920"/>
            <a:ext cx="0" cy="411480"/>
          </a:xfrm>
          <a:prstGeom prst="line">
            <a:avLst/>
          </a:prstGeom>
          <a:ln w="25400">
            <a:solidFill>
              <a:srgbClr val="E87A1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1" name="Oval 40"/>
          <p:cNvSpPr/>
          <p:nvPr/>
        </p:nvSpPr>
        <p:spPr>
          <a:xfrm>
            <a:off x="649224" y="3977639"/>
            <a:ext cx="310896" cy="310896"/>
          </a:xfrm>
          <a:prstGeom prst="ellipse">
            <a:avLst/>
          </a:prstGeom>
          <a:solidFill>
            <a:srgbClr val="E87A1E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050" b="1" i="0">
                <a:solidFill>
                  <a:srgbClr val="FFFFFF"/>
                </a:solidFill>
                <a:latin typeface="Calibri"/>
              </a:rPr>
              <a:t>10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365760" y="5303520"/>
            <a:ext cx="11430000" cy="1234440"/>
          </a:xfrm>
          <a:prstGeom prst="roundRect">
            <a:avLst/>
          </a:prstGeom>
          <a:solidFill>
            <a:srgbClr val="F4F6F8"/>
          </a:solidFill>
          <a:ln>
            <a:solidFill>
              <a:srgbClr val="C7CE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548640" y="5376672"/>
            <a:ext cx="5486400" cy="11155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050" b="0" i="0">
                <a:solidFill>
                  <a:srgbClr val="1F2A37"/>
                </a:solidFill>
                <a:latin typeface="Calibri"/>
              </a:rPr>
              <a:t>1  Client logs in to Keycloak (ROPC) → caller JWT</a:t>
            </a:r>
          </a:p>
          <a:p>
            <a:pPr>
              <a:spcAft>
                <a:spcPts val="0"/>
              </a:spcAft>
            </a:pPr>
            <a:r>
              <a:rPr sz="1050" b="0" i="0">
                <a:solidFill>
                  <a:srgbClr val="1F2A37"/>
                </a:solidFill>
                <a:latin typeface="Calibri"/>
              </a:rPr>
              <a:t>2  Client → Service:  Authorization: Bearer &lt;caller JWT&gt;</a:t>
            </a:r>
          </a:p>
          <a:p>
            <a:pPr>
              <a:spcAft>
                <a:spcPts val="0"/>
              </a:spcAft>
            </a:pPr>
            <a:r>
              <a:rPr sz="1050" b="0" i="0">
                <a:solidFill>
                  <a:srgbClr val="1F2A37"/>
                </a:solidFill>
                <a:latin typeface="Calibri"/>
              </a:rPr>
              <a:t>3  Service validates JWT (JWKS) + mints its own</a:t>
            </a:r>
          </a:p>
          <a:p>
            <a:pPr>
              <a:spcAft>
                <a:spcPts val="0"/>
              </a:spcAft>
            </a:pPr>
            <a:r>
              <a:rPr sz="1050" b="0" i="0">
                <a:solidFill>
                  <a:srgbClr val="1F2A37"/>
                </a:solidFill>
                <a:latin typeface="Calibri"/>
              </a:rPr>
              <a:t>      benchmarker token (ROPC, via backchannel)</a:t>
            </a:r>
          </a:p>
          <a:p>
            <a:pPr>
              <a:spcAft>
                <a:spcPts val="0"/>
              </a:spcAft>
            </a:pPr>
            <a:r>
              <a:rPr sz="1050" b="0" i="0">
                <a:solidFill>
                  <a:srgbClr val="1F2A37"/>
                </a:solidFill>
                <a:latin typeface="Calibri"/>
              </a:rPr>
              <a:t>4  Service → Rossoctl: deploy / list agents + tools</a:t>
            </a:r>
          </a:p>
          <a:p>
            <a:pPr>
              <a:spcAft>
                <a:spcPts val="0"/>
              </a:spcAft>
            </a:pPr>
            <a:r>
              <a:rPr sz="1050" b="0" i="0">
                <a:solidFill>
                  <a:srgbClr val="1F2A37"/>
                </a:solidFill>
                <a:latin typeface="Calibri"/>
              </a:rPr>
              <a:t>5  Rossoctl creates the MCP tool + A2A agent in-cluster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126480" y="5376672"/>
            <a:ext cx="5486400" cy="11155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050" b="0" i="0">
                <a:solidFill>
                  <a:srgbClr val="1F2A37"/>
                </a:solidFill>
                <a:latin typeface="Calibri"/>
              </a:rPr>
              <a:t>6  Service drives the MCP session + the A2A call itself;</a:t>
            </a:r>
          </a:p>
          <a:p>
            <a:pPr>
              <a:spcAft>
                <a:spcPts val="0"/>
              </a:spcAft>
            </a:pPr>
            <a:r>
              <a:rPr sz="1050" b="0" i="0">
                <a:solidFill>
                  <a:srgbClr val="1F2A37"/>
                </a:solidFill>
                <a:latin typeface="Calibri"/>
              </a:rPr>
              <a:t>      the agent only issues execute_tool inside that session</a:t>
            </a:r>
          </a:p>
          <a:p>
            <a:pPr>
              <a:spcAft>
                <a:spcPts val="0"/>
              </a:spcAft>
            </a:pPr>
            <a:r>
              <a:rPr sz="1050" b="0" i="0">
                <a:solidFill>
                  <a:srgbClr val="1F2A37"/>
                </a:solidFill>
                <a:latin typeface="Calibri"/>
              </a:rPr>
              <a:t>7  Service emits the Agent.Session trace → MLflow (first)</a:t>
            </a:r>
          </a:p>
          <a:p>
            <a:pPr>
              <a:spcAft>
                <a:spcPts val="0"/>
              </a:spcAft>
            </a:pPr>
            <a:r>
              <a:rPr sz="1050" b="0" i="0">
                <a:solidFill>
                  <a:srgbClr val="1F2A37"/>
                </a:solidFill>
                <a:latin typeface="Calibri"/>
              </a:rPr>
              <a:t>8a A2A agent → OTEL collector   ·   8b collector → MLflow</a:t>
            </a:r>
          </a:p>
          <a:p>
            <a:pPr>
              <a:spcAft>
                <a:spcPts val="0"/>
              </a:spcAft>
            </a:pPr>
            <a:r>
              <a:rPr sz="1050" b="0" i="0">
                <a:solidFill>
                  <a:srgbClr val="1F2A37"/>
                </a:solidFill>
                <a:latin typeface="Calibri"/>
              </a:rPr>
              <a:t>      (optional workload spans — off by default)</a:t>
            </a:r>
          </a:p>
          <a:p>
            <a:pPr>
              <a:spcAft>
                <a:spcPts val="0"/>
              </a:spcAft>
            </a:pPr>
            <a:r>
              <a:rPr sz="1050" b="0" i="0">
                <a:solidFill>
                  <a:srgbClr val="1F2A37"/>
                </a:solidFill>
                <a:latin typeface="Calibri"/>
              </a:rPr>
              <a:t>9  Service reads back Agent.Session traces (MLflow)</a:t>
            </a:r>
          </a:p>
          <a:p>
            <a:pPr>
              <a:spcAft>
                <a:spcPts val="0"/>
              </a:spcAft>
            </a:pPr>
            <a:r>
              <a:rPr sz="1050" b="0" i="0">
                <a:solidFill>
                  <a:srgbClr val="1F2A37"/>
                </a:solidFill>
                <a:latin typeface="Calibri"/>
              </a:rPr>
              <a:t>10  Service exports run.json / report.* (S3)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1795760" y="6437376"/>
            <a:ext cx="320040" cy="31089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spcAft>
                <a:spcPts val="300"/>
              </a:spcAft>
            </a:pPr>
            <a:r>
              <a:rPr sz="1200" b="0" i="0">
                <a:solidFill>
                  <a:srgbClr val="6B6B6B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950000"/>
          </a:xfrm>
          <a:prstGeom prst="rect">
            <a:avLst/>
          </a:prstGeom>
          <a:solidFill>
            <a:srgbClr val="1B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55600"/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4.  Architecture with Workload Specific Components</a:t>
            </a:r>
          </a:p>
          <a:p>
            <a:r>
              <a:rPr sz="1400" b="0" i="0">
                <a:solidFill>
                  <a:srgbClr val="C9D9EC"/>
                </a:solidFill>
                <a:latin typeface="Calibri"/>
              </a:rPr>
              <a:t>Inside the Benchmark Workload — what every benchmark has, and what only some of them add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411480" y="1097280"/>
            <a:ext cx="11338560" cy="548640"/>
          </a:xfrm>
          <a:prstGeom prst="roundRect">
            <a:avLst/>
          </a:prstGeom>
          <a:solidFill>
            <a:srgbClr val="6B6B6B"/>
          </a:solidFill>
          <a:ln w="12700">
            <a:solidFill>
              <a:srgbClr val="6B6B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250" b="1" i="0">
                <a:solidFill>
                  <a:srgbClr val="FFFFFF"/>
                </a:solidFill>
                <a:latin typeface="Calibri"/>
              </a:rPr>
              <a:t>LLM gateway (per instance)   ·   ete-litellm   ·   external for OCP / internal vpc-int for KinD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11480" y="2148840"/>
            <a:ext cx="1920240" cy="685800"/>
          </a:xfrm>
          <a:prstGeom prst="roundRect">
            <a:avLst/>
          </a:prstGeom>
          <a:solidFill>
            <a:srgbClr val="B55A2E"/>
          </a:solidFill>
          <a:ln w="22225">
            <a:solidFill>
              <a:srgbClr val="FFFFFF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150" b="1" i="0">
                <a:solidFill>
                  <a:srgbClr val="FFFFFF"/>
                </a:solidFill>
                <a:latin typeface="Calibri"/>
              </a:rPr>
              <a:t>IBAC judge</a:t>
            </a:r>
          </a:p>
          <a:p>
            <a:pPr algn="ctr"/>
            <a:r>
              <a:rPr sz="850" b="0" i="0">
                <a:solidFill>
                  <a:srgbClr val="FBEEE4"/>
                </a:solidFill>
                <a:latin typeface="Calibri"/>
              </a:rPr>
              <a:t>an LLM call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11480" y="3063240"/>
            <a:ext cx="1920240" cy="777240"/>
          </a:xfrm>
          <a:prstGeom prst="roundRect">
            <a:avLst/>
          </a:prstGeom>
          <a:solidFill>
            <a:srgbClr val="2E6FB5"/>
          </a:solidFill>
          <a:ln w="12700">
            <a:solidFill>
              <a:srgbClr val="2E6F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AutoBench Service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487168" y="1783080"/>
            <a:ext cx="9262872" cy="3017520"/>
          </a:xfrm>
          <a:prstGeom prst="roundRect">
            <a:avLst/>
          </a:prstGeom>
          <a:solidFill>
            <a:srgbClr val="FBFCFD"/>
          </a:solidFill>
          <a:ln w="19050">
            <a:solidFill>
              <a:srgbClr val="1B3A5C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651760" y="4553712"/>
            <a:ext cx="886968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 i="0">
                <a:solidFill>
                  <a:srgbClr val="1B3A5C"/>
                </a:solidFill>
                <a:latin typeface="Calibri"/>
              </a:rPr>
              <a:t>Benchmark Workload — one per benchmark, namespace team1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743200" y="2103120"/>
            <a:ext cx="4160520" cy="2194560"/>
          </a:xfrm>
          <a:prstGeom prst="roundRect">
            <a:avLst/>
          </a:prstGeom>
          <a:solidFill>
            <a:srgbClr val="E4F0F0"/>
          </a:solidFill>
          <a:ln w="15875">
            <a:solidFill>
              <a:srgbClr val="3D6E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852928" y="2121408"/>
            <a:ext cx="3931920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 i="0">
                <a:solidFill>
                  <a:srgbClr val="3D6E70"/>
                </a:solidFill>
                <a:latin typeface="Calibri"/>
              </a:rPr>
              <a:t>A2A agent pod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852928" y="2359152"/>
            <a:ext cx="3941063" cy="731520"/>
          </a:xfrm>
          <a:prstGeom prst="roundRect">
            <a:avLst/>
          </a:prstGeom>
          <a:solidFill>
            <a:srgbClr val="3D6E70"/>
          </a:solidFill>
          <a:ln w="12700">
            <a:solidFill>
              <a:srgbClr val="3D6E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agent container</a:t>
            </a:r>
          </a:p>
          <a:p>
            <a:pPr algn="ctr"/>
            <a:r>
              <a:rPr sz="900" b="0" i="0">
                <a:solidFill>
                  <a:srgbClr val="E4F0F0"/>
                </a:solidFill>
                <a:latin typeface="Calibri"/>
              </a:rPr>
              <a:t>exgentic-a2a-tool_calling-&lt;b&gt;  ·  the LLM loop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852928" y="3383280"/>
            <a:ext cx="3941063" cy="731520"/>
          </a:xfrm>
          <a:prstGeom prst="roundRect">
            <a:avLst/>
          </a:prstGeom>
          <a:solidFill>
            <a:srgbClr val="8E44AD"/>
          </a:solidFill>
          <a:ln w="22225">
            <a:solidFill>
              <a:srgbClr val="FFFFFF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AuthBridge sidecar</a:t>
            </a:r>
          </a:p>
          <a:p>
            <a:pPr algn="ctr"/>
            <a:r>
              <a:rPr sz="900" b="0" i="0">
                <a:solidFill>
                  <a:srgbClr val="F1E8F6"/>
                </a:solidFill>
                <a:latin typeface="Calibri"/>
              </a:rPr>
              <a:t>proxy  ·  only with --plugin-preset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498079" y="2103120"/>
            <a:ext cx="4114800" cy="2194560"/>
          </a:xfrm>
          <a:prstGeom prst="roundRect">
            <a:avLst/>
          </a:prstGeom>
          <a:solidFill>
            <a:srgbClr val="E4F0F0"/>
          </a:solidFill>
          <a:ln w="15875">
            <a:solidFill>
              <a:srgbClr val="3D6E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607808" y="2121408"/>
            <a:ext cx="3840480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 i="0">
                <a:solidFill>
                  <a:srgbClr val="3D6E70"/>
                </a:solidFill>
                <a:latin typeface="Calibri"/>
              </a:rPr>
              <a:t>MCP tool pod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607808" y="2359152"/>
            <a:ext cx="3895344" cy="731520"/>
          </a:xfrm>
          <a:prstGeom prst="roundRect">
            <a:avLst/>
          </a:prstGeom>
          <a:solidFill>
            <a:srgbClr val="3D6E70"/>
          </a:solidFill>
          <a:ln w="22225">
            <a:solidFill>
              <a:srgbClr val="FFFFFF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user simulator LLM</a:t>
            </a:r>
          </a:p>
          <a:p>
            <a:pPr algn="ctr"/>
            <a:r>
              <a:rPr sz="900" b="0" i="0">
                <a:solidFill>
                  <a:srgbClr val="E4F0F0"/>
                </a:solidFill>
                <a:latin typeface="Calibri"/>
              </a:rPr>
              <a:t>tau2 only  ·  plays the customer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607808" y="3383280"/>
            <a:ext cx="3895344" cy="731520"/>
          </a:xfrm>
          <a:prstGeom prst="roundRect">
            <a:avLst/>
          </a:prstGeom>
          <a:solidFill>
            <a:srgbClr val="3D6E70"/>
          </a:solidFill>
          <a:ln w="12700">
            <a:solidFill>
              <a:srgbClr val="3D6E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MCP server</a:t>
            </a:r>
          </a:p>
          <a:p>
            <a:pPr algn="ctr"/>
            <a:r>
              <a:rPr sz="900" b="0" i="0">
                <a:solidFill>
                  <a:srgbClr val="E4F0F0"/>
                </a:solidFill>
                <a:latin typeface="Calibri"/>
              </a:rPr>
              <a:t>exgentic-mcp-&lt;benchmark&gt;  ·  tasks + evaluation</a:t>
            </a:r>
          </a:p>
        </p:txBody>
      </p:sp>
      <p:cxnSp>
        <p:nvCxnSpPr>
          <p:cNvPr id="16" name="Connector 15"/>
          <p:cNvCxnSpPr/>
          <p:nvPr/>
        </p:nvCxnSpPr>
        <p:spPr>
          <a:xfrm flipV="1">
            <a:off x="2331720" y="2852928"/>
            <a:ext cx="521208" cy="274320"/>
          </a:xfrm>
          <a:prstGeom prst="line">
            <a:avLst/>
          </a:prstGeom>
          <a:ln w="25400">
            <a:solidFill>
              <a:srgbClr val="2E6FB5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Oval 16"/>
          <p:cNvSpPr/>
          <p:nvPr/>
        </p:nvSpPr>
        <p:spPr>
          <a:xfrm>
            <a:off x="2478024" y="2871216"/>
            <a:ext cx="237744" cy="237744"/>
          </a:xfrm>
          <a:prstGeom prst="ellipse">
            <a:avLst/>
          </a:prstGeom>
          <a:solidFill>
            <a:srgbClr val="E87A1E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05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2414016" y="3840480"/>
            <a:ext cx="0" cy="566928"/>
          </a:xfrm>
          <a:prstGeom prst="line">
            <a:avLst/>
          </a:prstGeom>
          <a:ln w="25400">
            <a:solidFill>
              <a:srgbClr val="2E6FB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2414016" y="4407408"/>
            <a:ext cx="5907024" cy="0"/>
          </a:xfrm>
          <a:prstGeom prst="line">
            <a:avLst/>
          </a:prstGeom>
          <a:ln w="25400">
            <a:solidFill>
              <a:srgbClr val="2E6FB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 flipV="1">
            <a:off x="8321040" y="4114800"/>
            <a:ext cx="0" cy="292608"/>
          </a:xfrm>
          <a:prstGeom prst="line">
            <a:avLst/>
          </a:prstGeom>
          <a:ln w="25400">
            <a:solidFill>
              <a:srgbClr val="2E6FB5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Oval 20"/>
          <p:cNvSpPr/>
          <p:nvPr/>
        </p:nvSpPr>
        <p:spPr>
          <a:xfrm>
            <a:off x="5367528" y="4288536"/>
            <a:ext cx="237744" cy="237744"/>
          </a:xfrm>
          <a:prstGeom prst="ellipse">
            <a:avLst/>
          </a:prstGeom>
          <a:solidFill>
            <a:srgbClr val="E87A1E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05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cxnSp>
        <p:nvCxnSpPr>
          <p:cNvPr id="22" name="Connector 21"/>
          <p:cNvCxnSpPr/>
          <p:nvPr/>
        </p:nvCxnSpPr>
        <p:spPr>
          <a:xfrm flipV="1">
            <a:off x="4800600" y="1645920"/>
            <a:ext cx="0" cy="713232"/>
          </a:xfrm>
          <a:prstGeom prst="line">
            <a:avLst/>
          </a:prstGeom>
          <a:ln w="25400">
            <a:solidFill>
              <a:srgbClr val="E87A1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Oval 22"/>
          <p:cNvSpPr/>
          <p:nvPr/>
        </p:nvSpPr>
        <p:spPr>
          <a:xfrm>
            <a:off x="4681728" y="1828800"/>
            <a:ext cx="237744" cy="237744"/>
          </a:xfrm>
          <a:prstGeom prst="ellipse">
            <a:avLst/>
          </a:prstGeom>
          <a:solidFill>
            <a:srgbClr val="E87A1E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05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cxnSp>
        <p:nvCxnSpPr>
          <p:cNvPr id="24" name="Connector 23"/>
          <p:cNvCxnSpPr/>
          <p:nvPr/>
        </p:nvCxnSpPr>
        <p:spPr>
          <a:xfrm flipV="1">
            <a:off x="9555480" y="1645920"/>
            <a:ext cx="0" cy="713232"/>
          </a:xfrm>
          <a:prstGeom prst="line">
            <a:avLst/>
          </a:prstGeom>
          <a:ln w="25400">
            <a:solidFill>
              <a:srgbClr val="E87A1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Oval 24"/>
          <p:cNvSpPr/>
          <p:nvPr/>
        </p:nvSpPr>
        <p:spPr>
          <a:xfrm>
            <a:off x="9436608" y="1828800"/>
            <a:ext cx="237744" cy="237744"/>
          </a:xfrm>
          <a:prstGeom prst="ellipse">
            <a:avLst/>
          </a:prstGeom>
          <a:solidFill>
            <a:srgbClr val="E87A1E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05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4800600" y="3090672"/>
            <a:ext cx="0" cy="292608"/>
          </a:xfrm>
          <a:prstGeom prst="line">
            <a:avLst/>
          </a:prstGeom>
          <a:ln w="25400">
            <a:solidFill>
              <a:srgbClr val="8E44AD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Oval 26"/>
          <p:cNvSpPr/>
          <p:nvPr/>
        </p:nvSpPr>
        <p:spPr>
          <a:xfrm>
            <a:off x="5020056" y="3118104"/>
            <a:ext cx="237744" cy="237744"/>
          </a:xfrm>
          <a:prstGeom prst="ellipse">
            <a:avLst/>
          </a:prstGeom>
          <a:solidFill>
            <a:srgbClr val="E87A1E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05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6793992" y="3749039"/>
            <a:ext cx="813816" cy="0"/>
          </a:xfrm>
          <a:prstGeom prst="line">
            <a:avLst/>
          </a:prstGeom>
          <a:ln w="25400">
            <a:solidFill>
              <a:srgbClr val="8E44AD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Oval 28"/>
          <p:cNvSpPr/>
          <p:nvPr/>
        </p:nvSpPr>
        <p:spPr>
          <a:xfrm>
            <a:off x="7086600" y="3630167"/>
            <a:ext cx="237744" cy="237744"/>
          </a:xfrm>
          <a:prstGeom prst="ellipse">
            <a:avLst/>
          </a:prstGeom>
          <a:solidFill>
            <a:srgbClr val="E87A1E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050" b="1" i="0">
                <a:solidFill>
                  <a:srgbClr val="FFFFFF"/>
                </a:solidFill>
                <a:latin typeface="Calibri"/>
              </a:rPr>
              <a:t>6</a:t>
            </a:r>
          </a:p>
        </p:txBody>
      </p:sp>
      <p:cxnSp>
        <p:nvCxnSpPr>
          <p:cNvPr id="30" name="Connector 29"/>
          <p:cNvCxnSpPr/>
          <p:nvPr/>
        </p:nvCxnSpPr>
        <p:spPr>
          <a:xfrm flipH="1" flipV="1">
            <a:off x="2331720" y="2697480"/>
            <a:ext cx="521208" cy="914400"/>
          </a:xfrm>
          <a:prstGeom prst="line">
            <a:avLst/>
          </a:prstGeom>
          <a:ln w="25400">
            <a:solidFill>
              <a:srgbClr val="B55A2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Oval 30"/>
          <p:cNvSpPr/>
          <p:nvPr/>
        </p:nvSpPr>
        <p:spPr>
          <a:xfrm>
            <a:off x="2578608" y="3200400"/>
            <a:ext cx="237744" cy="237744"/>
          </a:xfrm>
          <a:prstGeom prst="ellipse">
            <a:avLst/>
          </a:prstGeom>
          <a:solidFill>
            <a:srgbClr val="E87A1E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050" b="1" i="0">
                <a:solidFill>
                  <a:srgbClr val="FFFFFF"/>
                </a:solidFill>
                <a:latin typeface="Calibri"/>
              </a:rPr>
              <a:t>7</a:t>
            </a:r>
          </a:p>
        </p:txBody>
      </p:sp>
      <p:cxnSp>
        <p:nvCxnSpPr>
          <p:cNvPr id="32" name="Connector 31"/>
          <p:cNvCxnSpPr/>
          <p:nvPr/>
        </p:nvCxnSpPr>
        <p:spPr>
          <a:xfrm flipV="1">
            <a:off x="1371600" y="1645920"/>
            <a:ext cx="0" cy="502920"/>
          </a:xfrm>
          <a:prstGeom prst="line">
            <a:avLst/>
          </a:prstGeom>
          <a:ln w="25400">
            <a:solidFill>
              <a:srgbClr val="B55A2E"/>
            </a:solidFill>
            <a:tailEnd type="triangle" w="med" len="med"/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Oval 32"/>
          <p:cNvSpPr/>
          <p:nvPr/>
        </p:nvSpPr>
        <p:spPr>
          <a:xfrm>
            <a:off x="1252728" y="1783080"/>
            <a:ext cx="237744" cy="237744"/>
          </a:xfrm>
          <a:prstGeom prst="ellipse">
            <a:avLst/>
          </a:prstGeom>
          <a:solidFill>
            <a:srgbClr val="E87A1E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050" b="1" i="0">
                <a:solidFill>
                  <a:srgbClr val="FFFFFF"/>
                </a:solidFill>
                <a:latin typeface="Calibri"/>
              </a:rPr>
              <a:t>8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411480" y="4937760"/>
            <a:ext cx="6720840" cy="1719072"/>
          </a:xfrm>
          <a:prstGeom prst="roundRect">
            <a:avLst/>
          </a:prstGeom>
          <a:solidFill>
            <a:srgbClr val="F4F6F8"/>
          </a:solidFill>
          <a:ln>
            <a:solidFill>
              <a:srgbClr val="C7CE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66928" y="4992624"/>
            <a:ext cx="64008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150" b="1" i="0">
                <a:solidFill>
                  <a:srgbClr val="1B3A5C"/>
                </a:solidFill>
                <a:latin typeface="Calibri"/>
              </a:rPr>
              <a:t>Which components a benchmark actually gets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66928" y="5303520"/>
            <a:ext cx="105156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 i="0">
                <a:solidFill>
                  <a:srgbClr val="1B3A5C"/>
                </a:solidFill>
                <a:latin typeface="Calibri"/>
              </a:rPr>
              <a:t>benchmark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645920" y="5303520"/>
            <a:ext cx="22860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 i="0">
                <a:solidFill>
                  <a:srgbClr val="1B3A5C"/>
                </a:solidFill>
                <a:latin typeface="Calibri"/>
              </a:rPr>
              <a:t>MCP tool image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977639" y="5303520"/>
            <a:ext cx="196596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 i="0">
                <a:solidFill>
                  <a:srgbClr val="1B3A5C"/>
                </a:solidFill>
                <a:latin typeface="Calibri"/>
              </a:rPr>
              <a:t>LLMs per task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989320" y="5303520"/>
            <a:ext cx="105156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 i="0">
                <a:solidFill>
                  <a:srgbClr val="1B3A5C"/>
                </a:solidFill>
                <a:latin typeface="Calibri"/>
              </a:rPr>
              <a:t>tool calls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66928" y="5550408"/>
            <a:ext cx="105156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 i="0">
                <a:solidFill>
                  <a:srgbClr val="1F2A37"/>
                </a:solidFill>
                <a:latin typeface="Calibri"/>
              </a:rPr>
              <a:t>gsm8k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645920" y="5550408"/>
            <a:ext cx="22860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 i="0">
                <a:solidFill>
                  <a:srgbClr val="1F2A37"/>
                </a:solidFill>
                <a:latin typeface="Calibri"/>
              </a:rPr>
              <a:t>exgentic-mcp-gsm8k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977639" y="5550408"/>
            <a:ext cx="196596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 i="0">
                <a:solidFill>
                  <a:srgbClr val="1F2A37"/>
                </a:solidFill>
                <a:latin typeface="Calibri"/>
              </a:rPr>
              <a:t>1  (agent)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989320" y="5550408"/>
            <a:ext cx="105156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 i="0">
                <a:solidFill>
                  <a:srgbClr val="1F2A37"/>
                </a:solidFill>
                <a:latin typeface="Calibri"/>
              </a:rPr>
              <a:t>~1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66928" y="5797296"/>
            <a:ext cx="105156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 i="0">
                <a:solidFill>
                  <a:srgbClr val="1F2A37"/>
                </a:solidFill>
                <a:latin typeface="Calibri"/>
              </a:rPr>
              <a:t>tau2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645920" y="5797296"/>
            <a:ext cx="22860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 i="0">
                <a:solidFill>
                  <a:srgbClr val="1F2A37"/>
                </a:solidFill>
                <a:latin typeface="Calibri"/>
              </a:rPr>
              <a:t>exgentic-mcp-tau2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3977639" y="5797296"/>
            <a:ext cx="196596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 i="0">
                <a:solidFill>
                  <a:srgbClr val="1F2A37"/>
                </a:solidFill>
                <a:latin typeface="Calibri"/>
              </a:rPr>
              <a:t>2  (+ user simulator)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5989320" y="5797296"/>
            <a:ext cx="105156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 i="0">
                <a:solidFill>
                  <a:srgbClr val="1F2A37"/>
                </a:solidFill>
                <a:latin typeface="Calibri"/>
              </a:rPr>
              <a:t>~11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66928" y="6044184"/>
            <a:ext cx="105156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 i="0">
                <a:solidFill>
                  <a:srgbClr val="1F2A37"/>
                </a:solidFill>
                <a:latin typeface="Calibri"/>
              </a:rPr>
              <a:t>appworld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645920" y="6044184"/>
            <a:ext cx="22860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 i="0">
                <a:solidFill>
                  <a:srgbClr val="1F2A37"/>
                </a:solidFill>
                <a:latin typeface="Calibri"/>
              </a:rPr>
              <a:t>exgentic-mcp-appworld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3977639" y="6044184"/>
            <a:ext cx="196596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 i="0">
                <a:solidFill>
                  <a:srgbClr val="1F2A37"/>
                </a:solidFill>
                <a:latin typeface="Calibri"/>
              </a:rPr>
              <a:t>1  (agent)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5989320" y="6044184"/>
            <a:ext cx="105156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 i="0">
                <a:solidFill>
                  <a:srgbClr val="1F2A37"/>
                </a:solidFill>
                <a:latin typeface="Calibri"/>
              </a:rPr>
              <a:t>~13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566928" y="6291072"/>
            <a:ext cx="105156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 i="0">
                <a:solidFill>
                  <a:srgbClr val="1F2A37"/>
                </a:solidFill>
                <a:latin typeface="Calibri"/>
              </a:rPr>
              <a:t>+ any preset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645920" y="6291072"/>
            <a:ext cx="22860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 i="0">
                <a:solidFill>
                  <a:srgbClr val="1F2A37"/>
                </a:solidFill>
                <a:latin typeface="Calibri"/>
              </a:rPr>
              <a:t>unchanged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3977639" y="6291072"/>
            <a:ext cx="196596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 i="0">
                <a:solidFill>
                  <a:srgbClr val="1F2A37"/>
                </a:solidFill>
                <a:latin typeface="Calibri"/>
              </a:rPr>
              <a:t>+1 IBAC judge call per action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5989320" y="6291072"/>
            <a:ext cx="105156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 i="0">
                <a:solidFill>
                  <a:srgbClr val="1F2A37"/>
                </a:solidFill>
                <a:latin typeface="Calibri"/>
              </a:rPr>
              <a:t>—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7360920" y="4937760"/>
            <a:ext cx="4389120" cy="1719072"/>
          </a:xfrm>
          <a:prstGeom prst="roundRect">
            <a:avLst/>
          </a:prstGeom>
          <a:solidFill>
            <a:srgbClr val="F4F6F8"/>
          </a:solidFill>
          <a:ln>
            <a:solidFill>
              <a:srgbClr val="C7CE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7516368" y="4992624"/>
            <a:ext cx="41148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950" b="0" i="0">
                <a:solidFill>
                  <a:srgbClr val="1F2A37"/>
                </a:solidFill>
                <a:latin typeface="Calibri"/>
              </a:rPr>
              <a:t>1  Service → agent:  send_prompt, once per task</a:t>
            </a:r>
          </a:p>
          <a:p>
            <a:pPr>
              <a:spcAft>
                <a:spcPts val="0"/>
              </a:spcAft>
            </a:pPr>
            <a:r>
              <a:rPr sz="950" b="0" i="0">
                <a:solidFill>
                  <a:srgbClr val="1F2A37"/>
                </a:solidFill>
                <a:latin typeface="Calibri"/>
              </a:rPr>
              <a:t>2  Service → MCP server:  list_tasks, create_session,</a:t>
            </a:r>
          </a:p>
          <a:p>
            <a:pPr>
              <a:spcAft>
                <a:spcPts val="0"/>
              </a:spcAft>
            </a:pPr>
            <a:r>
              <a:rPr sz="950" b="0" i="0">
                <a:solidFill>
                  <a:srgbClr val="1F2A37"/>
                </a:solidFill>
                <a:latin typeface="Calibri"/>
              </a:rPr>
              <a:t>      evaluate_session, delete_session  (the verdict)</a:t>
            </a:r>
          </a:p>
          <a:p>
            <a:pPr>
              <a:spcAft>
                <a:spcPts val="0"/>
              </a:spcAft>
            </a:pPr>
            <a:r>
              <a:rPr sz="950" b="0" i="0">
                <a:solidFill>
                  <a:srgbClr val="1F2A37"/>
                </a:solidFill>
                <a:latin typeface="Calibri"/>
              </a:rPr>
              <a:t>3  agent → gateway:  1 probe + N real chat calls</a:t>
            </a:r>
          </a:p>
          <a:p>
            <a:pPr>
              <a:spcAft>
                <a:spcPts val="0"/>
              </a:spcAft>
            </a:pPr>
            <a:r>
              <a:rPr sz="950" b="0" i="0">
                <a:solidFill>
                  <a:srgbClr val="1F2A37"/>
                </a:solidFill>
                <a:latin typeface="Calibri"/>
              </a:rPr>
              <a:t>4  tau2 only:  the user simulator is a 2nd LLM</a:t>
            </a:r>
          </a:p>
          <a:p>
            <a:pPr>
              <a:spcAft>
                <a:spcPts val="0"/>
              </a:spcAft>
            </a:pPr>
            <a:r>
              <a:rPr sz="950" b="0" i="0">
                <a:solidFill>
                  <a:srgbClr val="1F2A37"/>
                </a:solidFill>
                <a:latin typeface="Calibri"/>
              </a:rPr>
              <a:t>5  with a preset:  the agent's MCP calls go via the sidecar</a:t>
            </a:r>
          </a:p>
          <a:p>
            <a:pPr>
              <a:spcAft>
                <a:spcPts val="0"/>
              </a:spcAft>
            </a:pPr>
            <a:r>
              <a:rPr sz="950" b="0" i="0">
                <a:solidFill>
                  <a:srgbClr val="1F2A37"/>
                </a:solidFill>
                <a:latin typeface="Calibri"/>
              </a:rPr>
              <a:t>6  sidecar → MCP server, once authorized</a:t>
            </a:r>
          </a:p>
          <a:p>
            <a:pPr>
              <a:spcAft>
                <a:spcPts val="0"/>
              </a:spcAft>
            </a:pPr>
            <a:r>
              <a:rPr sz="950" b="0" i="0">
                <a:solidFill>
                  <a:srgbClr val="1F2A37"/>
                </a:solidFill>
                <a:latin typeface="Calibri"/>
              </a:rPr>
              <a:t>7  sidecar → judge, per isAction call</a:t>
            </a:r>
          </a:p>
          <a:p>
            <a:pPr>
              <a:spcAft>
                <a:spcPts val="0"/>
              </a:spcAft>
            </a:pPr>
            <a:r>
              <a:rPr sz="950" b="0" i="0">
                <a:solidFill>
                  <a:srgbClr val="1F2A37"/>
                </a:solidFill>
                <a:latin typeface="Calibri"/>
              </a:rPr>
              <a:t>8  the judge is itself an LLM call</a:t>
            </a:r>
          </a:p>
          <a:p>
            <a:pPr>
              <a:spcAft>
                <a:spcPts val="0"/>
              </a:spcAft>
            </a:pPr>
            <a:r>
              <a:rPr sz="950" b="0" i="0">
                <a:solidFill>
                  <a:srgbClr val="1F2A37"/>
                </a:solidFill>
                <a:latin typeface="Calibri"/>
              </a:rPr>
              <a:t>Dashed outline = present only in some configurations.</a:t>
            </a:r>
          </a:p>
          <a:p>
            <a:pPr>
              <a:spcAft>
                <a:spcPts val="0"/>
              </a:spcAft>
            </a:pPr>
            <a:r>
              <a:rPr sz="950" b="0" i="0">
                <a:solidFill>
                  <a:srgbClr val="1F2A37"/>
                </a:solidFill>
                <a:latin typeface="Calibri"/>
              </a:rPr>
              <a:t>No preset: 5 + 6 become one direct agent → MCP call.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11795760" y="6437376"/>
            <a:ext cx="320040" cy="31089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spcAft>
                <a:spcPts val="300"/>
              </a:spcAft>
            </a:pPr>
            <a:r>
              <a:rPr sz="1200" b="0" i="0">
                <a:solidFill>
                  <a:srgbClr val="6B6B6B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950000"/>
          </a:xfrm>
          <a:prstGeom prst="rect">
            <a:avLst/>
          </a:prstGeom>
          <a:solidFill>
            <a:srgbClr val="1B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55600"/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5.  The Two-Token Auth Model</a:t>
            </a:r>
          </a:p>
          <a:p>
            <a:r>
              <a:rPr sz="1400" b="0" i="0">
                <a:solidFill>
                  <a:srgbClr val="C9D9EC"/>
                </a:solidFill>
                <a:latin typeface="Calibri"/>
              </a:rPr>
              <a:t>Why the caller's token is never forwarded upstream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280160"/>
            <a:ext cx="5394960" cy="457200"/>
          </a:xfrm>
          <a:prstGeom prst="rect">
            <a:avLst/>
          </a:prstGeom>
          <a:solidFill>
            <a:srgbClr val="5B8C5A"/>
          </a:solidFill>
          <a:ln w="12700">
            <a:solidFill>
              <a:srgbClr val="5B8C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500" b="1" i="0">
                <a:solidFill>
                  <a:srgbClr val="FFFFFF"/>
                </a:solidFill>
                <a:latin typeface="Calibri"/>
              </a:rPr>
              <a:t>Caller JWT  (inbound)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828800"/>
            <a:ext cx="5303520" cy="3291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350" b="0" i="0">
                <a:solidFill>
                  <a:srgbClr val="1F2A37"/>
                </a:solidFill>
                <a:latin typeface="Calibri"/>
              </a:rPr>
              <a:t>Presented by the client as Authorization: Bearer.</a:t>
            </a:r>
          </a:p>
          <a:p>
            <a:pPr algn="l" lvl="1">
              <a:spcAft>
                <a:spcPts val="300"/>
              </a:spcAft>
            </a:pPr>
            <a:r>
              <a:rPr sz="1300" b="0" i="0">
                <a:solidFill>
                  <a:srgbClr val="1F2A37"/>
                </a:solidFill>
                <a:latin typeface="Calibri"/>
              </a:rPr>
              <a:t>• Used ONLY to attribute (preferred_username) and route (iss → instance)</a:t>
            </a:r>
          </a:p>
          <a:p>
            <a:pPr algn="l" lvl="1">
              <a:spcAft>
                <a:spcPts val="300"/>
              </a:spcAft>
            </a:pPr>
            <a:r>
              <a:rPr sz="1300" b="0" i="0">
                <a:solidFill>
                  <a:srgbClr val="1F2A37"/>
                </a:solidFill>
                <a:latin typeface="Calibri"/>
              </a:rPr>
              <a:t>• Signature validated via the issuer's JWKS</a:t>
            </a:r>
          </a:p>
          <a:p>
            <a:pPr algn="l" lvl="1">
              <a:spcAft>
                <a:spcPts val="300"/>
              </a:spcAft>
            </a:pPr>
            <a:r>
              <a:rPr sz="1300" b="0" i="0">
                <a:solidFill>
                  <a:srgbClr val="1F2A37"/>
                </a:solidFill>
                <a:latin typeface="Calibri"/>
              </a:rPr>
              <a:t>• aud / exp deliberately lenient in the dev/ops context</a:t>
            </a:r>
          </a:p>
          <a:p>
            <a:pPr algn="l" lvl="1">
              <a:spcAft>
                <a:spcPts val="300"/>
              </a:spcAft>
            </a:pPr>
            <a:r>
              <a:rPr sz="1300" b="1" i="0">
                <a:solidFill>
                  <a:srgbClr val="B55A2E"/>
                </a:solidFill>
                <a:latin typeface="Calibri"/>
              </a:rPr>
              <a:t>• NEVER forwarded to Rossoctl</a:t>
            </a:r>
          </a:p>
          <a:p>
            <a:pPr algn="l">
              <a:spcAft>
                <a:spcPts val="300"/>
              </a:spcAft>
            </a:pPr>
            <a:r>
              <a:rPr sz="1350" b="1" i="0">
                <a:solidFill>
                  <a:srgbClr val="5B8C5A"/>
                </a:solidFill>
                <a:latin typeface="Calibri"/>
              </a:rPr>
              <a:t>benchmarker is special:</a:t>
            </a:r>
          </a:p>
          <a:p>
            <a:pPr algn="l" lvl="1">
              <a:spcAft>
                <a:spcPts val="300"/>
              </a:spcAft>
            </a:pPr>
            <a:r>
              <a:rPr sz="1300" b="0" i="0">
                <a:solidFill>
                  <a:srgbClr val="1F2A37"/>
                </a:solidFill>
                <a:latin typeface="Calibri"/>
              </a:rPr>
              <a:t>• A caller JWT with preferred_username == benchmarker authorizes config ops (GET/PUT /config)</a:t>
            </a:r>
          </a:p>
        </p:txBody>
      </p:sp>
      <p:sp>
        <p:nvSpPr>
          <p:cNvPr id="5" name="Rectangle 4"/>
          <p:cNvSpPr/>
          <p:nvPr/>
        </p:nvSpPr>
        <p:spPr>
          <a:xfrm>
            <a:off x="6309360" y="1280160"/>
            <a:ext cx="5394960" cy="457200"/>
          </a:xfrm>
          <a:prstGeom prst="rect">
            <a:avLst/>
          </a:prstGeom>
          <a:solidFill>
            <a:srgbClr val="2E6FB5"/>
          </a:solidFill>
          <a:ln w="12700">
            <a:solidFill>
              <a:srgbClr val="2E6F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500" b="1" i="0">
                <a:solidFill>
                  <a:srgbClr val="FFFFFF"/>
                </a:solidFill>
                <a:latin typeface="Calibri"/>
              </a:rPr>
              <a:t>Service token  (outbound)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1828800"/>
            <a:ext cx="5303520" cy="3291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350" b="0" i="0">
                <a:solidFill>
                  <a:srgbClr val="1F2A37"/>
                </a:solidFill>
                <a:latin typeface="Calibri"/>
              </a:rPr>
              <a:t>Minted by the Service per request via ROPC (password grant) using the instance's benchmarker credential.</a:t>
            </a:r>
          </a:p>
          <a:p>
            <a:pPr algn="l" lvl="1">
              <a:spcAft>
                <a:spcPts val="300"/>
              </a:spcAft>
            </a:pPr>
            <a:r>
              <a:rPr sz="1300" b="0" i="0">
                <a:solidFill>
                  <a:srgbClr val="1F2A37"/>
                </a:solidFill>
                <a:latin typeface="Calibri"/>
              </a:rPr>
              <a:t>• Always fresh → no expiry handling</a:t>
            </a:r>
          </a:p>
          <a:p>
            <a:pPr algn="l" lvl="1">
              <a:spcAft>
                <a:spcPts val="300"/>
              </a:spcAft>
            </a:pPr>
            <a:r>
              <a:rPr sz="1300" b="0" i="0">
                <a:solidFill>
                  <a:srgbClr val="1F2A37"/>
                </a:solidFill>
                <a:latin typeface="Calibri"/>
              </a:rPr>
              <a:t>• Presented to Rossoctl for all cluster-facing ops</a:t>
            </a:r>
          </a:p>
          <a:p>
            <a:pPr algn="l" lvl="1">
              <a:spcAft>
                <a:spcPts val="300"/>
              </a:spcAft>
            </a:pPr>
            <a:r>
              <a:rPr sz="1300" b="1" i="0">
                <a:solidFill>
                  <a:srgbClr val="2E6FB5"/>
                </a:solidFill>
                <a:latin typeface="Calibri"/>
              </a:rPr>
              <a:t>• The Service acts under its OWN identity, not the caller's</a:t>
            </a:r>
          </a:p>
          <a:p>
            <a:pPr algn="l">
              <a:spcAft>
                <a:spcPts val="300"/>
              </a:spcAft>
            </a:pPr>
            <a:r>
              <a:rPr sz="1350" b="1" i="0">
                <a:solidFill>
                  <a:srgbClr val="2E6FB5"/>
                </a:solidFill>
                <a:latin typeface="Calibri"/>
              </a:rPr>
              <a:t>Backchannel split (iss ≠ dialed host):</a:t>
            </a:r>
          </a:p>
          <a:p>
            <a:pPr algn="l" lvl="1">
              <a:spcAft>
                <a:spcPts val="300"/>
              </a:spcAft>
            </a:pPr>
            <a:r>
              <a:rPr sz="1300" b="0" i="0">
                <a:solidFill>
                  <a:srgbClr val="1F2A37"/>
                </a:solidFill>
                <a:latin typeface="Calibri"/>
              </a:rPr>
              <a:t>• When the iss host is unreachable (in-cluster kind), JWKS + token come from a configured backchannel URL; iss is matched, never dialed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463040" y="5212080"/>
            <a:ext cx="9235440" cy="1005840"/>
          </a:xfrm>
          <a:prstGeom prst="roundRect">
            <a:avLst/>
          </a:prstGeom>
          <a:solidFill>
            <a:srgbClr val="E8F1FB"/>
          </a:solidFill>
          <a:ln w="12700">
            <a:solidFill>
              <a:srgbClr val="2E6F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350" b="1" i="0">
                <a:solidFill>
                  <a:srgbClr val="1F2A37"/>
                </a:solidFill>
                <a:latin typeface="Calibri"/>
              </a:rPr>
              <a:t>Implication:  at the Rossoctl / cluster layer every action appears as the Service's identity — so per-user attribution &amp; audit live in the Service, keyed on (iss, preferred_username).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795760" y="6437376"/>
            <a:ext cx="320040" cy="31089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spcAft>
                <a:spcPts val="300"/>
              </a:spcAft>
            </a:pPr>
            <a:r>
              <a:rPr sz="1200" b="0" i="0">
                <a:solidFill>
                  <a:srgbClr val="6B6B6B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950000"/>
          </a:xfrm>
          <a:prstGeom prst="rect">
            <a:avLst/>
          </a:prstGeom>
          <a:solidFill>
            <a:srgbClr val="1B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55600"/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6.  Benchmark Catalog &amp; Run Lifecycle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43000"/>
            <a:ext cx="5257800" cy="457200"/>
          </a:xfrm>
          <a:prstGeom prst="rect">
            <a:avLst/>
          </a:prstGeom>
          <a:solidFill>
            <a:srgbClr val="1B3A5C"/>
          </a:solidFill>
          <a:ln w="12700">
            <a:solidFill>
              <a:srgbClr val="1B3A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500" b="1" i="0">
                <a:solidFill>
                  <a:srgbClr val="FFFFFF"/>
                </a:solidFill>
                <a:latin typeface="Calibri"/>
              </a:rPr>
              <a:t>Catalog (static registry)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11480" y="1783080"/>
            <a:ext cx="5257800" cy="914400"/>
          </a:xfrm>
          <a:prstGeom prst="roundRect">
            <a:avLst/>
          </a:prstGeom>
          <a:solidFill>
            <a:srgbClr val="E4F0F0"/>
          </a:solidFill>
          <a:ln w="12700">
            <a:solidFill>
              <a:srgbClr val="3D6E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 lIns="127000"/>
          <a:lstStyle/>
          <a:p>
            <a:pPr algn="l"/>
            <a:r>
              <a:rPr sz="1500" b="1" i="0">
                <a:solidFill>
                  <a:srgbClr val="3D6E70"/>
                </a:solidFill>
                <a:latin typeface="Calibri"/>
              </a:rPr>
              <a:t>gsm8k</a:t>
            </a:r>
          </a:p>
          <a:p>
            <a:pPr algn="l"/>
            <a:r>
              <a:rPr sz="1150" b="0" i="0">
                <a:solidFill>
                  <a:srgbClr val="1F2A37"/>
                </a:solidFill>
                <a:latin typeface="Calibri"/>
              </a:rPr>
              <a:t>single-turn · needs hf-secret + openai-secret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11480" y="2834640"/>
            <a:ext cx="5257800" cy="914400"/>
          </a:xfrm>
          <a:prstGeom prst="roundRect">
            <a:avLst/>
          </a:prstGeom>
          <a:solidFill>
            <a:srgbClr val="F1E8F6"/>
          </a:solidFill>
          <a:ln w="12700">
            <a:solidFill>
              <a:srgbClr val="8E44A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 lIns="127000"/>
          <a:lstStyle/>
          <a:p>
            <a:pPr algn="l"/>
            <a:r>
              <a:rPr sz="1500" b="1" i="0">
                <a:solidFill>
                  <a:srgbClr val="8E44AD"/>
                </a:solidFill>
                <a:latin typeface="Calibri"/>
              </a:rPr>
              <a:t>tau2</a:t>
            </a:r>
          </a:p>
          <a:p>
            <a:pPr algn="l"/>
            <a:r>
              <a:rPr sz="1150" b="0" i="0">
                <a:solidFill>
                  <a:srgbClr val="1F2A37"/>
                </a:solidFill>
                <a:latin typeface="Calibri"/>
              </a:rPr>
              <a:t>multi-turn · user-simulator LLM runs server-side in the MCP pod · raise timeout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11480" y="3886200"/>
            <a:ext cx="5257800" cy="914400"/>
          </a:xfrm>
          <a:prstGeom prst="roundRect">
            <a:avLst/>
          </a:prstGeom>
          <a:solidFill>
            <a:srgbClr val="FBEEE4"/>
          </a:solidFill>
          <a:ln w="12700">
            <a:solidFill>
              <a:srgbClr val="B55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 lIns="127000"/>
          <a:lstStyle/>
          <a:p>
            <a:pPr algn="l"/>
            <a:r>
              <a:rPr sz="1500" b="1" i="0">
                <a:solidFill>
                  <a:srgbClr val="B55A2E"/>
                </a:solidFill>
                <a:latin typeface="Calibri"/>
              </a:rPr>
              <a:t>appworld</a:t>
            </a:r>
          </a:p>
          <a:p>
            <a:pPr algn="l"/>
            <a:r>
              <a:rPr sz="1150" b="0" i="0">
                <a:solidFill>
                  <a:srgbClr val="1F2A37"/>
                </a:solidFill>
                <a:latin typeface="Calibri"/>
              </a:rPr>
              <a:t>long-horizon across simulated apps · runs e2e · raise task_timeout_seconds</a:t>
            </a:r>
          </a:p>
        </p:txBody>
      </p:sp>
      <p:sp>
        <p:nvSpPr>
          <p:cNvPr id="7" name="Rectangle 6"/>
          <p:cNvSpPr/>
          <p:nvPr/>
        </p:nvSpPr>
        <p:spPr>
          <a:xfrm>
            <a:off x="5989320" y="1143000"/>
            <a:ext cx="5760720" cy="457200"/>
          </a:xfrm>
          <a:prstGeom prst="rect">
            <a:avLst/>
          </a:prstGeom>
          <a:solidFill>
            <a:srgbClr val="1B3A5C"/>
          </a:solidFill>
          <a:ln w="12700">
            <a:solidFill>
              <a:srgbClr val="1B3A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500" b="1" i="0">
                <a:solidFill>
                  <a:srgbClr val="FFFFFF"/>
                </a:solidFill>
                <a:latin typeface="Calibri"/>
              </a:rPr>
              <a:t>Lifecycle (REST)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309360" y="1783080"/>
            <a:ext cx="5440680" cy="603504"/>
          </a:xfrm>
          <a:prstGeom prst="roundRect">
            <a:avLst/>
          </a:prstGeom>
          <a:solidFill>
            <a:srgbClr val="E8F1FB"/>
          </a:solidFill>
          <a:ln w="12700">
            <a:solidFill>
              <a:srgbClr val="2E6F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 lIns="101600"/>
          <a:lstStyle/>
          <a:p>
            <a:pPr algn="l"/>
            <a:r>
              <a:rPr sz="1250" b="1" i="0">
                <a:solidFill>
                  <a:srgbClr val="1F2A37"/>
                </a:solidFill>
                <a:latin typeface="Calibri"/>
              </a:rPr>
              <a:t>POST /benchmarks/{n}/deploy</a:t>
            </a:r>
          </a:p>
          <a:p>
            <a:pPr algn="l"/>
            <a:r>
              <a:rPr sz="1050" b="0" i="0">
                <a:solidFill>
                  <a:srgbClr val="3A4654"/>
                </a:solidFill>
                <a:latin typeface="Calibri"/>
              </a:rPr>
              <a:t>create MCP tool + A2A agent → 201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6172200" y="2084832"/>
            <a:ext cx="137160" cy="640080"/>
          </a:xfrm>
          <a:prstGeom prst="line">
            <a:avLst/>
          </a:prstGeom>
          <a:ln w="12700">
            <a:solidFill>
              <a:srgbClr val="C7CED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6309360" y="2468880"/>
            <a:ext cx="5440680" cy="603504"/>
          </a:xfrm>
          <a:prstGeom prst="roundRect">
            <a:avLst/>
          </a:prstGeom>
          <a:solidFill>
            <a:srgbClr val="E8F1FB"/>
          </a:solidFill>
          <a:ln w="12700">
            <a:solidFill>
              <a:srgbClr val="2E6F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 lIns="101600"/>
          <a:lstStyle/>
          <a:p>
            <a:pPr algn="l"/>
            <a:r>
              <a:rPr sz="1250" b="1" i="0">
                <a:solidFill>
                  <a:srgbClr val="1F2A37"/>
                </a:solidFill>
                <a:latin typeface="Calibri"/>
              </a:rPr>
              <a:t>GET /benchmarks/{n}/status</a:t>
            </a:r>
          </a:p>
          <a:p>
            <a:pPr algn="l"/>
            <a:r>
              <a:rPr sz="1050" b="0" i="0">
                <a:solidFill>
                  <a:srgbClr val="3A4654"/>
                </a:solidFill>
                <a:latin typeface="Calibri"/>
              </a:rPr>
              <a:t>poll until tool_ready &amp; agent_ready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6172200" y="2770632"/>
            <a:ext cx="137160" cy="640080"/>
          </a:xfrm>
          <a:prstGeom prst="line">
            <a:avLst/>
          </a:prstGeom>
          <a:ln w="12700">
            <a:solidFill>
              <a:srgbClr val="C7CED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6309360" y="3154680"/>
            <a:ext cx="5440680" cy="603504"/>
          </a:xfrm>
          <a:prstGeom prst="roundRect">
            <a:avLst/>
          </a:prstGeom>
          <a:solidFill>
            <a:srgbClr val="E8F1FB"/>
          </a:solidFill>
          <a:ln w="12700">
            <a:solidFill>
              <a:srgbClr val="2E6F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 lIns="101600"/>
          <a:lstStyle/>
          <a:p>
            <a:pPr algn="l"/>
            <a:r>
              <a:rPr sz="1250" b="1" i="0">
                <a:solidFill>
                  <a:srgbClr val="1F2A37"/>
                </a:solidFill>
                <a:latin typeface="Calibri"/>
              </a:rPr>
              <a:t>POST /benchmarks/{n}/runs</a:t>
            </a:r>
          </a:p>
          <a:p>
            <a:pPr algn="l"/>
            <a:r>
              <a:rPr sz="1050" b="0" i="0">
                <a:solidFill>
                  <a:srgbClr val="3A4654"/>
                </a:solidFill>
                <a:latin typeface="Calibri"/>
              </a:rPr>
              <a:t>precheck → 202 run_id  (409 not deployed · 424 secret missing)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6172200" y="3456432"/>
            <a:ext cx="137160" cy="640080"/>
          </a:xfrm>
          <a:prstGeom prst="line">
            <a:avLst/>
          </a:prstGeom>
          <a:ln w="12700">
            <a:solidFill>
              <a:srgbClr val="C7CED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6309360" y="3840480"/>
            <a:ext cx="5440680" cy="603504"/>
          </a:xfrm>
          <a:prstGeom prst="roundRect">
            <a:avLst/>
          </a:prstGeom>
          <a:solidFill>
            <a:srgbClr val="E8F1FB"/>
          </a:solidFill>
          <a:ln w="12700">
            <a:solidFill>
              <a:srgbClr val="2E6F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 lIns="101600"/>
          <a:lstStyle/>
          <a:p>
            <a:pPr algn="l"/>
            <a:r>
              <a:rPr sz="1250" b="1" i="0">
                <a:solidFill>
                  <a:srgbClr val="1F2A37"/>
                </a:solidFill>
                <a:latin typeface="Calibri"/>
              </a:rPr>
              <a:t>GET …/runs/{id}</a:t>
            </a:r>
          </a:p>
          <a:p>
            <a:pPr algn="l"/>
            <a:r>
              <a:rPr sz="1050" b="0" i="0">
                <a:solidFill>
                  <a:srgbClr val="3A4654"/>
                </a:solidFill>
                <a:latin typeface="Calibri"/>
              </a:rPr>
              <a:t>poll pending → running → succeeded / failed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6172200" y="4142232"/>
            <a:ext cx="137160" cy="640080"/>
          </a:xfrm>
          <a:prstGeom prst="line">
            <a:avLst/>
          </a:prstGeom>
          <a:ln w="12700">
            <a:solidFill>
              <a:srgbClr val="C7CED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6309360" y="4526280"/>
            <a:ext cx="5440680" cy="603504"/>
          </a:xfrm>
          <a:prstGeom prst="roundRect">
            <a:avLst/>
          </a:prstGeom>
          <a:solidFill>
            <a:srgbClr val="E8F1FB"/>
          </a:solidFill>
          <a:ln w="12700">
            <a:solidFill>
              <a:srgbClr val="2E6F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 lIns="101600"/>
          <a:lstStyle/>
          <a:p>
            <a:pPr algn="l"/>
            <a:r>
              <a:rPr sz="1250" b="1" i="0">
                <a:solidFill>
                  <a:srgbClr val="1F2A37"/>
                </a:solidFill>
                <a:latin typeface="Calibri"/>
              </a:rPr>
              <a:t>GET …/runs/{id}/report</a:t>
            </a:r>
          </a:p>
          <a:p>
            <a:pPr algn="l"/>
            <a:r>
              <a:rPr sz="1050" b="0" i="0">
                <a:solidFill>
                  <a:srgbClr val="3A4654"/>
                </a:solidFill>
                <a:latin typeface="Calibri"/>
              </a:rPr>
              <a:t>MLflow records + artifacts  (409 if MLflow unset)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6172200" y="4828032"/>
            <a:ext cx="137160" cy="640080"/>
          </a:xfrm>
          <a:prstGeom prst="line">
            <a:avLst/>
          </a:prstGeom>
          <a:ln w="12700">
            <a:solidFill>
              <a:srgbClr val="C7CED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ounded Rectangle 17"/>
          <p:cNvSpPr/>
          <p:nvPr/>
        </p:nvSpPr>
        <p:spPr>
          <a:xfrm>
            <a:off x="6309360" y="5212080"/>
            <a:ext cx="5440680" cy="603504"/>
          </a:xfrm>
          <a:prstGeom prst="roundRect">
            <a:avLst/>
          </a:prstGeom>
          <a:solidFill>
            <a:srgbClr val="E8F1FB"/>
          </a:solidFill>
          <a:ln w="12700">
            <a:solidFill>
              <a:srgbClr val="2E6F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 lIns="101600"/>
          <a:lstStyle/>
          <a:p>
            <a:pPr algn="l"/>
            <a:r>
              <a:rPr sz="1250" b="1" i="0">
                <a:solidFill>
                  <a:srgbClr val="1F2A37"/>
                </a:solidFill>
                <a:latin typeface="Calibri"/>
              </a:rPr>
              <a:t>download from S3</a:t>
            </a:r>
          </a:p>
          <a:p>
            <a:pPr algn="l"/>
            <a:r>
              <a:rPr sz="1050" b="0" i="0">
                <a:solidFill>
                  <a:srgbClr val="3A4654"/>
                </a:solidFill>
                <a:latin typeface="Calibri"/>
              </a:rPr>
              <a:t>run.json · report.* · token_report.* · span_report.* · manifest.json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6144768" y="1920240"/>
            <a:ext cx="0" cy="3931920"/>
          </a:xfrm>
          <a:prstGeom prst="line">
            <a:avLst/>
          </a:prstGeom>
          <a:ln w="19050">
            <a:solidFill>
              <a:srgbClr val="E87A1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11795760" y="6437376"/>
            <a:ext cx="320040" cy="31089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spcAft>
                <a:spcPts val="300"/>
              </a:spcAft>
            </a:pPr>
            <a:r>
              <a:rPr sz="1200" b="0" i="0">
                <a:solidFill>
                  <a:srgbClr val="6B6B6B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950000"/>
          </a:xfrm>
          <a:prstGeom prst="rect">
            <a:avLst/>
          </a:prstGeom>
          <a:solidFill>
            <a:srgbClr val="1B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55600"/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7.1  The Three Benchmarks — a Difficulty Ladder</a:t>
            </a:r>
          </a:p>
          <a:p>
            <a:r>
              <a:rPr sz="1400" b="0" i="0">
                <a:solidFill>
                  <a:srgbClr val="C9D9EC"/>
                </a:solidFill>
                <a:latin typeface="Calibri"/>
              </a:rPr>
              <a:t>Not interchangeable suites: each costs ~an order of magnitude more than the last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11480" y="1188720"/>
          <a:ext cx="11338560" cy="3977639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2286000"/>
                <a:gridCol w="3017520"/>
                <a:gridCol w="3017520"/>
                <a:gridCol w="3017520"/>
              </a:tblGrid>
              <a:tr h="331469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FFFFFF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63500" marR="63500" marT="12700" marB="12700" anchor="ctr"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 i="0">
                          <a:solidFill>
                            <a:srgbClr val="FFFFFF"/>
                          </a:solidFill>
                          <a:latin typeface="Calibri"/>
                        </a:rPr>
                        <a:t>gsm8k</a:t>
                      </a:r>
                    </a:p>
                  </a:txBody>
                  <a:tcPr marL="63500" marR="63500" marT="12700" marB="12700" anchor="ctr"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 i="0">
                          <a:solidFill>
                            <a:srgbClr val="FFFFFF"/>
                          </a:solidFill>
                          <a:latin typeface="Calibri"/>
                        </a:rPr>
                        <a:t>tau2</a:t>
                      </a:r>
                    </a:p>
                  </a:txBody>
                  <a:tcPr marL="63500" marR="63500" marT="12700" marB="12700" anchor="ctr"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 i="0">
                          <a:solidFill>
                            <a:srgbClr val="FFFFFF"/>
                          </a:solidFill>
                          <a:latin typeface="Calibri"/>
                        </a:rPr>
                        <a:t>appworld</a:t>
                      </a:r>
                    </a:p>
                  </a:txBody>
                  <a:tcPr marL="63500" marR="63500" marT="12700" marB="12700" anchor="ctr">
                    <a:solidFill>
                      <a:srgbClr val="1B3A5C"/>
                    </a:solidFill>
                  </a:tcPr>
                </a:tc>
              </a:tr>
              <a:tr h="331469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1F2A37"/>
                          </a:solidFill>
                          <a:latin typeface="Calibri"/>
                        </a:rPr>
                        <a:t>What it tests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multi-step arithmetic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multi-turn dialogue + tools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long-horizon app automation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</a:tr>
              <a:tr h="331469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1F2A37"/>
                          </a:solidFill>
                          <a:latin typeface="Calibri"/>
                        </a:rPr>
                        <a:t>Tasks measured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172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60 (50 clean)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40 (35 clean)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</a:tr>
              <a:tr h="331469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1F2A37"/>
                          </a:solidFill>
                          <a:latin typeface="Calibri"/>
                        </a:rPr>
                        <a:t>Pass rate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0.98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0.83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0.00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</a:tr>
              <a:tr h="331469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1F2A37"/>
                          </a:solidFill>
                          <a:latin typeface="Calibri"/>
                        </a:rPr>
                        <a:t>Input tokens / task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343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82,966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210,792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</a:tr>
              <a:tr h="331469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1F2A37"/>
                          </a:solidFill>
                          <a:latin typeface="Calibri"/>
                        </a:rPr>
                        <a:t>Output tokens / task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205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1,955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21,499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</a:tr>
              <a:tr h="331469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1F2A37"/>
                          </a:solidFill>
                          <a:latin typeface="Calibri"/>
                        </a:rPr>
                        <a:t>LLM calls / task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2.1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11.4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23.6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</a:tr>
              <a:tr h="331469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1F2A37"/>
                          </a:solidFill>
                          <a:latin typeface="Calibri"/>
                        </a:rPr>
                        <a:t>Tool calls / task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1.1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11.2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13.4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</a:tr>
              <a:tr h="331469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1F2A37"/>
                          </a:solidFill>
                          <a:latin typeface="Calibri"/>
                        </a:rPr>
                        <a:t>Median task latency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5.3 s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92 s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232 s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</a:tr>
              <a:tr h="331469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1F2A37"/>
                          </a:solidFill>
                          <a:latin typeface="Calibri"/>
                        </a:rPr>
                        <a:t>Slowest task seen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62 s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425 s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581 s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</a:tr>
              <a:tr h="331469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1F2A37"/>
                          </a:solidFill>
                          <a:latin typeface="Calibri"/>
                        </a:rPr>
                        <a:t>Model we use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gpt-5-mini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claude-sonnet-5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gemini-2.5-pro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</a:tr>
              <a:tr h="33148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1F2A37"/>
                          </a:solidFill>
                          <a:latin typeface="Calibri"/>
                        </a:rPr>
                        <a:t>Task pool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8.5K (HuggingFace)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114 (retail domain)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grouped scenarios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Rounded Rectangle 3"/>
          <p:cNvSpPr/>
          <p:nvPr/>
        </p:nvSpPr>
        <p:spPr>
          <a:xfrm>
            <a:off x="411480" y="5532120"/>
            <a:ext cx="11338560" cy="868680"/>
          </a:xfrm>
          <a:prstGeom prst="roundRect">
            <a:avLst/>
          </a:prstGeom>
          <a:solidFill>
            <a:srgbClr val="EEEFF1"/>
          </a:solidFill>
          <a:ln w="12700">
            <a:solidFill>
              <a:srgbClr val="6B6B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 lIns="228600" rIns="228600"/>
          <a:lstStyle/>
          <a:p>
            <a:pPr algn="ctr"/>
            <a:r>
              <a:rPr sz="1250" b="1" i="0">
                <a:solidFill>
                  <a:srgbClr val="1F2A37"/>
                </a:solidFill>
                <a:latin typeface="Calibri"/>
              </a:rPr>
              <a:t>The scale gap is the headline: a tau2 task costs ~240x the input tokens of a gsm8k task, an appworld task ~615x. A 50-task gsm8k run is minutes; a 20-task appworld run is half an hour and millions of tokens. Budget by benchmark, not by task count.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795760" y="6437376"/>
            <a:ext cx="320040" cy="31089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spcAft>
                <a:spcPts val="300"/>
              </a:spcAft>
            </a:pPr>
            <a:r>
              <a:rPr sz="1200" b="0" i="0">
                <a:solidFill>
                  <a:srgbClr val="6B6B6B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950000"/>
          </a:xfrm>
          <a:prstGeom prst="rect">
            <a:avLst/>
          </a:prstGeom>
          <a:solidFill>
            <a:srgbClr val="1B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55600"/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7.2  What Each Benchmark Stresses</a:t>
            </a:r>
          </a:p>
          <a:p>
            <a:r>
              <a:rPr sz="1400" b="0" i="0">
                <a:solidFill>
                  <a:srgbClr val="C9D9EC"/>
                </a:solidFill>
                <a:latin typeface="Calibri"/>
              </a:rPr>
              <a:t>Why all three are in the matrix, and what a result from each does and does not tell you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411480" y="1188720"/>
            <a:ext cx="3703320" cy="566928"/>
          </a:xfrm>
          <a:prstGeom prst="roundRect">
            <a:avLst/>
          </a:prstGeom>
          <a:solidFill>
            <a:srgbClr val="3D6E70"/>
          </a:solidFill>
          <a:ln w="12700">
            <a:solidFill>
              <a:srgbClr val="3D6E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500" b="1" i="0">
                <a:solidFill>
                  <a:srgbClr val="FFFFFF"/>
                </a:solidFill>
                <a:latin typeface="Calibri"/>
              </a:rPr>
              <a:t>gsm8k  —  the canary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11480" y="1847088"/>
            <a:ext cx="3703320" cy="3154680"/>
          </a:xfrm>
          <a:prstGeom prst="roundRect">
            <a:avLst/>
          </a:prstGeom>
          <a:solidFill>
            <a:srgbClr val="E4F0F0"/>
          </a:solidFill>
          <a:ln w="12700">
            <a:solidFill>
              <a:srgbClr val="3D6E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7000" rIns="127000" tIns="381000"/>
          <a:lstStyle/>
          <a:p>
            <a:pPr algn="l">
              <a:spcAft>
                <a:spcPts val="500"/>
              </a:spcAft>
            </a:pPr>
            <a:r>
              <a:rPr sz="1000" b="0" i="0">
                <a:solidFill>
                  <a:srgbClr val="1F2A37"/>
                </a:solidFill>
                <a:latin typeface="Calibri"/>
              </a:rPr>
              <a:t>• One prompt in, one answer out — no dialogue partner.</a:t>
            </a:r>
          </a:p>
          <a:p>
            <a:pPr algn="l">
              <a:spcAft>
                <a:spcPts val="500"/>
              </a:spcAft>
            </a:pPr>
            <a:r>
              <a:rPr sz="1000" b="0" i="0">
                <a:solidFill>
                  <a:srgbClr val="1F2A37"/>
                </a:solidFill>
                <a:latin typeface="Calibri"/>
              </a:rPr>
              <a:t>• ~1 real LLM call + 1 tool call: the simplest agentic loop.</a:t>
            </a:r>
          </a:p>
          <a:p>
            <a:pPr algn="l">
              <a:spcAft>
                <a:spcPts val="500"/>
              </a:spcAft>
            </a:pPr>
            <a:r>
              <a:rPr sz="1000" b="0" i="0">
                <a:solidFill>
                  <a:srgbClr val="1F2A37"/>
                </a:solidFill>
                <a:latin typeface="Calibri"/>
              </a:rPr>
              <a:t>• Stresses almost nothing about the platform — which is the point.</a:t>
            </a:r>
          </a:p>
          <a:p>
            <a:pPr algn="l">
              <a:spcAft>
                <a:spcPts val="500"/>
              </a:spcAft>
            </a:pPr>
            <a:r>
              <a:rPr sz="1000" b="0" i="0">
                <a:solidFill>
                  <a:srgbClr val="1F2A37"/>
                </a:solidFill>
                <a:latin typeface="Calibri"/>
              </a:rPr>
              <a:t>• A failure here means INFRASTRUCTURE: deploy, auth, LLM reach, telemetry.</a:t>
            </a:r>
          </a:p>
          <a:p>
            <a:pPr algn="l">
              <a:spcAft>
                <a:spcPts val="500"/>
              </a:spcAft>
            </a:pPr>
            <a:r>
              <a:rPr sz="1000" b="0" i="0">
                <a:solidFill>
                  <a:srgbClr val="1F2A37"/>
                </a:solidFill>
                <a:latin typeface="Calibri"/>
              </a:rPr>
              <a:t>• Saturated at ~1.0, so it cannot discriminate models. Never read it as one.</a:t>
            </a:r>
          </a:p>
          <a:p>
            <a:pPr algn="l">
              <a:spcAft>
                <a:spcPts val="500"/>
              </a:spcAft>
            </a:pPr>
            <a:r>
              <a:rPr sz="1000" b="0" i="0">
                <a:solidFill>
                  <a:srgbClr val="1F2A37"/>
                </a:solidFill>
                <a:latin typeface="Calibri"/>
              </a:rPr>
              <a:t>• Deterministic enough that task 0 costs 320 input tokens on every cluster — we use that to prove two environments are comparable.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11480" y="1188720"/>
            <a:ext cx="3611880" cy="566928"/>
          </a:xfrm>
          <a:prstGeom prst="roundRect">
            <a:avLst/>
          </a:prstGeom>
          <a:solidFill>
            <a:srgbClr val="3D6E70"/>
          </a:solidFill>
          <a:ln w="12700">
            <a:solidFill>
              <a:srgbClr val="3D6E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500" b="1" i="0">
                <a:solidFill>
                  <a:srgbClr val="FFFFFF"/>
                </a:solidFill>
                <a:latin typeface="Calibri"/>
              </a:rPr>
              <a:t>gsm8k — the canary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270248" y="1188720"/>
            <a:ext cx="3703320" cy="566928"/>
          </a:xfrm>
          <a:prstGeom prst="roundRect">
            <a:avLst/>
          </a:prstGeom>
          <a:solidFill>
            <a:srgbClr val="8E44AD"/>
          </a:solidFill>
          <a:ln w="12700">
            <a:solidFill>
              <a:srgbClr val="8E44A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500" b="1" i="0">
                <a:solidFill>
                  <a:srgbClr val="FFFFFF"/>
                </a:solidFill>
                <a:latin typeface="Calibri"/>
              </a:rPr>
              <a:t>tau2  —  the discriminator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270248" y="1847088"/>
            <a:ext cx="3703320" cy="3154680"/>
          </a:xfrm>
          <a:prstGeom prst="roundRect">
            <a:avLst/>
          </a:prstGeom>
          <a:solidFill>
            <a:srgbClr val="F1E8F6"/>
          </a:solidFill>
          <a:ln w="12700">
            <a:solidFill>
              <a:srgbClr val="8E44A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7000" rIns="127000" tIns="381000"/>
          <a:lstStyle/>
          <a:p>
            <a:pPr algn="l">
              <a:spcAft>
                <a:spcPts val="500"/>
              </a:spcAft>
            </a:pPr>
            <a:r>
              <a:rPr sz="1000" b="0" i="0">
                <a:solidFill>
                  <a:srgbClr val="1F2A37"/>
                </a:solidFill>
                <a:latin typeface="Calibri"/>
              </a:rPr>
              <a:t>• Multi-turn: a server-side USER SIMULATOR LLM plays the customer.</a:t>
            </a:r>
          </a:p>
          <a:p>
            <a:pPr algn="l">
              <a:spcAft>
                <a:spcPts val="500"/>
              </a:spcAft>
            </a:pPr>
            <a:r>
              <a:rPr sz="1000" b="0" i="0">
                <a:solidFill>
                  <a:srgbClr val="1F2A37"/>
                </a:solidFill>
                <a:latin typeface="Calibri"/>
              </a:rPr>
              <a:t>• Two models talk to each other, plus ~11 tool calls per task.</a:t>
            </a:r>
          </a:p>
          <a:p>
            <a:pPr algn="l">
              <a:spcAft>
                <a:spcPts val="500"/>
              </a:spcAft>
            </a:pPr>
            <a:r>
              <a:rPr sz="1000" b="0" i="0">
                <a:solidFill>
                  <a:srgbClr val="1F2A37"/>
                </a:solidFill>
                <a:latin typeface="Calibri"/>
              </a:rPr>
              <a:t>• Domain is retail (114 tasks) — the library default, never recorded in artifacts.</a:t>
            </a:r>
          </a:p>
          <a:p>
            <a:pPr algn="l">
              <a:spcAft>
                <a:spcPts val="500"/>
              </a:spcAft>
            </a:pPr>
            <a:r>
              <a:rPr sz="1000" b="0" i="0">
                <a:solidFill>
                  <a:srgbClr val="1F2A37"/>
                </a:solidFill>
                <a:latin typeface="Calibri"/>
              </a:rPr>
              <a:t>• The only leg where model choice dominates: 0.1 with gpt-5-mini vs 0.9 with claude-sonnet-5 on the SAME 10 tasks.</a:t>
            </a:r>
          </a:p>
          <a:p>
            <a:pPr algn="l">
              <a:spcAft>
                <a:spcPts val="500"/>
              </a:spcAft>
            </a:pPr>
            <a:r>
              <a:rPr sz="1000" b="0" i="0">
                <a:solidFill>
                  <a:srgbClr val="1F2A37"/>
                </a:solidFill>
                <a:latin typeface="Calibri"/>
              </a:rPr>
              <a:t>• Episodes are nondeterministic: across 6 samples of the same 10 tasks, 4 flip.</a:t>
            </a:r>
          </a:p>
          <a:p>
            <a:pPr algn="l">
              <a:spcAft>
                <a:spcPts val="500"/>
              </a:spcAft>
            </a:pPr>
            <a:r>
              <a:rPr sz="1000" b="0" i="0">
                <a:solidFill>
                  <a:srgbClr val="1F2A37"/>
                </a:solidFill>
                <a:latin typeface="Calibri"/>
              </a:rPr>
              <a:t>• At n=10 one task moves pass_rate by 0.10 — it cannot resolve less than that.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270248" y="1188720"/>
            <a:ext cx="3611880" cy="566928"/>
          </a:xfrm>
          <a:prstGeom prst="roundRect">
            <a:avLst/>
          </a:prstGeom>
          <a:solidFill>
            <a:srgbClr val="8E44AD"/>
          </a:solidFill>
          <a:ln w="12700">
            <a:solidFill>
              <a:srgbClr val="8E44A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500" b="1" i="0">
                <a:solidFill>
                  <a:srgbClr val="FFFFFF"/>
                </a:solidFill>
                <a:latin typeface="Calibri"/>
              </a:rPr>
              <a:t>tau2 — the discriminator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129016" y="1188720"/>
            <a:ext cx="3703320" cy="566928"/>
          </a:xfrm>
          <a:prstGeom prst="roundRect">
            <a:avLst/>
          </a:prstGeom>
          <a:solidFill>
            <a:srgbClr val="B55A2E"/>
          </a:solidFill>
          <a:ln w="12700">
            <a:solidFill>
              <a:srgbClr val="B55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500" b="1" i="0">
                <a:solidFill>
                  <a:srgbClr val="FFFFFF"/>
                </a:solidFill>
                <a:latin typeface="Calibri"/>
              </a:rPr>
              <a:t>appworld  —  the stress test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129016" y="1847088"/>
            <a:ext cx="3703320" cy="3154680"/>
          </a:xfrm>
          <a:prstGeom prst="roundRect">
            <a:avLst/>
          </a:prstGeom>
          <a:solidFill>
            <a:srgbClr val="FBEEE4"/>
          </a:solidFill>
          <a:ln w="12700">
            <a:solidFill>
              <a:srgbClr val="B55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7000" rIns="127000" tIns="381000"/>
          <a:lstStyle/>
          <a:p>
            <a:pPr algn="l">
              <a:spcAft>
                <a:spcPts val="500"/>
              </a:spcAft>
            </a:pPr>
            <a:r>
              <a:rPr sz="1000" b="0" i="0">
                <a:solidFill>
                  <a:srgbClr val="1F2A37"/>
                </a:solidFill>
                <a:latin typeface="Calibri"/>
              </a:rPr>
              <a:t>• Realistic chores across simulated apps: discover APIs, chain many calls.</a:t>
            </a:r>
          </a:p>
          <a:p>
            <a:pPr algn="l">
              <a:spcAft>
                <a:spcPts val="500"/>
              </a:spcAft>
            </a:pPr>
            <a:r>
              <a:rPr sz="1000" b="0" i="0">
                <a:solidFill>
                  <a:srgbClr val="1F2A37"/>
                </a:solidFill>
                <a:latin typeface="Calibri"/>
              </a:rPr>
              <a:t>• ~24 LLM calls, ~13 tool calls, ~211k input, ~4 min per task.</a:t>
            </a:r>
          </a:p>
          <a:p>
            <a:pPr algn="l">
              <a:spcAft>
                <a:spcPts val="500"/>
              </a:spcAft>
            </a:pPr>
            <a:r>
              <a:rPr sz="1000" b="0" i="0">
                <a:solidFill>
                  <a:srgbClr val="1F2A37"/>
                </a:solidFill>
                <a:latin typeface="Calibri"/>
              </a:rPr>
              <a:t>• Evaluation is PROGRAMMATIC unit tests over final app state — no LLM judge.</a:t>
            </a:r>
          </a:p>
          <a:p>
            <a:pPr algn="l">
              <a:spcAft>
                <a:spcPts val="500"/>
              </a:spcAft>
            </a:pPr>
            <a:r>
              <a:rPr sz="1000" b="0" i="0">
                <a:solidFill>
                  <a:srgbClr val="1F2A37"/>
                </a:solidFill>
                <a:latin typeface="Calibri"/>
              </a:rPr>
              <a:t>• Pass rate 0.0 is honest, not broken: runs complete and tokens record — the agent just does not finish the job.</a:t>
            </a:r>
          </a:p>
          <a:p>
            <a:pPr algn="l">
              <a:spcAft>
                <a:spcPts val="500"/>
              </a:spcAft>
            </a:pPr>
            <a:r>
              <a:rPr sz="1000" b="0" i="0">
                <a:solidFill>
                  <a:srgbClr val="1F2A37"/>
                </a:solidFill>
                <a:latin typeface="Calibri"/>
              </a:rPr>
              <a:t>• ~94% of tasks call finish: it believes it is done and the assertions disagree. No verification pass.</a:t>
            </a:r>
          </a:p>
          <a:p>
            <a:pPr algn="l">
              <a:spcAft>
                <a:spcPts val="500"/>
              </a:spcAft>
            </a:pPr>
            <a:r>
              <a:rPr sz="1000" b="0" i="0">
                <a:solidFill>
                  <a:srgbClr val="1F2A37"/>
                </a:solidFill>
                <a:latin typeface="Calibri"/>
              </a:rPr>
              <a:t>• Its job here is pipeline stress: long contexts, big traces, real timeouts.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129016" y="1188720"/>
            <a:ext cx="3611880" cy="566928"/>
          </a:xfrm>
          <a:prstGeom prst="roundRect">
            <a:avLst/>
          </a:prstGeom>
          <a:solidFill>
            <a:srgbClr val="B55A2E"/>
          </a:solidFill>
          <a:ln w="12700">
            <a:solidFill>
              <a:srgbClr val="B55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500" b="1" i="0">
                <a:solidFill>
                  <a:srgbClr val="FFFFFF"/>
                </a:solidFill>
                <a:latin typeface="Calibri"/>
              </a:rPr>
              <a:t>appworld — the stress test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411480" y="5212080"/>
          <a:ext cx="11338560" cy="132588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6766560"/>
                <a:gridCol w="4572000"/>
              </a:tblGrid>
              <a:tr h="265176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FFFFFF"/>
                          </a:solidFill>
                          <a:latin typeface="Calibri"/>
                        </a:rPr>
                        <a:t>If you want to …</a:t>
                      </a:r>
                    </a:p>
                  </a:txBody>
                  <a:tcPr marL="63500" marR="63500" marT="12700" marB="12700" anchor="ctr"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 i="0">
                          <a:solidFill>
                            <a:srgbClr val="FFFFFF"/>
                          </a:solidFill>
                          <a:latin typeface="Calibri"/>
                        </a:rPr>
                        <a:t>use</a:t>
                      </a:r>
                    </a:p>
                  </a:txBody>
                  <a:tcPr marL="63500" marR="63500" marT="12700" marB="12700" anchor="ctr">
                    <a:solidFill>
                      <a:srgbClr val="1B3A5C"/>
                    </a:solidFill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check a cluster / deploy / auth / telemetry path works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gsm8k, 1–10 tasks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exercise concurrency and volume cheaply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gsm8k, 50 tasks at max_parallel_sessions=4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compare models meaningfully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tau2 — it discriminates; gsm8k saturates at ~1.0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stress long contexts, long tasks, timeouts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appworld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11795760" y="6437376"/>
            <a:ext cx="320040" cy="31089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spcAft>
                <a:spcPts val="300"/>
              </a:spcAft>
            </a:pPr>
            <a:r>
              <a:rPr sz="1200" b="0" i="0">
                <a:solidFill>
                  <a:srgbClr val="6B6B6B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950000"/>
          </a:xfrm>
          <a:prstGeom prst="rect">
            <a:avLst/>
          </a:prstGeom>
          <a:solidFill>
            <a:srgbClr val="1B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55600"/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7.3  Reading the Numbers — Five Things That Mislead</a:t>
            </a:r>
          </a:p>
          <a:p>
            <a:r>
              <a:rPr sz="1400" b="0" i="0">
                <a:solidFill>
                  <a:srgbClr val="C9D9EC"/>
                </a:solidFill>
                <a:latin typeface="Calibri"/>
              </a:rPr>
              <a:t>Every one of these cost us a wrong conclusion first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411480" y="1207008"/>
            <a:ext cx="11338560" cy="914400"/>
          </a:xfrm>
          <a:prstGeom prst="roundRect">
            <a:avLst/>
          </a:prstGeom>
          <a:solidFill>
            <a:srgbClr val="FBEEE4"/>
          </a:solidFill>
          <a:ln w="12700">
            <a:solidFill>
              <a:srgbClr val="B55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76200" bIns="25400" lIns="177800" rIns="177800"/>
          <a:lstStyle/>
          <a:p>
            <a:pPr algn="l"/>
            <a:r>
              <a:rPr sz="1300" b="1" i="0">
                <a:solidFill>
                  <a:srgbClr val="1F2A37"/>
                </a:solidFill>
                <a:latin typeface="Calibri"/>
              </a:rPr>
              <a:t>1.  pass_rate = evaluated_pass / total</a:t>
            </a:r>
          </a:p>
          <a:p>
            <a:pPr algn="l"/>
            <a:r>
              <a:rPr sz="1100" b="0" i="0">
                <a:solidFill>
                  <a:srgbClr val="3A4654"/>
                </a:solidFill>
                <a:latin typeface="Calibri"/>
              </a:rPr>
              <a:t>A task that ERRORS before evaluation counts as not passed, so a low rate can mean “failed the task” or “never got judged”. Check the error column too.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11480" y="2267712"/>
            <a:ext cx="11338560" cy="914400"/>
          </a:xfrm>
          <a:prstGeom prst="roundRect">
            <a:avLst/>
          </a:prstGeom>
          <a:solidFill>
            <a:srgbClr val="FBEEE4"/>
          </a:solidFill>
          <a:ln w="12700">
            <a:solidFill>
              <a:srgbClr val="B55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76200" bIns="25400" lIns="177800" rIns="177800"/>
          <a:lstStyle/>
          <a:p>
            <a:pPr algn="l"/>
            <a:r>
              <a:rPr sz="1300" b="1" i="0">
                <a:solidFill>
                  <a:srgbClr val="1F2A37"/>
                </a:solidFill>
                <a:latin typeface="Calibri"/>
              </a:rPr>
              <a:t>2.  The llm column overcounts real calls by one</a:t>
            </a:r>
          </a:p>
          <a:p>
            <a:pPr algn="l"/>
            <a:r>
              <a:rPr sz="1100" b="0" i="0">
                <a:solidFill>
                  <a:srgbClr val="3A4654"/>
                </a:solidFill>
                <a:latin typeface="Calibri"/>
              </a:rPr>
              <a:t>Every task issues an extra max_tokens=1 capability probe, counted as a chat span. llm=2 on gsm8k means ONE real call.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11480" y="3328416"/>
            <a:ext cx="11338560" cy="914400"/>
          </a:xfrm>
          <a:prstGeom prst="roundRect">
            <a:avLst/>
          </a:prstGeom>
          <a:solidFill>
            <a:srgbClr val="FBEEE4"/>
          </a:solidFill>
          <a:ln w="12700">
            <a:solidFill>
              <a:srgbClr val="B55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76200" bIns="25400" lIns="177800" rIns="177800"/>
          <a:lstStyle/>
          <a:p>
            <a:pPr algn="l"/>
            <a:r>
              <a:rPr sz="1300" b="1" i="0">
                <a:solidFill>
                  <a:srgbClr val="1F2A37"/>
                </a:solidFill>
                <a:latin typeface="Calibri"/>
              </a:rPr>
              <a:t>3.  Implausibly small tokens = lost telemetry, and tokens == 0 will not catch it</a:t>
            </a:r>
          </a:p>
          <a:p>
            <a:pPr algn="l"/>
            <a:r>
              <a:rPr sz="1100" b="0" i="0">
                <a:solidFill>
                  <a:srgbClr val="3A4654"/>
                </a:solidFill>
                <a:latin typeface="Calibri"/>
              </a:rPr>
              <a:t>When a usage-bearing span is lost, what survives is the probe — whose own usage is 0/0 on reasoning models but 8/1 on claude-sonnet-5 and 1/0 on gemini. Use the structural test: llm &lt;= 1 with tool &gt;= 2 is impossible.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11480" y="4389120"/>
            <a:ext cx="11338560" cy="914400"/>
          </a:xfrm>
          <a:prstGeom prst="roundRect">
            <a:avLst/>
          </a:prstGeom>
          <a:solidFill>
            <a:srgbClr val="FBEEE4"/>
          </a:solidFill>
          <a:ln w="12700">
            <a:solidFill>
              <a:srgbClr val="B55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76200" bIns="25400" lIns="177800" rIns="177800"/>
          <a:lstStyle/>
          <a:p>
            <a:pPr algn="l"/>
            <a:r>
              <a:rPr sz="1300" b="1" i="0">
                <a:solidFill>
                  <a:srgbClr val="1F2A37"/>
                </a:solidFill>
                <a:latin typeface="Calibri"/>
              </a:rPr>
              <a:t>4.  Output varies MORE than input, in most runs</a:t>
            </a:r>
          </a:p>
          <a:p>
            <a:pPr algn="l"/>
            <a:r>
              <a:rPr sz="1100" b="0" i="0">
                <a:solidFill>
                  <a:srgbClr val="3A4654"/>
                </a:solidFill>
                <a:latin typeface="Calibri"/>
              </a:rPr>
              <a:t>Measured OUT CV &gt; IN CV in 27 of 33 legs. gsm8k's prompt is near-constant while answer length swings; only long-horizon appworld inverts it. Do not infer a direction — read the CV.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11480" y="5449824"/>
            <a:ext cx="11338560" cy="914400"/>
          </a:xfrm>
          <a:prstGeom prst="roundRect">
            <a:avLst/>
          </a:prstGeom>
          <a:solidFill>
            <a:srgbClr val="FBEEE4"/>
          </a:solidFill>
          <a:ln w="12700">
            <a:solidFill>
              <a:srgbClr val="B55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76200" bIns="25400" lIns="177800" rIns="177800"/>
          <a:lstStyle/>
          <a:p>
            <a:pPr algn="l"/>
            <a:r>
              <a:rPr sz="1300" b="1" i="0">
                <a:solidFill>
                  <a:srgbClr val="1F2A37"/>
                </a:solidFill>
                <a:latin typeface="Calibri"/>
              </a:rPr>
              <a:t>5.  Task selection is deterministic</a:t>
            </a:r>
          </a:p>
          <a:p>
            <a:pPr algn="l"/>
            <a:r>
              <a:rPr sz="1100" b="0" i="0">
                <a:solidFill>
                  <a:srgbClr val="3A4654"/>
                </a:solidFill>
                <a:latin typeface="Calibri"/>
              </a:rPr>
              <a:t>A run takes the first max_tasks tasks, so the same task_id is the same task across runs and clusters, and a smaller run is a prefix of a larger one. That is what makes cross-platform comparison like-for-like — six legs matched to the byte.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795760" y="6437376"/>
            <a:ext cx="320040" cy="31089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spcAft>
                <a:spcPts val="300"/>
              </a:spcAft>
            </a:pPr>
            <a:r>
              <a:rPr sz="1200" b="0" i="0">
                <a:solidFill>
                  <a:srgbClr val="6B6B6B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950000"/>
          </a:xfrm>
          <a:prstGeom prst="rect">
            <a:avLst/>
          </a:prstGeom>
          <a:solidFill>
            <a:srgbClr val="1B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55600"/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8.1  The Canonical 12-Run Matrix</a:t>
            </a:r>
          </a:p>
          <a:p>
            <a:r>
              <a:rPr sz="1400" b="0" i="0">
                <a:solidFill>
                  <a:srgbClr val="C9D9EC"/>
                </a:solidFill>
                <a:latin typeface="Calibri"/>
              </a:rPr>
              <a:t>One fixed set of 12 request bodies — the same on every platform, every version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11480" y="1188720"/>
          <a:ext cx="11338560" cy="361188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640080"/>
                <a:gridCol w="1554480"/>
                <a:gridCol w="914400"/>
                <a:gridCol w="1097280"/>
                <a:gridCol w="7132320"/>
              </a:tblGrid>
              <a:tr h="277836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FFFFFF"/>
                          </a:solidFill>
                          <a:latin typeface="Calibri"/>
                        </a:rPr>
                        <a:t>#</a:t>
                      </a:r>
                    </a:p>
                  </a:txBody>
                  <a:tcPr marL="63500" marR="63500" marT="12700" marB="12700" anchor="ctr"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 i="0">
                          <a:solidFill>
                            <a:srgbClr val="FFFFFF"/>
                          </a:solidFill>
                          <a:latin typeface="Calibri"/>
                        </a:rPr>
                        <a:t>benchmark</a:t>
                      </a:r>
                    </a:p>
                  </a:txBody>
                  <a:tcPr marL="63500" marR="63500" marT="12700" marB="12700" anchor="ctr"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 i="0">
                          <a:solidFill>
                            <a:srgbClr val="FFFFFF"/>
                          </a:solidFill>
                          <a:latin typeface="Calibri"/>
                        </a:rPr>
                        <a:t>tasks</a:t>
                      </a:r>
                    </a:p>
                  </a:txBody>
                  <a:tcPr marL="63500" marR="63500" marT="12700" marB="12700" anchor="ctr"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 i="0">
                          <a:solidFill>
                            <a:srgbClr val="FFFFFF"/>
                          </a:solidFill>
                          <a:latin typeface="Calibri"/>
                        </a:rPr>
                        <a:t>parallel</a:t>
                      </a:r>
                    </a:p>
                  </a:txBody>
                  <a:tcPr marL="63500" marR="63500" marT="12700" marB="12700" anchor="ctr"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 i="0">
                          <a:solidFill>
                            <a:srgbClr val="FFFFFF"/>
                          </a:solidFill>
                          <a:latin typeface="Calibri"/>
                        </a:rPr>
                        <a:t>what it varies</a:t>
                      </a:r>
                    </a:p>
                  </a:txBody>
                  <a:tcPr marL="63500" marR="63500" marT="12700" marB="12700" anchor="ctr">
                    <a:solidFill>
                      <a:srgbClr val="1B3A5C"/>
                    </a:solidFill>
                  </a:tcPr>
                </a:tc>
              </a:tr>
              <a:tr h="277836"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gsm8k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baseline — the smoke test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</a:tr>
              <a:tr h="277836"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gsm8k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10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volume, still serial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</a:tr>
              <a:tr h="277836"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gsm8k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50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volume + concurrency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</a:tr>
              <a:tr h="277836"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gsm8k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model swap → Azure/gpt-4.1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</a:tr>
              <a:tr h="277836"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gsm8k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AuthBridge preset: auth-only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</a:tr>
              <a:tr h="277836"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6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gsm8k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AuthBridge preset: ibac-only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</a:tr>
              <a:tr h="277836"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7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gsm8k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AuthBridge preset: full (enforce)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</a:tr>
              <a:tr h="277836"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8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gsm8k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full + per-plugin override ibac:observe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</a:tr>
              <a:tr h="277836"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9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tau2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10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multi-turn + user simulator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</a:tr>
              <a:tr h="277836"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10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tau2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20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multi-turn under concurrency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</a:tr>
              <a:tr h="277836"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11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appworld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long-horizon, gemini-2.5-pro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</a:tr>
              <a:tr h="277848"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12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appworld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20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long-horizon under concurrency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</a:tr>
            </a:tbl>
          </a:graphicData>
        </a:graphic>
      </p:graphicFrame>
      <p:sp>
        <p:nvSpPr>
          <p:cNvPr id="4" name="Rounded Rectangle 3"/>
          <p:cNvSpPr/>
          <p:nvPr/>
        </p:nvSpPr>
        <p:spPr>
          <a:xfrm>
            <a:off x="411480" y="4983480"/>
            <a:ext cx="11338560" cy="1417320"/>
          </a:xfrm>
          <a:prstGeom prst="roundRect">
            <a:avLst/>
          </a:prstGeom>
          <a:solidFill>
            <a:srgbClr val="EEEFF1"/>
          </a:solidFill>
          <a:ln w="12700">
            <a:solidFill>
              <a:srgbClr val="6B6B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 lIns="228600" rIns="228600"/>
          <a:lstStyle/>
          <a:p>
            <a:pPr algn="ctr"/>
            <a:r>
              <a:rPr sz="1200" b="0" i="0">
                <a:solidFill>
                  <a:srgbClr val="1F2A37"/>
                </a:solidFill>
                <a:latin typeface="Calibri"/>
              </a:rPr>
              <a:t>Why a FIXED matrix: task selection is deterministic, so the same leg run anywhere executes the same tasks in the same order. That is what makes a difference attributable to the platform rather than to the workload — and it is why every leg deploys fresh, since reusing a warm agent silently loses telemetry. Driven by one command (reference/run-12.py, ~1h55m); the three generated documents in results/ derive every number from the mirrored artifacts.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795760" y="6437376"/>
            <a:ext cx="320040" cy="31089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spcAft>
                <a:spcPts val="300"/>
              </a:spcAft>
            </a:pPr>
            <a:r>
              <a:rPr sz="1200" b="0" i="0">
                <a:solidFill>
                  <a:srgbClr val="6B6B6B"/>
                </a:solidFill>
                <a:latin typeface="Calibri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950000"/>
          </a:xfrm>
          <a:prstGeom prst="rect">
            <a:avLst/>
          </a:prstGeom>
          <a:solidFill>
            <a:srgbClr val="1B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55600"/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8.2  What the 12 Runs Measured</a:t>
            </a:r>
          </a:p>
          <a:p>
            <a:r>
              <a:rPr sz="1400" b="0" i="0">
                <a:solidFill>
                  <a:srgbClr val="C9D9EC"/>
                </a:solidFill>
                <a:latin typeface="Calibri"/>
              </a:rPr>
              <a:t>v1.24 on OpenShift (Service on ykt3, workloads on ykt2) — 138 tasks, all 12 legs succeeded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11480" y="1188720"/>
          <a:ext cx="5532120" cy="379476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548640"/>
                <a:gridCol w="1371600"/>
                <a:gridCol w="914400"/>
                <a:gridCol w="1051560"/>
                <a:gridCol w="1645920"/>
              </a:tblGrid>
              <a:tr h="291904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FFFFFF"/>
                          </a:solidFill>
                          <a:latin typeface="Calibri"/>
                        </a:rPr>
                        <a:t>#</a:t>
                      </a:r>
                    </a:p>
                  </a:txBody>
                  <a:tcPr marL="63500" marR="63500" marT="12700" marB="12700" anchor="ctr"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 i="0">
                          <a:solidFill>
                            <a:srgbClr val="FFFFFF"/>
                          </a:solidFill>
                          <a:latin typeface="Calibri"/>
                        </a:rPr>
                        <a:t>bench</a:t>
                      </a:r>
                    </a:p>
                  </a:txBody>
                  <a:tcPr marL="63500" marR="63500" marT="12700" marB="12700" anchor="ctr"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 i="0">
                          <a:solidFill>
                            <a:srgbClr val="FFFFFF"/>
                          </a:solidFill>
                          <a:latin typeface="Calibri"/>
                        </a:rPr>
                        <a:t>pass</a:t>
                      </a:r>
                    </a:p>
                  </a:txBody>
                  <a:tcPr marL="63500" marR="63500" marT="12700" marB="12700" anchor="ctr"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 i="0">
                          <a:solidFill>
                            <a:srgbClr val="FFFFFF"/>
                          </a:solidFill>
                          <a:latin typeface="Calibri"/>
                        </a:rPr>
                        <a:t>wall</a:t>
                      </a:r>
                    </a:p>
                  </a:txBody>
                  <a:tcPr marL="63500" marR="63500" marT="12700" marB="12700" anchor="ctr"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 i="0">
                          <a:solidFill>
                            <a:srgbClr val="FFFFFF"/>
                          </a:solidFill>
                          <a:latin typeface="Calibri"/>
                        </a:rPr>
                        <a:t>input tokens</a:t>
                      </a:r>
                    </a:p>
                  </a:txBody>
                  <a:tcPr marL="63500" marR="63500" marT="12700" marB="12700" anchor="ctr">
                    <a:solidFill>
                      <a:srgbClr val="1B3A5C"/>
                    </a:solidFill>
                  </a:tcPr>
                </a:tc>
              </a:tr>
              <a:tr h="291904"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gsm8k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1.00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9 s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320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</a:tr>
              <a:tr h="291904"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gsm8k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1.00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42 s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3,166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</a:tr>
              <a:tr h="291904"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gsm8k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1.00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97 s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15,684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</a:tr>
              <a:tr h="291904"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gsm8k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0.80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26 s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3,613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</a:tr>
              <a:tr h="291904"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gsm8k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1.00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31 s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1,564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</a:tr>
              <a:tr h="291904"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6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gsm8k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1.00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35 s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1,564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</a:tr>
              <a:tr h="291904"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7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gsm8k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1.00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32 s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1,564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</a:tr>
              <a:tr h="291904"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8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gsm8k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1.00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30 s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1,564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</a:tr>
              <a:tr h="291904"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9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tau2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0.70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780 s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852,240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</a:tr>
              <a:tr h="291904"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10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tau2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0.85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425 s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1,550,718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</a:tr>
              <a:tr h="291904"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11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appworld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0.00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2164 s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1,988,986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</a:tr>
              <a:tr h="291912"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12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appworld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0.00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1769 s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4,009,033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</a:tr>
            </a:tbl>
          </a:graphicData>
        </a:graphic>
      </p:graphicFrame>
      <p:sp>
        <p:nvSpPr>
          <p:cNvPr id="4" name="Rounded Rectangle 3"/>
          <p:cNvSpPr/>
          <p:nvPr/>
        </p:nvSpPr>
        <p:spPr>
          <a:xfrm>
            <a:off x="6172200" y="1188720"/>
            <a:ext cx="5577840" cy="731520"/>
          </a:xfrm>
          <a:prstGeom prst="roundRect">
            <a:avLst/>
          </a:prstGeom>
          <a:solidFill>
            <a:srgbClr val="E8F1FB"/>
          </a:solidFill>
          <a:ln w="12700">
            <a:solidFill>
              <a:srgbClr val="2E6F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63500" bIns="25400" lIns="127000"/>
          <a:lstStyle/>
          <a:p>
            <a:pPr algn="l"/>
            <a:r>
              <a:rPr sz="1200" b="1" i="0">
                <a:solidFill>
                  <a:srgbClr val="1F2A37"/>
                </a:solidFill>
                <a:latin typeface="Calibri"/>
              </a:rPr>
              <a:t>All eight gsm8k legs pass</a:t>
            </a:r>
          </a:p>
          <a:p>
            <a:pPr algn="l"/>
            <a:r>
              <a:rPr sz="1000" b="0" i="0">
                <a:solidFill>
                  <a:srgbClr val="3A4654"/>
                </a:solidFill>
                <a:latin typeface="Calibri"/>
              </a:rPr>
              <a:t>1.00 everywhere except #4, where ONE task of five fails on the gpt-4.1 swap. The four AuthBridge presets do not change the result — only the latency.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172200" y="1975104"/>
            <a:ext cx="5577840" cy="731520"/>
          </a:xfrm>
          <a:prstGeom prst="roundRect">
            <a:avLst/>
          </a:prstGeom>
          <a:solidFill>
            <a:srgbClr val="E8F1FB"/>
          </a:solidFill>
          <a:ln w="12700">
            <a:solidFill>
              <a:srgbClr val="2E6F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63500" bIns="25400" lIns="127000"/>
          <a:lstStyle/>
          <a:p>
            <a:pPr algn="l"/>
            <a:r>
              <a:rPr sz="1200" b="1" i="0">
                <a:solidFill>
                  <a:srgbClr val="1F2A37"/>
                </a:solidFill>
                <a:latin typeface="Calibri"/>
              </a:rPr>
              <a:t>tau2 is the only leg that moves</a:t>
            </a:r>
          </a:p>
          <a:p>
            <a:pPr algn="l"/>
            <a:r>
              <a:rPr sz="1000" b="0" i="0">
                <a:solidFill>
                  <a:srgbClr val="3A4654"/>
                </a:solidFill>
                <a:latin typeface="Calibri"/>
              </a:rPr>
              <a:t>0.70 and 0.85. Across six samples of the same 10 tasks, four flip: at n=10 one task is worth 0.10, so this cannot resolve less than that.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172200" y="2761488"/>
            <a:ext cx="5577840" cy="731520"/>
          </a:xfrm>
          <a:prstGeom prst="roundRect">
            <a:avLst/>
          </a:prstGeom>
          <a:solidFill>
            <a:srgbClr val="E8F1FB"/>
          </a:solidFill>
          <a:ln w="12700">
            <a:solidFill>
              <a:srgbClr val="2E6F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63500" bIns="25400" lIns="127000"/>
          <a:lstStyle/>
          <a:p>
            <a:pPr algn="l"/>
            <a:r>
              <a:rPr sz="1200" b="1" i="0">
                <a:solidFill>
                  <a:srgbClr val="1F2A37"/>
                </a:solidFill>
                <a:latin typeface="Calibri"/>
              </a:rPr>
              <a:t>appworld 0.00 is the honest result</a:t>
            </a:r>
          </a:p>
          <a:p>
            <a:pPr algn="l"/>
            <a:r>
              <a:rPr sz="1000" b="0" i="0">
                <a:solidFill>
                  <a:srgbClr val="3A4654"/>
                </a:solidFill>
                <a:latin typeface="Calibri"/>
              </a:rPr>
              <a:t>Runs complete, tokens record, evaluation says the goal was not met. ~94% of tasks self-declare finish.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172200" y="3547872"/>
            <a:ext cx="5577840" cy="731520"/>
          </a:xfrm>
          <a:prstGeom prst="roundRect">
            <a:avLst/>
          </a:prstGeom>
          <a:solidFill>
            <a:srgbClr val="E8F1FB"/>
          </a:solidFill>
          <a:ln w="12700">
            <a:solidFill>
              <a:srgbClr val="2E6F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63500" bIns="25400" lIns="127000"/>
          <a:lstStyle/>
          <a:p>
            <a:pPr algn="l"/>
            <a:r>
              <a:rPr sz="1200" b="1" i="0">
                <a:solidFill>
                  <a:srgbClr val="1F2A37"/>
                </a:solidFill>
                <a:latin typeface="Calibri"/>
              </a:rPr>
              <a:t>Token attribution complete: 0 of 138 rows lost</a:t>
            </a:r>
          </a:p>
          <a:p>
            <a:pPr algn="l"/>
            <a:r>
              <a:rPr sz="1000" b="0" i="0">
                <a:solidFill>
                  <a:srgbClr val="3A4654"/>
                </a:solidFill>
                <a:latin typeface="Calibri"/>
              </a:rPr>
              <a:t>The previous matrix had 15 damaged rows that a tokens == 0 check reported as clean. Fresh deploy per leg, plus a structural detector.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72200" y="4334256"/>
            <a:ext cx="5577840" cy="731520"/>
          </a:xfrm>
          <a:prstGeom prst="roundRect">
            <a:avLst/>
          </a:prstGeom>
          <a:solidFill>
            <a:srgbClr val="E8F1FB"/>
          </a:solidFill>
          <a:ln w="12700">
            <a:solidFill>
              <a:srgbClr val="2E6F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63500" bIns="25400" lIns="127000"/>
          <a:lstStyle/>
          <a:p>
            <a:pPr algn="l"/>
            <a:r>
              <a:rPr sz="1200" b="1" i="0">
                <a:solidFill>
                  <a:srgbClr val="1F2A37"/>
                </a:solidFill>
                <a:latin typeface="Calibri"/>
              </a:rPr>
              <a:t>8.4M input / 674k output tokens</a:t>
            </a:r>
          </a:p>
          <a:p>
            <a:pPr algn="l"/>
            <a:r>
              <a:rPr sz="1000" b="0" i="0">
                <a:solidFill>
                  <a:srgbClr val="3A4654"/>
                </a:solidFill>
                <a:latin typeface="Calibri"/>
              </a:rPr>
              <a:t>over 5,438 s of wall time — appworld alone is 71% of the input, on 25 of 138 tasks.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795760" y="6437376"/>
            <a:ext cx="320040" cy="31089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spcAft>
                <a:spcPts val="300"/>
              </a:spcAft>
            </a:pPr>
            <a:r>
              <a:rPr sz="1200" b="0" i="0">
                <a:solidFill>
                  <a:srgbClr val="6B6B6B"/>
                </a:solidFill>
                <a:latin typeface="Calibri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950000"/>
          </a:xfrm>
          <a:prstGeom prst="rect">
            <a:avLst/>
          </a:prstGeom>
          <a:solidFill>
            <a:srgbClr val="1B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55600"/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9.1  OpenShift vs KinD — Like-for-Like</a:t>
            </a:r>
          </a:p>
          <a:p>
            <a:r>
              <a:rPr sz="1400" b="0" i="0">
                <a:solidFill>
                  <a:srgbClr val="C9D9EC"/>
                </a:solidFill>
                <a:latin typeface="Calibri"/>
              </a:rPr>
              <a:t>Same 12 request bodies, same Service version, verified-identical instance config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11480" y="1188720"/>
          <a:ext cx="6903720" cy="384048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502920"/>
                <a:gridCol w="1143000"/>
                <a:gridCol w="868680"/>
                <a:gridCol w="914400"/>
                <a:gridCol w="1234440"/>
                <a:gridCol w="1234440"/>
                <a:gridCol w="1005840"/>
              </a:tblGrid>
              <a:tr h="295421">
                <a:tc>
                  <a:txBody>
                    <a:bodyPr/>
                    <a:lstStyle/>
                    <a:p>
                      <a:pPr algn="l"/>
                      <a:r>
                        <a:rPr sz="1000" b="1" i="0">
                          <a:solidFill>
                            <a:srgbClr val="FFFFFF"/>
                          </a:solidFill>
                          <a:latin typeface="Calibri"/>
                        </a:rPr>
                        <a:t>#</a:t>
                      </a:r>
                    </a:p>
                  </a:txBody>
                  <a:tcPr marL="63500" marR="63500" marT="12700" marB="12700" anchor="ctr"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 i="0">
                          <a:solidFill>
                            <a:srgbClr val="FFFFFF"/>
                          </a:solidFill>
                          <a:latin typeface="Calibri"/>
                        </a:rPr>
                        <a:t>bench</a:t>
                      </a:r>
                    </a:p>
                  </a:txBody>
                  <a:tcPr marL="63500" marR="63500" marT="12700" marB="12700" anchor="ctr"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 i="0">
                          <a:solidFill>
                            <a:srgbClr val="FFFFFF"/>
                          </a:solidFill>
                          <a:latin typeface="Calibri"/>
                        </a:rPr>
                        <a:t>pass OCP</a:t>
                      </a:r>
                    </a:p>
                  </a:txBody>
                  <a:tcPr marL="63500" marR="63500" marT="12700" marB="12700" anchor="ctr"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 i="0">
                          <a:solidFill>
                            <a:srgbClr val="FFFFFF"/>
                          </a:solidFill>
                          <a:latin typeface="Calibri"/>
                        </a:rPr>
                        <a:t>pass KinD</a:t>
                      </a:r>
                    </a:p>
                  </a:txBody>
                  <a:tcPr marL="63500" marR="63500" marT="12700" marB="12700" anchor="ctr"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 i="0">
                          <a:solidFill>
                            <a:srgbClr val="FFFFFF"/>
                          </a:solidFill>
                          <a:latin typeface="Calibri"/>
                        </a:rPr>
                        <a:t>in OCP</a:t>
                      </a:r>
                    </a:p>
                  </a:txBody>
                  <a:tcPr marL="63500" marR="63500" marT="12700" marB="12700" anchor="ctr"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 i="0">
                          <a:solidFill>
                            <a:srgbClr val="FFFFFF"/>
                          </a:solidFill>
                          <a:latin typeface="Calibri"/>
                        </a:rPr>
                        <a:t>in KinD</a:t>
                      </a:r>
                    </a:p>
                  </a:txBody>
                  <a:tcPr marL="63500" marR="63500" marT="12700" marB="12700" anchor="ctr"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 i="0">
                          <a:solidFill>
                            <a:srgbClr val="FFFFFF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63500" marR="63500" marT="12700" marB="12700" anchor="ctr">
                    <a:solidFill>
                      <a:srgbClr val="1B3A5C"/>
                    </a:solidFill>
                  </a:tcPr>
                </a:tc>
              </a:tr>
              <a:tr h="295421">
                <a:tc>
                  <a:txBody>
                    <a:bodyPr/>
                    <a:lstStyle/>
                    <a:p>
                      <a:pPr algn="l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gsm8k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1.00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1.00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320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320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identical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</a:tr>
              <a:tr h="295421">
                <a:tc>
                  <a:txBody>
                    <a:bodyPr/>
                    <a:lstStyle/>
                    <a:p>
                      <a:pPr algn="l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gsm8k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1.00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1.00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3,166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3,166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identical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</a:tr>
              <a:tr h="295421">
                <a:tc>
                  <a:txBody>
                    <a:bodyPr/>
                    <a:lstStyle/>
                    <a:p>
                      <a:pPr algn="l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gsm8k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1.00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1.00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15,684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15,684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identical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</a:tr>
              <a:tr h="295421">
                <a:tc>
                  <a:txBody>
                    <a:bodyPr/>
                    <a:lstStyle/>
                    <a:p>
                      <a:pPr algn="l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gsm8k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0.80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0.80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3,613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4,184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</a:tr>
              <a:tr h="295421">
                <a:tc>
                  <a:txBody>
                    <a:bodyPr/>
                    <a:lstStyle/>
                    <a:p>
                      <a:pPr algn="l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gsm8k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1.00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1.00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1,564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1,564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identical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</a:tr>
              <a:tr h="295421">
                <a:tc>
                  <a:txBody>
                    <a:bodyPr/>
                    <a:lstStyle/>
                    <a:p>
                      <a:pPr algn="l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6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gsm8k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1.00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1.00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1,564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1,564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identical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</a:tr>
              <a:tr h="295421">
                <a:tc>
                  <a:txBody>
                    <a:bodyPr/>
                    <a:lstStyle/>
                    <a:p>
                      <a:pPr algn="l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7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gsm8k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1.00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1.00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1,564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1,564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identical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</a:tr>
              <a:tr h="295421">
                <a:tc>
                  <a:txBody>
                    <a:bodyPr/>
                    <a:lstStyle/>
                    <a:p>
                      <a:pPr algn="l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8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gsm8k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1.00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1.00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1,564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1,564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identical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</a:tr>
              <a:tr h="295421">
                <a:tc>
                  <a:txBody>
                    <a:bodyPr/>
                    <a:lstStyle/>
                    <a:p>
                      <a:pPr algn="l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9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tau2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0.70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0.70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852,240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847,530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</a:tr>
              <a:tr h="295421">
                <a:tc>
                  <a:txBody>
                    <a:bodyPr/>
                    <a:lstStyle/>
                    <a:p>
                      <a:pPr algn="l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10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tau2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0.85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0.80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1,550,718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1,552,641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</a:tr>
              <a:tr h="295421">
                <a:tc>
                  <a:txBody>
                    <a:bodyPr/>
                    <a:lstStyle/>
                    <a:p>
                      <a:pPr algn="l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11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appworld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0.00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0.00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1,988,986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1,150,541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</a:tr>
              <a:tr h="295428">
                <a:tc>
                  <a:txBody>
                    <a:bodyPr/>
                    <a:lstStyle/>
                    <a:p>
                      <a:pPr algn="l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12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appworld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0.00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0.00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4,009,033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3,646,292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</a:tr>
            </a:tbl>
          </a:graphicData>
        </a:graphic>
      </p:graphicFrame>
      <p:sp>
        <p:nvSpPr>
          <p:cNvPr id="4" name="Rounded Rectangle 3"/>
          <p:cNvSpPr/>
          <p:nvPr/>
        </p:nvSpPr>
        <p:spPr>
          <a:xfrm>
            <a:off x="7543800" y="1188720"/>
            <a:ext cx="4206240" cy="731520"/>
          </a:xfrm>
          <a:prstGeom prst="roundRect">
            <a:avLst/>
          </a:prstGeom>
          <a:solidFill>
            <a:srgbClr val="E4F0F0"/>
          </a:solidFill>
          <a:ln w="12700">
            <a:solidFill>
              <a:srgbClr val="3D6E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63500" bIns="25400" lIns="127000"/>
          <a:lstStyle/>
          <a:p>
            <a:pPr algn="l"/>
            <a:r>
              <a:rPr sz="1150" b="1" i="0">
                <a:solidFill>
                  <a:srgbClr val="1F2A37"/>
                </a:solidFill>
                <a:latin typeface="Calibri"/>
              </a:rPr>
              <a:t>11 of 12 pass rates identical</a:t>
            </a:r>
          </a:p>
          <a:p>
            <a:pPr algn="l"/>
            <a:r>
              <a:rPr sz="950" b="0" i="0">
                <a:solidFill>
                  <a:srgbClr val="3A4654"/>
                </a:solidFill>
                <a:latin typeface="Calibri"/>
              </a:rPr>
              <a:t>Only #10 differs, by one task of twenty (0.85 vs 0.80) — and tau2 is the leg we know flips run to run on either platform.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543800" y="1975104"/>
            <a:ext cx="4206240" cy="731520"/>
          </a:xfrm>
          <a:prstGeom prst="roundRect">
            <a:avLst/>
          </a:prstGeom>
          <a:solidFill>
            <a:srgbClr val="E4F0F0"/>
          </a:solidFill>
          <a:ln w="12700">
            <a:solidFill>
              <a:srgbClr val="3D6E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63500" bIns="25400" lIns="127000"/>
          <a:lstStyle/>
          <a:p>
            <a:pPr algn="l"/>
            <a:r>
              <a:rPr sz="1150" b="1" i="0">
                <a:solidFill>
                  <a:srgbClr val="1F2A37"/>
                </a:solidFill>
                <a:latin typeface="Calibri"/>
              </a:rPr>
              <a:t>7 legs byte-identical on input tokens</a:t>
            </a:r>
          </a:p>
          <a:p>
            <a:pPr algn="l"/>
            <a:r>
              <a:rPr sz="950" b="0" i="0">
                <a:solidFill>
                  <a:srgbClr val="3A4654"/>
                </a:solidFill>
                <a:latin typeface="Calibri"/>
              </a:rPr>
              <a:t>320 / 3,166 / 15,684 / 1,564 x4. Deterministic task selection plus the same model means identical work — the strongest available proof this is a like-for-like comparison, not merely a similar one.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543800" y="2761488"/>
            <a:ext cx="4206240" cy="731520"/>
          </a:xfrm>
          <a:prstGeom prst="roundRect">
            <a:avLst/>
          </a:prstGeom>
          <a:solidFill>
            <a:srgbClr val="E4F0F0"/>
          </a:solidFill>
          <a:ln w="12700">
            <a:solidFill>
              <a:srgbClr val="3D6E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63500" bIns="25400" lIns="127000"/>
          <a:lstStyle/>
          <a:p>
            <a:pPr algn="l"/>
            <a:r>
              <a:rPr sz="1150" b="1" i="0">
                <a:solidFill>
                  <a:srgbClr val="1F2A37"/>
                </a:solidFill>
                <a:latin typeface="Calibri"/>
              </a:rPr>
              <a:t>Wall time is a dead heat</a:t>
            </a:r>
          </a:p>
          <a:p>
            <a:pPr algn="l"/>
            <a:r>
              <a:rPr sz="950" b="0" i="0">
                <a:solidFill>
                  <a:srgbClr val="3A4654"/>
                </a:solidFill>
                <a:latin typeface="Calibri"/>
              </a:rPr>
              <a:t>5,438 s on OpenShift vs 5,429 s on a single KinD node — 0.2% apart in total, though individual legs differ by up to 8x.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543800" y="3547872"/>
            <a:ext cx="4206240" cy="731520"/>
          </a:xfrm>
          <a:prstGeom prst="roundRect">
            <a:avLst/>
          </a:prstGeom>
          <a:solidFill>
            <a:srgbClr val="E4F0F0"/>
          </a:solidFill>
          <a:ln w="12700">
            <a:solidFill>
              <a:srgbClr val="3D6E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63500" bIns="25400" lIns="127000"/>
          <a:lstStyle/>
          <a:p>
            <a:pPr algn="l"/>
            <a:r>
              <a:rPr sz="1150" b="1" i="0">
                <a:solidFill>
                  <a:srgbClr val="1F2A37"/>
                </a:solidFill>
                <a:latin typeface="Calibri"/>
              </a:rPr>
              <a:t>0 lost-attribution rows on both sides</a:t>
            </a:r>
          </a:p>
          <a:p>
            <a:pPr algn="l"/>
            <a:r>
              <a:rPr sz="950" b="0" i="0">
                <a:solidFill>
                  <a:srgbClr val="3A4654"/>
                </a:solidFill>
                <a:latin typeface="Calibri"/>
              </a:rPr>
              <a:t>138 OCP tasks, 135 KinD tasks.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543800" y="4334256"/>
            <a:ext cx="4206240" cy="731520"/>
          </a:xfrm>
          <a:prstGeom prst="roundRect">
            <a:avLst/>
          </a:prstGeom>
          <a:solidFill>
            <a:srgbClr val="E4F0F0"/>
          </a:solidFill>
          <a:ln w="12700">
            <a:solidFill>
              <a:srgbClr val="3D6E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63500" bIns="25400" lIns="127000"/>
          <a:lstStyle/>
          <a:p>
            <a:pPr algn="l"/>
            <a:r>
              <a:rPr sz="1150" b="1" i="0">
                <a:solidFill>
                  <a:srgbClr val="1F2A37"/>
                </a:solidFill>
                <a:latin typeface="Calibri"/>
              </a:rPr>
              <a:t>So the platform is not the variable</a:t>
            </a:r>
          </a:p>
          <a:p>
            <a:pPr algn="l"/>
            <a:r>
              <a:rPr sz="950" b="0" i="0">
                <a:solidFill>
                  <a:srgbClr val="3A4654"/>
                </a:solidFill>
                <a:latin typeface="Calibri"/>
              </a:rPr>
              <a:t>Where the two differ it traces to episode nondeterminism (tau2), small samples (#4 = one task), or appworld task timeouts — not to OpenShift vs KinD.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795760" y="6437376"/>
            <a:ext cx="320040" cy="31089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spcAft>
                <a:spcPts val="300"/>
              </a:spcAft>
            </a:pPr>
            <a:r>
              <a:rPr sz="1200" b="0" i="0">
                <a:solidFill>
                  <a:srgbClr val="6B6B6B"/>
                </a:solidFill>
                <a:latin typeface="Calibri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950000"/>
          </a:xfrm>
          <a:prstGeom prst="rect">
            <a:avLst/>
          </a:prstGeom>
          <a:solidFill>
            <a:srgbClr val="1B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55600"/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9.2  What AuthBridge Costs</a:t>
            </a:r>
          </a:p>
          <a:p>
            <a:r>
              <a:rPr sz="1400" b="0" i="0">
                <a:solidFill>
                  <a:srgbClr val="C9D9EC"/>
                </a:solidFill>
                <a:latin typeface="Calibri"/>
              </a:rPr>
              <a:t>Legs #3 and #5–8 ran byte-identical work, so latency differences are the plugin config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11480" y="1188720"/>
          <a:ext cx="5806440" cy="173736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2377440"/>
                <a:gridCol w="1691640"/>
                <a:gridCol w="1737360"/>
              </a:tblGrid>
              <a:tr h="434340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FFFFFF"/>
                          </a:solidFill>
                          <a:latin typeface="Calibri"/>
                        </a:rPr>
                        <a:t>component</a:t>
                      </a:r>
                    </a:p>
                  </a:txBody>
                  <a:tcPr marL="63500" marR="63500" marT="12700" marB="12700" anchor="ctr"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 i="0">
                          <a:solidFill>
                            <a:srgbClr val="FFFFFF"/>
                          </a:solidFill>
                          <a:latin typeface="Calibri"/>
                        </a:rPr>
                        <a:t>cost</a:t>
                      </a:r>
                    </a:p>
                  </a:txBody>
                  <a:tcPr marL="63500" marR="63500" marT="12700" marB="12700" anchor="ctr"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 i="0">
                          <a:solidFill>
                            <a:srgbClr val="FFFFFF"/>
                          </a:solidFill>
                          <a:latin typeface="Calibri"/>
                        </a:rPr>
                        <a:t>measured from</a:t>
                      </a:r>
                    </a:p>
                  </a:txBody>
                  <a:tcPr marL="63500" marR="63500" marT="12700" marB="12700" anchor="ctr">
                    <a:solidFill>
                      <a:srgbClr val="1B3A5C"/>
                    </a:solidFill>
                  </a:tcPr>
                </a:tc>
              </a:tr>
              <a:tr h="434340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1F2A37"/>
                          </a:solidFill>
                          <a:latin typeface="Calibri"/>
                        </a:rPr>
                        <a:t>Sidecar present at all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~+9.5 s / task (OCP)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flat across all four presets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</a:tr>
              <a:tr h="434340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1F2A37"/>
                          </a:solidFill>
                          <a:latin typeface="Calibri"/>
                        </a:rPr>
                        <a:t>Tool call, sidecar but unjudged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+0.50 s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auth-only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</a:tr>
              <a:tr h="434340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1F2A37"/>
                          </a:solidFill>
                          <a:latin typeface="Calibri"/>
                        </a:rPr>
                        <a:t>Tool call, judged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+1.96 s on top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full + observe (all 5 judged)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11480" y="3246120"/>
          <a:ext cx="5806440" cy="173736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2377440"/>
                <a:gridCol w="1143000"/>
                <a:gridCol w="1143000"/>
                <a:gridCol w="1143000"/>
              </a:tblGrid>
              <a:tr h="434340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FFFFFF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63500" marR="63500" marT="12700" marB="12700" anchor="ctr"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 i="0">
                          <a:solidFill>
                            <a:srgbClr val="FFFFFF"/>
                          </a:solidFill>
                          <a:latin typeface="Calibri"/>
                        </a:rPr>
                        <a:t>OCP</a:t>
                      </a:r>
                    </a:p>
                  </a:txBody>
                  <a:tcPr marL="63500" marR="63500" marT="12700" marB="12700" anchor="ctr"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 i="0">
                          <a:solidFill>
                            <a:srgbClr val="FFFFFF"/>
                          </a:solidFill>
                          <a:latin typeface="Calibri"/>
                        </a:rPr>
                        <a:t>KinD</a:t>
                      </a:r>
                    </a:p>
                  </a:txBody>
                  <a:tcPr marL="63500" marR="63500" marT="12700" marB="12700" anchor="ctr"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 i="0">
                          <a:solidFill>
                            <a:srgbClr val="FFFFFF"/>
                          </a:solidFill>
                          <a:latin typeface="Calibri"/>
                        </a:rPr>
                        <a:t>ratio</a:t>
                      </a:r>
                    </a:p>
                  </a:txBody>
                  <a:tcPr marL="63500" marR="63500" marT="12700" marB="12700" anchor="ctr">
                    <a:solidFill>
                      <a:srgbClr val="1B3A5C"/>
                    </a:solidFill>
                  </a:tcPr>
                </a:tc>
              </a:tr>
              <a:tr h="434340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1F2A37"/>
                          </a:solidFill>
                          <a:latin typeface="Calibri"/>
                        </a:rPr>
                        <a:t>connect_mcp with sidecar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3131 ms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168 ms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18.6x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</a:tr>
              <a:tr h="434340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1F2A37"/>
                          </a:solidFill>
                          <a:latin typeface="Calibri"/>
                        </a:rPr>
                        <a:t>tool call, unjudged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545 ms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13 ms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41.1x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</a:tr>
              <a:tr h="434340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1F2A37"/>
                          </a:solidFill>
                          <a:latin typeface="Calibri"/>
                        </a:rPr>
                        <a:t>tool call, judged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2507 ms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1167 ms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2.1x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Rounded Rectangle 4"/>
          <p:cNvSpPr/>
          <p:nvPr/>
        </p:nvSpPr>
        <p:spPr>
          <a:xfrm>
            <a:off x="6446520" y="1188720"/>
            <a:ext cx="5303520" cy="1188720"/>
          </a:xfrm>
          <a:prstGeom prst="roundRect">
            <a:avLst/>
          </a:prstGeom>
          <a:solidFill>
            <a:srgbClr val="F1E8F6"/>
          </a:solidFill>
          <a:ln w="12700">
            <a:solidFill>
              <a:srgbClr val="8E44A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63500" bIns="25400" lIns="127000"/>
          <a:lstStyle/>
          <a:p>
            <a:pPr algn="l"/>
            <a:r>
              <a:rPr sz="1150" b="1" i="0">
                <a:solidFill>
                  <a:srgbClr val="1F2A37"/>
                </a:solidFill>
                <a:latin typeface="Calibri"/>
              </a:rPr>
              <a:t>The judge is itself an LLM call</a:t>
            </a:r>
          </a:p>
          <a:p>
            <a:pPr algn="l"/>
            <a:r>
              <a:rPr sz="950" b="0" i="0">
                <a:solidFill>
                  <a:srgbClr val="3A4654"/>
                </a:solidFill>
                <a:latin typeface="Calibri"/>
              </a:rPr>
              <a:t>The sidecar POSTs to a chat-completions endpoint per authorized action, which is why it costs seconds and why its latency is so variable.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46520" y="2432304"/>
            <a:ext cx="5303520" cy="1188720"/>
          </a:xfrm>
          <a:prstGeom prst="roundRect">
            <a:avLst/>
          </a:prstGeom>
          <a:solidFill>
            <a:srgbClr val="F1E8F6"/>
          </a:solidFill>
          <a:ln w="12700">
            <a:solidFill>
              <a:srgbClr val="8E44A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63500" bIns="25400" lIns="127000"/>
          <a:lstStyle/>
          <a:p>
            <a:pPr algn="l"/>
            <a:r>
              <a:rPr sz="1150" b="1" i="0">
                <a:solidFill>
                  <a:srgbClr val="1F2A37"/>
                </a:solidFill>
                <a:latin typeface="Calibri"/>
              </a:rPr>
              <a:t>Most of the OCP figure is topology, not plugins</a:t>
            </a:r>
          </a:p>
          <a:p>
            <a:pPr algn="l"/>
            <a:r>
              <a:rPr sz="950" b="0" i="0">
                <a:solidFill>
                  <a:srgbClr val="3A4654"/>
                </a:solidFill>
                <a:latin typeface="Calibri"/>
              </a:rPr>
              <a:t>The judged-call cost is comparable across platforms (2.1x) because it is dominated by a shared external gateway. The fixed cost is 8x apart because this OCP matrix is cross-cluster — token exchange over external routes. Do NOT quote +9.5 s as “the cost of AuthBridge”; the single-node figures (~+1.2 s fixed, ~+1.1 s per judged call) are the better estimate.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46520" y="3675888"/>
            <a:ext cx="5303520" cy="1188720"/>
          </a:xfrm>
          <a:prstGeom prst="roundRect">
            <a:avLst/>
          </a:prstGeom>
          <a:solidFill>
            <a:srgbClr val="F1E8F6"/>
          </a:solidFill>
          <a:ln w="12700">
            <a:solidFill>
              <a:srgbClr val="8E44A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63500" bIns="25400" lIns="127000"/>
          <a:lstStyle/>
          <a:p>
            <a:pPr algn="l"/>
            <a:r>
              <a:rPr sz="1150" b="1" i="0">
                <a:solidFill>
                  <a:srgbClr val="1F2A37"/>
                </a:solidFill>
                <a:latin typeface="Calibri"/>
              </a:rPr>
              <a:t>Presets cannot be ranked from these numbers</a:t>
            </a:r>
          </a:p>
          <a:p>
            <a:pPr algn="l"/>
            <a:r>
              <a:rPr sz="950" b="0" i="0">
                <a:solidFill>
                  <a:srgbClr val="3A4654"/>
                </a:solidFill>
                <a:latin typeface="Calibri"/>
              </a:rPr>
              <a:t>Only 1 of 6 IBAC legs authorized all of its tool calls: OCP judged 4/5, 3/5, 5/5 and KinD 3/5, 4/5, 3/5. A leg that judged fewer calls shows a lower median — a mixture, not a saving. Whether that is decision caching under concurrency or a fail-open gap is still OPEN; the test is one ibac-only leg at parallelism 1.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46520" y="4919472"/>
            <a:ext cx="5303520" cy="1188720"/>
          </a:xfrm>
          <a:prstGeom prst="roundRect">
            <a:avLst/>
          </a:prstGeom>
          <a:solidFill>
            <a:srgbClr val="F1E8F6"/>
          </a:solidFill>
          <a:ln w="12700">
            <a:solidFill>
              <a:srgbClr val="8E44A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63500" bIns="25400" lIns="127000"/>
          <a:lstStyle/>
          <a:p>
            <a:pPr algn="l"/>
            <a:r>
              <a:rPr sz="1150" b="1" i="0">
                <a:solidFill>
                  <a:srgbClr val="1F2A37"/>
                </a:solidFill>
                <a:latin typeface="Calibri"/>
              </a:rPr>
              <a:t>Latency only</a:t>
            </a:r>
          </a:p>
          <a:p>
            <a:pPr algn="l"/>
            <a:r>
              <a:rPr sz="950" b="0" i="0">
                <a:solidFill>
                  <a:srgbClr val="3A4654"/>
                </a:solidFill>
                <a:latin typeface="Calibri"/>
              </a:rPr>
              <a:t>The sidecar's CPU and memory cost is unmeasured — every infra field in these runs is 0.0.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795760" y="6437376"/>
            <a:ext cx="320040" cy="31089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spcAft>
                <a:spcPts val="300"/>
              </a:spcAft>
            </a:pPr>
            <a:r>
              <a:rPr sz="1200" b="0" i="0">
                <a:solidFill>
                  <a:srgbClr val="6B6B6B"/>
                </a:solidFill>
                <a:latin typeface="Calibri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950000"/>
          </a:xfrm>
          <a:prstGeom prst="rect">
            <a:avLst/>
          </a:prstGeom>
          <a:solidFill>
            <a:srgbClr val="1B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55600"/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10.  What the Service Can &amp; Cannot Enact</a:t>
            </a:r>
          </a:p>
          <a:p>
            <a:r>
              <a:rPr sz="1400" b="0" i="0">
                <a:solidFill>
                  <a:srgbClr val="C9D9EC"/>
                </a:solidFill>
                <a:latin typeface="Calibri"/>
              </a:rPr>
              <a:t>The HTTP-only boundary, made explicit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234440"/>
            <a:ext cx="5394960" cy="457200"/>
          </a:xfrm>
          <a:prstGeom prst="rect">
            <a:avLst/>
          </a:prstGeom>
          <a:solidFill>
            <a:srgbClr val="5B8C5A"/>
          </a:solidFill>
          <a:ln w="12700">
            <a:solidFill>
              <a:srgbClr val="5B8C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500" b="1" i="0">
                <a:solidFill>
                  <a:srgbClr val="FFFFFF"/>
                </a:solidFill>
                <a:latin typeface="Calibri"/>
              </a:rPr>
              <a:t>✓  Enacts over HTTP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828800"/>
            <a:ext cx="5303520" cy="4206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lvl="1">
              <a:spcAft>
                <a:spcPts val="300"/>
              </a:spcAft>
            </a:pPr>
            <a:r>
              <a:rPr sz="1300" b="0" i="0">
                <a:solidFill>
                  <a:srgbClr val="1F2A37"/>
                </a:solidFill>
                <a:latin typeface="Calibri"/>
              </a:rPr>
              <a:t>• Deploy MCP tool + A2A agent (CPU/mem, image, env)</a:t>
            </a:r>
          </a:p>
          <a:p>
            <a:pPr algn="l" lvl="1">
              <a:spcAft>
                <a:spcPts val="300"/>
              </a:spcAft>
            </a:pPr>
            <a:r>
              <a:rPr sz="1300" b="0" i="0">
                <a:solidFill>
                  <a:srgbClr val="1F2A37"/>
                </a:solidFill>
                <a:latin typeface="Calibri"/>
              </a:rPr>
              <a:t>• Deploy-time model swap (per-experiment agent)</a:t>
            </a:r>
          </a:p>
          <a:p>
            <a:pPr algn="l" lvl="1">
              <a:spcAft>
                <a:spcPts val="300"/>
              </a:spcAft>
            </a:pPr>
            <a:r>
              <a:rPr sz="1300" b="0" i="0">
                <a:solidFill>
                  <a:srgbClr val="1F2A37"/>
                </a:solidFill>
                <a:latin typeface="Calibri"/>
              </a:rPr>
              <a:t>• authbridge_enabled → inject the sidecar (layer-2)</a:t>
            </a:r>
          </a:p>
          <a:p>
            <a:pPr algn="l" lvl="1">
              <a:spcAft>
                <a:spcPts val="300"/>
              </a:spcAft>
            </a:pPr>
            <a:r>
              <a:rPr sz="1300" b="0" i="0">
                <a:solidFill>
                  <a:srgbClr val="1F2A37"/>
                </a:solidFill>
                <a:latin typeface="Calibri"/>
              </a:rPr>
              <a:t>• plugin_preset / plugins / on_error → AuthBridge layer-3</a:t>
            </a:r>
          </a:p>
          <a:p>
            <a:pPr algn="l" lvl="2">
              <a:spcAft>
                <a:spcPts val="300"/>
              </a:spcAft>
            </a:pPr>
            <a:r>
              <a:rPr sz="1150" b="0" i="0">
                <a:solidFill>
                  <a:srgbClr val="3A4654"/>
                </a:solidFill>
                <a:latin typeface="Calibri"/>
              </a:rPr>
              <a:t>→ pluginPreset/plugins/onError; operator renders ConfigMap</a:t>
            </a:r>
          </a:p>
          <a:p>
            <a:pPr algn="l" lvl="1">
              <a:spcAft>
                <a:spcPts val="300"/>
              </a:spcAft>
            </a:pPr>
            <a:r>
              <a:rPr sz="1300" b="0" i="0">
                <a:solidFill>
                  <a:srgbClr val="1F2A37"/>
                </a:solidFill>
                <a:latin typeface="Calibri"/>
              </a:rPr>
              <a:t>• Run benchmark sessions; collect pass/fail + latency</a:t>
            </a:r>
          </a:p>
          <a:p>
            <a:pPr algn="l" lvl="1">
              <a:spcAft>
                <a:spcPts val="300"/>
              </a:spcAft>
            </a:pPr>
            <a:r>
              <a:rPr sz="1300" b="0" i="0">
                <a:solidFill>
                  <a:srgbClr val="1F2A37"/>
                </a:solidFill>
                <a:latin typeface="Calibri"/>
              </a:rPr>
              <a:t>• Emit + read MLflow traces; export to S3</a:t>
            </a:r>
          </a:p>
          <a:p>
            <a:pPr algn="l" lvl="1">
              <a:spcAft>
                <a:spcPts val="300"/>
              </a:spcAft>
            </a:pPr>
            <a:r>
              <a:rPr sz="1300" b="0" i="0">
                <a:solidFill>
                  <a:srgbClr val="1F2A37"/>
                </a:solidFill>
                <a:latin typeface="Calibri"/>
              </a:rPr>
              <a:t>• Service-owned config: MLflow + S3 via PUT /config</a:t>
            </a:r>
          </a:p>
          <a:p>
            <a:pPr algn="l" lvl="2">
              <a:spcAft>
                <a:spcPts val="300"/>
              </a:spcAft>
            </a:pPr>
            <a:r>
              <a:rPr sz="1150" b="0" i="0">
                <a:solidFill>
                  <a:srgbClr val="3A4654"/>
                </a:solidFill>
                <a:latin typeface="Calibri"/>
              </a:rPr>
              <a:t>benchmarker only</a:t>
            </a:r>
          </a:p>
        </p:txBody>
      </p:sp>
      <p:sp>
        <p:nvSpPr>
          <p:cNvPr id="5" name="Rectangle 4"/>
          <p:cNvSpPr/>
          <p:nvPr/>
        </p:nvSpPr>
        <p:spPr>
          <a:xfrm>
            <a:off x="6309360" y="1234440"/>
            <a:ext cx="5394960" cy="457200"/>
          </a:xfrm>
          <a:prstGeom prst="rect">
            <a:avLst/>
          </a:prstGeom>
          <a:solidFill>
            <a:srgbClr val="B55A2E"/>
          </a:solidFill>
          <a:ln w="12700">
            <a:solidFill>
              <a:srgbClr val="B55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500" b="1" i="0">
                <a:solidFill>
                  <a:srgbClr val="FFFFFF"/>
                </a:solidFill>
                <a:latin typeface="Calibri"/>
              </a:rPr>
              <a:t>✗  Out-of-band (reports, doesn't do)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1828800"/>
            <a:ext cx="5303520" cy="4206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lvl="1">
              <a:spcAft>
                <a:spcPts val="300"/>
              </a:spcAft>
            </a:pPr>
            <a:r>
              <a:rPr sz="1300" b="0" i="0">
                <a:solidFill>
                  <a:srgbClr val="1F2A37"/>
                </a:solidFill>
                <a:latin typeface="Calibri"/>
              </a:rPr>
              <a:t>• Cluster Secrets (hf-secret, openai-secret)</a:t>
            </a:r>
          </a:p>
          <a:p>
            <a:pPr algn="l" lvl="2">
              <a:spcAft>
                <a:spcPts val="300"/>
              </a:spcAft>
            </a:pPr>
            <a:r>
              <a:rPr sz="1150" b="0" i="0">
                <a:solidFill>
                  <a:srgbClr val="3A4654"/>
                </a:solidFill>
                <a:latin typeface="Calibri"/>
              </a:rPr>
              <a:t>operator provisions; run precheck returns 424 naming it</a:t>
            </a:r>
          </a:p>
          <a:p>
            <a:pPr algn="l" lvl="1">
              <a:spcAft>
                <a:spcPts val="300"/>
              </a:spcAft>
            </a:pPr>
            <a:r>
              <a:rPr sz="1300" b="0" i="0">
                <a:solidFill>
                  <a:srgbClr val="1F2A37"/>
                </a:solidFill>
                <a:latin typeface="Calibri"/>
              </a:rPr>
              <a:t>• AuthBridge CLUSTER config — ibac judgeEndpoint / judgeModel</a:t>
            </a:r>
          </a:p>
          <a:p>
            <a:pPr algn="l" lvl="2">
              <a:spcAft>
                <a:spcPts val="300"/>
              </a:spcAft>
            </a:pPr>
            <a:r>
              <a:rPr sz="1150" b="0" i="0">
                <a:solidFill>
                  <a:srgbClr val="3A4654"/>
                </a:solidFill>
                <a:latin typeface="Calibri"/>
              </a:rPr>
              <a:t>in the platform-config ConfigMap, not the agent API</a:t>
            </a:r>
          </a:p>
          <a:p>
            <a:pPr algn="l" lvl="1">
              <a:spcAft>
                <a:spcPts val="300"/>
              </a:spcAft>
            </a:pPr>
            <a:r>
              <a:rPr sz="1300" b="0" i="0">
                <a:solidFill>
                  <a:srgbClr val="1F2A37"/>
                </a:solidFill>
                <a:latin typeface="Calibri"/>
              </a:rPr>
              <a:t>• Any cluster-level API call — Rossoctl does these server-side</a:t>
            </a:r>
          </a:p>
          <a:p>
            <a:pPr algn="l">
              <a:spcAft>
                <a:spcPts val="300"/>
              </a:spcAft>
            </a:pPr>
            <a:r>
              <a:rPr sz="1350" b="1" i="0">
                <a:solidFill>
                  <a:srgbClr val="B55A2E"/>
                </a:solidFill>
                <a:latin typeface="Calibri"/>
              </a:rPr>
              <a:t>Principle:</a:t>
            </a:r>
          </a:p>
          <a:p>
            <a:pPr algn="l" lvl="1">
              <a:spcAft>
                <a:spcPts val="300"/>
              </a:spcAft>
            </a:pPr>
            <a:r>
              <a:rPr sz="1300" b="0" i="0">
                <a:solidFill>
                  <a:srgbClr val="1F2A37"/>
                </a:solidFill>
                <a:latin typeface="Calibri"/>
              </a:rPr>
              <a:t>• Never silently ignore an un-enactable request —</a:t>
            </a:r>
          </a:p>
          <a:p>
            <a:pPr algn="l" lvl="2">
              <a:spcAft>
                <a:spcPts val="300"/>
              </a:spcAft>
            </a:pPr>
            <a:r>
              <a:rPr sz="1150" b="0" i="0">
                <a:solidFill>
                  <a:srgbClr val="3A4654"/>
                </a:solidFill>
                <a:latin typeface="Calibri"/>
              </a:rPr>
              <a:t>precheck (424) or reject (422), with an actionable reason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463040" y="5257800"/>
            <a:ext cx="9235440" cy="685800"/>
          </a:xfrm>
          <a:prstGeom prst="roundRect">
            <a:avLst/>
          </a:prstGeom>
          <a:solidFill>
            <a:srgbClr val="EEEFF1"/>
          </a:solidFill>
          <a:ln w="12700">
            <a:solidFill>
              <a:srgbClr val="6B6B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250" b="1" i="0">
                <a:solidFill>
                  <a:srgbClr val="1F2A37"/>
                </a:solidFill>
                <a:latin typeface="Calibri"/>
              </a:rPr>
              <a:t>Cluster-agnostic by construction: works on kind / vanilla k8s / OpenShift; cross-cluster runs use per-instance route templates + a reachable internal issuer.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795760" y="6437376"/>
            <a:ext cx="320040" cy="31089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spcAft>
                <a:spcPts val="300"/>
              </a:spcAft>
            </a:pPr>
            <a:r>
              <a:rPr sz="1200" b="0" i="0">
                <a:solidFill>
                  <a:srgbClr val="6B6B6B"/>
                </a:solidFill>
                <a:latin typeface="Calibri"/>
              </a:rPr>
              <a:t>16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