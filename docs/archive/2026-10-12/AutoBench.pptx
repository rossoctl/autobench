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91" r:id="rId43"/>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0B00000-0000-4000-8000-000000000000}">
          <p14:sldIdLst>
            <p14:sldId id="256"/>
            <p14:sldId id="291"/>
          </p14:sldIdLst>
        </p14:section>
        <p14:section name="1 The design" id="{A0B00001-0000-4000-8000-000000000001}">
          <p14:sldIdLst>
            <p14:sldId id="257"/>
            <p14:sldId id="258"/>
            <p14:sldId id="259"/>
            <p14:sldId id="260"/>
          </p14:sldIdLst>
        </p14:section>
        <p14:section name="2 Architecture &amp; deployment" id="{A0B00002-0000-4000-8000-000000000002}">
          <p14:sldIdLst>
            <p14:sldId id="261"/>
            <p14:sldId id="262"/>
            <p14:sldId id="263"/>
            <p14:sldId id="264"/>
            <p14:sldId id="265"/>
          </p14:sldIdLst>
        </p14:section>
        <p14:section name="3 Running a benchmark" id="{A0B00003-0000-4000-8000-000000000003}">
          <p14:sldIdLst>
            <p14:sldId id="266"/>
            <p14:sldId id="267"/>
            <p14:sldId id="268"/>
            <p14:sldId id="269"/>
          </p14:sldIdLst>
        </p14:section>
        <p14:section name="4 The three benchmarks" id="{A0B00004-0000-4000-8000-000000000004}">
          <p14:sldIdLst>
            <p14:sldId id="270"/>
            <p14:sldId id="271"/>
            <p14:sldId id="272"/>
            <p14:sldId id="273"/>
            <p14:sldId id="274"/>
            <p14:sldId id="275"/>
          </p14:sldIdLst>
        </p14:section>
        <p14:section name="5 Cost" id="{A0B00005-0000-4000-8000-000000000005}">
          <p14:sldIdLst>
            <p14:sldId id="276"/>
            <p14:sldId id="277"/>
            <p14:sldId id="278"/>
            <p14:sldId id="279"/>
            <p14:sldId id="280"/>
            <p14:sldId id="281"/>
            <p14:sldId id="282"/>
            <p14:sldId id="283"/>
            <p14:sldId id="284"/>
          </p14:sldIdLst>
        </p14:section>
        <p14:section name="6 Results (v1.35)" id="{A0B00006-0000-4000-8000-000000000006}">
          <p14:sldIdLst>
            <p14:sldId id="285"/>
            <p14:sldId id="286"/>
            <p14:sldId id="287"/>
            <p14:sldId id="288"/>
            <p14:sldId id="289"/>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tokens</c:v>
                </c:pt>
              </c:strCache>
            </c:strRef>
          </c:tx>
          <c:spPr>
            <a:solidFill>
              <a:srgbClr val="6B7280"/>
            </a:solidFill>
            <a:ln>
              <a:noFill/>
            </a:ln>
          </c:spPr>
          <c:cat>
            <c:strRef>
              <c:f>Sheet1!$A$2:$A$3</c:f>
              <c:strCache>
                <c:ptCount val="2"/>
                <c:pt idx="0">
                  <c:v>tau2 (claude-sonnet-5)</c:v>
                </c:pt>
                <c:pt idx="1">
                  <c:v>appworld (gemini-2.5-pro)</c:v>
                </c:pt>
              </c:strCache>
            </c:strRef>
          </c:cat>
          <c:val>
            <c:numRef>
              <c:f>Sheet1!$B$2:$B$3</c:f>
              <c:numCache>
                <c:formatCode>#,##0"×"</c:formatCode>
                <c:ptCount val="2"/>
                <c:pt idx="0">
                  <c:v>175</c:v>
                </c:pt>
                <c:pt idx="1">
                  <c:v>621</c:v>
                </c:pt>
              </c:numCache>
            </c:numRef>
          </c:val>
        </c:ser>
        <c:ser>
          <c:idx val="1"/>
          <c:order val="1"/>
          <c:tx>
            <c:strRef>
              <c:f>Sheet1!$C$1</c:f>
              <c:strCache>
                <c:ptCount val="1"/>
                <c:pt idx="0">
                  <c:v>wall-clock</c:v>
                </c:pt>
              </c:strCache>
            </c:strRef>
          </c:tx>
          <c:spPr>
            <a:solidFill>
              <a:srgbClr val="3B6EA8"/>
            </a:solidFill>
            <a:ln>
              <a:noFill/>
            </a:ln>
          </c:spPr>
          <c:cat>
            <c:strRef>
              <c:f>Sheet1!$A$2:$A$3</c:f>
              <c:strCache>
                <c:ptCount val="2"/>
                <c:pt idx="0">
                  <c:v>tau2 (claude-sonnet-5)</c:v>
                </c:pt>
                <c:pt idx="1">
                  <c:v>appworld (gemini-2.5-pro)</c:v>
                </c:pt>
              </c:strCache>
            </c:strRef>
          </c:cat>
          <c:val>
            <c:numRef>
              <c:f>Sheet1!$C$2:$C$3</c:f>
              <c:numCache>
                <c:formatCode>#,##0"×"</c:formatCode>
                <c:ptCount val="2"/>
                <c:pt idx="0">
                  <c:v>19</c:v>
                </c:pt>
                <c:pt idx="1">
                  <c:v>87</c:v>
                </c:pt>
              </c:numCache>
            </c:numRef>
          </c:val>
        </c:ser>
        <c:ser>
          <c:idx val="2"/>
          <c:order val="2"/>
          <c:tx>
            <c:strRef>
              <c:f>Sheet1!$D$1</c:f>
              <c:strCache>
                <c:ptCount val="1"/>
                <c:pt idx="0">
                  <c:v>dollars</c:v>
                </c:pt>
              </c:strCache>
            </c:strRef>
          </c:tx>
          <c:spPr>
            <a:solidFill>
              <a:srgbClr val="A3346E"/>
            </a:solidFill>
            <a:ln>
              <a:noFill/>
            </a:ln>
          </c:spPr>
          <c:cat>
            <c:strRef>
              <c:f>Sheet1!$A$2:$A$3</c:f>
              <c:strCache>
                <c:ptCount val="2"/>
                <c:pt idx="0">
                  <c:v>tau2 (claude-sonnet-5)</c:v>
                </c:pt>
                <c:pt idx="1">
                  <c:v>appworld (gemini-2.5-pro)</c:v>
                </c:pt>
              </c:strCache>
            </c:strRef>
          </c:cat>
          <c:val>
            <c:numRef>
              <c:f>Sheet1!$D$2:$D$3</c:f>
              <c:numCache>
                <c:formatCode>#,##0"×"</c:formatCode>
                <c:ptCount val="2"/>
                <c:pt idx="0">
                  <c:v>282</c:v>
                </c:pt>
                <c:pt idx="1">
                  <c:v>1195</c:v>
                </c:pt>
              </c:numCache>
            </c:numRef>
          </c:val>
        </c:ser>
        <c:dLbls>
          <c:numFmt formatCode="#,##0&quot;×&quot;" sourceLinked="0"/>
          <c:txPr>
            <a:bodyPr/>
            <a:lstStyle/>
            <a:p>
              <a:pPr>
                <a:defRPr sz="12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of the tokens</c:v>
                </c:pt>
              </c:strCache>
            </c:strRef>
          </c:tx>
          <c:spPr>
            <a:solidFill>
              <a:srgbClr val="6B7280"/>
            </a:solidFill>
            <a:ln>
              <a:noFill/>
            </a:ln>
          </c:spPr>
          <c:cat>
            <c:strRef>
              <c:f>Sheet1!$A$2:$A$5</c:f>
              <c:strCache>
                <c:ptCount val="4"/>
                <c:pt idx="0">
                  <c:v>gsm8k (gpt-4.1)</c:v>
                </c:pt>
                <c:pt idx="1">
                  <c:v>gsm8k (gpt-5-mini)</c:v>
                </c:pt>
                <c:pt idx="2">
                  <c:v>tau2 (claude-sonnet-5)</c:v>
                </c:pt>
                <c:pt idx="3">
                  <c:v>appworld (gemini-2.5-pro)</c:v>
                </c:pt>
              </c:strCache>
            </c:strRef>
          </c:cat>
          <c:val>
            <c:numRef>
              <c:f>Sheet1!$B$2:$B$5</c:f>
              <c:numCache>
                <c:formatCode>0"%"</c:formatCode>
                <c:ptCount val="4"/>
                <c:pt idx="0">
                  <c:v>92.8</c:v>
                </c:pt>
                <c:pt idx="1">
                  <c:v>64.0</c:v>
                </c:pt>
                <c:pt idx="2">
                  <c:v>97.7</c:v>
                </c:pt>
                <c:pt idx="3">
                  <c:v>91.5</c:v>
                </c:pt>
              </c:numCache>
            </c:numRef>
          </c:val>
        </c:ser>
        <c:ser>
          <c:idx val="1"/>
          <c:order val="1"/>
          <c:tx>
            <c:strRef>
              <c:f>Sheet1!$C$1</c:f>
              <c:strCache>
                <c:ptCount val="1"/>
                <c:pt idx="0">
                  <c:v>of the bill</c:v>
                </c:pt>
              </c:strCache>
            </c:strRef>
          </c:tx>
          <c:spPr>
            <a:solidFill>
              <a:srgbClr val="A3346E"/>
            </a:solidFill>
            <a:ln>
              <a:noFill/>
            </a:ln>
          </c:spPr>
          <c:cat>
            <c:strRef>
              <c:f>Sheet1!$A$2:$A$5</c:f>
              <c:strCache>
                <c:ptCount val="4"/>
                <c:pt idx="0">
                  <c:v>gsm8k (gpt-4.1)</c:v>
                </c:pt>
                <c:pt idx="1">
                  <c:v>gsm8k (gpt-5-mini)</c:v>
                </c:pt>
                <c:pt idx="2">
                  <c:v>tau2 (claude-sonnet-5)</c:v>
                </c:pt>
                <c:pt idx="3">
                  <c:v>appworld (gemini-2.5-pro)</c:v>
                </c:pt>
              </c:strCache>
            </c:strRef>
          </c:cat>
          <c:val>
            <c:numRef>
              <c:f>Sheet1!$C$2:$C$5</c:f>
              <c:numCache>
                <c:formatCode>0"%"</c:formatCode>
                <c:ptCount val="4"/>
                <c:pt idx="0">
                  <c:v>76.3</c:v>
                </c:pt>
                <c:pt idx="1">
                  <c:v>18.1</c:v>
                </c:pt>
                <c:pt idx="2">
                  <c:v>89.5</c:v>
                </c:pt>
                <c:pt idx="3">
                  <c:v>57.5</c:v>
                </c:pt>
              </c:numCache>
            </c:numRef>
          </c:val>
        </c:ser>
        <c:dLbls>
          <c:numFmt formatCode="0&quot;%&quot;" sourceLinked="0"/>
          <c:txPr>
            <a:bodyPr/>
            <a:lstStyle/>
            <a:p>
              <a:pPr>
                <a:defRPr sz="12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max val="100.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paid for input</c:v>
                </c:pt>
              </c:strCache>
            </c:strRef>
          </c:tx>
          <c:spPr>
            <a:solidFill>
              <a:srgbClr val="D9A3C0"/>
            </a:solidFill>
            <a:ln>
              <a:noFill/>
            </a:ln>
          </c:spPr>
          <c:cat>
            <c:strRef>
              <c:f>Sheet1!$A$2:$A$3</c:f>
              <c:strCache>
                <c:ptCount val="2"/>
                <c:pt idx="0">
                  <c:v>gpt-5-mini</c:v>
                </c:pt>
                <c:pt idx="1">
                  <c:v>gpt-4.1</c:v>
                </c:pt>
              </c:strCache>
            </c:strRef>
          </c:cat>
          <c:val>
            <c:numRef>
              <c:f>Sheet1!$B$2:$B$3</c:f>
              <c:numCache>
                <c:formatCode>"$"0.0000</c:formatCode>
                <c:ptCount val="2"/>
                <c:pt idx="0">
                  <c:v>7.82e-05</c:v>
                </c:pt>
                <c:pt idx="1">
                  <c:v>0.001617</c:v>
                </c:pt>
              </c:numCache>
            </c:numRef>
          </c:val>
        </c:ser>
        <c:ser>
          <c:idx val="1"/>
          <c:order val="1"/>
          <c:tx>
            <c:strRef>
              <c:f>Sheet1!$C$1</c:f>
              <c:strCache>
                <c:ptCount val="1"/>
                <c:pt idx="0">
                  <c:v>paid for output</c:v>
                </c:pt>
              </c:strCache>
            </c:strRef>
          </c:tx>
          <c:spPr>
            <a:solidFill>
              <a:srgbClr val="A3346E"/>
            </a:solidFill>
            <a:ln>
              <a:noFill/>
            </a:ln>
          </c:spPr>
          <c:cat>
            <c:strRef>
              <c:f>Sheet1!$A$2:$A$3</c:f>
              <c:strCache>
                <c:ptCount val="2"/>
                <c:pt idx="0">
                  <c:v>gpt-5-mini</c:v>
                </c:pt>
                <c:pt idx="1">
                  <c:v>gpt-4.1</c:v>
                </c:pt>
              </c:strCache>
            </c:strRef>
          </c:cat>
          <c:val>
            <c:numRef>
              <c:f>Sheet1!$C$2:$C$3</c:f>
              <c:numCache>
                <c:formatCode>"$"0.0000</c:formatCode>
                <c:ptCount val="2"/>
                <c:pt idx="0">
                  <c:v>0.0003836</c:v>
                </c:pt>
                <c:pt idx="1">
                  <c:v>0.0005016</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dollars per leg</c:v>
                </c:pt>
              </c:strCache>
            </c:strRef>
          </c:tx>
          <c:spPr>
            <a:solidFill>
              <a:srgbClr val="A3346E"/>
            </a:solidFill>
            <a:ln>
              <a:noFill/>
            </a:ln>
          </c:spPr>
          <c:cat>
            <c:strRef>
              <c:f>Sheet1!$A$2:$A$13</c:f>
              <c:strCache>
                <c:ptCount val="12"/>
                <c:pt idx="0">
                  <c:v>#12 appworld</c:v>
                </c:pt>
                <c:pt idx="1">
                  <c:v>#11 appworld</c:v>
                </c:pt>
                <c:pt idx="2">
                  <c:v>#10 tau2</c:v>
                </c:pt>
                <c:pt idx="3">
                  <c:v>#9 tau2</c:v>
                </c:pt>
                <c:pt idx="4">
                  <c:v>#3 gsm8k</c:v>
                </c:pt>
                <c:pt idx="5">
                  <c:v>#4 gsm8k</c:v>
                </c:pt>
                <c:pt idx="6">
                  <c:v>#2 gsm8k</c:v>
                </c:pt>
                <c:pt idx="7">
                  <c:v>#5 gsm8k</c:v>
                </c:pt>
                <c:pt idx="8">
                  <c:v>#7 gsm8k</c:v>
                </c:pt>
                <c:pt idx="9">
                  <c:v>#8 gsm8k</c:v>
                </c:pt>
                <c:pt idx="10">
                  <c:v>#6 gsm8k</c:v>
                </c:pt>
                <c:pt idx="11">
                  <c:v>#1 gsm8k</c:v>
                </c:pt>
              </c:strCache>
            </c:strRef>
          </c:cat>
          <c:val>
            <c:numRef>
              <c:f>Sheet1!$B$2:$B$13</c:f>
              <c:numCache>
                <c:formatCode>[&gt;=0.01]"$"#,##0.00;"under $0.01"</c:formatCode>
                <c:ptCount val="12"/>
                <c:pt idx="0">
                  <c:v>12.628705</c:v>
                </c:pt>
                <c:pt idx="1">
                  <c:v>3.09937375</c:v>
                </c:pt>
                <c:pt idx="2">
                  <c:v>2.88066448</c:v>
                </c:pt>
                <c:pt idx="3">
                  <c:v>1.59490864</c:v>
                </c:pt>
                <c:pt idx="4">
                  <c:v>0.019949</c:v>
                </c:pt>
                <c:pt idx="5">
                  <c:v>0.010328</c:v>
                </c:pt>
                <c:pt idx="6">
                  <c:v>0.0046895</c:v>
                </c:pt>
                <c:pt idx="7">
                  <c:v>0.002533</c:v>
                </c:pt>
                <c:pt idx="8">
                  <c:v>0.002277</c:v>
                </c:pt>
                <c:pt idx="9">
                  <c:v>0.0018930000000000002</c:v>
                </c:pt>
                <c:pt idx="10">
                  <c:v>0.001637</c:v>
                </c:pt>
                <c:pt idx="11">
                  <c:v>0.000252</c:v>
                </c:pt>
              </c:numCache>
            </c:numRef>
          </c:val>
        </c:ser>
        <c:dLbls>
          <c:numFmt formatCode="[&gt;=0.01]&quot;$&quot;#,##0.00;&quot;under $0.01&quot;" sourceLinked="0"/>
          <c:txPr>
            <a:bodyPr/>
            <a:lstStyle/>
            <a:p>
              <a:pPr>
                <a:defRPr sz="1100">
                  <a:solidFill>
                    <a:srgbClr val="1F2A44"/>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numFmt formatCode="&quot;$&quot;#,##0" sourceLinked="0"/>
        <c:majorTickMark val="out"/>
        <c:minorTickMark val="none"/>
        <c:tickLblPos val="nextTo"/>
        <c:spPr>
          <a:ln>
            <a:noFill/>
          </a:ln>
        </c:spPr>
        <c:txPr>
          <a:bodyPr/>
          <a:lstStyle/>
          <a:p>
            <a:pPr>
              <a:defRPr sz="1000">
                <a:solidFill>
                  <a:srgbClr val="5B6477"/>
                </a:solidFill>
              </a:defRPr>
            </a:pPr>
          </a:p>
        </c:txPr>
        <c:crossAx val="-2068027336"/>
        <c:crosses val="max"/>
      </c:valAx>
    </c:plotArea>
    <c:dispBlanksAs val="gap"/>
  </c:chart>
  <c:txPr>
    <a:bodyPr/>
    <a:lstStyle/>
    <a:p>
      <a:pPr>
        <a:defRPr sz="1100">
          <a:solidFill>
            <a:srgbClr val="1F2A44"/>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the agent's own calls</c:v>
                </c:pt>
              </c:strCache>
            </c:strRef>
          </c:tx>
          <c:spPr>
            <a:solidFill>
              <a:srgbClr val="0F768C"/>
            </a:solidFill>
            <a:ln>
              <a:noFill/>
            </a:ln>
          </c:spPr>
          <c:cat>
            <c:strRef>
              <c:f>Sheet1!$A$2:$A$7</c:f>
              <c:strCache>
                <c:ptCount val="6"/>
                <c:pt idx="0">
                  <c:v>OpenShift #6</c:v>
                </c:pt>
                <c:pt idx="1">
                  <c:v>OpenShift #7</c:v>
                </c:pt>
                <c:pt idx="2">
                  <c:v>OpenShift #8</c:v>
                </c:pt>
                <c:pt idx="3">
                  <c:v>KinD #6</c:v>
                </c:pt>
                <c:pt idx="4">
                  <c:v>KinD #7</c:v>
                </c:pt>
                <c:pt idx="5">
                  <c:v>KinD #8</c:v>
                </c:pt>
              </c:strCache>
            </c:strRef>
          </c:cat>
          <c:val>
            <c:numRef>
              <c:f>Sheet1!$B$2:$B$7</c:f>
              <c:numCache>
                <c:formatCode>"$"0.000</c:formatCode>
                <c:ptCount val="6"/>
                <c:pt idx="0">
                  <c:v>0.001637</c:v>
                </c:pt>
                <c:pt idx="1">
                  <c:v>0.002277</c:v>
                </c:pt>
                <c:pt idx="2">
                  <c:v>0.0018930000000000002</c:v>
                </c:pt>
                <c:pt idx="3">
                  <c:v>0.0017649999999999999</c:v>
                </c:pt>
                <c:pt idx="4">
                  <c:v>0.003173</c:v>
                </c:pt>
                <c:pt idx="5">
                  <c:v>0.002789</c:v>
                </c:pt>
              </c:numCache>
            </c:numRef>
          </c:val>
        </c:ser>
        <c:ser>
          <c:idx val="1"/>
          <c:order val="1"/>
          <c:tx>
            <c:strRef>
              <c:f>Sheet1!$C$1</c:f>
              <c:strCache>
                <c:ptCount val="1"/>
                <c:pt idx="0">
                  <c:v>the IBAC judge (floor)</c:v>
                </c:pt>
              </c:strCache>
            </c:strRef>
          </c:tx>
          <c:spPr>
            <a:solidFill>
              <a:srgbClr val="C98A1E"/>
            </a:solidFill>
            <a:ln>
              <a:noFill/>
            </a:ln>
          </c:spPr>
          <c:cat>
            <c:strRef>
              <c:f>Sheet1!$A$2:$A$7</c:f>
              <c:strCache>
                <c:ptCount val="6"/>
                <c:pt idx="0">
                  <c:v>OpenShift #6</c:v>
                </c:pt>
                <c:pt idx="1">
                  <c:v>OpenShift #7</c:v>
                </c:pt>
                <c:pt idx="2">
                  <c:v>OpenShift #8</c:v>
                </c:pt>
                <c:pt idx="3">
                  <c:v>KinD #6</c:v>
                </c:pt>
                <c:pt idx="4">
                  <c:v>KinD #7</c:v>
                </c:pt>
                <c:pt idx="5">
                  <c:v>KinD #8</c:v>
                </c:pt>
              </c:strCache>
            </c:strRef>
          </c:cat>
          <c:val>
            <c:numRef>
              <c:f>Sheet1!$C$2:$C$7</c:f>
              <c:numCache>
                <c:formatCode>"$"0.000</c:formatCode>
                <c:ptCount val="6"/>
                <c:pt idx="0">
                  <c:v>0.0055425</c:v>
                </c:pt>
                <c:pt idx="1">
                  <c:v>0.0055425</c:v>
                </c:pt>
                <c:pt idx="2">
                  <c:v>0.0055425</c:v>
                </c:pt>
                <c:pt idx="3">
                  <c:v>0.0055425</c:v>
                </c:pt>
                <c:pt idx="4">
                  <c:v>0.0055425</c:v>
                </c:pt>
                <c:pt idx="5">
                  <c:v>0.0055425</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omits Keycloak (the auth model has its own slide), the workload's internals and anything cluster-specific.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config: leave workload_llm.disable_proxy off, keep the NAMED hosts in no_proxy (gateway, collector, Keycloak), and drop the wildcards (.svc, .svc.cluster.local).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reference/autobench-install.sh --env-file &lt;env&gt; [--dry-run]</a:t>
            </a:r>
          </a:p>
          <a:p>
            <a:r>
              <a:t>reference/autobench-uninstall.sh --env-file &lt;env&gt; [--dry-run] [--teams team1]</a:t>
            </a:r>
          </a:p>
          <a:p>
            <a:r>
              <a:t>Details: docs/ADMIN_GUIDE.md §5, 'What the scripts install: one cluster'.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gsm8k is a smoke test with a score: reading its 0.98 as a model measurement is the most common misreading. tau2 is the only rung that discriminates, and it fails informatively. appworld earns its place because it fails: it is the leg that exposed a timeout, a context limit or a cache effect before a user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rung is a different model, which is why the dollar bar outruns the token bar: climbing the ladder also buys a dearer model. Wall-clock climbs SLOWEST of the three (19× tau2, 87× appworld), because the harder benchmarks parallelize their turns while their bills add up.</a:t>
            </a:r>
          </a:p>
          <a:p/>
          <a:p>
            <a:r>
              <a:t>gsm8k baseline: 513 tokens, $0.00053, 2.5 s median, over 172 task 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the reason a model can win on token count and lose on the invoice. It also says where to look for savings: only tau2 is genuinely input-dominated in money, so it is the one benchmark where a cheaper-input model beats a terser one — everywhere else verbosity is the thing to control.</a:t>
            </a:r>
          </a:p>
          <a:p/>
          <a:p>
            <a:r>
              <a:t>Both bars are per-task means over every priced row of that benchmark and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of gpt-4.1's 2 legs against gpt-5-mini's 8; leg to leg the ratio spans 3.3×–6.6×, because the reasoning model's output length swings with how much it reasons. Note the shape rather than the winner: gpt-5-mini answers in one call and emits MORE output, gpt-4.1 takes ~3 tool round-trips and sends far more input. Which one is cheaper is a property of the price list, not of the models.</a:t>
            </a:r>
          </a:p>
          <a:p/>
          <a:p>
            <a:r>
              <a:t>The task set is identical and task selection is deterministic, so this is the one comparison in the matrix with no workload difference to explain away.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bars are log-scaled because a linear axis renders every gsm8k leg as nothing at all, which is itself the finding: there are only two legs worth watching. It is also why the cheap legs are the ones to iterate on — a full gsm8k sweep costs less than a rounding error on one appworld leg.</a:t>
            </a:r>
          </a:p>
          <a:p/>
          <a:p>
            <a:r>
              <a:t>OpenShift; the ordering reproduces on the other platform, the absolute appworld figures do not (nondeterministic turn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that halves your token use and halves your pass rate has gained you nothing, which is why we never quote tokens per task as an efficiency number on its own. The unbounded row is not a rendering artifact: it is the honest way to report a benchmark that runs to completion, records every token, and then fails evaluation.</a:t>
            </a:r>
          </a:p>
          <a:p/>
          <a:p>
            <a:r>
              <a:t>Pass rates here are over PRICED rows; the headline rates in the reports use the tasks attempted, which is a lower number for appworld because a timed-out task leaves no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judge runs gpt-4.1, the dearest model on our card, against a FIXED 1,577-character system prompt that does not shrink with the task — so the cheaper the work, the more lopsided this gets. None of it appears in report.ndjson: the sidecar makes the call, not the instrumented agent, which is why every other figure in this section is a FLOOR.</a:t>
            </a:r>
          </a:p>
          <a:p/>
          <a:p>
            <a:r>
              <a:t>Judge cost is tool calls × the floor per call; the proposed-action block that follows the fixed prompt is not counted. tau2's user simulator is invisible the same way, inside the uninstrumented MCP pod.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Driven by reference/run-12.py: about an hour of run time per platform, plus the deploys and ~40 min of gateway-cache gaps (BM_CACHE_GAP=900).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1097280"/>
          </a:xfrm>
          <a:prstGeom prst="rect">
            <a:avLst/>
          </a:prstGeom>
          <a:noFill/>
        </p:spPr>
        <p:txBody>
          <a:bodyPr wrap="square" lIns="36576" rIns="36576" tIns="18288" bIns="18288" anchor="t">
            <a:spAutoFit/>
          </a:bodyPr>
          <a:lstStyle/>
          <a:p>
            <a:pPr algn="l">
              <a:spcAft>
                <a:spcPts val="600"/>
              </a:spcAft>
            </a:pPr>
            <a:r>
              <a:rPr sz="4000" b="1" i="0">
                <a:solidFill>
                  <a:srgbClr val="FFFFFF"/>
                </a:solidFill>
                <a:latin typeface="Arial"/>
              </a:rPr>
              <a:t>AutoBench</a:t>
            </a:r>
          </a:p>
        </p:txBody>
      </p:sp>
      <p:sp>
        <p:nvSpPr>
          <p:cNvPr id="4" name="TextBox 3"/>
          <p:cNvSpPr txBox="1"/>
          <p:nvPr/>
        </p:nvSpPr>
        <p:spPr>
          <a:xfrm>
            <a:off x="731520" y="3063240"/>
            <a:ext cx="10698480" cy="1097280"/>
          </a:xfrm>
          <a:prstGeom prst="rect">
            <a:avLst/>
          </a:prstGeom>
          <a:noFill/>
        </p:spPr>
        <p:txBody>
          <a:bodyPr wrap="square" lIns="36576" rIns="36576" tIns="18288" bIns="18288" anchor="t">
            <a:spAutoFit/>
          </a:bodyPr>
          <a:lstStyle/>
          <a:p>
            <a:pPr algn="l">
              <a:spcAft>
                <a:spcPts val="600"/>
              </a:spcAft>
            </a:pPr>
            <a:r>
              <a:rPr sz="2200" b="0" i="0">
                <a:solidFill>
                  <a:srgbClr val="C9D6EA"/>
                </a:solidFill>
                <a:latin typeface="Arial"/>
              </a:rPr>
              <a:t>Architecture &amp; design overview</a:t>
            </a:r>
          </a:p>
        </p:txBody>
      </p:sp>
      <p:sp>
        <p:nvSpPr>
          <p:cNvPr id="5" name="TextBox 4"/>
          <p:cNvSpPr txBox="1"/>
          <p:nvPr/>
        </p:nvSpPr>
        <p:spPr>
          <a:xfrm>
            <a:off x="731520" y="4846320"/>
            <a:ext cx="10698480" cy="914400"/>
          </a:xfrm>
          <a:prstGeom prst="rect">
            <a:avLst/>
          </a:prstGeom>
          <a:noFill/>
        </p:spPr>
        <p:txBody>
          <a:bodyPr wrap="square" lIns="36576" rIns="36576" tIns="18288" bIns="18288" anchor="t">
            <a:spAutoFit/>
          </a:bodyPr>
          <a:lstStyle/>
          <a:p>
            <a:pPr algn="l">
              <a:spcAft>
                <a:spcPts val="600"/>
              </a:spcAft>
            </a:pPr>
            <a:r>
              <a:rPr sz="1600" b="0" i="0">
                <a:solidFill>
                  <a:srgbClr val="C9D6EA"/>
                </a:solidFill>
                <a:latin typeface="Arial"/>
              </a:rPr>
              <a:t>v1.35 · OpenShift and KinD · 2026-10-06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AutoBench is, and the seven decisions that shape it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A pure-Python, HTTP-only service that deploys, runs and grades agent benchmarks on Rossoctl clusters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a:t>
            </a:r>
          </a:p>
        </p:txBody>
      </p:sp>
      <p:sp>
        <p:nvSpPr>
          <p:cNvPr id="8" name="TextBox 7"/>
          <p:cNvSpPr txBox="1"/>
          <p:nvPr/>
        </p:nvSpPr>
        <p:spPr>
          <a:xfrm>
            <a:off x="411480" y="1325880"/>
            <a:ext cx="5120640" cy="4937760"/>
          </a:xfrm>
          <a:prstGeom prst="rect">
            <a:avLst/>
          </a:prstGeom>
          <a:noFill/>
        </p:spPr>
        <p:txBody>
          <a:bodyPr wrap="square" lIns="36576" rIns="36576" tIns="18288" bIns="18288">
            <a:spAutoFit/>
          </a:bodyPr>
          <a:lstStyle/>
          <a:p>
            <a:pPr>
              <a:spcAft>
                <a:spcPts val="500"/>
              </a:spcAft>
            </a:pPr>
            <a:r>
              <a:rPr sz="1300" b="0" i="0">
                <a:solidFill>
                  <a:srgbClr val="1F2A44"/>
                </a:solidFill>
                <a:latin typeface="Arial"/>
              </a:rPr>
              <a:t>Deploys a benchmark's MCP tool and A2A agent, runs the evaluation, reads the results back and exports them, all over HTTP.</a:t>
            </a:r>
          </a:p>
          <a:p>
            <a:pPr>
              <a:spcBef>
                <a:spcPts val="400"/>
              </a:spcBef>
              <a:spcAft>
                <a:spcPts val="500"/>
              </a:spcAft>
            </a:pPr>
            <a:r>
              <a:rPr sz="1400" b="1" i="0">
                <a:solidFill>
                  <a:srgbClr val="1F2A44"/>
                </a:solidFill>
                <a:latin typeface="Arial"/>
              </a:rPr>
              <a:t>Objectives</a:t>
            </a:r>
          </a:p>
          <a:p>
            <a:pPr marL="148590" indent="-148590">
              <a:spcAft>
                <a:spcPts val="500"/>
              </a:spcAft>
              <a:buChar char="•"/>
            </a:pPr>
            <a:r>
              <a:rPr sz="1300" b="0" i="0">
                <a:solidFill>
                  <a:srgbClr val="1F2A44"/>
                </a:solidFill>
                <a:latin typeface="Arial"/>
              </a:rPr>
              <a:t>Automate the benchmarking lifecycle</a:t>
            </a:r>
          </a:p>
          <a:p>
            <a:pPr marL="148590" indent="-148590">
              <a:spcAft>
                <a:spcPts val="500"/>
              </a:spcAft>
              <a:buChar char="•"/>
            </a:pPr>
            <a:r>
              <a:rPr sz="1300" b="0" i="0">
                <a:solidFill>
                  <a:srgbClr val="1F2A44"/>
                </a:solidFill>
                <a:latin typeface="Arial"/>
              </a:rPr>
              <a:t>Share run results across users and clusters</a:t>
            </a:r>
          </a:p>
          <a:p>
            <a:pPr marL="148590" indent="-148590">
              <a:spcAft>
                <a:spcPts val="500"/>
              </a:spcAft>
              <a:buChar char="•"/>
            </a:pPr>
            <a:r>
              <a:rPr sz="1300" b="0" i="0">
                <a:solidFill>
                  <a:srgbClr val="1F2A44"/>
                </a:solidFill>
                <a:latin typeface="Arial"/>
              </a:rPr>
              <a:t>One Service, many clusters: the caller's JWT </a:t>
            </a:r>
            <a:r>
              <a:rPr sz="1300" b="0" i="0">
                <a:solidFill>
                  <a:srgbClr val="1F2A44"/>
                </a:solidFill>
                <a:latin typeface="Consolas"/>
              </a:rPr>
              <a:t>iss</a:t>
            </a:r>
            <a:r>
              <a:rPr sz="1300" b="0" i="0">
                <a:solidFill>
                  <a:srgbClr val="1F2A44"/>
                </a:solidFill>
                <a:latin typeface="Arial"/>
              </a:rPr>
              <a:t> picks the instance</a:t>
            </a:r>
          </a:p>
          <a:p>
            <a:pPr marL="148590" indent="-148590">
              <a:spcAft>
                <a:spcPts val="500"/>
              </a:spcAft>
              <a:buChar char="•"/>
            </a:pPr>
            <a:r>
              <a:rPr sz="1300" b="0" i="0">
                <a:solidFill>
                  <a:srgbClr val="1F2A44"/>
                </a:solidFill>
                <a:latin typeface="Arial"/>
              </a:rPr>
              <a:t>Asynchronous, parallel benchmark runs</a:t>
            </a:r>
          </a:p>
          <a:p>
            <a:pPr marL="148590" indent="-148590">
              <a:spcAft>
                <a:spcPts val="500"/>
              </a:spcAft>
              <a:buChar char="•"/>
            </a:pPr>
            <a:r>
              <a:rPr sz="1300" b="0" i="0">
                <a:solidFill>
                  <a:srgbClr val="1F2A44"/>
                </a:solidFill>
                <a:latin typeface="Arial"/>
              </a:rPr>
              <a:t>Secure, auditable, resilient</a:t>
            </a:r>
          </a:p>
          <a:p>
            <a:pPr>
              <a:spcBef>
                <a:spcPts val="400"/>
              </a:spcBef>
              <a:spcAft>
                <a:spcPts val="500"/>
              </a:spcAft>
            </a:pPr>
            <a:r>
              <a:rPr sz="1400" b="1" i="0">
                <a:solidFill>
                  <a:srgbClr val="1F2A44"/>
                </a:solidFill>
                <a:latin typeface="Arial"/>
              </a:rPr>
              <a:t>Three benchmarks</a:t>
            </a:r>
          </a:p>
          <a:p>
            <a:pPr marL="148590" indent="-148590">
              <a:spcAft>
                <a:spcPts val="500"/>
              </a:spcAft>
              <a:buChar char="•"/>
            </a:pPr>
            <a:r>
              <a:rPr sz="1300" b="1" i="0">
                <a:solidFill>
                  <a:srgbClr val="1F2A44"/>
                </a:solidFill>
                <a:latin typeface="Arial"/>
              </a:rPr>
              <a:t>gsm8k</a:t>
            </a:r>
            <a:r>
              <a:rPr sz="1300" b="0" i="0">
                <a:solidFill>
                  <a:srgbClr val="1F2A44"/>
                </a:solidFill>
                <a:latin typeface="Arial"/>
              </a:rPr>
              <a:t>, single-turn: one prompt in, one answer out</a:t>
            </a:r>
          </a:p>
          <a:p>
            <a:pPr marL="148590" indent="-148590">
              <a:spcAft>
                <a:spcPts val="500"/>
              </a:spcAft>
              <a:buChar char="•"/>
            </a:pPr>
            <a:r>
              <a:rPr sz="1300" b="1" i="0">
                <a:solidFill>
                  <a:srgbClr val="1F2A44"/>
                </a:solidFill>
                <a:latin typeface="Arial"/>
              </a:rPr>
              <a:t>tau2</a:t>
            </a:r>
            <a:r>
              <a:rPr sz="1300" b="0" i="0">
                <a:solidFill>
                  <a:srgbClr val="1F2A44"/>
                </a:solidFill>
                <a:latin typeface="Arial"/>
              </a:rPr>
              <a:t>, multi-turn: a user-simulator LLM plays the customer</a:t>
            </a:r>
          </a:p>
          <a:p>
            <a:pPr marL="148590" indent="-148590">
              <a:spcAft>
                <a:spcPts val="500"/>
              </a:spcAft>
              <a:buChar char="•"/>
            </a:pPr>
            <a:r>
              <a:rPr sz="1300" b="1" i="0">
                <a:solidFill>
                  <a:srgbClr val="1F2A44"/>
                </a:solidFill>
                <a:latin typeface="Arial"/>
              </a:rPr>
              <a:t>appworld</a:t>
            </a:r>
            <a:r>
              <a:rPr sz="1300" b="0" i="0">
                <a:solidFill>
                  <a:srgbClr val="1F2A44"/>
                </a:solidFill>
                <a:latin typeface="Arial"/>
              </a:rPr>
              <a:t>, long-horizon: many API calls across simulated apps</a:t>
            </a:r>
          </a:p>
          <a:p>
            <a:pPr>
              <a:spcBef>
                <a:spcPts val="400"/>
              </a:spcBef>
              <a:spcAft>
                <a:spcPts val="500"/>
              </a:spcAft>
            </a:pPr>
            <a:r>
              <a:rPr sz="1400" b="1" i="0">
                <a:solidFill>
                  <a:srgbClr val="1F2A44"/>
                </a:solidFill>
                <a:latin typeface="Arial"/>
              </a:rPr>
              <a:t>Client contract</a:t>
            </a:r>
          </a:p>
          <a:p>
            <a:pPr marL="148590" indent="-148590">
              <a:spcAft>
                <a:spcPts val="500"/>
              </a:spcAft>
              <a:buChar char="•"/>
            </a:pPr>
            <a:r>
              <a:rPr sz="1300" b="0" i="0">
                <a:solidFill>
                  <a:srgbClr val="1F2A44"/>
                </a:solidFill>
                <a:latin typeface="Arial"/>
              </a:rPr>
              <a:t>A hostname and </a:t>
            </a:r>
            <a:r>
              <a:rPr sz="1300" b="0" i="0">
                <a:solidFill>
                  <a:srgbClr val="1F2A44"/>
                </a:solidFill>
                <a:latin typeface="Consolas"/>
              </a:rPr>
              <a:t>Authorization: Bearer &lt;caller JWT&gt;</a:t>
            </a:r>
            <a:r>
              <a:rPr sz="1300" b="0" i="0">
                <a:solidFill>
                  <a:srgbClr val="1F2A44"/>
                </a:solidFill>
                <a:latin typeface="Arial"/>
              </a:rPr>
              <a:t>, the same on every cluster</a:t>
            </a:r>
          </a:p>
        </p:txBody>
      </p:sp>
      <p:graphicFrame>
        <p:nvGraphicFramePr>
          <p:cNvPr id="9" name="Table 8"/>
          <p:cNvGraphicFramePr>
            <a:graphicFrameLocks noGrp="1"/>
          </p:cNvGraphicFramePr>
          <p:nvPr/>
        </p:nvGraphicFramePr>
        <p:xfrm>
          <a:off x="5806440" y="1325880"/>
          <a:ext cx="5971031" cy="4681728"/>
        </p:xfrm>
        <a:graphic>
          <a:graphicData uri="http://schemas.openxmlformats.org/drawingml/2006/table">
            <a:tbl>
              <a:tblPr firstRow="0" bandRow="0">
                <a:tableStyleId>{5C22544A-7EE6-4342-B048-85BDC9FD1C3A}</a:tableStyleId>
              </a:tblPr>
              <a:tblGrid>
                <a:gridCol w="2112826"/>
                <a:gridCol w="3858205"/>
              </a:tblGrid>
              <a:tr h="585216">
                <a:tc>
                  <a:txBody>
                    <a:bodyPr wrap="square"/>
                    <a:lstStyle/>
                    <a:p>
                      <a:pPr algn="l"/>
                      <a:r>
                        <a:rPr sz="1200" b="1" i="0">
                          <a:solidFill>
                            <a:srgbClr val="FFFFFF"/>
                          </a:solidFill>
                          <a:latin typeface="Arial"/>
                        </a:rPr>
                        <a:t>Decision</a:t>
                      </a:r>
                    </a:p>
                  </a:txBody>
                  <a:tcPr marL="54864" marR="54864" marT="18288" marB="18288" anchor="ctr">
                    <a:solidFill>
                      <a:srgbClr val="1F2A44"/>
                    </a:solidFill>
                  </a:tcPr>
                </a:tc>
                <a:tc>
                  <a:txBody>
                    <a:bodyPr wrap="square"/>
                    <a:lstStyle/>
                    <a:p>
                      <a:pPr algn="l"/>
                      <a:r>
                        <a:rPr sz="1200" b="1" i="0">
                          <a:solidFill>
                            <a:srgbClr val="FFFFFF"/>
                          </a:solidFill>
                          <a:latin typeface="Arial"/>
                        </a:rPr>
                        <a:t>Why</a:t>
                      </a:r>
                    </a:p>
                  </a:txBody>
                  <a:tcPr marL="54864" marR="54864" marT="18288" marB="18288" anchor="ctr">
                    <a:solidFill>
                      <a:srgbClr val="1F2A44"/>
                    </a:solidFill>
                  </a:tcPr>
                </a:tc>
              </a:tr>
              <a:tr h="585216">
                <a:tc>
                  <a:txBody>
                    <a:bodyPr wrap="square"/>
                    <a:lstStyle/>
                    <a:p>
                      <a:pPr algn="l"/>
                      <a:r>
                        <a:rPr sz="1200" b="1" i="0">
                          <a:solidFill>
                            <a:srgbClr val="1F2A44"/>
                          </a:solidFill>
                          <a:latin typeface="Arial"/>
                        </a:rPr>
                        <a:t>Pure-Python, HTTPS-only to Rossoctl</a:t>
                      </a:r>
                    </a:p>
                  </a:txBody>
                  <a:tcPr marL="54864" marR="54864" marT="18288" marB="18288" anchor="ctr">
                    <a:solidFill>
                      <a:srgbClr val="FFFFFF"/>
                    </a:solidFill>
                  </a:tcPr>
                </a:tc>
                <a:tc>
                  <a:txBody>
                    <a:bodyPr wrap="square"/>
                    <a:lstStyle/>
                    <a:p>
                      <a:pPr algn="l"/>
                      <a:r>
                        <a:rPr sz="1200" b="0" i="0">
                          <a:solidFill>
                            <a:srgbClr val="1F2A44"/>
                          </a:solidFill>
                          <a:latin typeface="Arial"/>
                        </a:rPr>
                        <a:t>No shell-out: a smaller image, no injection surface, structured errors, testable</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Two-token auth</a:t>
                      </a:r>
                    </a:p>
                  </a:txBody>
                  <a:tcPr marL="54864" marR="54864" marT="18288" marB="18288" anchor="ctr">
                    <a:solidFill>
                      <a:srgbClr val="F3F5F9"/>
                    </a:solidFill>
                  </a:tcPr>
                </a:tc>
                <a:tc>
                  <a:txBody>
                    <a:bodyPr wrap="square"/>
                    <a:lstStyle/>
                    <a:p>
                      <a:pPr algn="l"/>
                      <a:r>
                        <a:rPr sz="1200" b="0" i="0">
                          <a:solidFill>
                            <a:srgbClr val="1F2A44"/>
                          </a:solidFill>
                          <a:latin typeface="Arial"/>
                        </a:rPr>
                        <a:t>The caller's JWT attributes and routes, and is never forwarded; the Service mints its own token</a:t>
                      </a:r>
                    </a:p>
                  </a:txBody>
                  <a:tcPr marL="54864" marR="54864" marT="18288" marB="18288" anchor="ctr">
                    <a:solidFill>
                      <a:srgbClr val="F3F5F9"/>
                    </a:solidFill>
                  </a:tcPr>
                </a:tc>
              </a:tr>
              <a:tr h="585216">
                <a:tc>
                  <a:txBody>
                    <a:bodyPr wrap="square"/>
                    <a:lstStyle/>
                    <a:p>
                      <a:pPr algn="l"/>
                      <a:r>
                        <a:rPr sz="1200" b="1" i="0">
                          <a:solidFill>
                            <a:srgbClr val="1F2A44"/>
                          </a:solidFill>
                          <a:latin typeface="Consolas"/>
                        </a:rPr>
                        <a:t>iss</a:t>
                      </a:r>
                      <a:r>
                        <a:rPr sz="1200" b="1" i="0">
                          <a:solidFill>
                            <a:srgbClr val="1F2A44"/>
                          </a:solidFill>
                          <a:latin typeface="Arial"/>
                        </a:rPr>
                        <a:t> is the trust anchor</a:t>
                      </a:r>
                    </a:p>
                  </a:txBody>
                  <a:tcPr marL="54864" marR="54864" marT="18288" marB="18288" anchor="ctr">
                    <a:solidFill>
                      <a:srgbClr val="FFFFFF"/>
                    </a:solidFill>
                  </a:tcPr>
                </a:tc>
                <a:tc>
                  <a:txBody>
                    <a:bodyPr wrap="square"/>
                    <a:lstStyle/>
                    <a:p>
                      <a:pPr algn="l"/>
                      <a:r>
                        <a:rPr sz="1200" b="0" i="0">
                          <a:solidFill>
                            <a:srgbClr val="1F2A44"/>
                          </a:solidFill>
                          <a:latin typeface="Arial"/>
                        </a:rPr>
                        <a:t>The issuer selects the instance: no instance argument, so no confused-deputy escape</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Per-request ROPC login</a:t>
                      </a:r>
                    </a:p>
                  </a:txBody>
                  <a:tcPr marL="54864" marR="54864" marT="18288" marB="18288" anchor="ctr">
                    <a:solidFill>
                      <a:srgbClr val="F3F5F9"/>
                    </a:solidFill>
                  </a:tcPr>
                </a:tc>
                <a:tc>
                  <a:txBody>
                    <a:bodyPr wrap="square"/>
                    <a:lstStyle/>
                    <a:p>
                      <a:pPr algn="l"/>
                      <a:r>
                        <a:rPr sz="1200" b="0" i="0">
                          <a:solidFill>
                            <a:srgbClr val="1F2A44"/>
                          </a:solidFill>
                          <a:latin typeface="Arial"/>
                        </a:rPr>
                        <a:t>A fresh Service token on every request: no expiry handling</a:t>
                      </a:r>
                    </a:p>
                  </a:txBody>
                  <a:tcPr marL="54864" marR="54864" marT="18288" marB="18288" anchor="ctr">
                    <a:solidFill>
                      <a:srgbClr val="F3F5F9"/>
                    </a:solidFill>
                  </a:tcPr>
                </a:tc>
              </a:tr>
              <a:tr h="585216">
                <a:tc>
                  <a:txBody>
                    <a:bodyPr wrap="square"/>
                    <a:lstStyle/>
                    <a:p>
                      <a:pPr algn="l"/>
                      <a:r>
                        <a:rPr sz="1200" b="1" i="0">
                          <a:solidFill>
                            <a:srgbClr val="1F2A44"/>
                          </a:solidFill>
                          <a:latin typeface="Arial"/>
                        </a:rPr>
                        <a:t>One config file per issuer</a:t>
                      </a:r>
                    </a:p>
                  </a:txBody>
                  <a:tcPr marL="54864" marR="54864" marT="18288" marB="18288" anchor="ctr">
                    <a:solidFill>
                      <a:srgbClr val="FFFFFF"/>
                    </a:solidFill>
                  </a:tcPr>
                </a:tc>
                <a:tc>
                  <a:txBody>
                    <a:bodyPr wrap="square"/>
                    <a:lstStyle/>
                    <a:p>
                      <a:pPr algn="l"/>
                      <a:r>
                        <a:rPr sz="1200" b="0" i="0">
                          <a:solidFill>
                            <a:srgbClr val="1F2A44"/>
                          </a:solidFill>
                          <a:latin typeface="Arial"/>
                        </a:rPr>
                        <a:t>Rossoctl URL, </a:t>
                      </a:r>
                      <a:r>
                        <a:rPr sz="1200" b="0" i="0">
                          <a:solidFill>
                            <a:srgbClr val="1F2A44"/>
                          </a:solidFill>
                          <a:latin typeface="Consolas"/>
                        </a:rPr>
                        <a:t>benchmarker</a:t>
                      </a:r>
                      <a:r>
                        <a:rPr sz="1200" b="0" i="0">
                          <a:solidFill>
                            <a:srgbClr val="1F2A44"/>
                          </a:solidFill>
                          <a:latin typeface="Arial"/>
                        </a:rPr>
                        <a:t> credential, MLflow, S3, an optional Keycloak backchannel</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Enact only what the API allows</a:t>
                      </a:r>
                    </a:p>
                  </a:txBody>
                  <a:tcPr marL="54864" marR="54864" marT="18288" marB="18288" anchor="ctr">
                    <a:solidFill>
                      <a:srgbClr val="F3F5F9"/>
                    </a:solidFill>
                  </a:tcPr>
                </a:tc>
                <a:tc>
                  <a:txBody>
                    <a:bodyPr wrap="square"/>
                    <a:lstStyle/>
                    <a:p>
                      <a:pPr algn="l"/>
                      <a:r>
                        <a:rPr sz="1200" b="0" i="0">
                          <a:solidFill>
                            <a:srgbClr val="1F2A44"/>
                          </a:solidFill>
                          <a:latin typeface="Arial"/>
                        </a:rPr>
                        <a:t>Deploy, run, report, export, plugin presets; workload Secrets are prechecked (424), never ignored</a:t>
                      </a:r>
                    </a:p>
                  </a:txBody>
                  <a:tcPr marL="54864" marR="54864" marT="18288" marB="18288" anchor="ctr">
                    <a:solidFill>
                      <a:srgbClr val="F3F5F9"/>
                    </a:solidFill>
                  </a:tcPr>
                </a:tc>
              </a:tr>
              <a:tr h="585216">
                <a:tc>
                  <a:txBody>
                    <a:bodyPr wrap="square"/>
                    <a:lstStyle/>
                    <a:p>
                      <a:pPr algn="l"/>
                      <a:r>
                        <a:rPr sz="1200" b="1" i="0">
                          <a:solidFill>
                            <a:srgbClr val="1F2A44"/>
                          </a:solidFill>
                          <a:latin typeface="Arial"/>
                        </a:rPr>
                        <a:t>MLflow with the Service, S3 in the cloud</a:t>
                      </a:r>
                    </a:p>
                  </a:txBody>
                  <a:tcPr marL="54864" marR="54864" marT="18288" marB="18288" anchor="ctr">
                    <a:solidFill>
                      <a:srgbClr val="FFFFFF"/>
                    </a:solidFill>
                  </a:tcPr>
                </a:tc>
                <a:tc>
                  <a:txBody>
                    <a:bodyPr wrap="square"/>
                    <a:lstStyle/>
                    <a:p>
                      <a:pPr algn="l"/>
                      <a:r>
                        <a:rPr sz="1200" b="0" i="0">
                          <a:solidFill>
                            <a:srgbClr val="1F2A44"/>
                          </a:solidFill>
                          <a:latin typeface="Arial"/>
                        </a:rPr>
                        <a:t>Traces live beside the Service; S3 is the shared, cross-cluster sink for results</a:t>
                      </a:r>
                    </a:p>
                  </a:txBody>
                  <a:tcPr marL="54864" marR="54864" marT="18288" marB="18288"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One client, one Service, N workload deployments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shape of the system before the wiring: who drives whom, and where every result lands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4</a:t>
            </a:r>
          </a:p>
        </p:txBody>
      </p:sp>
      <p:sp>
        <p:nvSpPr>
          <p:cNvPr id="8" name="Rounded Rectangle 7"/>
          <p:cNvSpPr/>
          <p:nvPr/>
        </p:nvSpPr>
        <p:spPr>
          <a:xfrm>
            <a:off x="411480" y="1325880"/>
            <a:ext cx="2560320" cy="6858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Client</a:t>
            </a:r>
          </a:p>
          <a:p>
            <a:pPr algn="ctr">
              <a:spcAft>
                <a:spcPts val="200"/>
              </a:spcAft>
            </a:pPr>
            <a:r>
              <a:rPr sz="1200" b="0" i="0">
                <a:solidFill>
                  <a:srgbClr val="1F2A44"/>
                </a:solidFill>
                <a:latin typeface="Arial"/>
              </a:rPr>
              <a:t>host or CI</a:t>
            </a:r>
          </a:p>
        </p:txBody>
      </p:sp>
      <p:sp>
        <p:nvSpPr>
          <p:cNvPr id="9" name="Hexagon 8"/>
          <p:cNvSpPr/>
          <p:nvPr/>
        </p:nvSpPr>
        <p:spPr>
          <a:xfrm>
            <a:off x="411480" y="2331720"/>
            <a:ext cx="2560320" cy="141732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300" b="1" i="0">
                <a:solidFill>
                  <a:srgbClr val="1F2A44"/>
                </a:solidFill>
                <a:latin typeface="Arial"/>
              </a:rPr>
              <a:t>AutoBench Service</a:t>
            </a:r>
          </a:p>
        </p:txBody>
      </p:sp>
      <p:sp>
        <p:nvSpPr>
          <p:cNvPr id="10" name="Can 9"/>
          <p:cNvSpPr/>
          <p:nvPr/>
        </p:nvSpPr>
        <p:spPr>
          <a:xfrm>
            <a:off x="411480" y="4069080"/>
            <a:ext cx="1234440" cy="91440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Results store</a:t>
            </a:r>
          </a:p>
          <a:p>
            <a:pPr algn="ctr">
              <a:spcAft>
                <a:spcPts val="200"/>
              </a:spcAft>
            </a:pPr>
            <a:r>
              <a:rPr sz="1100" b="0" i="0">
                <a:solidFill>
                  <a:srgbClr val="1F2A44"/>
                </a:solidFill>
                <a:latin typeface="Arial"/>
              </a:rPr>
              <a:t>S3</a:t>
            </a:r>
          </a:p>
        </p:txBody>
      </p:sp>
      <p:sp>
        <p:nvSpPr>
          <p:cNvPr id="11" name="Can 10"/>
          <p:cNvSpPr/>
          <p:nvPr/>
        </p:nvSpPr>
        <p:spPr>
          <a:xfrm>
            <a:off x="1737360" y="4069080"/>
            <a:ext cx="1234440" cy="91440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Tracker</a:t>
            </a:r>
          </a:p>
          <a:p>
            <a:pPr algn="ctr">
              <a:spcAft>
                <a:spcPts val="200"/>
              </a:spcAft>
            </a:pPr>
            <a:r>
              <a:rPr sz="1100" b="0" i="0">
                <a:solidFill>
                  <a:srgbClr val="1F2A44"/>
                </a:solidFill>
                <a:latin typeface="Arial"/>
              </a:rPr>
              <a:t>MLflow</a:t>
            </a:r>
          </a:p>
        </p:txBody>
      </p:sp>
      <p:sp>
        <p:nvSpPr>
          <p:cNvPr id="12" name="Rounded Rectangle 11"/>
          <p:cNvSpPr/>
          <p:nvPr/>
        </p:nvSpPr>
        <p:spPr>
          <a:xfrm>
            <a:off x="3849624" y="1426463"/>
            <a:ext cx="8001000" cy="3749039"/>
          </a:xfrm>
          <a:prstGeom prst="roundRect">
            <a:avLst>
              <a:gd name="adj" fmla="val 3902"/>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3776472" y="1353312"/>
            <a:ext cx="8001000" cy="3749039"/>
          </a:xfrm>
          <a:prstGeom prst="roundRect">
            <a:avLst>
              <a:gd name="adj" fmla="val 3902"/>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3703320" y="1280160"/>
            <a:ext cx="8001000" cy="3749039"/>
          </a:xfrm>
          <a:prstGeom prst="roundRect">
            <a:avLst>
              <a:gd name="adj" fmla="val 3902"/>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TextBox 14"/>
          <p:cNvSpPr txBox="1"/>
          <p:nvPr/>
        </p:nvSpPr>
        <p:spPr>
          <a:xfrm>
            <a:off x="3840480" y="1335024"/>
            <a:ext cx="7726679" cy="310896"/>
          </a:xfrm>
          <a:prstGeom prst="rect">
            <a:avLst/>
          </a:prstGeom>
          <a:noFill/>
        </p:spPr>
        <p:txBody>
          <a:bodyPr wrap="square" lIns="36576" rIns="36576" tIns="18288" bIns="18288" anchor="t">
            <a:spAutoFit/>
          </a:bodyPr>
          <a:lstStyle/>
          <a:p>
            <a:pPr algn="l">
              <a:spcAft>
                <a:spcPts val="600"/>
              </a:spcAft>
            </a:pPr>
            <a:r>
              <a:rPr sz="1300" b="1" i="0">
                <a:solidFill>
                  <a:srgbClr val="1F2A44"/>
                </a:solidFill>
                <a:latin typeface="Arial"/>
              </a:rPr>
              <a:t>Workload deployment instances</a:t>
            </a:r>
          </a:p>
        </p:txBody>
      </p:sp>
      <p:sp>
        <p:nvSpPr>
          <p:cNvPr id="16" name="Hexagon 15"/>
          <p:cNvSpPr/>
          <p:nvPr/>
        </p:nvSpPr>
        <p:spPr>
          <a:xfrm>
            <a:off x="3977639" y="2240280"/>
            <a:ext cx="2286000" cy="109728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Deployment helper</a:t>
            </a:r>
          </a:p>
          <a:p>
            <a:pPr algn="ctr">
              <a:spcAft>
                <a:spcPts val="200"/>
              </a:spcAft>
            </a:pPr>
            <a:r>
              <a:rPr sz="1200" b="0" i="0">
                <a:solidFill>
                  <a:srgbClr val="1F2A44"/>
                </a:solidFill>
                <a:latin typeface="Arial"/>
              </a:rPr>
              <a:t>Rossoctl</a:t>
            </a:r>
          </a:p>
        </p:txBody>
      </p:sp>
      <p:sp>
        <p:nvSpPr>
          <p:cNvPr id="17" name="Rounded Rectangle 16"/>
          <p:cNvSpPr/>
          <p:nvPr/>
        </p:nvSpPr>
        <p:spPr>
          <a:xfrm>
            <a:off x="7863840" y="1828800"/>
            <a:ext cx="3611880" cy="1783080"/>
          </a:xfrm>
          <a:prstGeom prst="roundRect">
            <a:avLst>
              <a:gd name="adj" fmla="val 8205"/>
            </a:avLst>
          </a:prstGeom>
          <a:solidFill>
            <a:srgbClr val="FFFFFF"/>
          </a:solidFill>
          <a:ln w="15875">
            <a:solidFill>
              <a:srgbClr val="0F76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7955279" y="1865376"/>
            <a:ext cx="3383280" cy="274320"/>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a:t>
            </a:r>
          </a:p>
        </p:txBody>
      </p:sp>
      <p:sp>
        <p:nvSpPr>
          <p:cNvPr id="19" name="Rounded Rectangle 18"/>
          <p:cNvSpPr/>
          <p:nvPr/>
        </p:nvSpPr>
        <p:spPr>
          <a:xfrm>
            <a:off x="8001000" y="2240280"/>
            <a:ext cx="1600200" cy="118872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Agent</a:t>
            </a:r>
          </a:p>
          <a:p>
            <a:pPr algn="ctr">
              <a:spcAft>
                <a:spcPts val="200"/>
              </a:spcAft>
            </a:pPr>
            <a:r>
              <a:rPr sz="1200" b="0" i="0">
                <a:solidFill>
                  <a:srgbClr val="1F2A44"/>
                </a:solidFill>
                <a:latin typeface="Arial"/>
              </a:rPr>
              <a:t>A2A</a:t>
            </a:r>
          </a:p>
        </p:txBody>
      </p:sp>
      <p:sp>
        <p:nvSpPr>
          <p:cNvPr id="20" name="Rounded Rectangle 19"/>
          <p:cNvSpPr/>
          <p:nvPr/>
        </p:nvSpPr>
        <p:spPr>
          <a:xfrm>
            <a:off x="9738360" y="2240280"/>
            <a:ext cx="1600200" cy="118872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MCP server</a:t>
            </a:r>
          </a:p>
          <a:p>
            <a:pPr algn="ctr">
              <a:spcAft>
                <a:spcPts val="200"/>
              </a:spcAft>
            </a:pPr>
            <a:r>
              <a:rPr sz="1200" b="0" i="0">
                <a:solidFill>
                  <a:srgbClr val="1F2A44"/>
                </a:solidFill>
                <a:latin typeface="Arial"/>
              </a:rPr>
              <a:t>tasks + grading</a:t>
            </a:r>
          </a:p>
        </p:txBody>
      </p:sp>
      <p:sp>
        <p:nvSpPr>
          <p:cNvPr id="21" name="Rounded Rectangle 20"/>
          <p:cNvSpPr/>
          <p:nvPr/>
        </p:nvSpPr>
        <p:spPr>
          <a:xfrm>
            <a:off x="5623560" y="4160520"/>
            <a:ext cx="2468880" cy="6400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Telemetry collector</a:t>
            </a:r>
          </a:p>
        </p:txBody>
      </p:sp>
      <p:cxnSp>
        <p:nvCxnSpPr>
          <p:cNvPr id="22" name="Connector 21"/>
          <p:cNvCxnSpPr/>
          <p:nvPr/>
        </p:nvCxnSpPr>
        <p:spPr>
          <a:xfrm>
            <a:off x="1691640" y="2011680"/>
            <a:ext cx="0" cy="3200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783080" y="2029968"/>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4" name="Connector 23"/>
          <p:cNvCxnSpPr/>
          <p:nvPr/>
        </p:nvCxnSpPr>
        <p:spPr>
          <a:xfrm>
            <a:off x="2971800" y="2788920"/>
            <a:ext cx="1005839"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37560" y="24688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6" name="Connector 25"/>
          <p:cNvCxnSpPr/>
          <p:nvPr/>
        </p:nvCxnSpPr>
        <p:spPr>
          <a:xfrm>
            <a:off x="6263640" y="2788920"/>
            <a:ext cx="1737360"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995159" y="24688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28" name="Connector 27"/>
          <p:cNvCxnSpPr/>
          <p:nvPr/>
        </p:nvCxnSpPr>
        <p:spPr>
          <a:xfrm>
            <a:off x="2971800" y="3520440"/>
            <a:ext cx="4892040"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537959" y="33832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0" name="Connector 29"/>
          <p:cNvCxnSpPr/>
          <p:nvPr/>
        </p:nvCxnSpPr>
        <p:spPr>
          <a:xfrm>
            <a:off x="214884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78308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2" name="Connector 31"/>
          <p:cNvCxnSpPr/>
          <p:nvPr/>
        </p:nvCxnSpPr>
        <p:spPr>
          <a:xfrm flipH="1">
            <a:off x="8092440" y="3611880"/>
            <a:ext cx="685800" cy="54864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366760" y="3749039"/>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a:t>
            </a:r>
          </a:p>
        </p:txBody>
      </p:sp>
      <p:cxnSp>
        <p:nvCxnSpPr>
          <p:cNvPr id="34" name="Connector 33"/>
          <p:cNvCxnSpPr/>
          <p:nvPr/>
        </p:nvCxnSpPr>
        <p:spPr>
          <a:xfrm flipH="1">
            <a:off x="2971800" y="4526280"/>
            <a:ext cx="2651760" cy="9144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114800" y="4389120"/>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6b</a:t>
            </a:r>
          </a:p>
        </p:txBody>
      </p:sp>
      <p:cxnSp>
        <p:nvCxnSpPr>
          <p:cNvPr id="36" name="Connector 35"/>
          <p:cNvCxnSpPr/>
          <p:nvPr/>
        </p:nvCxnSpPr>
        <p:spPr>
          <a:xfrm flipV="1">
            <a:off x="274320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260604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8" name="Connector 37"/>
          <p:cNvCxnSpPr/>
          <p:nvPr/>
        </p:nvCxnSpPr>
        <p:spPr>
          <a:xfrm>
            <a:off x="100584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t>
            </a:r>
          </a:p>
        </p:txBody>
      </p:sp>
      <p:sp>
        <p:nvSpPr>
          <p:cNvPr id="40" name="Rounded Rectangle 39"/>
          <p:cNvSpPr/>
          <p:nvPr/>
        </p:nvSpPr>
        <p:spPr>
          <a:xfrm>
            <a:off x="411480" y="5257800"/>
            <a:ext cx="11365992" cy="1051560"/>
          </a:xfrm>
          <a:prstGeom prst="roundRect">
            <a:avLst>
              <a:gd name="adj" fmla="val 12000"/>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1" name="TextBox 40"/>
          <p:cNvSpPr txBox="1"/>
          <p:nvPr/>
        </p:nvSpPr>
        <p:spPr>
          <a:xfrm>
            <a:off x="548640" y="5330952"/>
            <a:ext cx="5454396" cy="905255"/>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1  Client → Service</a:t>
            </a:r>
          </a:p>
          <a:p>
            <a:pPr algn="l">
              <a:spcAft>
                <a:spcPts val="100"/>
              </a:spcAft>
            </a:pPr>
            <a:r>
              <a:rPr sz="1100" b="0" i="0">
                <a:solidFill>
                  <a:srgbClr val="1F2A44"/>
                </a:solidFill>
                <a:latin typeface="Arial"/>
              </a:rPr>
              <a:t>2  Service → deployment helper: create the workload</a:t>
            </a:r>
          </a:p>
          <a:p>
            <a:pPr algn="l">
              <a:spcAft>
                <a:spcPts val="100"/>
              </a:spcAft>
            </a:pPr>
            <a:r>
              <a:rPr sz="1100" b="0" i="0">
                <a:solidFill>
                  <a:srgbClr val="1F2A44"/>
                </a:solidFill>
                <a:latin typeface="Arial"/>
              </a:rPr>
              <a:t>3  helper → workload</a:t>
            </a:r>
          </a:p>
          <a:p>
            <a:pPr algn="l">
              <a:spcAft>
                <a:spcPts val="100"/>
              </a:spcAft>
            </a:pPr>
            <a:r>
              <a:rPr sz="1100" b="0" i="0">
                <a:solidFill>
                  <a:srgbClr val="1F2A44"/>
                </a:solidFill>
                <a:latin typeface="Arial"/>
              </a:rPr>
              <a:t>4  Service → workload: run and monitor</a:t>
            </a:r>
          </a:p>
        </p:txBody>
      </p:sp>
      <p:sp>
        <p:nvSpPr>
          <p:cNvPr id="42" name="TextBox 41"/>
          <p:cNvSpPr txBox="1"/>
          <p:nvPr/>
        </p:nvSpPr>
        <p:spPr>
          <a:xfrm>
            <a:off x="6094475" y="5330952"/>
            <a:ext cx="5454396" cy="905255"/>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5  Service → tracker: emit the trace</a:t>
            </a:r>
          </a:p>
          <a:p>
            <a:pPr algn="l">
              <a:spcAft>
                <a:spcPts val="100"/>
              </a:spcAft>
            </a:pPr>
            <a:r>
              <a:rPr sz="1100" b="0" i="0">
                <a:solidFill>
                  <a:srgbClr val="1F2A44"/>
                </a:solidFill>
                <a:latin typeface="Arial"/>
              </a:rPr>
              <a:t>6a  agent → collector   ·   6b  collector → tracker</a:t>
            </a:r>
          </a:p>
          <a:p>
            <a:pPr algn="l">
              <a:spcAft>
                <a:spcPts val="100"/>
              </a:spcAft>
            </a:pPr>
            <a:r>
              <a:rPr sz="1100" b="0" i="0">
                <a:solidFill>
                  <a:srgbClr val="1F2A44"/>
                </a:solidFill>
                <a:latin typeface="Arial"/>
              </a:rPr>
              <a:t>7  tracker → Service: read the records back</a:t>
            </a:r>
          </a:p>
          <a:p>
            <a:pPr algn="l">
              <a:spcAft>
                <a:spcPts val="100"/>
              </a:spcAft>
            </a:pPr>
            <a:r>
              <a:rPr sz="1100" b="0" i="0">
                <a:solidFill>
                  <a:srgbClr val="1F2A44"/>
                </a:solidFill>
                <a:latin typeface="Arial"/>
              </a:rPr>
              <a:t>8  Service → results store: export the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caller's token is never forwarded upstream</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Two tokens: one says who is asking, the other is what the Service acts with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5</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Caller JWT (inbound)</a:t>
            </a:r>
          </a:p>
        </p:txBody>
      </p:sp>
      <p:sp>
        <p:nvSpPr>
          <p:cNvPr id="9" name="TextBox 8"/>
          <p:cNvSpPr txBox="1"/>
          <p:nvPr/>
        </p:nvSpPr>
        <p:spPr>
          <a:xfrm>
            <a:off x="502920" y="1874519"/>
            <a:ext cx="5349240" cy="3017520"/>
          </a:xfrm>
          <a:prstGeom prst="rect">
            <a:avLst/>
          </a:prstGeom>
          <a:noFill/>
        </p:spPr>
        <p:txBody>
          <a:bodyPr wrap="square" lIns="36576" rIns="36576" tIns="18288" bIns="18288">
            <a:spAutoFit/>
          </a:bodyPr>
          <a:lstStyle/>
          <a:p>
            <a:pPr>
              <a:spcAft>
                <a:spcPts val="500"/>
              </a:spcAft>
            </a:pPr>
            <a:r>
              <a:rPr sz="1400" b="0" i="0">
                <a:solidFill>
                  <a:srgbClr val="1F2A44"/>
                </a:solidFill>
                <a:latin typeface="Arial"/>
              </a:rPr>
              <a:t>Presented by the client as </a:t>
            </a:r>
            <a:r>
              <a:rPr sz="1400" b="0" i="0">
                <a:solidFill>
                  <a:srgbClr val="1F2A44"/>
                </a:solidFill>
                <a:latin typeface="Consolas"/>
              </a:rPr>
              <a:t>Authorization: Bearer</a:t>
            </a:r>
            <a:r>
              <a:rPr sz="1400" b="0" i="0">
                <a:solidFill>
                  <a:srgbClr val="1F2A44"/>
                </a:solidFill>
                <a:latin typeface="Arial"/>
              </a:rPr>
              <a:t>.</a:t>
            </a:r>
          </a:p>
          <a:p>
            <a:pPr marL="160020" indent="-160020">
              <a:spcAft>
                <a:spcPts val="500"/>
              </a:spcAft>
              <a:buChar char="•"/>
            </a:pPr>
            <a:r>
              <a:rPr sz="1400" b="0" i="0">
                <a:solidFill>
                  <a:srgbClr val="1F2A44"/>
                </a:solidFill>
                <a:latin typeface="Arial"/>
              </a:rPr>
              <a:t>Used only to attribute (</a:t>
            </a:r>
            <a:r>
              <a:rPr sz="1400" b="0" i="0">
                <a:solidFill>
                  <a:srgbClr val="1F2A44"/>
                </a:solidFill>
                <a:latin typeface="Consolas"/>
              </a:rPr>
              <a:t>preferred_username</a:t>
            </a:r>
            <a:r>
              <a:rPr sz="1400" b="0" i="0">
                <a:solidFill>
                  <a:srgbClr val="1F2A44"/>
                </a:solidFill>
                <a:latin typeface="Arial"/>
              </a:rPr>
              <a:t>) and route (</a:t>
            </a:r>
            <a:r>
              <a:rPr sz="1400" b="0" i="0">
                <a:solidFill>
                  <a:srgbClr val="1F2A44"/>
                </a:solidFill>
                <a:latin typeface="Consolas"/>
              </a:rPr>
              <a:t>iss</a:t>
            </a:r>
            <a:r>
              <a:rPr sz="1400" b="0" i="0">
                <a:solidFill>
                  <a:srgbClr val="1F2A44"/>
                </a:solidFill>
                <a:latin typeface="Arial"/>
              </a:rPr>
              <a:t> → instance)</a:t>
            </a:r>
          </a:p>
          <a:p>
            <a:pPr marL="160020" indent="-160020">
              <a:spcAft>
                <a:spcPts val="500"/>
              </a:spcAft>
              <a:buChar char="•"/>
            </a:pPr>
            <a:r>
              <a:rPr sz="1400" b="0" i="0">
                <a:solidFill>
                  <a:srgbClr val="1F2A44"/>
                </a:solidFill>
                <a:latin typeface="Arial"/>
              </a:rPr>
              <a:t>Signature validated against the issuer's JWKS</a:t>
            </a:r>
          </a:p>
          <a:p>
            <a:pPr marL="160020" indent="-160020">
              <a:spcAft>
                <a:spcPts val="500"/>
              </a:spcAft>
              <a:buChar char="•"/>
            </a:pPr>
            <a:r>
              <a:rPr sz="1400" b="0" i="0">
                <a:solidFill>
                  <a:srgbClr val="1F2A44"/>
                </a:solidFill>
                <a:latin typeface="Consolas"/>
              </a:rPr>
              <a:t>aud</a:t>
            </a:r>
            <a:r>
              <a:rPr sz="1400" b="0" i="0">
                <a:solidFill>
                  <a:srgbClr val="1F2A44"/>
                </a:solidFill>
                <a:latin typeface="Arial"/>
              </a:rPr>
              <a:t> and </a:t>
            </a:r>
            <a:r>
              <a:rPr sz="1400" b="0" i="0">
                <a:solidFill>
                  <a:srgbClr val="1F2A44"/>
                </a:solidFill>
                <a:latin typeface="Consolas"/>
              </a:rPr>
              <a:t>exp</a:t>
            </a:r>
            <a:r>
              <a:rPr sz="1400" b="0" i="0">
                <a:solidFill>
                  <a:srgbClr val="1F2A44"/>
                </a:solidFill>
                <a:latin typeface="Arial"/>
              </a:rPr>
              <a:t> deliberately lenient in the dev/ops context</a:t>
            </a:r>
          </a:p>
          <a:p>
            <a:pPr marL="160020" indent="-160020">
              <a:spcAft>
                <a:spcPts val="500"/>
              </a:spcAft>
              <a:buChar char="•"/>
            </a:pPr>
            <a:r>
              <a:rPr sz="1400" b="1" i="0">
                <a:solidFill>
                  <a:srgbClr val="1F2A44"/>
                </a:solidFill>
                <a:latin typeface="Arial"/>
              </a:rPr>
              <a:t>Never forwarded to Rossoctl</a:t>
            </a:r>
          </a:p>
          <a:p>
            <a:pPr>
              <a:spcBef>
                <a:spcPts val="400"/>
              </a:spcBef>
              <a:spcAft>
                <a:spcPts val="500"/>
              </a:spcAft>
            </a:pPr>
            <a:r>
              <a:rPr sz="1500" b="1" i="0">
                <a:solidFill>
                  <a:srgbClr val="1F2A44"/>
                </a:solidFill>
                <a:latin typeface="Consolas"/>
              </a:rPr>
              <a:t>benchmarker</a:t>
            </a:r>
            <a:r>
              <a:rPr sz="1500" b="1" i="0">
                <a:solidFill>
                  <a:srgbClr val="1F2A44"/>
                </a:solidFill>
                <a:latin typeface="Arial"/>
              </a:rPr>
              <a:t> is special</a:t>
            </a:r>
          </a:p>
          <a:p>
            <a:pPr marL="160020" indent="-160020">
              <a:spcAft>
                <a:spcPts val="500"/>
              </a:spcAft>
              <a:buChar char="•"/>
            </a:pPr>
            <a:r>
              <a:rPr sz="1400" b="0" i="0">
                <a:solidFill>
                  <a:srgbClr val="1F2A44"/>
                </a:solidFill>
                <a:latin typeface="Arial"/>
              </a:rPr>
              <a:t>A JWT whose </a:t>
            </a:r>
            <a:r>
              <a:rPr sz="1400" b="0" i="0">
                <a:solidFill>
                  <a:srgbClr val="1F2A44"/>
                </a:solidFill>
                <a:latin typeface="Consolas"/>
              </a:rPr>
              <a:t>preferred_username</a:t>
            </a:r>
            <a:r>
              <a:rPr sz="1400" b="0" i="0">
                <a:solidFill>
                  <a:srgbClr val="1F2A44"/>
                </a:solidFill>
                <a:latin typeface="Arial"/>
              </a:rPr>
              <a:t> is </a:t>
            </a:r>
            <a:r>
              <a:rPr sz="1400" b="0" i="0">
                <a:solidFill>
                  <a:srgbClr val="1F2A44"/>
                </a:solidFill>
                <a:latin typeface="Consolas"/>
              </a:rPr>
              <a:t>benchmarker</a:t>
            </a:r>
            <a:r>
              <a:rPr sz="1400" b="0" i="0">
                <a:solidFill>
                  <a:srgbClr val="1F2A44"/>
                </a:solidFill>
                <a:latin typeface="Arial"/>
              </a:rPr>
              <a:t> authorizes </a:t>
            </a:r>
            <a:r>
              <a:rPr sz="1400" b="0" i="0">
                <a:solidFill>
                  <a:srgbClr val="1F2A44"/>
                </a:solidFill>
                <a:latin typeface="Consolas"/>
              </a:rPr>
              <a:t>GET</a:t>
            </a:r>
            <a:r>
              <a:rPr sz="1400" b="0" i="0">
                <a:solidFill>
                  <a:srgbClr val="1F2A44"/>
                </a:solidFill>
                <a:latin typeface="Arial"/>
              </a:rPr>
              <a:t>/</a:t>
            </a:r>
            <a:r>
              <a:rPr sz="1400" b="0" i="0">
                <a:solidFill>
                  <a:srgbClr val="1F2A44"/>
                </a:solidFill>
                <a:latin typeface="Consolas"/>
              </a:rPr>
              <a:t>PUT /config</a:t>
            </a:r>
          </a:p>
        </p:txBody>
      </p:sp>
      <p:sp>
        <p:nvSpPr>
          <p:cNvPr id="10" name="Rectangle 9"/>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Service token (outbound)</a:t>
            </a:r>
          </a:p>
        </p:txBody>
      </p:sp>
      <p:sp>
        <p:nvSpPr>
          <p:cNvPr id="11" name="TextBox 10"/>
          <p:cNvSpPr txBox="1"/>
          <p:nvPr/>
        </p:nvSpPr>
        <p:spPr>
          <a:xfrm>
            <a:off x="6382512" y="1874519"/>
            <a:ext cx="5349240" cy="3108960"/>
          </a:xfrm>
          <a:prstGeom prst="rect">
            <a:avLst/>
          </a:prstGeom>
          <a:noFill/>
        </p:spPr>
        <p:txBody>
          <a:bodyPr wrap="square" lIns="36576" rIns="36576" tIns="18288" bIns="18288">
            <a:spAutoFit/>
          </a:bodyPr>
          <a:lstStyle/>
          <a:p>
            <a:pPr>
              <a:spcAft>
                <a:spcPts val="500"/>
              </a:spcAft>
            </a:pPr>
            <a:r>
              <a:rPr sz="1400" b="0" i="0">
                <a:solidFill>
                  <a:srgbClr val="1F2A44"/>
                </a:solidFill>
                <a:latin typeface="Arial"/>
              </a:rPr>
              <a:t>Minted per request by ROPC, with the instance's </a:t>
            </a:r>
            <a:r>
              <a:rPr sz="1400" b="0" i="0">
                <a:solidFill>
                  <a:srgbClr val="1F2A44"/>
                </a:solidFill>
                <a:latin typeface="Consolas"/>
              </a:rPr>
              <a:t>benchmarker</a:t>
            </a:r>
            <a:r>
              <a:rPr sz="1400" b="0" i="0">
                <a:solidFill>
                  <a:srgbClr val="1F2A44"/>
                </a:solidFill>
                <a:latin typeface="Arial"/>
              </a:rPr>
              <a:t> credential.</a:t>
            </a:r>
          </a:p>
          <a:p>
            <a:pPr marL="160020" indent="-160020">
              <a:spcAft>
                <a:spcPts val="500"/>
              </a:spcAft>
              <a:buChar char="•"/>
            </a:pPr>
            <a:r>
              <a:rPr sz="1400" b="0" i="0">
                <a:solidFill>
                  <a:srgbClr val="1F2A44"/>
                </a:solidFill>
                <a:latin typeface="Arial"/>
              </a:rPr>
              <a:t>Always fresh, so no expiry handling</a:t>
            </a:r>
          </a:p>
          <a:p>
            <a:pPr marL="160020" indent="-160020">
              <a:spcAft>
                <a:spcPts val="500"/>
              </a:spcAft>
              <a:buChar char="•"/>
            </a:pPr>
            <a:r>
              <a:rPr sz="1400" b="0" i="0">
                <a:solidFill>
                  <a:srgbClr val="1F2A44"/>
                </a:solidFill>
                <a:latin typeface="Arial"/>
              </a:rPr>
              <a:t>Presented to Rossoctl for every cluster-facing operation</a:t>
            </a:r>
          </a:p>
          <a:p>
            <a:pPr marL="160020" indent="-160020">
              <a:spcAft>
                <a:spcPts val="500"/>
              </a:spcAft>
              <a:buChar char="•"/>
            </a:pPr>
            <a:r>
              <a:rPr sz="1400" b="1" i="0">
                <a:solidFill>
                  <a:srgbClr val="1F2A44"/>
                </a:solidFill>
                <a:latin typeface="Arial"/>
              </a:rPr>
              <a:t>The Service acts under its own identity, not the caller's</a:t>
            </a:r>
          </a:p>
          <a:p>
            <a:pPr>
              <a:spcBef>
                <a:spcPts val="400"/>
              </a:spcBef>
              <a:spcAft>
                <a:spcPts val="500"/>
              </a:spcAft>
            </a:pPr>
            <a:r>
              <a:rPr sz="1500" b="1" i="0">
                <a:solidFill>
                  <a:srgbClr val="1F2A44"/>
                </a:solidFill>
                <a:latin typeface="Arial"/>
              </a:rPr>
              <a:t>Backchannel split (</a:t>
            </a:r>
            <a:r>
              <a:rPr sz="1500" b="1" i="0">
                <a:solidFill>
                  <a:srgbClr val="1F2A44"/>
                </a:solidFill>
                <a:latin typeface="Consolas"/>
              </a:rPr>
              <a:t>iss</a:t>
            </a:r>
            <a:r>
              <a:rPr sz="1500" b="1" i="0">
                <a:solidFill>
                  <a:srgbClr val="1F2A44"/>
                </a:solidFill>
                <a:latin typeface="Arial"/>
              </a:rPr>
              <a:t> ≠ the host dialled)</a:t>
            </a:r>
          </a:p>
          <a:p>
            <a:pPr marL="160020" indent="-160020">
              <a:spcAft>
                <a:spcPts val="500"/>
              </a:spcAft>
              <a:buChar char="•"/>
            </a:pPr>
            <a:r>
              <a:rPr sz="1400" b="0" i="0">
                <a:solidFill>
                  <a:srgbClr val="1F2A44"/>
                </a:solidFill>
                <a:latin typeface="Arial"/>
              </a:rPr>
              <a:t>When the </a:t>
            </a:r>
            <a:r>
              <a:rPr sz="1400" b="0" i="0">
                <a:solidFill>
                  <a:srgbClr val="1F2A44"/>
                </a:solidFill>
                <a:latin typeface="Consolas"/>
              </a:rPr>
              <a:t>iss</a:t>
            </a:r>
            <a:r>
              <a:rPr sz="1400" b="0" i="0">
                <a:solidFill>
                  <a:srgbClr val="1F2A44"/>
                </a:solidFill>
                <a:latin typeface="Arial"/>
              </a:rPr>
              <a:t> host is unreachable from the pod (in-cluster KinD), JWKS and tokens come from a backchannel URL; </a:t>
            </a:r>
            <a:r>
              <a:rPr sz="1400" b="0" i="0">
                <a:solidFill>
                  <a:srgbClr val="1F2A44"/>
                </a:solidFill>
                <a:latin typeface="Consolas"/>
              </a:rPr>
              <a:t>iss</a:t>
            </a:r>
            <a:r>
              <a:rPr sz="1400" b="0" i="0">
                <a:solidFill>
                  <a:srgbClr val="1F2A44"/>
                </a:solidFill>
                <a:latin typeface="Arial"/>
              </a:rPr>
              <a:t> is matched, never dialled</a:t>
            </a:r>
          </a:p>
        </p:txBody>
      </p:sp>
      <p:sp>
        <p:nvSpPr>
          <p:cNvPr id="12" name="Rounded Rectangle 11"/>
          <p:cNvSpPr/>
          <p:nvPr/>
        </p:nvSpPr>
        <p:spPr>
          <a:xfrm>
            <a:off x="411480" y="5120640"/>
            <a:ext cx="11365992" cy="8686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Implication</a:t>
            </a:r>
          </a:p>
          <a:p>
            <a:pPr algn="l">
              <a:spcAft>
                <a:spcPts val="300"/>
              </a:spcAft>
            </a:pPr>
            <a:r>
              <a:rPr sz="1300" b="0" i="0">
                <a:solidFill>
                  <a:srgbClr val="1F2A44"/>
                </a:solidFill>
                <a:latin typeface="Arial"/>
              </a:rPr>
              <a:t>At the Rossoctl and cluster layer every action is the Service's identity, so per-user attribution and audit live in the Service, keyed on (</a:t>
            </a:r>
            <a:r>
              <a:rPr sz="1300" b="0" i="0">
                <a:solidFill>
                  <a:srgbClr val="1F2A44"/>
                </a:solidFill>
                <a:latin typeface="Consolas"/>
              </a:rPr>
              <a:t>iss</a:t>
            </a:r>
            <a:r>
              <a:rPr sz="1300" b="0" i="0">
                <a:solidFill>
                  <a:srgbClr val="1F2A44"/>
                </a:solidFill>
                <a:latin typeface="Arial"/>
              </a:rPr>
              <a:t>, </a:t>
            </a:r>
            <a:r>
              <a:rPr sz="1300" b="0" i="0">
                <a:solidFill>
                  <a:srgbClr val="1F2A44"/>
                </a:solidFill>
                <a:latin typeface="Consolas"/>
              </a:rPr>
              <a:t>preferred_username</a:t>
            </a:r>
            <a:r>
              <a:rPr sz="1300" b="0" i="0">
                <a:solidFill>
                  <a:srgbClr val="1F2A44"/>
                </a:solidFill>
                <a:latin typeface="Aria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the Service can and cannot enact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HTTP-only boundary, made explicit: anything else is reported, never silently ignored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6</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Enacts over HTTP</a:t>
            </a:r>
          </a:p>
        </p:txBody>
      </p:sp>
      <p:sp>
        <p:nvSpPr>
          <p:cNvPr id="9" name="TextBox 8"/>
          <p:cNvSpPr txBox="1"/>
          <p:nvPr/>
        </p:nvSpPr>
        <p:spPr>
          <a:xfrm>
            <a:off x="502920" y="1874519"/>
            <a:ext cx="5349240" cy="3657600"/>
          </a:xfrm>
          <a:prstGeom prst="rect">
            <a:avLst/>
          </a:prstGeom>
          <a:noFill/>
        </p:spPr>
        <p:txBody>
          <a:bodyPr wrap="square" lIns="36576" rIns="36576" tIns="18288" bIns="18288">
            <a:spAutoFit/>
          </a:bodyPr>
          <a:lstStyle/>
          <a:p>
            <a:pPr marL="160020" indent="-160020">
              <a:spcAft>
                <a:spcPts val="500"/>
              </a:spcAft>
              <a:buChar char="•"/>
            </a:pPr>
            <a:r>
              <a:rPr sz="1400" b="0" i="0">
                <a:solidFill>
                  <a:srgbClr val="1F2A44"/>
                </a:solidFill>
                <a:latin typeface="Arial"/>
              </a:rPr>
              <a:t>Deploy the MCP tool and A2A agent (CPU and memory, image, env)</a:t>
            </a:r>
          </a:p>
          <a:p>
            <a:pPr marL="160020" indent="-160020">
              <a:spcAft>
                <a:spcPts val="500"/>
              </a:spcAft>
              <a:buChar char="•"/>
            </a:pPr>
            <a:r>
              <a:rPr sz="1400" b="0" i="0">
                <a:solidFill>
                  <a:srgbClr val="1F2A44"/>
                </a:solidFill>
                <a:latin typeface="Arial"/>
              </a:rPr>
              <a:t>Swap the model at deploy time (a per-experiment agent)</a:t>
            </a:r>
          </a:p>
          <a:p>
            <a:pPr marL="160020" indent="-160020">
              <a:spcAft>
                <a:spcPts val="500"/>
              </a:spcAft>
              <a:buChar char="•"/>
            </a:pPr>
            <a:r>
              <a:rPr sz="1400" b="0" i="0">
                <a:solidFill>
                  <a:srgbClr val="1F2A44"/>
                </a:solidFill>
                <a:latin typeface="Consolas"/>
              </a:rPr>
              <a:t>authbridge_enabled</a:t>
            </a:r>
            <a:r>
              <a:rPr sz="1400" b="0" i="0">
                <a:solidFill>
                  <a:srgbClr val="1F2A44"/>
                </a:solidFill>
                <a:latin typeface="Arial"/>
              </a:rPr>
              <a:t> injects the sidecar (layer 2)</a:t>
            </a:r>
          </a:p>
          <a:p>
            <a:pPr marL="160020" indent="-160020">
              <a:spcAft>
                <a:spcPts val="500"/>
              </a:spcAft>
              <a:buChar char="•"/>
            </a:pPr>
            <a:r>
              <a:rPr sz="1400" b="0" i="0">
                <a:solidFill>
                  <a:srgbClr val="1F2A44"/>
                </a:solidFill>
                <a:latin typeface="Consolas"/>
              </a:rPr>
              <a:t>plugin_preset</a:t>
            </a:r>
            <a:r>
              <a:rPr sz="1400" b="0" i="0">
                <a:solidFill>
                  <a:srgbClr val="1F2A44"/>
                </a:solidFill>
                <a:latin typeface="Arial"/>
              </a:rPr>
              <a:t>, </a:t>
            </a:r>
            <a:r>
              <a:rPr sz="1400" b="0" i="0">
                <a:solidFill>
                  <a:srgbClr val="1F2A44"/>
                </a:solidFill>
                <a:latin typeface="Consolas"/>
              </a:rPr>
              <a:t>plugins</a:t>
            </a:r>
            <a:r>
              <a:rPr sz="1400" b="0" i="0">
                <a:solidFill>
                  <a:srgbClr val="1F2A44"/>
                </a:solidFill>
                <a:latin typeface="Arial"/>
              </a:rPr>
              <a:t>, </a:t>
            </a:r>
            <a:r>
              <a:rPr sz="1400" b="0" i="0">
                <a:solidFill>
                  <a:srgbClr val="1F2A44"/>
                </a:solidFill>
                <a:latin typeface="Consolas"/>
              </a:rPr>
              <a:t>on_error</a:t>
            </a:r>
            <a:r>
              <a:rPr sz="1400" b="0" i="0">
                <a:solidFill>
                  <a:srgbClr val="1F2A44"/>
                </a:solidFill>
                <a:latin typeface="Arial"/>
              </a:rPr>
              <a:t> set AuthBridge layer 3</a:t>
            </a:r>
          </a:p>
          <a:p>
            <a:pPr marL="320040" indent="-137160">
              <a:spcAft>
                <a:spcPts val="500"/>
              </a:spcAft>
              <a:buChar char="–"/>
            </a:pPr>
            <a:r>
              <a:rPr sz="1200" b="0" i="0">
                <a:solidFill>
                  <a:srgbClr val="5B6477"/>
                </a:solidFill>
                <a:latin typeface="Arial"/>
              </a:rPr>
              <a:t>the operator renders the pipeline ConfigMap</a:t>
            </a:r>
          </a:p>
          <a:p>
            <a:pPr marL="160020" indent="-160020">
              <a:spcAft>
                <a:spcPts val="500"/>
              </a:spcAft>
              <a:buChar char="•"/>
            </a:pPr>
            <a:r>
              <a:rPr sz="1400" b="0" i="0">
                <a:solidFill>
                  <a:srgbClr val="1F2A44"/>
                </a:solidFill>
                <a:latin typeface="Arial"/>
              </a:rPr>
              <a:t>Run benchmark sessions; collect pass/fail and latency</a:t>
            </a:r>
          </a:p>
          <a:p>
            <a:pPr marL="160020" indent="-160020">
              <a:spcAft>
                <a:spcPts val="500"/>
              </a:spcAft>
              <a:buChar char="•"/>
            </a:pPr>
            <a:r>
              <a:rPr sz="1400" b="0" i="0">
                <a:solidFill>
                  <a:srgbClr val="1F2A44"/>
                </a:solidFill>
                <a:latin typeface="Arial"/>
              </a:rPr>
              <a:t>Emit and read MLflow traces; export to S3</a:t>
            </a:r>
          </a:p>
          <a:p>
            <a:pPr marL="160020" indent="-160020">
              <a:spcAft>
                <a:spcPts val="500"/>
              </a:spcAft>
              <a:buChar char="•"/>
            </a:pPr>
            <a:r>
              <a:rPr sz="1400" b="0" i="0">
                <a:solidFill>
                  <a:srgbClr val="1F2A44"/>
                </a:solidFill>
                <a:latin typeface="Arial"/>
              </a:rPr>
              <a:t>Its own config, MLflow and S3, via </a:t>
            </a:r>
            <a:r>
              <a:rPr sz="1400" b="0" i="0">
                <a:solidFill>
                  <a:srgbClr val="1F2A44"/>
                </a:solidFill>
                <a:latin typeface="Consolas"/>
              </a:rPr>
              <a:t>PUT /config</a:t>
            </a:r>
            <a:r>
              <a:rPr sz="1400" b="0" i="0">
                <a:solidFill>
                  <a:srgbClr val="1F2A44"/>
                </a:solidFill>
                <a:latin typeface="Arial"/>
              </a:rPr>
              <a:t> (</a:t>
            </a:r>
            <a:r>
              <a:rPr sz="1400" b="0" i="0">
                <a:solidFill>
                  <a:srgbClr val="1F2A44"/>
                </a:solidFill>
                <a:latin typeface="Consolas"/>
              </a:rPr>
              <a:t>benchmarker</a:t>
            </a:r>
            <a:r>
              <a:rPr sz="1400" b="0" i="0">
                <a:solidFill>
                  <a:srgbClr val="1F2A44"/>
                </a:solidFill>
                <a:latin typeface="Arial"/>
              </a:rPr>
              <a:t> only)</a:t>
            </a:r>
          </a:p>
        </p:txBody>
      </p:sp>
      <p:sp>
        <p:nvSpPr>
          <p:cNvPr id="10" name="Rectangle 9"/>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Out-of-band: reports it, does not do it</a:t>
            </a:r>
          </a:p>
        </p:txBody>
      </p:sp>
      <p:sp>
        <p:nvSpPr>
          <p:cNvPr id="11" name="TextBox 10"/>
          <p:cNvSpPr txBox="1"/>
          <p:nvPr/>
        </p:nvSpPr>
        <p:spPr>
          <a:xfrm>
            <a:off x="6382512" y="1874519"/>
            <a:ext cx="5349240" cy="3657600"/>
          </a:xfrm>
          <a:prstGeom prst="rect">
            <a:avLst/>
          </a:prstGeom>
          <a:noFill/>
        </p:spPr>
        <p:txBody>
          <a:bodyPr wrap="square" lIns="36576" rIns="36576" tIns="18288" bIns="18288">
            <a:spAutoFit/>
          </a:bodyPr>
          <a:lstStyle/>
          <a:p>
            <a:pPr marL="160020" indent="-160020">
              <a:spcAft>
                <a:spcPts val="500"/>
              </a:spcAft>
              <a:buChar char="•"/>
            </a:pPr>
            <a:r>
              <a:rPr sz="1400" b="0" i="0">
                <a:solidFill>
                  <a:srgbClr val="1F2A44"/>
                </a:solidFill>
                <a:latin typeface="Arial"/>
              </a:rPr>
              <a:t>Cluster Secrets (</a:t>
            </a:r>
            <a:r>
              <a:rPr sz="1400" b="0" i="0">
                <a:solidFill>
                  <a:srgbClr val="1F2A44"/>
                </a:solidFill>
                <a:latin typeface="Consolas"/>
              </a:rPr>
              <a:t>hf-secret</a:t>
            </a:r>
            <a:r>
              <a:rPr sz="1400" b="0" i="0">
                <a:solidFill>
                  <a:srgbClr val="1F2A44"/>
                </a:solidFill>
                <a:latin typeface="Arial"/>
              </a:rPr>
              <a:t>, </a:t>
            </a:r>
            <a:r>
              <a:rPr sz="1400" b="0" i="0">
                <a:solidFill>
                  <a:srgbClr val="1F2A44"/>
                </a:solidFill>
                <a:latin typeface="Consolas"/>
              </a:rPr>
              <a:t>openai-secret</a:t>
            </a:r>
            <a:r>
              <a:rPr sz="1400" b="0" i="0">
                <a:solidFill>
                  <a:srgbClr val="1F2A44"/>
                </a:solidFill>
                <a:latin typeface="Arial"/>
              </a:rPr>
              <a:t>)</a:t>
            </a:r>
          </a:p>
          <a:p>
            <a:pPr marL="320040" indent="-137160">
              <a:spcAft>
                <a:spcPts val="500"/>
              </a:spcAft>
              <a:buChar char="–"/>
            </a:pPr>
            <a:r>
              <a:rPr sz="1200" b="0" i="0">
                <a:solidFill>
                  <a:srgbClr val="5B6477"/>
                </a:solidFill>
                <a:latin typeface="Arial"/>
              </a:rPr>
              <a:t>the operator provisions them; the run precheck returns 424 naming the missing one</a:t>
            </a:r>
          </a:p>
          <a:p>
            <a:pPr marL="160020" indent="-160020">
              <a:spcAft>
                <a:spcPts val="500"/>
              </a:spcAft>
              <a:buChar char="•"/>
            </a:pPr>
            <a:r>
              <a:rPr sz="1400" b="0" i="0">
                <a:solidFill>
                  <a:srgbClr val="1F2A44"/>
                </a:solidFill>
                <a:latin typeface="Arial"/>
              </a:rPr>
              <a:t>AuthBridge cluster config: </a:t>
            </a:r>
            <a:r>
              <a:rPr sz="1400" b="0" i="0">
                <a:solidFill>
                  <a:srgbClr val="1F2A44"/>
                </a:solidFill>
                <a:latin typeface="Consolas"/>
              </a:rPr>
              <a:t>ibac.judgeEndpoint</a:t>
            </a:r>
            <a:r>
              <a:rPr sz="1400" b="0" i="0">
                <a:solidFill>
                  <a:srgbClr val="1F2A44"/>
                </a:solidFill>
                <a:latin typeface="Arial"/>
              </a:rPr>
              <a:t>, </a:t>
            </a:r>
            <a:r>
              <a:rPr sz="1400" b="0" i="0">
                <a:solidFill>
                  <a:srgbClr val="1F2A44"/>
                </a:solidFill>
                <a:latin typeface="Consolas"/>
              </a:rPr>
              <a:t>judgeModel</a:t>
            </a:r>
          </a:p>
          <a:p>
            <a:pPr marL="320040" indent="-137160">
              <a:spcAft>
                <a:spcPts val="500"/>
              </a:spcAft>
              <a:buChar char="–"/>
            </a:pPr>
            <a:r>
              <a:rPr sz="1200" b="0" i="0">
                <a:solidFill>
                  <a:srgbClr val="5B6477"/>
                </a:solidFill>
                <a:latin typeface="Arial"/>
              </a:rPr>
              <a:t>in the platform ConfigMap, not the agent API</a:t>
            </a:r>
          </a:p>
          <a:p>
            <a:pPr marL="160020" indent="-160020">
              <a:spcAft>
                <a:spcPts val="500"/>
              </a:spcAft>
              <a:buChar char="•"/>
            </a:pPr>
            <a:r>
              <a:rPr sz="1400" b="0" i="0">
                <a:solidFill>
                  <a:srgbClr val="1F2A44"/>
                </a:solidFill>
                <a:latin typeface="Arial"/>
              </a:rPr>
              <a:t>Any cluster-level API call: Rossoctl does those server-side</a:t>
            </a:r>
          </a:p>
          <a:p>
            <a:pPr>
              <a:spcBef>
                <a:spcPts val="400"/>
              </a:spcBef>
              <a:spcAft>
                <a:spcPts val="500"/>
              </a:spcAft>
            </a:pPr>
            <a:r>
              <a:rPr sz="1500" b="1" i="0">
                <a:solidFill>
                  <a:srgbClr val="1F2A44"/>
                </a:solidFill>
                <a:latin typeface="Arial"/>
              </a:rPr>
              <a:t>The principle</a:t>
            </a:r>
          </a:p>
          <a:p>
            <a:pPr marL="160020" indent="-160020">
              <a:spcAft>
                <a:spcPts val="500"/>
              </a:spcAft>
              <a:buChar char="•"/>
            </a:pPr>
            <a:r>
              <a:rPr sz="1400" b="0" i="0">
                <a:solidFill>
                  <a:srgbClr val="1F2A44"/>
                </a:solidFill>
                <a:latin typeface="Arial"/>
              </a:rPr>
              <a:t>An un-enactable request is prechecked (424) or rejected (422) with an actionable reason, never dropped</a:t>
            </a:r>
          </a:p>
        </p:txBody>
      </p:sp>
      <p:sp>
        <p:nvSpPr>
          <p:cNvPr id="12" name="Rounded Rectangle 11"/>
          <p:cNvSpPr/>
          <p:nvPr/>
        </p:nvSpPr>
        <p:spPr>
          <a:xfrm>
            <a:off x="411480" y="5486400"/>
            <a:ext cx="11365992" cy="6858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Cluster-agnostic by construction</a:t>
            </a:r>
          </a:p>
          <a:p>
            <a:pPr algn="l">
              <a:spcAft>
                <a:spcPts val="300"/>
              </a:spcAft>
            </a:pPr>
            <a:r>
              <a:rPr sz="1200" b="0" i="0">
                <a:solidFill>
                  <a:srgbClr val="1F2A44"/>
                </a:solidFill>
                <a:latin typeface="Arial"/>
              </a:rPr>
              <a:t>The same chart on KinD and OpenShift; the </a:t>
            </a:r>
            <a:r>
              <a:rPr sz="1200" b="0" i="0">
                <a:solidFill>
                  <a:srgbClr val="1F2A44"/>
                </a:solidFill>
                <a:latin typeface="Consolas"/>
              </a:rPr>
              <a:t>iss</a:t>
            </a:r>
            <a:r>
              <a:rPr sz="1200" b="0" i="0">
                <a:solidFill>
                  <a:srgbClr val="1F2A44"/>
                </a:solidFill>
                <a:latin typeface="Arial"/>
              </a:rPr>
              <a:t>-keyed instance decides where the workloads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architecture: one Service, a per-cluster instance selected by </a:t>
            </a:r>
            <a:r>
              <a:rPr sz="2600" b="1" i="0">
                <a:solidFill>
                  <a:srgbClr val="1F2A44"/>
                </a:solidFill>
                <a:latin typeface="Consolas"/>
              </a:rPr>
              <a:t>iss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Client, Service and the cluster-specific Keycloak, Rossoctl and workload; MLflow sits with the Service, S3 in the cloud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7</a:t>
            </a:r>
          </a:p>
        </p:txBody>
      </p:sp>
      <p:sp>
        <p:nvSpPr>
          <p:cNvPr id="8" name="Rounded Rectangle 7"/>
          <p:cNvSpPr/>
          <p:nvPr/>
        </p:nvSpPr>
        <p:spPr>
          <a:xfrm>
            <a:off x="411480" y="1325880"/>
            <a:ext cx="2514600" cy="658368"/>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Client</a:t>
            </a:r>
          </a:p>
          <a:p>
            <a:pPr algn="ctr">
              <a:spcAft>
                <a:spcPts val="200"/>
              </a:spcAft>
            </a:pPr>
            <a:r>
              <a:rPr sz="1200" b="0" i="0">
                <a:solidFill>
                  <a:srgbClr val="1F2A44"/>
                </a:solidFill>
                <a:latin typeface="Arial"/>
              </a:rPr>
              <a:t>off-cluster: host or CI</a:t>
            </a:r>
          </a:p>
        </p:txBody>
      </p:sp>
      <p:sp>
        <p:nvSpPr>
          <p:cNvPr id="9" name="Hexagon 8"/>
          <p:cNvSpPr/>
          <p:nvPr/>
        </p:nvSpPr>
        <p:spPr>
          <a:xfrm>
            <a:off x="411480" y="2240280"/>
            <a:ext cx="2514600" cy="150876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AutoBench Service</a:t>
            </a:r>
          </a:p>
          <a:p>
            <a:pPr algn="ctr">
              <a:spcAft>
                <a:spcPts val="200"/>
              </a:spcAft>
            </a:pPr>
            <a:r>
              <a:rPr sz="1100" b="0" i="0">
                <a:solidFill>
                  <a:srgbClr val="1F2A44"/>
                </a:solidFill>
                <a:latin typeface="Consolas"/>
              </a:rPr>
              <a:t>iss</a:t>
            </a:r>
            <a:r>
              <a:rPr sz="1100" b="0" i="0">
                <a:solidFill>
                  <a:srgbClr val="1F2A44"/>
                </a:solidFill>
                <a:latin typeface="Arial"/>
              </a:rPr>
              <a:t>-keyed instances</a:t>
            </a:r>
          </a:p>
          <a:p>
            <a:pPr algn="ctr">
              <a:spcAft>
                <a:spcPts val="200"/>
              </a:spcAft>
            </a:pPr>
            <a:r>
              <a:rPr sz="1100" b="0" i="0">
                <a:solidFill>
                  <a:srgbClr val="1F2A44"/>
                </a:solidFill>
                <a:latin typeface="Arial"/>
              </a:rPr>
              <a:t>per-request ROPC</a:t>
            </a:r>
          </a:p>
          <a:p>
            <a:pPr algn="ctr">
              <a:spcAft>
                <a:spcPts val="200"/>
              </a:spcAft>
            </a:pPr>
            <a:r>
              <a:rPr sz="1100" b="0" i="0">
                <a:solidFill>
                  <a:srgbClr val="1F2A44"/>
                </a:solidFill>
                <a:latin typeface="Arial"/>
              </a:rPr>
              <a:t>deploy · run · report</a:t>
            </a:r>
          </a:p>
        </p:txBody>
      </p:sp>
      <p:sp>
        <p:nvSpPr>
          <p:cNvPr id="10" name="Can 9"/>
          <p:cNvSpPr/>
          <p:nvPr/>
        </p:nvSpPr>
        <p:spPr>
          <a:xfrm>
            <a:off x="411480" y="4114800"/>
            <a:ext cx="1188720" cy="82296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S3</a:t>
            </a:r>
          </a:p>
          <a:p>
            <a:pPr algn="ctr">
              <a:spcAft>
                <a:spcPts val="200"/>
              </a:spcAft>
            </a:pPr>
            <a:r>
              <a:rPr sz="1100" b="0" i="0">
                <a:solidFill>
                  <a:srgbClr val="1F2A44"/>
                </a:solidFill>
                <a:latin typeface="Arial"/>
              </a:rPr>
              <a:t>cloud</a:t>
            </a:r>
          </a:p>
        </p:txBody>
      </p:sp>
      <p:sp>
        <p:nvSpPr>
          <p:cNvPr id="11" name="Can 10"/>
          <p:cNvSpPr/>
          <p:nvPr/>
        </p:nvSpPr>
        <p:spPr>
          <a:xfrm>
            <a:off x="1737360" y="4114800"/>
            <a:ext cx="1188720" cy="82296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000" b="1" i="0">
                <a:solidFill>
                  <a:srgbClr val="1F2A44"/>
                </a:solidFill>
                <a:latin typeface="Arial"/>
              </a:rPr>
              <a:t>MLflow</a:t>
            </a:r>
          </a:p>
          <a:p>
            <a:pPr algn="ctr">
              <a:spcAft>
                <a:spcPts val="200"/>
              </a:spcAft>
            </a:pPr>
            <a:r>
              <a:rPr sz="1000" b="0" i="0">
                <a:solidFill>
                  <a:srgbClr val="1F2A44"/>
                </a:solidFill>
                <a:latin typeface="Arial"/>
              </a:rPr>
              <a:t>with the Service</a:t>
            </a:r>
          </a:p>
        </p:txBody>
      </p:sp>
      <p:sp>
        <p:nvSpPr>
          <p:cNvPr id="12" name="Rounded Rectangle 11"/>
          <p:cNvSpPr/>
          <p:nvPr/>
        </p:nvSpPr>
        <p:spPr>
          <a:xfrm>
            <a:off x="3849624" y="1426463"/>
            <a:ext cx="8001000" cy="3611880"/>
          </a:xfrm>
          <a:prstGeom prst="roundRect">
            <a:avLst>
              <a:gd name="adj" fmla="val 4050"/>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3776472" y="1353312"/>
            <a:ext cx="8001000" cy="3611880"/>
          </a:xfrm>
          <a:prstGeom prst="roundRect">
            <a:avLst>
              <a:gd name="adj" fmla="val 4050"/>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3703320" y="1280160"/>
            <a:ext cx="8001000" cy="3611880"/>
          </a:xfrm>
          <a:prstGeom prst="roundRect">
            <a:avLst>
              <a:gd name="adj" fmla="val 4050"/>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TextBox 14"/>
          <p:cNvSpPr txBox="1"/>
          <p:nvPr/>
        </p:nvSpPr>
        <p:spPr>
          <a:xfrm>
            <a:off x="3840480" y="1335024"/>
            <a:ext cx="7726679" cy="310896"/>
          </a:xfrm>
          <a:prstGeom prst="rect">
            <a:avLst/>
          </a:prstGeom>
          <a:noFill/>
        </p:spPr>
        <p:txBody>
          <a:bodyPr wrap="square" lIns="36576" rIns="36576" tIns="18288" bIns="18288" anchor="t">
            <a:spAutoFit/>
          </a:bodyPr>
          <a:lstStyle/>
          <a:p>
            <a:pPr algn="l">
              <a:spcAft>
                <a:spcPts val="600"/>
              </a:spcAft>
            </a:pPr>
            <a:r>
              <a:rPr sz="1200" b="1" i="0">
                <a:solidFill>
                  <a:srgbClr val="1F2A44"/>
                </a:solidFill>
                <a:latin typeface="Arial"/>
              </a:rPr>
              <a:t>Per-cluster instance, selected by JWT </a:t>
            </a:r>
            <a:r>
              <a:rPr sz="1200" b="1" i="0">
                <a:solidFill>
                  <a:srgbClr val="1F2A44"/>
                </a:solidFill>
                <a:latin typeface="Consolas"/>
              </a:rPr>
              <a:t>iss</a:t>
            </a:r>
          </a:p>
        </p:txBody>
      </p:sp>
      <p:sp>
        <p:nvSpPr>
          <p:cNvPr id="16" name="Rounded Rectangle 15"/>
          <p:cNvSpPr/>
          <p:nvPr/>
        </p:nvSpPr>
        <p:spPr>
          <a:xfrm>
            <a:off x="3977639" y="1783080"/>
            <a:ext cx="2331720" cy="82296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Keycloak</a:t>
            </a:r>
          </a:p>
          <a:p>
            <a:pPr algn="ctr">
              <a:spcAft>
                <a:spcPts val="200"/>
              </a:spcAft>
            </a:pPr>
            <a:r>
              <a:rPr sz="1200" b="0" i="0">
                <a:solidFill>
                  <a:srgbClr val="1F2A44"/>
                </a:solidFill>
                <a:latin typeface="Arial"/>
              </a:rPr>
              <a:t>issuer + backchannel</a:t>
            </a:r>
          </a:p>
        </p:txBody>
      </p:sp>
      <p:sp>
        <p:nvSpPr>
          <p:cNvPr id="17" name="Hexagon 16"/>
          <p:cNvSpPr/>
          <p:nvPr/>
        </p:nvSpPr>
        <p:spPr>
          <a:xfrm>
            <a:off x="3977639" y="2834640"/>
            <a:ext cx="2331720" cy="96012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Rossoctl</a:t>
            </a:r>
          </a:p>
          <a:p>
            <a:pPr algn="ctr">
              <a:spcAft>
                <a:spcPts val="200"/>
              </a:spcAft>
            </a:pPr>
            <a:r>
              <a:rPr sz="1200" b="0" i="0">
                <a:solidFill>
                  <a:srgbClr val="1F2A44"/>
                </a:solidFill>
                <a:latin typeface="Arial"/>
              </a:rPr>
              <a:t>backend API</a:t>
            </a:r>
          </a:p>
        </p:txBody>
      </p:sp>
      <p:sp>
        <p:nvSpPr>
          <p:cNvPr id="18" name="Rounded Rectangle 17"/>
          <p:cNvSpPr/>
          <p:nvPr/>
        </p:nvSpPr>
        <p:spPr>
          <a:xfrm>
            <a:off x="8366760" y="1737360"/>
            <a:ext cx="3154680" cy="2103120"/>
          </a:xfrm>
          <a:prstGeom prst="roundRect">
            <a:avLst>
              <a:gd name="adj" fmla="val 6956"/>
            </a:avLst>
          </a:prstGeom>
          <a:solidFill>
            <a:srgbClr val="FFFFFF"/>
          </a:solidFill>
          <a:ln w="15875">
            <a:solidFill>
              <a:srgbClr val="0F76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TextBox 18"/>
          <p:cNvSpPr txBox="1"/>
          <p:nvPr/>
        </p:nvSpPr>
        <p:spPr>
          <a:xfrm>
            <a:off x="8458200" y="1773936"/>
            <a:ext cx="2926080" cy="274320"/>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a:t>
            </a:r>
          </a:p>
        </p:txBody>
      </p:sp>
      <p:sp>
        <p:nvSpPr>
          <p:cNvPr id="20" name="Rounded Rectangle 19"/>
          <p:cNvSpPr/>
          <p:nvPr/>
        </p:nvSpPr>
        <p:spPr>
          <a:xfrm>
            <a:off x="8549640" y="2103120"/>
            <a:ext cx="2788920" cy="73152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MCP tool</a:t>
            </a:r>
          </a:p>
          <a:p>
            <a:pPr algn="ctr">
              <a:spcAft>
                <a:spcPts val="200"/>
              </a:spcAft>
            </a:pPr>
            <a:r>
              <a:rPr sz="1100" b="0" i="0">
                <a:solidFill>
                  <a:srgbClr val="1F2A44"/>
                </a:solidFill>
                <a:latin typeface="Consolas"/>
              </a:rPr>
              <a:t>exgentic-mcp-&lt;benchmark&gt;</a:t>
            </a:r>
          </a:p>
        </p:txBody>
      </p:sp>
      <p:sp>
        <p:nvSpPr>
          <p:cNvPr id="21" name="Rounded Rectangle 20"/>
          <p:cNvSpPr/>
          <p:nvPr/>
        </p:nvSpPr>
        <p:spPr>
          <a:xfrm>
            <a:off x="8549640" y="2971800"/>
            <a:ext cx="2788920" cy="73152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A2A agent</a:t>
            </a:r>
          </a:p>
          <a:p>
            <a:pPr algn="ctr">
              <a:spcAft>
                <a:spcPts val="200"/>
              </a:spcAft>
            </a:pPr>
            <a:r>
              <a:rPr sz="1100" b="0" i="0">
                <a:solidFill>
                  <a:srgbClr val="1F2A44"/>
                </a:solidFill>
                <a:latin typeface="Consolas"/>
              </a:rPr>
              <a:t>exgentic-a2a-tool_calling-&lt;b&gt;</a:t>
            </a:r>
          </a:p>
        </p:txBody>
      </p:sp>
      <p:sp>
        <p:nvSpPr>
          <p:cNvPr id="22" name="Rounded Rectangle 21"/>
          <p:cNvSpPr/>
          <p:nvPr/>
        </p:nvSpPr>
        <p:spPr>
          <a:xfrm>
            <a:off x="5623560" y="4114800"/>
            <a:ext cx="2468880" cy="6400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OTEL collector</a:t>
            </a:r>
          </a:p>
          <a:p>
            <a:pPr algn="ctr">
              <a:spcAft>
                <a:spcPts val="200"/>
              </a:spcAft>
            </a:pPr>
            <a:r>
              <a:rPr sz="1100" b="0" i="0">
                <a:solidFill>
                  <a:srgbClr val="1F2A44"/>
                </a:solidFill>
                <a:latin typeface="Arial"/>
              </a:rPr>
              <a:t>forwards agent spans</a:t>
            </a:r>
          </a:p>
        </p:txBody>
      </p:sp>
      <p:cxnSp>
        <p:nvCxnSpPr>
          <p:cNvPr id="23" name="Connector 22"/>
          <p:cNvCxnSpPr/>
          <p:nvPr/>
        </p:nvCxnSpPr>
        <p:spPr>
          <a:xfrm>
            <a:off x="2926080" y="1645920"/>
            <a:ext cx="1051559" cy="36576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264408" y="167335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5" name="Connector 24"/>
          <p:cNvCxnSpPr/>
          <p:nvPr/>
        </p:nvCxnSpPr>
        <p:spPr>
          <a:xfrm>
            <a:off x="1664208" y="1984248"/>
            <a:ext cx="0" cy="25603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764792" y="197510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7" name="Connector 26"/>
          <p:cNvCxnSpPr/>
          <p:nvPr/>
        </p:nvCxnSpPr>
        <p:spPr>
          <a:xfrm flipV="1">
            <a:off x="2926080" y="2377440"/>
            <a:ext cx="1051559" cy="13716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19272" y="231343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29" name="Connector 28"/>
          <p:cNvCxnSpPr/>
          <p:nvPr/>
        </p:nvCxnSpPr>
        <p:spPr>
          <a:xfrm>
            <a:off x="2926080" y="3291840"/>
            <a:ext cx="1051559" cy="1828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3319272" y="316382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1" name="Connector 30"/>
          <p:cNvCxnSpPr/>
          <p:nvPr/>
        </p:nvCxnSpPr>
        <p:spPr>
          <a:xfrm flipV="1">
            <a:off x="6309360" y="3017520"/>
            <a:ext cx="2057400" cy="29260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812279" y="3081528"/>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3" name="Connector 32"/>
          <p:cNvCxnSpPr/>
          <p:nvPr/>
        </p:nvCxnSpPr>
        <p:spPr>
          <a:xfrm flipV="1">
            <a:off x="2926080" y="2743200"/>
            <a:ext cx="0" cy="91440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26080" y="2743200"/>
            <a:ext cx="3383280"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09360" y="2651760"/>
            <a:ext cx="2057400" cy="914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480559" y="260604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t>
            </a:r>
          </a:p>
        </p:txBody>
      </p:sp>
      <p:cxnSp>
        <p:nvCxnSpPr>
          <p:cNvPr id="37" name="Connector 36"/>
          <p:cNvCxnSpPr/>
          <p:nvPr/>
        </p:nvCxnSpPr>
        <p:spPr>
          <a:xfrm>
            <a:off x="196596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828800" y="379475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9" name="Connector 38"/>
          <p:cNvCxnSpPr/>
          <p:nvPr/>
        </p:nvCxnSpPr>
        <p:spPr>
          <a:xfrm flipH="1">
            <a:off x="7955279" y="3703320"/>
            <a:ext cx="822961" cy="41148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156448" y="3730752"/>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a:t>
            </a:r>
          </a:p>
        </p:txBody>
      </p:sp>
      <p:cxnSp>
        <p:nvCxnSpPr>
          <p:cNvPr id="41" name="Connector 40"/>
          <p:cNvCxnSpPr/>
          <p:nvPr/>
        </p:nvCxnSpPr>
        <p:spPr>
          <a:xfrm flipH="1">
            <a:off x="2926080" y="4434840"/>
            <a:ext cx="2697480" cy="13716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069080" y="4325112"/>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8b</a:t>
            </a:r>
          </a:p>
        </p:txBody>
      </p:sp>
      <p:cxnSp>
        <p:nvCxnSpPr>
          <p:cNvPr id="43" name="Connector 42"/>
          <p:cNvCxnSpPr/>
          <p:nvPr/>
        </p:nvCxnSpPr>
        <p:spPr>
          <a:xfrm flipV="1">
            <a:off x="265176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2514600" y="379475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9</a:t>
            </a:r>
          </a:p>
        </p:txBody>
      </p:sp>
      <p:cxnSp>
        <p:nvCxnSpPr>
          <p:cNvPr id="45" name="Connector 44"/>
          <p:cNvCxnSpPr/>
          <p:nvPr/>
        </p:nvCxnSpPr>
        <p:spPr>
          <a:xfrm>
            <a:off x="100584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85215" y="3749039"/>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10</a:t>
            </a:r>
          </a:p>
        </p:txBody>
      </p:sp>
      <p:sp>
        <p:nvSpPr>
          <p:cNvPr id="47" name="Rounded Rectangle 46"/>
          <p:cNvSpPr/>
          <p:nvPr/>
        </p:nvSpPr>
        <p:spPr>
          <a:xfrm>
            <a:off x="411480" y="5074920"/>
            <a:ext cx="11365992" cy="1280160"/>
          </a:xfrm>
          <a:prstGeom prst="roundRect">
            <a:avLst>
              <a:gd name="adj" fmla="val 11428"/>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8" name="TextBox 47"/>
          <p:cNvSpPr txBox="1"/>
          <p:nvPr/>
        </p:nvSpPr>
        <p:spPr>
          <a:xfrm>
            <a:off x="548640" y="5148072"/>
            <a:ext cx="5454396" cy="1133856"/>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1  Client logs in to Keycloak (ROPC): the caller JWT</a:t>
            </a:r>
          </a:p>
          <a:p>
            <a:pPr algn="l">
              <a:spcAft>
                <a:spcPts val="100"/>
              </a:spcAft>
            </a:pPr>
            <a:r>
              <a:rPr sz="1100" b="0" i="0">
                <a:solidFill>
                  <a:srgbClr val="1F2A44"/>
                </a:solidFill>
                <a:latin typeface="Arial"/>
              </a:rPr>
              <a:t>2  Client → Service: </a:t>
            </a:r>
            <a:r>
              <a:rPr sz="1100" b="0" i="0">
                <a:solidFill>
                  <a:srgbClr val="1F2A44"/>
                </a:solidFill>
                <a:latin typeface="Consolas"/>
              </a:rPr>
              <a:t>Bearer &lt;caller JWT&gt;</a:t>
            </a:r>
          </a:p>
          <a:p>
            <a:pPr algn="l">
              <a:spcAft>
                <a:spcPts val="100"/>
              </a:spcAft>
            </a:pPr>
            <a:r>
              <a:rPr sz="1100" b="0" i="0">
                <a:solidFill>
                  <a:srgbClr val="1F2A44"/>
                </a:solidFill>
                <a:latin typeface="Arial"/>
              </a:rPr>
              <a:t>3  Service validates the JWT (JWKS) and mints its own token</a:t>
            </a:r>
          </a:p>
          <a:p>
            <a:pPr algn="l">
              <a:spcAft>
                <a:spcPts val="100"/>
              </a:spcAft>
            </a:pPr>
            <a:r>
              <a:rPr sz="1100" b="0" i="0">
                <a:solidFill>
                  <a:srgbClr val="1F2A44"/>
                </a:solidFill>
                <a:latin typeface="Arial"/>
              </a:rPr>
              <a:t>4  Service → Rossoctl: deploy, list agents and tools</a:t>
            </a:r>
          </a:p>
          <a:p>
            <a:pPr algn="l">
              <a:spcAft>
                <a:spcPts val="100"/>
              </a:spcAft>
            </a:pPr>
            <a:r>
              <a:rPr sz="1100" b="0" i="0">
                <a:solidFill>
                  <a:srgbClr val="1F2A44"/>
                </a:solidFill>
                <a:latin typeface="Arial"/>
              </a:rPr>
              <a:t>5  Rossoctl creates the MCP tool and A2A agent</a:t>
            </a:r>
          </a:p>
        </p:txBody>
      </p:sp>
      <p:sp>
        <p:nvSpPr>
          <p:cNvPr id="49" name="TextBox 48"/>
          <p:cNvSpPr txBox="1"/>
          <p:nvPr/>
        </p:nvSpPr>
        <p:spPr>
          <a:xfrm>
            <a:off x="6094475" y="5148072"/>
            <a:ext cx="5454396" cy="1133856"/>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6  Service drives the MCP session and the A2A call</a:t>
            </a:r>
          </a:p>
          <a:p>
            <a:pPr algn="l">
              <a:spcAft>
                <a:spcPts val="100"/>
              </a:spcAft>
            </a:pPr>
            <a:r>
              <a:rPr sz="1100" b="0" i="0">
                <a:solidFill>
                  <a:srgbClr val="1F2A44"/>
                </a:solidFill>
                <a:latin typeface="Arial"/>
              </a:rPr>
              <a:t>7  Service emits the </a:t>
            </a:r>
            <a:r>
              <a:rPr sz="1100" b="0" i="0">
                <a:solidFill>
                  <a:srgbClr val="1F2A44"/>
                </a:solidFill>
                <a:latin typeface="Consolas"/>
              </a:rPr>
              <a:t>Agent.Session</a:t>
            </a:r>
            <a:r>
              <a:rPr sz="1100" b="0" i="0">
                <a:solidFill>
                  <a:srgbClr val="1F2A44"/>
                </a:solidFill>
                <a:latin typeface="Arial"/>
              </a:rPr>
              <a:t> trace → MLflow, first</a:t>
            </a:r>
          </a:p>
          <a:p>
            <a:pPr algn="l">
              <a:spcAft>
                <a:spcPts val="100"/>
              </a:spcAft>
            </a:pPr>
            <a:r>
              <a:rPr sz="1100" b="0" i="0">
                <a:solidFill>
                  <a:srgbClr val="1F2A44"/>
                </a:solidFill>
                <a:latin typeface="Arial"/>
              </a:rPr>
              <a:t>8a  agent → OTEL collector · 8b  collector → MLflow (optional)</a:t>
            </a:r>
          </a:p>
          <a:p>
            <a:pPr algn="l">
              <a:spcAft>
                <a:spcPts val="100"/>
              </a:spcAft>
            </a:pPr>
            <a:r>
              <a:rPr sz="1100" b="0" i="0">
                <a:solidFill>
                  <a:srgbClr val="1F2A44"/>
                </a:solidFill>
                <a:latin typeface="Arial"/>
              </a:rPr>
              <a:t>9  Service reads the traces back from MLflow</a:t>
            </a:r>
          </a:p>
          <a:p>
            <a:pPr algn="l">
              <a:spcAft>
                <a:spcPts val="100"/>
              </a:spcAft>
            </a:pPr>
            <a:r>
              <a:rPr sz="1100" b="0" i="0">
                <a:solidFill>
                  <a:srgbClr val="1F2A44"/>
                </a:solidFill>
                <a:latin typeface="Arial"/>
              </a:rPr>
              <a:t>10  Service exports </a:t>
            </a:r>
            <a:r>
              <a:rPr sz="1100" b="0" i="0">
                <a:solidFill>
                  <a:srgbClr val="1F2A44"/>
                </a:solidFill>
                <a:latin typeface="Consolas"/>
              </a:rPr>
              <a:t>run.json</a:t>
            </a:r>
            <a:r>
              <a:rPr sz="1100" b="0" i="0">
                <a:solidFill>
                  <a:srgbClr val="1F2A44"/>
                </a:solidFill>
                <a:latin typeface="Arial"/>
              </a:rPr>
              <a:t>, </a:t>
            </a:r>
            <a:r>
              <a:rPr sz="1100" b="0" i="0">
                <a:solidFill>
                  <a:srgbClr val="1F2A44"/>
                </a:solidFill>
                <a:latin typeface="Consolas"/>
              </a:rPr>
              <a:t>report.*</a:t>
            </a:r>
            <a:r>
              <a:rPr sz="1100" b="0" i="0">
                <a:solidFill>
                  <a:srgbClr val="1F2A44"/>
                </a:solidFill>
                <a:latin typeface="Arial"/>
              </a:rPr>
              <a:t> to S3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Inside the workload: the fixed parts and the optional ones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Dashed = present only in some configurations; with no preset, flows 5 and 6 are one direct agent → MCP call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8</a:t>
            </a:r>
          </a:p>
        </p:txBody>
      </p:sp>
      <p:sp>
        <p:nvSpPr>
          <p:cNvPr id="8" name="Rounded Rectangle 7"/>
          <p:cNvSpPr/>
          <p:nvPr/>
        </p:nvSpPr>
        <p:spPr>
          <a:xfrm>
            <a:off x="411480" y="1280160"/>
            <a:ext cx="11365992" cy="5029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LLM gateway (per instance): any OpenAI-compatible LLM or LiteLLM service</a:t>
            </a:r>
          </a:p>
        </p:txBody>
      </p:sp>
      <p:sp>
        <p:nvSpPr>
          <p:cNvPr id="9" name="Hexagon 8"/>
          <p:cNvSpPr/>
          <p:nvPr/>
        </p:nvSpPr>
        <p:spPr>
          <a:xfrm>
            <a:off x="411480" y="2240280"/>
            <a:ext cx="1828800" cy="77724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AutoBench Service</a:t>
            </a:r>
          </a:p>
        </p:txBody>
      </p:sp>
      <p:sp>
        <p:nvSpPr>
          <p:cNvPr id="10" name="Rounded Rectangle 9"/>
          <p:cNvSpPr/>
          <p:nvPr/>
        </p:nvSpPr>
        <p:spPr>
          <a:xfrm>
            <a:off x="411480" y="3429000"/>
            <a:ext cx="1783080" cy="731520"/>
          </a:xfrm>
          <a:prstGeom prst="roundRect">
            <a:avLst>
              <a:gd name="adj" fmla="val 12000"/>
            </a:avLst>
          </a:prstGeom>
          <a:solidFill>
            <a:srgbClr val="FFFFFF"/>
          </a:solidFill>
          <a:ln w="15875">
            <a:solidFill>
              <a:srgbClr val="8A93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IBAC judge</a:t>
            </a:r>
          </a:p>
          <a:p>
            <a:pPr algn="ctr">
              <a:spcAft>
                <a:spcPts val="200"/>
              </a:spcAft>
            </a:pPr>
            <a:r>
              <a:rPr sz="1100" b="0" i="0">
                <a:solidFill>
                  <a:srgbClr val="1F2A44"/>
                </a:solidFill>
                <a:latin typeface="Arial"/>
              </a:rPr>
              <a:t>an LLM call</a:t>
            </a:r>
          </a:p>
        </p:txBody>
      </p:sp>
      <p:sp>
        <p:nvSpPr>
          <p:cNvPr id="11" name="Rounded Rectangle 10"/>
          <p:cNvSpPr/>
          <p:nvPr/>
        </p:nvSpPr>
        <p:spPr>
          <a:xfrm>
            <a:off x="2514600" y="1920240"/>
            <a:ext cx="9262872" cy="2926080"/>
          </a:xfrm>
          <a:prstGeom prst="roundRect">
            <a:avLst>
              <a:gd name="adj" fmla="val 5000"/>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2" name="TextBox 11"/>
          <p:cNvSpPr txBox="1"/>
          <p:nvPr/>
        </p:nvSpPr>
        <p:spPr>
          <a:xfrm>
            <a:off x="2651760" y="1975104"/>
            <a:ext cx="8988552" cy="310896"/>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 · </a:t>
            </a:r>
            <a:r>
              <a:rPr sz="1100" b="1" i="0">
                <a:solidFill>
                  <a:srgbClr val="1F2A44"/>
                </a:solidFill>
                <a:latin typeface="Consolas"/>
              </a:rPr>
              <a:t>team1</a:t>
            </a:r>
          </a:p>
        </p:txBody>
      </p:sp>
      <p:sp>
        <p:nvSpPr>
          <p:cNvPr id="13" name="Rounded Rectangle 12"/>
          <p:cNvSpPr/>
          <p:nvPr/>
        </p:nvSpPr>
        <p:spPr>
          <a:xfrm>
            <a:off x="2743200" y="2286000"/>
            <a:ext cx="4114800" cy="2011680"/>
          </a:xfrm>
          <a:prstGeom prst="roundRect">
            <a:avLst>
              <a:gd name="adj" fmla="val 7272"/>
            </a:avLst>
          </a:prstGeom>
          <a:solidFill>
            <a:srgbClr val="FFFFFF"/>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TextBox 13"/>
          <p:cNvSpPr txBox="1"/>
          <p:nvPr/>
        </p:nvSpPr>
        <p:spPr>
          <a:xfrm>
            <a:off x="2834640" y="2304288"/>
            <a:ext cx="3931920" cy="256032"/>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A2A agent pod</a:t>
            </a:r>
          </a:p>
        </p:txBody>
      </p:sp>
      <p:sp>
        <p:nvSpPr>
          <p:cNvPr id="15" name="Rounded Rectangle 14"/>
          <p:cNvSpPr/>
          <p:nvPr/>
        </p:nvSpPr>
        <p:spPr>
          <a:xfrm>
            <a:off x="2852928" y="2578608"/>
            <a:ext cx="3895344" cy="68580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agent container</a:t>
            </a:r>
          </a:p>
          <a:p>
            <a:pPr algn="ctr">
              <a:spcAft>
                <a:spcPts val="200"/>
              </a:spcAft>
            </a:pPr>
            <a:r>
              <a:rPr sz="1100" b="0" i="0">
                <a:solidFill>
                  <a:srgbClr val="1F2A44"/>
                </a:solidFill>
                <a:latin typeface="Arial"/>
              </a:rPr>
              <a:t>the LLM loop</a:t>
            </a:r>
          </a:p>
        </p:txBody>
      </p:sp>
      <p:sp>
        <p:nvSpPr>
          <p:cNvPr id="16" name="Rounded Rectangle 15"/>
          <p:cNvSpPr/>
          <p:nvPr/>
        </p:nvSpPr>
        <p:spPr>
          <a:xfrm>
            <a:off x="2852928" y="3520440"/>
            <a:ext cx="3895344" cy="685800"/>
          </a:xfrm>
          <a:prstGeom prst="roundRect">
            <a:avLst>
              <a:gd name="adj" fmla="val 12000"/>
            </a:avLst>
          </a:prstGeom>
          <a:solidFill>
            <a:srgbClr val="FFFFFF"/>
          </a:solidFill>
          <a:ln w="15875">
            <a:solidFill>
              <a:srgbClr val="8A93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AuthBridge sidecar</a:t>
            </a:r>
          </a:p>
          <a:p>
            <a:pPr algn="ctr">
              <a:spcAft>
                <a:spcPts val="200"/>
              </a:spcAft>
            </a:pPr>
            <a:r>
              <a:rPr sz="1100" b="0" i="0">
                <a:solidFill>
                  <a:srgbClr val="1F2A44"/>
                </a:solidFill>
                <a:latin typeface="Arial"/>
              </a:rPr>
              <a:t>a proxy, only with a preset</a:t>
            </a:r>
          </a:p>
        </p:txBody>
      </p:sp>
      <p:sp>
        <p:nvSpPr>
          <p:cNvPr id="17" name="Rounded Rectangle 16"/>
          <p:cNvSpPr/>
          <p:nvPr/>
        </p:nvSpPr>
        <p:spPr>
          <a:xfrm>
            <a:off x="7498079" y="2286000"/>
            <a:ext cx="4114800" cy="2011680"/>
          </a:xfrm>
          <a:prstGeom prst="roundRect">
            <a:avLst>
              <a:gd name="adj" fmla="val 7272"/>
            </a:avLst>
          </a:prstGeom>
          <a:solidFill>
            <a:srgbClr val="FFFFFF"/>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7589520" y="2304288"/>
            <a:ext cx="3931920" cy="256032"/>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MCP tool pod</a:t>
            </a:r>
          </a:p>
        </p:txBody>
      </p:sp>
      <p:sp>
        <p:nvSpPr>
          <p:cNvPr id="19" name="Rounded Rectangle 18"/>
          <p:cNvSpPr/>
          <p:nvPr/>
        </p:nvSpPr>
        <p:spPr>
          <a:xfrm>
            <a:off x="7607808" y="2578608"/>
            <a:ext cx="3895344" cy="685800"/>
          </a:xfrm>
          <a:prstGeom prst="roundRect">
            <a:avLst>
              <a:gd name="adj" fmla="val 12000"/>
            </a:avLst>
          </a:prstGeom>
          <a:solidFill>
            <a:srgbClr val="F1F2F4"/>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user simulator LLM</a:t>
            </a:r>
          </a:p>
          <a:p>
            <a:pPr algn="ctr">
              <a:spcAft>
                <a:spcPts val="200"/>
              </a:spcAft>
            </a:pPr>
            <a:r>
              <a:rPr sz="1100" b="0" i="0">
                <a:solidFill>
                  <a:srgbClr val="1F2A44"/>
                </a:solidFill>
                <a:latin typeface="Arial"/>
              </a:rPr>
              <a:t>tau2 only: plays the customer</a:t>
            </a:r>
          </a:p>
        </p:txBody>
      </p:sp>
      <p:sp>
        <p:nvSpPr>
          <p:cNvPr id="20" name="Rounded Rectangle 19"/>
          <p:cNvSpPr/>
          <p:nvPr/>
        </p:nvSpPr>
        <p:spPr>
          <a:xfrm>
            <a:off x="7607808" y="3520440"/>
            <a:ext cx="3895344" cy="68580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MCP server</a:t>
            </a:r>
          </a:p>
          <a:p>
            <a:pPr algn="ctr">
              <a:spcAft>
                <a:spcPts val="200"/>
              </a:spcAft>
            </a:pPr>
            <a:r>
              <a:rPr sz="1100" b="0" i="0">
                <a:solidFill>
                  <a:srgbClr val="1F2A44"/>
                </a:solidFill>
                <a:latin typeface="Arial"/>
              </a:rPr>
              <a:t>tasks + evaluation</a:t>
            </a:r>
          </a:p>
        </p:txBody>
      </p:sp>
      <p:cxnSp>
        <p:nvCxnSpPr>
          <p:cNvPr id="21" name="Connector 20"/>
          <p:cNvCxnSpPr/>
          <p:nvPr/>
        </p:nvCxnSpPr>
        <p:spPr>
          <a:xfrm>
            <a:off x="2240280" y="2697480"/>
            <a:ext cx="612648" cy="18288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404872" y="240487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3" name="Connector 22"/>
          <p:cNvCxnSpPr/>
          <p:nvPr/>
        </p:nvCxnSpPr>
        <p:spPr>
          <a:xfrm>
            <a:off x="1325880" y="3017520"/>
            <a:ext cx="0" cy="201168"/>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25880" y="3218688"/>
            <a:ext cx="1033272"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359152" y="3218688"/>
            <a:ext cx="0" cy="1335024"/>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59152" y="4553712"/>
            <a:ext cx="5961888"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321040" y="4206240"/>
            <a:ext cx="0" cy="34747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349240" y="441655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9" name="Connector 28"/>
          <p:cNvCxnSpPr/>
          <p:nvPr/>
        </p:nvCxnSpPr>
        <p:spPr>
          <a:xfrm flipV="1">
            <a:off x="5669280" y="1783080"/>
            <a:ext cx="0" cy="79552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532120" y="196596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31" name="Connector 30"/>
          <p:cNvCxnSpPr/>
          <p:nvPr/>
        </p:nvCxnSpPr>
        <p:spPr>
          <a:xfrm flipV="1">
            <a:off x="9555480" y="1783080"/>
            <a:ext cx="0" cy="79552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9418319" y="196596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3" name="Connector 32"/>
          <p:cNvCxnSpPr/>
          <p:nvPr/>
        </p:nvCxnSpPr>
        <p:spPr>
          <a:xfrm>
            <a:off x="4800600" y="3264408"/>
            <a:ext cx="0" cy="25603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983479" y="325526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5" name="Connector 34"/>
          <p:cNvCxnSpPr/>
          <p:nvPr/>
        </p:nvCxnSpPr>
        <p:spPr>
          <a:xfrm>
            <a:off x="6748272" y="3886200"/>
            <a:ext cx="859536"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040879" y="374903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t>
            </a:r>
          </a:p>
        </p:txBody>
      </p:sp>
      <p:cxnSp>
        <p:nvCxnSpPr>
          <p:cNvPr id="37" name="Connector 36"/>
          <p:cNvCxnSpPr/>
          <p:nvPr/>
        </p:nvCxnSpPr>
        <p:spPr>
          <a:xfrm flipH="1" flipV="1">
            <a:off x="2194560" y="3840480"/>
            <a:ext cx="658368" cy="914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2514600" y="397763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9" name="Connector 38"/>
          <p:cNvCxnSpPr/>
          <p:nvPr/>
        </p:nvCxnSpPr>
        <p:spPr>
          <a:xfrm flipH="1">
            <a:off x="256032" y="3794760"/>
            <a:ext cx="155448" cy="0"/>
          </a:xfrm>
          <a:prstGeom prst="line">
            <a:avLst/>
          </a:prstGeom>
          <a:ln w="19050">
            <a:solidFill>
              <a:srgbClr val="1F2A44"/>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6032" y="1536192"/>
            <a:ext cx="0" cy="2258568"/>
          </a:xfrm>
          <a:prstGeom prst="line">
            <a:avLst/>
          </a:prstGeom>
          <a:ln w="19050">
            <a:solidFill>
              <a:srgbClr val="1F2A44"/>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56032" y="1536192"/>
            <a:ext cx="155448" cy="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18872" y="256032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t>
            </a:r>
          </a:p>
        </p:txBody>
      </p:sp>
      <p:graphicFrame>
        <p:nvGraphicFramePr>
          <p:cNvPr id="43" name="Table 42"/>
          <p:cNvGraphicFramePr>
            <a:graphicFrameLocks noGrp="1"/>
          </p:cNvGraphicFramePr>
          <p:nvPr/>
        </p:nvGraphicFramePr>
        <p:xfrm>
          <a:off x="411480" y="5010912"/>
          <a:ext cx="6035038" cy="1325880"/>
        </p:xfrm>
        <a:graphic>
          <a:graphicData uri="http://schemas.openxmlformats.org/drawingml/2006/table">
            <a:tbl>
              <a:tblPr firstRow="0" bandRow="0">
                <a:tableStyleId>{5C22544A-7EE6-4342-B048-85BDC9FD1C3A}</a:tableStyleId>
              </a:tblPr>
              <a:tblGrid>
                <a:gridCol w="1609344"/>
                <a:gridCol w="3017519"/>
                <a:gridCol w="1408175"/>
              </a:tblGrid>
              <a:tr h="265176">
                <a:tc>
                  <a:txBody>
                    <a:bodyPr wrap="square"/>
                    <a:lstStyle/>
                    <a:p>
                      <a:pPr algn="l"/>
                      <a:r>
                        <a:rPr sz="1000" b="1" i="0">
                          <a:solidFill>
                            <a:srgbClr val="FFFFFF"/>
                          </a:solidFill>
                          <a:latin typeface="Arial"/>
                        </a:rPr>
                        <a:t>benchmark</a:t>
                      </a:r>
                    </a:p>
                  </a:txBody>
                  <a:tcPr marL="54864" marR="54864" marT="18288" marB="18288" anchor="ctr">
                    <a:solidFill>
                      <a:srgbClr val="1F2A44"/>
                    </a:solidFill>
                  </a:tcPr>
                </a:tc>
                <a:tc>
                  <a:txBody>
                    <a:bodyPr wrap="square"/>
                    <a:lstStyle/>
                    <a:p>
                      <a:pPr algn="l"/>
                      <a:r>
                        <a:rPr sz="1000" b="1" i="0">
                          <a:solidFill>
                            <a:srgbClr val="FFFFFF"/>
                          </a:solidFill>
                          <a:latin typeface="Arial"/>
                        </a:rPr>
                        <a:t>LLMs per task</a:t>
                      </a:r>
                    </a:p>
                  </a:txBody>
                  <a:tcPr marL="54864" marR="54864" marT="18288" marB="18288" anchor="ctr">
                    <a:solidFill>
                      <a:srgbClr val="1F2A44"/>
                    </a:solidFill>
                  </a:tcPr>
                </a:tc>
                <a:tc>
                  <a:txBody>
                    <a:bodyPr wrap="square"/>
                    <a:lstStyle/>
                    <a:p>
                      <a:pPr algn="l"/>
                      <a:r>
                        <a:rPr sz="1000" b="1" i="0">
                          <a:solidFill>
                            <a:srgbClr val="FFFFFF"/>
                          </a:solidFill>
                          <a:latin typeface="Arial"/>
                        </a:rPr>
                        <a:t>tool calls</a:t>
                      </a:r>
                    </a:p>
                  </a:txBody>
                  <a:tcPr marL="54864" marR="54864" marT="18288" marB="18288" anchor="ctr">
                    <a:solidFill>
                      <a:srgbClr val="1F2A44"/>
                    </a:solidFill>
                  </a:tcPr>
                </a:tc>
              </a:tr>
              <a:tr h="265176">
                <a:tc>
                  <a:txBody>
                    <a:bodyPr wrap="square"/>
                    <a:lstStyle/>
                    <a:p>
                      <a:pPr algn="l"/>
                      <a:r>
                        <a:rPr sz="1000" b="1" i="0">
                          <a:solidFill>
                            <a:srgbClr val="1F2A44"/>
                          </a:solidFill>
                          <a:latin typeface="Arial"/>
                        </a:rPr>
                        <a:t>gsm8k</a:t>
                      </a:r>
                    </a:p>
                  </a:txBody>
                  <a:tcPr marL="54864" marR="54864" marT="18288" marB="18288" anchor="ctr">
                    <a:solidFill>
                      <a:srgbClr val="FFFFFF"/>
                    </a:solidFill>
                  </a:tcPr>
                </a:tc>
                <a:tc>
                  <a:txBody>
                    <a:bodyPr wrap="square"/>
                    <a:lstStyle/>
                    <a:p>
                      <a:pPr algn="l"/>
                      <a:r>
                        <a:rPr sz="1000" b="0" i="0">
                          <a:solidFill>
                            <a:srgbClr val="1F2A44"/>
                          </a:solidFill>
                          <a:latin typeface="Arial"/>
                        </a:rPr>
                        <a:t>1 (agent)</a:t>
                      </a:r>
                    </a:p>
                  </a:txBody>
                  <a:tcPr marL="54864" marR="54864" marT="18288" marB="18288" anchor="ctr">
                    <a:solidFill>
                      <a:srgbClr val="FFFFFF"/>
                    </a:solidFill>
                  </a:tcPr>
                </a:tc>
                <a:tc>
                  <a:txBody>
                    <a:bodyPr wrap="square"/>
                    <a:lstStyle/>
                    <a:p>
                      <a:pPr algn="l"/>
                      <a:r>
                        <a:rPr sz="1000" b="0" i="0">
                          <a:solidFill>
                            <a:srgbClr val="1F2A44"/>
                          </a:solidFill>
                          <a:latin typeface="Arial"/>
                        </a:rPr>
                        <a:t>~1</a:t>
                      </a:r>
                    </a:p>
                  </a:txBody>
                  <a:tcPr marL="54864" marR="54864" marT="18288" marB="18288" anchor="ctr">
                    <a:solidFill>
                      <a:srgbClr val="FFFFFF"/>
                    </a:solidFill>
                  </a:tcPr>
                </a:tc>
              </a:tr>
              <a:tr h="265176">
                <a:tc>
                  <a:txBody>
                    <a:bodyPr wrap="square"/>
                    <a:lstStyle/>
                    <a:p>
                      <a:pPr algn="l"/>
                      <a:r>
                        <a:rPr sz="1000" b="1" i="0">
                          <a:solidFill>
                            <a:srgbClr val="1F2A44"/>
                          </a:solidFill>
                          <a:latin typeface="Arial"/>
                        </a:rPr>
                        <a:t>tau2</a:t>
                      </a:r>
                    </a:p>
                  </a:txBody>
                  <a:tcPr marL="54864" marR="54864" marT="18288" marB="18288" anchor="ctr">
                    <a:solidFill>
                      <a:srgbClr val="F3F5F9"/>
                    </a:solidFill>
                  </a:tcPr>
                </a:tc>
                <a:tc>
                  <a:txBody>
                    <a:bodyPr wrap="square"/>
                    <a:lstStyle/>
                    <a:p>
                      <a:pPr algn="l"/>
                      <a:r>
                        <a:rPr sz="1000" b="0" i="0">
                          <a:solidFill>
                            <a:srgbClr val="1F2A44"/>
                          </a:solidFill>
                          <a:latin typeface="Arial"/>
                        </a:rPr>
                        <a:t>2 (+ user simulator)</a:t>
                      </a:r>
                    </a:p>
                  </a:txBody>
                  <a:tcPr marL="54864" marR="54864" marT="18288" marB="18288" anchor="ctr">
                    <a:solidFill>
                      <a:srgbClr val="F3F5F9"/>
                    </a:solidFill>
                  </a:tcPr>
                </a:tc>
                <a:tc>
                  <a:txBody>
                    <a:bodyPr wrap="square"/>
                    <a:lstStyle/>
                    <a:p>
                      <a:pPr algn="l"/>
                      <a:r>
                        <a:rPr sz="1000" b="0" i="0">
                          <a:solidFill>
                            <a:srgbClr val="1F2A44"/>
                          </a:solidFill>
                          <a:latin typeface="Arial"/>
                        </a:rPr>
                        <a:t>~11</a:t>
                      </a:r>
                    </a:p>
                  </a:txBody>
                  <a:tcPr marL="54864" marR="54864" marT="18288" marB="18288" anchor="ctr">
                    <a:solidFill>
                      <a:srgbClr val="F3F5F9"/>
                    </a:solidFill>
                  </a:tcPr>
                </a:tc>
              </a:tr>
              <a:tr h="265176">
                <a:tc>
                  <a:txBody>
                    <a:bodyPr wrap="square"/>
                    <a:lstStyle/>
                    <a:p>
                      <a:pPr algn="l"/>
                      <a:r>
                        <a:rPr sz="1000" b="1" i="0">
                          <a:solidFill>
                            <a:srgbClr val="1F2A44"/>
                          </a:solidFill>
                          <a:latin typeface="Arial"/>
                        </a:rPr>
                        <a:t>appworld</a:t>
                      </a:r>
                    </a:p>
                  </a:txBody>
                  <a:tcPr marL="54864" marR="54864" marT="18288" marB="18288" anchor="ctr">
                    <a:solidFill>
                      <a:srgbClr val="FFFFFF"/>
                    </a:solidFill>
                  </a:tcPr>
                </a:tc>
                <a:tc>
                  <a:txBody>
                    <a:bodyPr wrap="square"/>
                    <a:lstStyle/>
                    <a:p>
                      <a:pPr algn="l"/>
                      <a:r>
                        <a:rPr sz="1000" b="0" i="0">
                          <a:solidFill>
                            <a:srgbClr val="1F2A44"/>
                          </a:solidFill>
                          <a:latin typeface="Arial"/>
                        </a:rPr>
                        <a:t>1 (agent)</a:t>
                      </a:r>
                    </a:p>
                  </a:txBody>
                  <a:tcPr marL="54864" marR="54864" marT="18288" marB="18288" anchor="ctr">
                    <a:solidFill>
                      <a:srgbClr val="FFFFFF"/>
                    </a:solidFill>
                  </a:tcPr>
                </a:tc>
                <a:tc>
                  <a:txBody>
                    <a:bodyPr wrap="square"/>
                    <a:lstStyle/>
                    <a:p>
                      <a:pPr algn="l"/>
                      <a:r>
                        <a:rPr sz="1000" b="0" i="0">
                          <a:solidFill>
                            <a:srgbClr val="1F2A44"/>
                          </a:solidFill>
                          <a:latin typeface="Arial"/>
                        </a:rPr>
                        <a:t>~15</a:t>
                      </a:r>
                    </a:p>
                  </a:txBody>
                  <a:tcPr marL="54864" marR="54864" marT="18288" marB="18288" anchor="ctr">
                    <a:solidFill>
                      <a:srgbClr val="FFFFFF"/>
                    </a:solidFill>
                  </a:tcPr>
                </a:tc>
              </a:tr>
              <a:tr h="265176">
                <a:tc>
                  <a:txBody>
                    <a:bodyPr wrap="square"/>
                    <a:lstStyle/>
                    <a:p>
                      <a:pPr algn="l"/>
                      <a:r>
                        <a:rPr sz="1000" b="1" i="0">
                          <a:solidFill>
                            <a:srgbClr val="1F2A44"/>
                          </a:solidFill>
                          <a:latin typeface="Arial"/>
                        </a:rPr>
                        <a:t>+ any preset</a:t>
                      </a:r>
                    </a:p>
                  </a:txBody>
                  <a:tcPr marL="54864" marR="54864" marT="18288" marB="18288" anchor="ctr">
                    <a:solidFill>
                      <a:srgbClr val="F3F5F9"/>
                    </a:solidFill>
                  </a:tcPr>
                </a:tc>
                <a:tc>
                  <a:txBody>
                    <a:bodyPr wrap="square"/>
                    <a:lstStyle/>
                    <a:p>
                      <a:pPr algn="l"/>
                      <a:r>
                        <a:rPr sz="1000" b="0" i="0">
                          <a:solidFill>
                            <a:srgbClr val="1F2A44"/>
                          </a:solidFill>
                          <a:latin typeface="Arial"/>
                        </a:rPr>
                        <a:t>+1 judge call per action</a:t>
                      </a:r>
                    </a:p>
                  </a:txBody>
                  <a:tcPr marL="54864" marR="54864" marT="18288" marB="18288" anchor="ctr">
                    <a:solidFill>
                      <a:srgbClr val="F3F5F9"/>
                    </a:solidFill>
                  </a:tcPr>
                </a:tc>
                <a:tc>
                  <a:txBody>
                    <a:bodyPr wrap="square"/>
                    <a:lstStyle/>
                    <a:p>
                      <a:pPr algn="l"/>
                      <a:r>
                        <a:rPr sz="1000" b="0" i="0">
                          <a:solidFill>
                            <a:srgbClr val="1F2A44"/>
                          </a:solidFill>
                          <a:latin typeface="Arial"/>
                        </a:rPr>
                        <a:t>unchanged</a:t>
                      </a:r>
                    </a:p>
                  </a:txBody>
                  <a:tcPr marL="54864" marR="54864" marT="18288" marB="18288" anchor="ctr">
                    <a:solidFill>
                      <a:srgbClr val="F3F5F9"/>
                    </a:solidFill>
                  </a:tcPr>
                </a:tc>
              </a:tr>
            </a:tbl>
          </a:graphicData>
        </a:graphic>
      </p:graphicFrame>
      <p:sp>
        <p:nvSpPr>
          <p:cNvPr id="44" name="Rounded Rectangle 43"/>
          <p:cNvSpPr/>
          <p:nvPr/>
        </p:nvSpPr>
        <p:spPr>
          <a:xfrm>
            <a:off x="6629400" y="5010912"/>
            <a:ext cx="5148072" cy="1325880"/>
          </a:xfrm>
          <a:prstGeom prst="roundRect">
            <a:avLst>
              <a:gd name="adj" fmla="val 11034"/>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5" name="TextBox 44"/>
          <p:cNvSpPr txBox="1"/>
          <p:nvPr/>
        </p:nvSpPr>
        <p:spPr>
          <a:xfrm>
            <a:off x="6766560" y="5084064"/>
            <a:ext cx="4782312" cy="1179576"/>
          </a:xfrm>
          <a:prstGeom prst="rect">
            <a:avLst/>
          </a:prstGeom>
          <a:noFill/>
        </p:spPr>
        <p:txBody>
          <a:bodyPr wrap="square" lIns="36576" rIns="36576" tIns="18288" bIns="18288" anchor="t">
            <a:spAutoFit/>
          </a:bodyPr>
          <a:lstStyle/>
          <a:p>
            <a:pPr algn="l">
              <a:spcAft>
                <a:spcPts val="100"/>
              </a:spcAft>
            </a:pPr>
            <a:r>
              <a:rPr sz="1000" b="0" i="0">
                <a:solidFill>
                  <a:srgbClr val="1F2A44"/>
                </a:solidFill>
                <a:latin typeface="Arial"/>
              </a:rPr>
              <a:t>1  Service → agent: </a:t>
            </a:r>
            <a:r>
              <a:rPr sz="1000" b="0" i="0">
                <a:solidFill>
                  <a:srgbClr val="1F2A44"/>
                </a:solidFill>
                <a:latin typeface="Consolas"/>
              </a:rPr>
              <a:t>send_prompt</a:t>
            </a:r>
            <a:r>
              <a:rPr sz="1000" b="0" i="0">
                <a:solidFill>
                  <a:srgbClr val="1F2A44"/>
                </a:solidFill>
                <a:latin typeface="Arial"/>
              </a:rPr>
              <a:t>, once per task</a:t>
            </a:r>
          </a:p>
          <a:p>
            <a:pPr algn="l">
              <a:spcAft>
                <a:spcPts val="100"/>
              </a:spcAft>
            </a:pPr>
            <a:r>
              <a:rPr sz="1000" b="0" i="0">
                <a:solidFill>
                  <a:srgbClr val="1F2A44"/>
                </a:solidFill>
                <a:latin typeface="Arial"/>
              </a:rPr>
              <a:t>2  Service → MCP server: the session, and the verdict</a:t>
            </a:r>
          </a:p>
          <a:p>
            <a:pPr algn="l">
              <a:spcAft>
                <a:spcPts val="100"/>
              </a:spcAft>
            </a:pPr>
            <a:r>
              <a:rPr sz="1000" b="0" i="0">
                <a:solidFill>
                  <a:srgbClr val="1F2A44"/>
                </a:solidFill>
                <a:latin typeface="Arial"/>
              </a:rPr>
              <a:t>3  agent → gateway: N chat calls per task</a:t>
            </a:r>
          </a:p>
          <a:p>
            <a:pPr algn="l">
              <a:spcAft>
                <a:spcPts val="100"/>
              </a:spcAft>
            </a:pPr>
            <a:r>
              <a:rPr sz="1000" b="0" i="0">
                <a:solidFill>
                  <a:srgbClr val="1F2A44"/>
                </a:solidFill>
                <a:latin typeface="Arial"/>
              </a:rPr>
              <a:t>4  tau2: the user simulator is a second LLM</a:t>
            </a:r>
          </a:p>
          <a:p>
            <a:pPr algn="l">
              <a:spcAft>
                <a:spcPts val="100"/>
              </a:spcAft>
            </a:pPr>
            <a:r>
              <a:rPr sz="1000" b="0" i="0">
                <a:solidFill>
                  <a:srgbClr val="1F2A44"/>
                </a:solidFill>
                <a:latin typeface="Arial"/>
              </a:rPr>
              <a:t>5–6  with a preset, MCP calls go via the sidecar</a:t>
            </a:r>
          </a:p>
          <a:p>
            <a:pPr algn="l">
              <a:spcAft>
                <a:spcPts val="100"/>
              </a:spcAft>
            </a:pPr>
            <a:r>
              <a:rPr sz="1000" b="0" i="0">
                <a:solidFill>
                  <a:srgbClr val="1F2A44"/>
                </a:solidFill>
                <a:latin typeface="Arial"/>
              </a:rPr>
              <a:t>7  sidecar → judge per action · 8  the judge is an LLM 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sidecar sees traffic only because of two env vars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Interception is a blanket forward proxy plus an allowlist, not a tool-aware hook</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9</a:t>
            </a:r>
          </a:p>
        </p:txBody>
      </p:sp>
      <p:sp>
        <p:nvSpPr>
          <p:cNvPr id="8" name="Rounded Rectangle 7"/>
          <p:cNvSpPr/>
          <p:nvPr/>
        </p:nvSpPr>
        <p:spPr>
          <a:xfrm>
            <a:off x="41148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HTTP_PROXY = HTTPS_PROXY = 127.0.0.1:8081</a:t>
            </a:r>
          </a:p>
          <a:p>
            <a:pPr algn="l">
              <a:spcAft>
                <a:spcPts val="300"/>
              </a:spcAft>
            </a:pPr>
            <a:r>
              <a:rPr sz="1300" b="0" i="0">
                <a:solidFill>
                  <a:srgbClr val="1F2A44"/>
                </a:solidFill>
                <a:latin typeface="Arial"/>
              </a:rPr>
              <a:t>The operator injects it into the agent pod when AuthBridge is on. That address is the sidecar, so by default every outbound HTTP call is captured.</a:t>
            </a:r>
          </a:p>
        </p:txBody>
      </p:sp>
      <p:sp>
        <p:nvSpPr>
          <p:cNvPr id="9" name="Rounded Rectangle 8"/>
          <p:cNvSpPr/>
          <p:nvPr/>
        </p:nvSpPr>
        <p:spPr>
          <a:xfrm>
            <a:off x="425196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no_proxy</a:t>
            </a:r>
            <a:r>
              <a:rPr sz="1300" b="1" i="0">
                <a:solidFill>
                  <a:srgbClr val="1F2A44"/>
                </a:solidFill>
                <a:latin typeface="Arial"/>
              </a:rPr>
              <a:t>: gateway, collector, Keycloak</a:t>
            </a:r>
          </a:p>
          <a:p>
            <a:pPr algn="l">
              <a:spcAft>
                <a:spcPts val="300"/>
              </a:spcAft>
            </a:pPr>
            <a:r>
              <a:rPr sz="1300" b="0" i="0">
                <a:solidFill>
                  <a:srgbClr val="1F2A44"/>
                </a:solidFill>
                <a:latin typeface="Arial"/>
              </a:rPr>
              <a:t>Instance config: the hosts that stay direct. The only reason the agent's own chat calls (flow 3) skip the sidecar.</a:t>
            </a:r>
          </a:p>
        </p:txBody>
      </p:sp>
      <p:sp>
        <p:nvSpPr>
          <p:cNvPr id="10" name="Rounded Rectangle 9"/>
          <p:cNvSpPr/>
          <p:nvPr/>
        </p:nvSpPr>
        <p:spPr>
          <a:xfrm>
            <a:off x="809244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judge_inference: false</a:t>
            </a:r>
          </a:p>
          <a:p>
            <a:pPr algn="l">
              <a:spcAft>
                <a:spcPts val="300"/>
              </a:spcAft>
            </a:pPr>
            <a:r>
              <a:rPr sz="1300" b="0" i="0">
                <a:solidFill>
                  <a:srgbClr val="1F2A44"/>
                </a:solidFill>
                <a:latin typeface="Arial"/>
              </a:rPr>
              <a:t>IBAC's default: even proxied inference is not judged. Both this and </a:t>
            </a:r>
            <a:r>
              <a:rPr sz="1300" b="0" i="0">
                <a:solidFill>
                  <a:srgbClr val="1F2A44"/>
                </a:solidFill>
                <a:latin typeface="Consolas"/>
              </a:rPr>
              <a:t>no_proxy</a:t>
            </a:r>
            <a:r>
              <a:rPr sz="1300" b="0" i="0">
                <a:solidFill>
                  <a:srgbClr val="1F2A44"/>
                </a:solidFill>
                <a:latin typeface="Arial"/>
              </a:rPr>
              <a:t> would have to change for model calls to be authorized.</a:t>
            </a:r>
          </a:p>
        </p:txBody>
      </p:sp>
      <p:sp>
        <p:nvSpPr>
          <p:cNvPr id="11" name="Rounded Rectangle 10"/>
          <p:cNvSpPr/>
          <p:nvPr/>
        </p:nvSpPr>
        <p:spPr>
          <a:xfrm>
            <a:off x="411480" y="3063240"/>
            <a:ext cx="5577840" cy="1783080"/>
          </a:xfrm>
          <a:prstGeom prst="roundRect">
            <a:avLst>
              <a:gd name="adj" fmla="val 8205"/>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Through the sidecar</a:t>
            </a:r>
          </a:p>
          <a:p>
            <a:pPr algn="l" marL="148590" indent="-148590">
              <a:spcAft>
                <a:spcPts val="300"/>
              </a:spcAft>
              <a:buChar char="•"/>
            </a:pPr>
            <a:r>
              <a:rPr sz="1300" b="0" i="0">
                <a:solidFill>
                  <a:srgbClr val="1F2A44"/>
                </a:solidFill>
                <a:latin typeface="Arial"/>
              </a:rPr>
              <a:t>agent → MCP tool calls (flows 5 → 6): the interception point</a:t>
            </a:r>
          </a:p>
          <a:p>
            <a:pPr algn="l" marL="148590" indent="-148590">
              <a:spcAft>
                <a:spcPts val="300"/>
              </a:spcAft>
              <a:buChar char="•"/>
            </a:pPr>
            <a:r>
              <a:rPr sz="1300" b="0" i="0">
                <a:solidFill>
                  <a:srgbClr val="1F2A44"/>
                </a:solidFill>
                <a:latin typeface="Consolas"/>
              </a:rPr>
              <a:t>tools/call</a:t>
            </a:r>
            <a:r>
              <a:rPr sz="1300" b="0" i="0">
                <a:solidFill>
                  <a:srgbClr val="1F2A44"/>
                </a:solidFill>
                <a:latin typeface="Arial"/>
              </a:rPr>
              <a:t> is </a:t>
            </a:r>
            <a:r>
              <a:rPr sz="1300" b="0" i="0">
                <a:solidFill>
                  <a:srgbClr val="1F2A44"/>
                </a:solidFill>
                <a:latin typeface="Consolas"/>
              </a:rPr>
              <a:t>isAction=true</a:t>
            </a:r>
            <a:r>
              <a:rPr sz="1300" b="0" i="0">
                <a:solidFill>
                  <a:srgbClr val="1F2A44"/>
                </a:solidFill>
                <a:latin typeface="Arial"/>
              </a:rPr>
              <a:t>: one judge call each (flow 7)</a:t>
            </a:r>
          </a:p>
          <a:p>
            <a:pPr algn="l" marL="148590" indent="-148590">
              <a:spcAft>
                <a:spcPts val="300"/>
              </a:spcAft>
              <a:buChar char="•"/>
            </a:pPr>
            <a:r>
              <a:rPr sz="1300" b="0" i="0">
                <a:solidFill>
                  <a:srgbClr val="1F2A44"/>
                </a:solidFill>
                <a:latin typeface="Arial"/>
              </a:rPr>
              <a:t>inbound A2A </a:t>
            </a:r>
            <a:r>
              <a:rPr sz="1300" b="0" i="0">
                <a:solidFill>
                  <a:srgbClr val="1F2A44"/>
                </a:solidFill>
                <a:latin typeface="Consolas"/>
              </a:rPr>
              <a:t>message/stream</a:t>
            </a:r>
            <a:r>
              <a:rPr sz="1300" b="0" i="0">
                <a:solidFill>
                  <a:srgbClr val="1F2A44"/>
                </a:solidFill>
                <a:latin typeface="Arial"/>
              </a:rPr>
              <a:t> is </a:t>
            </a:r>
            <a:r>
              <a:rPr sz="1300" b="0" i="0">
                <a:solidFill>
                  <a:srgbClr val="1F2A44"/>
                </a:solidFill>
                <a:latin typeface="Consolas"/>
              </a:rPr>
              <a:t>isAction=false</a:t>
            </a:r>
            <a:r>
              <a:rPr sz="1300" b="0" i="0">
                <a:solidFill>
                  <a:srgbClr val="1F2A44"/>
                </a:solidFill>
                <a:latin typeface="Arial"/>
              </a:rPr>
              <a:t>: the Service's </a:t>
            </a:r>
            <a:r>
              <a:rPr sz="1300" b="0" i="0">
                <a:solidFill>
                  <a:srgbClr val="1F2A44"/>
                </a:solidFill>
                <a:latin typeface="Consolas"/>
              </a:rPr>
              <a:t>send_prompt</a:t>
            </a:r>
            <a:r>
              <a:rPr sz="1300" b="0" i="0">
                <a:solidFill>
                  <a:srgbClr val="1F2A44"/>
                </a:solidFill>
                <a:latin typeface="Arial"/>
              </a:rPr>
              <a:t> is logged, never judged</a:t>
            </a:r>
          </a:p>
        </p:txBody>
      </p:sp>
      <p:sp>
        <p:nvSpPr>
          <p:cNvPr id="12" name="Rounded Rectangle 11"/>
          <p:cNvSpPr/>
          <p:nvPr/>
        </p:nvSpPr>
        <p:spPr>
          <a:xfrm>
            <a:off x="6199632" y="3063240"/>
            <a:ext cx="5577840" cy="1783080"/>
          </a:xfrm>
          <a:prstGeom prst="roundRect">
            <a:avLst>
              <a:gd name="adj" fmla="val 8205"/>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Direct: the plugins never see it</a:t>
            </a:r>
          </a:p>
          <a:p>
            <a:pPr algn="l" marL="148590" indent="-148590">
              <a:spcAft>
                <a:spcPts val="300"/>
              </a:spcAft>
              <a:buChar char="•"/>
            </a:pPr>
            <a:r>
              <a:rPr sz="1300" b="0" i="0">
                <a:solidFill>
                  <a:srgbClr val="1F2A44"/>
                </a:solidFill>
                <a:latin typeface="Arial"/>
              </a:rPr>
              <a:t>agent → LLM gateway (flow 3): named in </a:t>
            </a:r>
            <a:r>
              <a:rPr sz="1300" b="0" i="0">
                <a:solidFill>
                  <a:srgbClr val="1F2A44"/>
                </a:solidFill>
                <a:latin typeface="Consolas"/>
              </a:rPr>
              <a:t>no_proxy</a:t>
            </a:r>
          </a:p>
          <a:p>
            <a:pPr algn="l" marL="148590" indent="-148590">
              <a:spcAft>
                <a:spcPts val="300"/>
              </a:spcAft>
              <a:buChar char="•"/>
            </a:pPr>
            <a:r>
              <a:rPr sz="1300" b="0" i="0">
                <a:solidFill>
                  <a:srgbClr val="1F2A44"/>
                </a:solidFill>
                <a:latin typeface="Arial"/>
              </a:rPr>
              <a:t>Service → MCP server (flow 2): a different pod, not dialled through the proxy</a:t>
            </a:r>
          </a:p>
          <a:p>
            <a:pPr algn="l" marL="148590" indent="-148590">
              <a:spcAft>
                <a:spcPts val="300"/>
              </a:spcAft>
              <a:buChar char="•"/>
            </a:pPr>
            <a:r>
              <a:rPr sz="1300" b="0" i="0">
                <a:solidFill>
                  <a:srgbClr val="1F2A44"/>
                </a:solidFill>
                <a:latin typeface="Arial"/>
              </a:rPr>
              <a:t>MCP tool → gateway (flow 4, tau2's user simulator): a different pod</a:t>
            </a:r>
          </a:p>
        </p:txBody>
      </p:sp>
      <p:sp>
        <p:nvSpPr>
          <p:cNvPr id="13" name="Rounded Rectangle 12"/>
          <p:cNvSpPr/>
          <p:nvPr/>
        </p:nvSpPr>
        <p:spPr>
          <a:xfrm>
            <a:off x="411480" y="5120640"/>
            <a:ext cx="11365992"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only test that settles it</a:t>
            </a:r>
          </a:p>
          <a:p>
            <a:pPr algn="l">
              <a:spcAft>
                <a:spcPts val="300"/>
              </a:spcAft>
            </a:pPr>
            <a:r>
              <a:rPr sz="1300" b="0" i="0">
                <a:solidFill>
                  <a:srgbClr val="1F2A44"/>
                </a:solidFill>
                <a:latin typeface="Arial"/>
              </a:rPr>
              <a:t>Count judge completions across a run. IBAC logs nothing of its own, so a healthy sidecar log proves nothing; and a zero means something only if real tool calls ran.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A ready sidecar proves nothing: the double bypass we shipped</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Four steps, each defensible alone; together the judge was called zero times, on both clusters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10</a:t>
            </a:r>
          </a:p>
        </p:txBody>
      </p:sp>
      <p:sp>
        <p:nvSpPr>
          <p:cNvPr id="8" name="Rounded Rectangle 7"/>
          <p:cNvSpPr/>
          <p:nvPr/>
        </p:nvSpPr>
        <p:spPr>
          <a:xfrm>
            <a:off x="41148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1  The Service</a:t>
            </a:r>
          </a:p>
          <a:p>
            <a:pPr algn="l">
              <a:spcAft>
                <a:spcPts val="300"/>
              </a:spcAft>
            </a:pPr>
            <a:r>
              <a:rPr sz="1300" b="0" i="0">
                <a:solidFill>
                  <a:srgbClr val="1F2A44"/>
                </a:solidFill>
                <a:latin typeface="Consolas"/>
              </a:rPr>
              <a:t>workload_llm.disable_proxy: true</a:t>
            </a:r>
            <a:r>
              <a:rPr sz="1300" b="0" i="0">
                <a:solidFill>
                  <a:srgbClr val="1F2A44"/>
                </a:solidFill>
                <a:latin typeface="Arial"/>
              </a:rPr>
              <a:t> makes it inject </a:t>
            </a:r>
            <a:r>
              <a:rPr sz="1300" b="0" i="0">
                <a:solidFill>
                  <a:srgbClr val="1F2A44"/>
                </a:solidFill>
                <a:latin typeface="Consolas"/>
              </a:rPr>
              <a:t>HTTP_PROXY=""</a:t>
            </a:r>
            <a:r>
              <a:rPr sz="1300" b="0" i="0">
                <a:solidFill>
                  <a:srgbClr val="1F2A44"/>
                </a:solidFill>
                <a:latin typeface="Arial"/>
              </a:rPr>
              <a:t> first</a:t>
            </a:r>
          </a:p>
        </p:txBody>
      </p:sp>
      <p:cxnSp>
        <p:nvCxnSpPr>
          <p:cNvPr id="9" name="Connector 8"/>
          <p:cNvCxnSpPr/>
          <p:nvPr/>
        </p:nvCxnSpPr>
        <p:spPr>
          <a:xfrm>
            <a:off x="3136392" y="2103120"/>
            <a:ext cx="155448"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29184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2  The operator</a:t>
            </a:r>
          </a:p>
          <a:p>
            <a:pPr algn="l">
              <a:spcAft>
                <a:spcPts val="300"/>
              </a:spcAft>
            </a:pPr>
            <a:r>
              <a:rPr sz="1300" b="0" i="0">
                <a:solidFill>
                  <a:srgbClr val="1F2A44"/>
                </a:solidFill>
                <a:latin typeface="Arial"/>
              </a:rPr>
              <a:t>adds a var only when it is absent: skips </a:t>
            </a:r>
            <a:r>
              <a:rPr sz="1300" b="0" i="0">
                <a:solidFill>
                  <a:srgbClr val="1F2A44"/>
                </a:solidFill>
                <a:latin typeface="Consolas"/>
              </a:rPr>
              <a:t>HTTP_PROXY</a:t>
            </a:r>
            <a:r>
              <a:rPr sz="1300" b="0" i="0">
                <a:solidFill>
                  <a:srgbClr val="1F2A44"/>
                </a:solidFill>
                <a:latin typeface="Arial"/>
              </a:rPr>
              <a:t>, still sets </a:t>
            </a:r>
            <a:r>
              <a:rPr sz="1300" b="0" i="0">
                <a:solidFill>
                  <a:srgbClr val="1F2A44"/>
                </a:solidFill>
                <a:latin typeface="Consolas"/>
              </a:rPr>
              <a:t>HTTPS_PROXY</a:t>
            </a:r>
          </a:p>
        </p:txBody>
      </p:sp>
      <p:cxnSp>
        <p:nvCxnSpPr>
          <p:cNvPr id="11" name="Connector 10"/>
          <p:cNvCxnSpPr/>
          <p:nvPr/>
        </p:nvCxnSpPr>
        <p:spPr>
          <a:xfrm>
            <a:off x="6016752" y="2103120"/>
            <a:ext cx="155448"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7220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3  The agent</a:t>
            </a:r>
          </a:p>
          <a:p>
            <a:pPr algn="l">
              <a:spcAft>
                <a:spcPts val="300"/>
              </a:spcAft>
            </a:pPr>
            <a:r>
              <a:rPr sz="1300" b="0" i="0">
                <a:solidFill>
                  <a:srgbClr val="1F2A44"/>
                </a:solidFill>
                <a:latin typeface="Consolas"/>
              </a:rPr>
              <a:t>MCP_URL</a:t>
            </a:r>
            <a:r>
              <a:rPr sz="1300" b="0" i="0">
                <a:solidFill>
                  <a:srgbClr val="1F2A44"/>
                </a:solidFill>
                <a:latin typeface="Arial"/>
              </a:rPr>
              <a:t> is </a:t>
            </a:r>
            <a:r>
              <a:rPr sz="1300" b="0" i="0">
                <a:solidFill>
                  <a:srgbClr val="1F2A44"/>
                </a:solidFill>
                <a:latin typeface="Consolas"/>
              </a:rPr>
              <a:t>http://</a:t>
            </a:r>
            <a:r>
              <a:rPr sz="1300" b="0" i="0">
                <a:solidFill>
                  <a:srgbClr val="1F2A44"/>
                </a:solidFill>
                <a:latin typeface="Arial"/>
              </a:rPr>
              <a:t>, so tool calls take the empty </a:t>
            </a:r>
            <a:r>
              <a:rPr sz="1300" b="0" i="0">
                <a:solidFill>
                  <a:srgbClr val="1F2A44"/>
                </a:solidFill>
                <a:latin typeface="Consolas"/>
              </a:rPr>
              <a:t>HTTP_PROXY</a:t>
            </a:r>
            <a:r>
              <a:rPr sz="1300" b="0" i="0">
                <a:solidFill>
                  <a:srgbClr val="1F2A44"/>
                </a:solidFill>
                <a:latin typeface="Arial"/>
              </a:rPr>
              <a:t> and go direct</a:t>
            </a:r>
          </a:p>
        </p:txBody>
      </p:sp>
      <p:cxnSp>
        <p:nvCxnSpPr>
          <p:cNvPr id="13" name="Connector 12"/>
          <p:cNvCxnSpPr/>
          <p:nvPr/>
        </p:nvCxnSpPr>
        <p:spPr>
          <a:xfrm>
            <a:off x="8897112" y="2103120"/>
            <a:ext cx="155447"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52559"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4  The allowlist</a:t>
            </a:r>
          </a:p>
          <a:p>
            <a:pPr algn="l">
              <a:spcAft>
                <a:spcPts val="300"/>
              </a:spcAft>
            </a:pPr>
            <a:r>
              <a:rPr sz="1300" b="0" i="0">
                <a:solidFill>
                  <a:srgbClr val="1F2A44"/>
                </a:solidFill>
                <a:latin typeface="Consolas"/>
              </a:rPr>
              <a:t>no_proxy</a:t>
            </a:r>
            <a:r>
              <a:rPr sz="1300" b="0" i="0">
                <a:solidFill>
                  <a:srgbClr val="1F2A44"/>
                </a:solidFill>
                <a:latin typeface="Arial"/>
              </a:rPr>
              <a:t> carried </a:t>
            </a:r>
            <a:r>
              <a:rPr sz="1300" b="0" i="0">
                <a:solidFill>
                  <a:srgbClr val="1F2A44"/>
                </a:solidFill>
                <a:latin typeface="Consolas"/>
              </a:rPr>
              <a:t>.svc.cluster.local</a:t>
            </a:r>
            <a:r>
              <a:rPr sz="1300" b="0" i="0">
                <a:solidFill>
                  <a:srgbClr val="1F2A44"/>
                </a:solidFill>
                <a:latin typeface="Arial"/>
              </a:rPr>
              <a:t>: the same calls excluded a second time</a:t>
            </a:r>
          </a:p>
        </p:txBody>
      </p:sp>
      <p:sp>
        <p:nvSpPr>
          <p:cNvPr id="15" name="Rounded Rectangle 14"/>
          <p:cNvSpPr/>
          <p:nvPr/>
        </p:nvSpPr>
        <p:spPr>
          <a:xfrm>
            <a:off x="411480" y="3108960"/>
            <a:ext cx="11365992" cy="9144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Result</a:t>
            </a:r>
          </a:p>
          <a:p>
            <a:pPr algn="l">
              <a:spcAft>
                <a:spcPts val="200"/>
              </a:spcAft>
            </a:pPr>
            <a:r>
              <a:rPr sz="1300" b="0" i="0">
                <a:solidFill>
                  <a:srgbClr val="1F2A44"/>
                </a:solidFill>
                <a:latin typeface="Arial"/>
              </a:rPr>
              <a:t>Sidecar ready, pipeline ConfigMap rendered, plugins loaded, and the judge called ZERO times: a plausible config that takes interception back out of the path.</a:t>
            </a:r>
          </a:p>
        </p:txBody>
      </p:sp>
      <p:sp>
        <p:nvSpPr>
          <p:cNvPr id="16" name="Rounded Rectangle 15"/>
          <p:cNvSpPr/>
          <p:nvPr/>
        </p:nvSpPr>
        <p:spPr>
          <a:xfrm>
            <a:off x="411480" y="4297680"/>
            <a:ext cx="5577840"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working config</a:t>
            </a:r>
          </a:p>
          <a:p>
            <a:pPr algn="l" marL="148590" indent="-148590">
              <a:spcAft>
                <a:spcPts val="300"/>
              </a:spcAft>
              <a:buChar char="•"/>
            </a:pPr>
            <a:r>
              <a:rPr sz="1300" b="0" i="0">
                <a:solidFill>
                  <a:srgbClr val="1F2A44"/>
                </a:solidFill>
                <a:latin typeface="Arial"/>
              </a:rPr>
              <a:t>leave </a:t>
            </a:r>
            <a:r>
              <a:rPr sz="1300" b="0" i="0">
                <a:solidFill>
                  <a:srgbClr val="1F2A44"/>
                </a:solidFill>
                <a:latin typeface="Consolas"/>
              </a:rPr>
              <a:t>disable_proxy</a:t>
            </a:r>
            <a:r>
              <a:rPr sz="1300" b="0" i="0">
                <a:solidFill>
                  <a:srgbClr val="1F2A44"/>
                </a:solidFill>
                <a:latin typeface="Arial"/>
              </a:rPr>
              <a:t> off</a:t>
            </a:r>
          </a:p>
          <a:p>
            <a:pPr algn="l" marL="148590" indent="-148590">
              <a:spcAft>
                <a:spcPts val="300"/>
              </a:spcAft>
              <a:buChar char="•"/>
            </a:pPr>
            <a:r>
              <a:rPr sz="1300" b="0" i="0">
                <a:solidFill>
                  <a:srgbClr val="1F2A44"/>
                </a:solidFill>
                <a:latin typeface="Arial"/>
              </a:rPr>
              <a:t>keep the named hosts in </a:t>
            </a:r>
            <a:r>
              <a:rPr sz="1300" b="0" i="0">
                <a:solidFill>
                  <a:srgbClr val="1F2A44"/>
                </a:solidFill>
                <a:latin typeface="Consolas"/>
              </a:rPr>
              <a:t>no_proxy</a:t>
            </a:r>
          </a:p>
          <a:p>
            <a:pPr algn="l" marL="148590" indent="-148590">
              <a:spcAft>
                <a:spcPts val="300"/>
              </a:spcAft>
              <a:buChar char="•"/>
            </a:pPr>
            <a:r>
              <a:rPr sz="1300" b="0" i="0">
                <a:solidFill>
                  <a:srgbClr val="1F2A44"/>
                </a:solidFill>
                <a:latin typeface="Arial"/>
              </a:rPr>
              <a:t>drop the wildcards (</a:t>
            </a:r>
            <a:r>
              <a:rPr sz="1300" b="0" i="0">
                <a:solidFill>
                  <a:srgbClr val="1F2A44"/>
                </a:solidFill>
                <a:latin typeface="Consolas"/>
              </a:rPr>
              <a:t>.svc</a:t>
            </a:r>
            <a:r>
              <a:rPr sz="1300" b="0" i="0">
                <a:solidFill>
                  <a:srgbClr val="1F2A44"/>
                </a:solidFill>
                <a:latin typeface="Arial"/>
              </a:rPr>
              <a:t>, </a:t>
            </a:r>
            <a:r>
              <a:rPr sz="1300" b="0" i="0">
                <a:solidFill>
                  <a:srgbClr val="1F2A44"/>
                </a:solidFill>
                <a:latin typeface="Consolas"/>
              </a:rPr>
              <a:t>.svc.cluster.local</a:t>
            </a:r>
            <a:r>
              <a:rPr sz="1300" b="0" i="0">
                <a:solidFill>
                  <a:srgbClr val="1F2A44"/>
                </a:solidFill>
                <a:latin typeface="Arial"/>
              </a:rPr>
              <a:t>)</a:t>
            </a:r>
          </a:p>
        </p:txBody>
      </p:sp>
      <p:sp>
        <p:nvSpPr>
          <p:cNvPr id="17" name="Rounded Rectangle 16"/>
          <p:cNvSpPr/>
          <p:nvPr/>
        </p:nvSpPr>
        <p:spPr>
          <a:xfrm>
            <a:off x="6199632" y="4297680"/>
            <a:ext cx="5577840"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How to verify it</a:t>
            </a:r>
          </a:p>
          <a:p>
            <a:pPr algn="l" marL="148590" indent="-148590">
              <a:spcAft>
                <a:spcPts val="300"/>
              </a:spcAft>
              <a:buChar char="•"/>
            </a:pPr>
            <a:r>
              <a:rPr sz="1300" b="0" i="0">
                <a:solidFill>
                  <a:srgbClr val="1F2A44"/>
                </a:solidFill>
                <a:latin typeface="Arial"/>
              </a:rPr>
              <a:t>count judge completions across a run, never sidecar logs</a:t>
            </a:r>
          </a:p>
          <a:p>
            <a:pPr algn="l" marL="148590" indent="-148590">
              <a:spcAft>
                <a:spcPts val="300"/>
              </a:spcAft>
              <a:buChar char="•"/>
            </a:pPr>
            <a:r>
              <a:rPr sz="1300" b="0" i="0">
                <a:solidFill>
                  <a:srgbClr val="1F2A44"/>
                </a:solidFill>
                <a:latin typeface="Consolas"/>
              </a:rPr>
              <a:t>initialize</a:t>
            </a:r>
            <a:r>
              <a:rPr sz="1300" b="0" i="0">
                <a:solidFill>
                  <a:srgbClr val="1F2A44"/>
                </a:solidFill>
                <a:latin typeface="Arial"/>
              </a:rPr>
              <a:t> and </a:t>
            </a:r>
            <a:r>
              <a:rPr sz="1300" b="0" i="0">
                <a:solidFill>
                  <a:srgbClr val="1F2A44"/>
                </a:solidFill>
                <a:latin typeface="Consolas"/>
              </a:rPr>
              <a:t>tools/list</a:t>
            </a:r>
            <a:r>
              <a:rPr sz="1300" b="0" i="0">
                <a:solidFill>
                  <a:srgbClr val="1F2A44"/>
                </a:solidFill>
                <a:latin typeface="Arial"/>
              </a:rPr>
              <a:t> are </a:t>
            </a:r>
            <a:r>
              <a:rPr sz="1300" b="0" i="0">
                <a:solidFill>
                  <a:srgbClr val="1F2A44"/>
                </a:solidFill>
                <a:latin typeface="Consolas"/>
              </a:rPr>
              <a:t>isAction=false</a:t>
            </a:r>
            <a:r>
              <a:rPr sz="1300" b="0" i="0">
                <a:solidFill>
                  <a:srgbClr val="1F2A44"/>
                </a:solidFill>
                <a:latin typeface="Arial"/>
              </a:rPr>
              <a:t>: never judged</a:t>
            </a:r>
          </a:p>
          <a:p>
            <a:pPr algn="l" marL="148590" indent="-148590">
              <a:spcAft>
                <a:spcPts val="300"/>
              </a:spcAft>
              <a:buChar char="•"/>
            </a:pPr>
            <a:r>
              <a:rPr sz="1300" b="0" i="0">
                <a:solidFill>
                  <a:srgbClr val="1F2A44"/>
                </a:solidFill>
                <a:latin typeface="Arial"/>
              </a:rPr>
              <a:t>so a zero count needs real tool calls behind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Installing and uninstalling: the scripts cover one cluster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A cross-cluster service–workload setup is supported by the Service, and left to you</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11</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Consolas"/>
              </a:rPr>
              <a:t>reference/autobench-install.sh</a:t>
            </a:r>
          </a:p>
        </p:txBody>
      </p:sp>
      <p:sp>
        <p:nvSpPr>
          <p:cNvPr id="9" name="TextBox 8"/>
          <p:cNvSpPr txBox="1"/>
          <p:nvPr/>
        </p:nvSpPr>
        <p:spPr>
          <a:xfrm>
            <a:off x="502920" y="1874519"/>
            <a:ext cx="5349240" cy="210312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One env file, one command, on KinD or OpenShift</a:t>
            </a:r>
          </a:p>
          <a:p>
            <a:pPr marL="148590" indent="-148590">
              <a:spcAft>
                <a:spcPts val="500"/>
              </a:spcAft>
              <a:buChar char="•"/>
            </a:pPr>
            <a:r>
              <a:rPr sz="1300" b="0" i="0">
                <a:solidFill>
                  <a:srgbClr val="1F2A44"/>
                </a:solidFill>
                <a:latin typeface="Arial"/>
              </a:rPr>
              <a:t>Preflight first: 0 failures, or it stops</a:t>
            </a:r>
          </a:p>
          <a:p>
            <a:pPr marL="148590" indent="-148590">
              <a:spcAft>
                <a:spcPts val="500"/>
              </a:spcAft>
              <a:buChar char="•"/>
            </a:pPr>
            <a:r>
              <a:rPr sz="1300" b="0" i="0">
                <a:solidFill>
                  <a:srgbClr val="1F2A44"/>
                </a:solidFill>
                <a:latin typeface="Arial"/>
              </a:rPr>
              <a:t>MLflow read path, instance file, Secret, Helm, restart</a:t>
            </a:r>
          </a:p>
          <a:p>
            <a:pPr marL="148590" indent="-148590">
              <a:spcAft>
                <a:spcPts val="500"/>
              </a:spcAft>
              <a:buChar char="•"/>
            </a:pPr>
            <a:r>
              <a:rPr sz="1300" b="0" i="0">
                <a:solidFill>
                  <a:srgbClr val="1F2A44"/>
                </a:solidFill>
                <a:latin typeface="Arial"/>
              </a:rPr>
              <a:t>Verifies </a:t>
            </a:r>
            <a:r>
              <a:rPr sz="1300" b="0" i="0">
                <a:solidFill>
                  <a:srgbClr val="1F2A44"/>
                </a:solidFill>
                <a:latin typeface="Consolas"/>
              </a:rPr>
              <a:t>/healthz</a:t>
            </a:r>
            <a:r>
              <a:rPr sz="1300" b="0" i="0">
                <a:solidFill>
                  <a:srgbClr val="1F2A44"/>
                </a:solidFill>
                <a:latin typeface="Arial"/>
              </a:rPr>
              <a:t>, the S3 block, then preflight with the MLflow round trip</a:t>
            </a:r>
          </a:p>
          <a:p>
            <a:pPr marL="148590" indent="-148590">
              <a:spcAft>
                <a:spcPts val="500"/>
              </a:spcAft>
              <a:buChar char="•"/>
            </a:pPr>
            <a:r>
              <a:rPr sz="1300" b="0" i="0">
                <a:solidFill>
                  <a:srgbClr val="1F2A44"/>
                </a:solidFill>
                <a:latin typeface="Consolas"/>
              </a:rPr>
              <a:t>--ibac-judge</a:t>
            </a:r>
            <a:r>
              <a:rPr sz="1300" b="0" i="0">
                <a:solidFill>
                  <a:srgbClr val="1F2A44"/>
                </a:solidFill>
                <a:latin typeface="Arial"/>
              </a:rPr>
              <a:t> adds the judge for the plugin legs</a:t>
            </a:r>
          </a:p>
        </p:txBody>
      </p:sp>
      <p:sp>
        <p:nvSpPr>
          <p:cNvPr id="10" name="Rectangle 9"/>
          <p:cNvSpPr/>
          <p:nvPr/>
        </p:nvSpPr>
        <p:spPr>
          <a:xfrm>
            <a:off x="411480" y="40690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Consolas"/>
              </a:rPr>
              <a:t>reference/autobench-uninstall.sh</a:t>
            </a:r>
          </a:p>
        </p:txBody>
      </p:sp>
      <p:sp>
        <p:nvSpPr>
          <p:cNvPr id="11" name="TextBox 10"/>
          <p:cNvSpPr txBox="1"/>
          <p:nvPr/>
        </p:nvSpPr>
        <p:spPr>
          <a:xfrm>
            <a:off x="502920" y="4617720"/>
            <a:ext cx="5349240" cy="164592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Workloads first, through the Service; then </a:t>
            </a:r>
            <a:r>
              <a:rPr sz="1300" b="0" i="0">
                <a:solidFill>
                  <a:srgbClr val="1F2A44"/>
                </a:solidFill>
                <a:latin typeface="Consolas"/>
              </a:rPr>
              <a:t>helm uninstall</a:t>
            </a:r>
          </a:p>
          <a:p>
            <a:pPr marL="148590" indent="-148590">
              <a:spcAft>
                <a:spcPts val="500"/>
              </a:spcAft>
              <a:buChar char="•"/>
            </a:pPr>
            <a:r>
              <a:rPr sz="1300" b="0" i="0">
                <a:solidFill>
                  <a:srgbClr val="1F2A44"/>
                </a:solidFill>
                <a:latin typeface="Arial"/>
              </a:rPr>
              <a:t>Verifies every owned object is gone and the judge fields restored</a:t>
            </a:r>
          </a:p>
          <a:p>
            <a:pPr marL="148590" indent="-148590">
              <a:spcAft>
                <a:spcPts val="500"/>
              </a:spcAft>
              <a:buChar char="•"/>
            </a:pPr>
            <a:r>
              <a:rPr sz="1300" b="0" i="0">
                <a:solidFill>
                  <a:srgbClr val="1F2A44"/>
                </a:solidFill>
                <a:latin typeface="Arial"/>
              </a:rPr>
              <a:t>Removes only what the installer recorded creating</a:t>
            </a:r>
          </a:p>
        </p:txBody>
      </p:sp>
      <p:sp>
        <p:nvSpPr>
          <p:cNvPr id="12" name="Rectangle 11"/>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Scope: one cluster</a:t>
            </a:r>
          </a:p>
        </p:txBody>
      </p:sp>
      <p:sp>
        <p:nvSpPr>
          <p:cNvPr id="13" name="TextBox 12"/>
          <p:cNvSpPr txBox="1"/>
          <p:nvPr/>
        </p:nvSpPr>
        <p:spPr>
          <a:xfrm>
            <a:off x="6382512" y="1874519"/>
            <a:ext cx="5349240" cy="91440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The Service and its workloads on the same cluster</a:t>
            </a:r>
          </a:p>
          <a:p>
            <a:pPr marL="293370" indent="-125730">
              <a:spcAft>
                <a:spcPts val="500"/>
              </a:spcAft>
              <a:buChar char="–"/>
            </a:pPr>
            <a:r>
              <a:rPr sz="1100" b="0" i="0">
                <a:solidFill>
                  <a:srgbClr val="5B6477"/>
                </a:solidFill>
                <a:latin typeface="Arial"/>
              </a:rPr>
              <a:t>an instance file for that cluster's own </a:t>
            </a:r>
            <a:r>
              <a:rPr sz="1100" b="0" i="0">
                <a:solidFill>
                  <a:srgbClr val="5B6477"/>
                </a:solidFill>
                <a:latin typeface="Consolas"/>
              </a:rPr>
              <a:t>iss</a:t>
            </a:r>
            <a:r>
              <a:rPr sz="1100" b="0" i="0">
                <a:solidFill>
                  <a:srgbClr val="5B6477"/>
                </a:solidFill>
                <a:latin typeface="Arial"/>
              </a:rPr>
              <a:t>; endpoint templates </a:t>
            </a:r>
            <a:r>
              <a:rPr sz="1100" b="0" i="0">
                <a:solidFill>
                  <a:srgbClr val="5B6477"/>
                </a:solidFill>
                <a:latin typeface="Consolas"/>
              </a:rPr>
              <a:t>null</a:t>
            </a:r>
          </a:p>
        </p:txBody>
      </p:sp>
      <p:sp>
        <p:nvSpPr>
          <p:cNvPr id="14" name="Rounded Rectangle 13"/>
          <p:cNvSpPr/>
          <p:nvPr/>
        </p:nvSpPr>
        <p:spPr>
          <a:xfrm>
            <a:off x="6291072" y="2788920"/>
            <a:ext cx="5486400" cy="2011680"/>
          </a:xfrm>
          <a:prstGeom prst="roundRect">
            <a:avLst>
              <a:gd name="adj" fmla="val 727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Cross-cluster service–workload: supported, not scripted</a:t>
            </a:r>
          </a:p>
          <a:p>
            <a:pPr algn="l" marL="137160" indent="-137160">
              <a:spcAft>
                <a:spcPts val="300"/>
              </a:spcAft>
              <a:buChar char="•"/>
            </a:pPr>
            <a:r>
              <a:rPr sz="1200" b="0" i="0">
                <a:solidFill>
                  <a:srgbClr val="1F2A44"/>
                </a:solidFill>
                <a:latin typeface="Arial"/>
              </a:rPr>
              <a:t>an instance file keyed to the workload cluster's </a:t>
            </a:r>
            <a:r>
              <a:rPr sz="1200" b="0" i="0">
                <a:solidFill>
                  <a:srgbClr val="1F2A44"/>
                </a:solidFill>
                <a:latin typeface="Consolas"/>
              </a:rPr>
              <a:t>iss</a:t>
            </a:r>
            <a:r>
              <a:rPr sz="1200" b="0" i="0">
                <a:solidFill>
                  <a:srgbClr val="1F2A44"/>
                </a:solidFill>
                <a:latin typeface="Arial"/>
              </a:rPr>
              <a:t>: its Rossoctl URL, endpoint templates, </a:t>
            </a:r>
            <a:r>
              <a:rPr sz="1200" b="0" i="0">
                <a:solidFill>
                  <a:srgbClr val="1F2A44"/>
                </a:solidFill>
                <a:latin typeface="Consolas"/>
              </a:rPr>
              <a:t>workload_otel</a:t>
            </a:r>
            <a:r>
              <a:rPr sz="1200" b="0" i="0">
                <a:solidFill>
                  <a:srgbClr val="1F2A44"/>
                </a:solidFill>
                <a:latin typeface="Arial"/>
              </a:rPr>
              <a:t>, the Service-side MLflow</a:t>
            </a:r>
          </a:p>
          <a:p>
            <a:pPr algn="l" marL="137160" indent="-137160">
              <a:spcAft>
                <a:spcPts val="300"/>
              </a:spcAft>
              <a:buChar char="•"/>
            </a:pPr>
            <a:r>
              <a:rPr sz="1200" b="0" i="0">
                <a:solidFill>
                  <a:srgbClr val="1F2A44"/>
                </a:solidFill>
                <a:latin typeface="Arial"/>
              </a:rPr>
              <a:t>a collector on the workload cluster, forwarding to the Service's MLflow</a:t>
            </a:r>
          </a:p>
          <a:p>
            <a:pPr algn="l" marL="137160" indent="-137160">
              <a:spcAft>
                <a:spcPts val="300"/>
              </a:spcAft>
              <a:buChar char="•"/>
            </a:pPr>
            <a:r>
              <a:rPr sz="1200" b="0" i="0">
                <a:solidFill>
                  <a:srgbClr val="1F2A44"/>
                </a:solidFill>
                <a:latin typeface="Arial"/>
              </a:rPr>
              <a:t>the IBAC judge on the workload cluster</a:t>
            </a:r>
          </a:p>
          <a:p>
            <a:pPr algn="l" marL="137160" indent="-137160">
              <a:spcAft>
                <a:spcPts val="300"/>
              </a:spcAft>
              <a:buChar char="•"/>
            </a:pPr>
            <a:r>
              <a:rPr sz="1200" b="0" i="0">
                <a:solidFill>
                  <a:srgbClr val="1F2A44"/>
                </a:solidFill>
                <a:latin typeface="Arial"/>
              </a:rPr>
              <a:t>callers take their token from the workload cluster's Keycloak</a:t>
            </a:r>
          </a:p>
        </p:txBody>
      </p:sp>
      <p:sp>
        <p:nvSpPr>
          <p:cNvPr id="15" name="TextBox 14"/>
          <p:cNvSpPr txBox="1"/>
          <p:nvPr/>
        </p:nvSpPr>
        <p:spPr>
          <a:xfrm>
            <a:off x="6291072" y="4937760"/>
            <a:ext cx="5486400" cy="640080"/>
          </a:xfrm>
          <a:prstGeom prst="rect">
            <a:avLst/>
          </a:prstGeom>
          <a:noFill/>
        </p:spPr>
        <p:txBody>
          <a:bodyPr wrap="square" lIns="36576" rIns="36576" tIns="18288" bIns="18288" anchor="t">
            <a:spAutoFit/>
          </a:bodyPr>
          <a:lstStyle/>
          <a:p>
            <a:pPr algn="l">
              <a:spcAft>
                <a:spcPts val="600"/>
              </a:spcAft>
            </a:pPr>
            <a:r>
              <a:rPr sz="1200" b="0" i="0">
                <a:solidFill>
                  <a:srgbClr val="5B6477"/>
                </a:solidFill>
                <a:latin typeface="Arial"/>
              </a:rPr>
              <a:t>The Service needs no change for it: only provisioning, which the scripts do not yet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catalog, and the REST calls that drive a run</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Three benchmarks in a static registry; six calls from deploy to the artifacts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12</a:t>
            </a:r>
          </a:p>
        </p:txBody>
      </p:sp>
      <p:sp>
        <p:nvSpPr>
          <p:cNvPr id="8" name="Rectangle 7"/>
          <p:cNvSpPr/>
          <p:nvPr/>
        </p:nvSpPr>
        <p:spPr>
          <a:xfrm>
            <a:off x="411480" y="1325880"/>
            <a:ext cx="45720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Catalog (static registry)</a:t>
            </a:r>
          </a:p>
        </p:txBody>
      </p:sp>
      <p:sp>
        <p:nvSpPr>
          <p:cNvPr id="9" name="Rounded Rectangle 8"/>
          <p:cNvSpPr/>
          <p:nvPr/>
        </p:nvSpPr>
        <p:spPr>
          <a:xfrm>
            <a:off x="411480" y="192024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gsm8k</a:t>
            </a:r>
          </a:p>
          <a:p>
            <a:pPr algn="l">
              <a:spcAft>
                <a:spcPts val="300"/>
              </a:spcAft>
            </a:pPr>
            <a:r>
              <a:rPr sz="1300" b="0" i="0">
                <a:solidFill>
                  <a:srgbClr val="1F2A44"/>
                </a:solidFill>
                <a:latin typeface="Arial"/>
              </a:rPr>
              <a:t>single-turn; needs </a:t>
            </a:r>
            <a:r>
              <a:rPr sz="1300" b="0" i="0">
                <a:solidFill>
                  <a:srgbClr val="1F2A44"/>
                </a:solidFill>
                <a:latin typeface="Consolas"/>
              </a:rPr>
              <a:t>hf-secret</a:t>
            </a:r>
            <a:r>
              <a:rPr sz="1300" b="0" i="0">
                <a:solidFill>
                  <a:srgbClr val="1F2A44"/>
                </a:solidFill>
                <a:latin typeface="Arial"/>
              </a:rPr>
              <a:t> and </a:t>
            </a:r>
            <a:r>
              <a:rPr sz="1300" b="0" i="0">
                <a:solidFill>
                  <a:srgbClr val="1F2A44"/>
                </a:solidFill>
                <a:latin typeface="Consolas"/>
              </a:rPr>
              <a:t>openai-secret</a:t>
            </a:r>
          </a:p>
        </p:txBody>
      </p:sp>
      <p:sp>
        <p:nvSpPr>
          <p:cNvPr id="10" name="Rounded Rectangle 9"/>
          <p:cNvSpPr/>
          <p:nvPr/>
        </p:nvSpPr>
        <p:spPr>
          <a:xfrm>
            <a:off x="411480" y="297180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tau2</a:t>
            </a:r>
          </a:p>
          <a:p>
            <a:pPr algn="l">
              <a:spcAft>
                <a:spcPts val="300"/>
              </a:spcAft>
            </a:pPr>
            <a:r>
              <a:rPr sz="1300" b="0" i="0">
                <a:solidFill>
                  <a:srgbClr val="1F2A44"/>
                </a:solidFill>
                <a:latin typeface="Arial"/>
              </a:rPr>
              <a:t>multi-turn; the user-simulator LLM runs server-side in the MCP pod; raise the timeout</a:t>
            </a:r>
          </a:p>
        </p:txBody>
      </p:sp>
      <p:sp>
        <p:nvSpPr>
          <p:cNvPr id="11" name="Rounded Rectangle 10"/>
          <p:cNvSpPr/>
          <p:nvPr/>
        </p:nvSpPr>
        <p:spPr>
          <a:xfrm>
            <a:off x="411480" y="402336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appworld</a:t>
            </a:r>
          </a:p>
          <a:p>
            <a:pPr algn="l">
              <a:spcAft>
                <a:spcPts val="300"/>
              </a:spcAft>
            </a:pPr>
            <a:r>
              <a:rPr sz="1300" b="0" i="0">
                <a:solidFill>
                  <a:srgbClr val="1F2A44"/>
                </a:solidFill>
                <a:latin typeface="Arial"/>
              </a:rPr>
              <a:t>long-horizon across simulated apps; raise </a:t>
            </a:r>
            <a:r>
              <a:rPr sz="1300" b="0" i="0">
                <a:solidFill>
                  <a:srgbClr val="1F2A44"/>
                </a:solidFill>
                <a:latin typeface="Consolas"/>
              </a:rPr>
              <a:t>task_timeout_seconds</a:t>
            </a:r>
          </a:p>
        </p:txBody>
      </p:sp>
      <p:sp>
        <p:nvSpPr>
          <p:cNvPr id="12" name="Rectangle 11"/>
          <p:cNvSpPr/>
          <p:nvPr/>
        </p:nvSpPr>
        <p:spPr>
          <a:xfrm>
            <a:off x="5257800" y="1325880"/>
            <a:ext cx="6519672"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Lifecycle (REST)</a:t>
            </a:r>
          </a:p>
        </p:txBody>
      </p:sp>
      <p:graphicFrame>
        <p:nvGraphicFramePr>
          <p:cNvPr id="13" name="Table 12"/>
          <p:cNvGraphicFramePr>
            <a:graphicFrameLocks noGrp="1"/>
          </p:cNvGraphicFramePr>
          <p:nvPr/>
        </p:nvGraphicFramePr>
        <p:xfrm>
          <a:off x="5257800" y="1920240"/>
          <a:ext cx="6519671" cy="3840480"/>
        </p:xfrm>
        <a:graphic>
          <a:graphicData uri="http://schemas.openxmlformats.org/drawingml/2006/table">
            <a:tbl>
              <a:tblPr firstRow="0" bandRow="0">
                <a:tableStyleId>{5C22544A-7EE6-4342-B048-85BDC9FD1C3A}</a:tableStyleId>
              </a:tblPr>
              <a:tblGrid>
                <a:gridCol w="2662964"/>
                <a:gridCol w="3856707"/>
              </a:tblGrid>
              <a:tr h="548640">
                <a:tc>
                  <a:txBody>
                    <a:bodyPr wrap="square"/>
                    <a:lstStyle/>
                    <a:p>
                      <a:pPr algn="l"/>
                      <a:r>
                        <a:rPr sz="1200" b="1" i="0">
                          <a:solidFill>
                            <a:srgbClr val="FFFFFF"/>
                          </a:solidFill>
                          <a:latin typeface="Arial"/>
                        </a:rPr>
                        <a:t>call</a:t>
                      </a:r>
                    </a:p>
                  </a:txBody>
                  <a:tcPr marL="54864" marR="54864" marT="18288" marB="18288" anchor="ctr">
                    <a:solidFill>
                      <a:srgbClr val="1F2A44"/>
                    </a:solidFill>
                  </a:tcPr>
                </a:tc>
                <a:tc>
                  <a:txBody>
                    <a:bodyPr wrap="square"/>
                    <a:lstStyle/>
                    <a:p>
                      <a:pPr algn="l"/>
                      <a:r>
                        <a:rPr sz="1200" b="1" i="0">
                          <a:solidFill>
                            <a:srgbClr val="FFFFFF"/>
                          </a:solidFill>
                          <a:latin typeface="Arial"/>
                        </a:rPr>
                        <a:t>what it does</a:t>
                      </a:r>
                    </a:p>
                  </a:txBody>
                  <a:tcPr marL="54864" marR="54864" marT="18288" marB="18288" anchor="ctr">
                    <a:solidFill>
                      <a:srgbClr val="1F2A44"/>
                    </a:solidFill>
                  </a:tcPr>
                </a:tc>
              </a:tr>
              <a:tr h="548640">
                <a:tc>
                  <a:txBody>
                    <a:bodyPr wrap="square"/>
                    <a:lstStyle/>
                    <a:p>
                      <a:pPr algn="l"/>
                      <a:r>
                        <a:rPr sz="1200" b="0" i="0">
                          <a:solidFill>
                            <a:srgbClr val="1F2A44"/>
                          </a:solidFill>
                          <a:latin typeface="Consolas"/>
                        </a:rPr>
                        <a:t>POST /benchmarks/{n}/deploy</a:t>
                      </a:r>
                    </a:p>
                  </a:txBody>
                  <a:tcPr marL="54864" marR="54864" marT="18288" marB="18288" anchor="ctr">
                    <a:solidFill>
                      <a:srgbClr val="FFFFFF"/>
                    </a:solidFill>
                  </a:tcPr>
                </a:tc>
                <a:tc>
                  <a:txBody>
                    <a:bodyPr wrap="square"/>
                    <a:lstStyle/>
                    <a:p>
                      <a:pPr algn="l"/>
                      <a:r>
                        <a:rPr sz="1200" b="0" i="0">
                          <a:solidFill>
                            <a:srgbClr val="1F2A44"/>
                          </a:solidFill>
                          <a:latin typeface="Arial"/>
                        </a:rPr>
                        <a:t>create the MCP tool and A2A agent → 201</a:t>
                      </a:r>
                    </a:p>
                  </a:txBody>
                  <a:tcPr marL="54864" marR="54864" marT="18288" marB="18288" anchor="ctr">
                    <a:solidFill>
                      <a:srgbClr val="FFFFFF"/>
                    </a:solidFill>
                  </a:tcPr>
                </a:tc>
              </a:tr>
              <a:tr h="548640">
                <a:tc>
                  <a:txBody>
                    <a:bodyPr wrap="square"/>
                    <a:lstStyle/>
                    <a:p>
                      <a:pPr algn="l"/>
                      <a:r>
                        <a:rPr sz="1200" b="0" i="0">
                          <a:solidFill>
                            <a:srgbClr val="1F2A44"/>
                          </a:solidFill>
                          <a:latin typeface="Consolas"/>
                        </a:rPr>
                        <a:t>GET /benchmarks/{n}/status</a:t>
                      </a:r>
                    </a:p>
                  </a:txBody>
                  <a:tcPr marL="54864" marR="54864" marT="18288" marB="18288" anchor="ctr">
                    <a:solidFill>
                      <a:srgbClr val="F3F5F9"/>
                    </a:solidFill>
                  </a:tcPr>
                </a:tc>
                <a:tc>
                  <a:txBody>
                    <a:bodyPr wrap="square"/>
                    <a:lstStyle/>
                    <a:p>
                      <a:pPr algn="l"/>
                      <a:r>
                        <a:rPr sz="1200" b="0" i="0">
                          <a:solidFill>
                            <a:srgbClr val="1F2A44"/>
                          </a:solidFill>
                          <a:latin typeface="Arial"/>
                        </a:rPr>
                        <a:t>poll until </a:t>
                      </a:r>
                      <a:r>
                        <a:rPr sz="1200" b="0" i="0">
                          <a:solidFill>
                            <a:srgbClr val="1F2A44"/>
                          </a:solidFill>
                          <a:latin typeface="Consolas"/>
                        </a:rPr>
                        <a:t>tool_ready</a:t>
                      </a:r>
                      <a:r>
                        <a:rPr sz="1200" b="0" i="0">
                          <a:solidFill>
                            <a:srgbClr val="1F2A44"/>
                          </a:solidFill>
                          <a:latin typeface="Arial"/>
                        </a:rPr>
                        <a:t> and </a:t>
                      </a:r>
                      <a:r>
                        <a:rPr sz="1200" b="0" i="0">
                          <a:solidFill>
                            <a:srgbClr val="1F2A44"/>
                          </a:solidFill>
                          <a:latin typeface="Consolas"/>
                        </a:rPr>
                        <a:t>agent_ready</a:t>
                      </a:r>
                    </a:p>
                  </a:txBody>
                  <a:tcPr marL="54864" marR="54864" marT="18288" marB="18288" anchor="ctr">
                    <a:solidFill>
                      <a:srgbClr val="F3F5F9"/>
                    </a:solidFill>
                  </a:tcPr>
                </a:tc>
              </a:tr>
              <a:tr h="548640">
                <a:tc>
                  <a:txBody>
                    <a:bodyPr wrap="square"/>
                    <a:lstStyle/>
                    <a:p>
                      <a:pPr algn="l"/>
                      <a:r>
                        <a:rPr sz="1200" b="0" i="0">
                          <a:solidFill>
                            <a:srgbClr val="1F2A44"/>
                          </a:solidFill>
                          <a:latin typeface="Consolas"/>
                        </a:rPr>
                        <a:t>POST /benchmarks/{n}/runs</a:t>
                      </a:r>
                    </a:p>
                  </a:txBody>
                  <a:tcPr marL="54864" marR="54864" marT="18288" marB="18288" anchor="ctr">
                    <a:solidFill>
                      <a:srgbClr val="FFFFFF"/>
                    </a:solidFill>
                  </a:tcPr>
                </a:tc>
                <a:tc>
                  <a:txBody>
                    <a:bodyPr wrap="square"/>
                    <a:lstStyle/>
                    <a:p>
                      <a:pPr algn="l"/>
                      <a:r>
                        <a:rPr sz="1200" b="0" i="0">
                          <a:solidFill>
                            <a:srgbClr val="1F2A44"/>
                          </a:solidFill>
                          <a:latin typeface="Arial"/>
                        </a:rPr>
                        <a:t>precheck → 202 </a:t>
                      </a:r>
                      <a:r>
                        <a:rPr sz="1200" b="0" i="0">
                          <a:solidFill>
                            <a:srgbClr val="1F2A44"/>
                          </a:solidFill>
                          <a:latin typeface="Consolas"/>
                        </a:rPr>
                        <a:t>run_id</a:t>
                      </a:r>
                      <a:r>
                        <a:rPr sz="1200" b="0" i="0">
                          <a:solidFill>
                            <a:srgbClr val="1F2A44"/>
                          </a:solidFill>
                          <a:latin typeface="Arial"/>
                        </a:rPr>
                        <a:t> (409 not deployed, 424 a Secret missing)</a:t>
                      </a:r>
                    </a:p>
                  </a:txBody>
                  <a:tcPr marL="54864" marR="54864" marT="18288" marB="18288" anchor="ctr">
                    <a:solidFill>
                      <a:srgbClr val="FFFFFF"/>
                    </a:solidFill>
                  </a:tcPr>
                </a:tc>
              </a:tr>
              <a:tr h="548640">
                <a:tc>
                  <a:txBody>
                    <a:bodyPr wrap="square"/>
                    <a:lstStyle/>
                    <a:p>
                      <a:pPr algn="l"/>
                      <a:r>
                        <a:rPr sz="1200" b="0" i="0">
                          <a:solidFill>
                            <a:srgbClr val="1F2A44"/>
                          </a:solidFill>
                          <a:latin typeface="Consolas"/>
                        </a:rPr>
                        <a:t>GET …/runs/{id}</a:t>
                      </a:r>
                    </a:p>
                  </a:txBody>
                  <a:tcPr marL="54864" marR="54864" marT="18288" marB="18288" anchor="ctr">
                    <a:solidFill>
                      <a:srgbClr val="F3F5F9"/>
                    </a:solidFill>
                  </a:tcPr>
                </a:tc>
                <a:tc>
                  <a:txBody>
                    <a:bodyPr wrap="square"/>
                    <a:lstStyle/>
                    <a:p>
                      <a:pPr algn="l"/>
                      <a:r>
                        <a:rPr sz="1200" b="0" i="0">
                          <a:solidFill>
                            <a:srgbClr val="1F2A44"/>
                          </a:solidFill>
                          <a:latin typeface="Arial"/>
                        </a:rPr>
                        <a:t>poll pending → running → succeeded or failed</a:t>
                      </a:r>
                    </a:p>
                  </a:txBody>
                  <a:tcPr marL="54864" marR="54864" marT="18288" marB="18288" anchor="ctr">
                    <a:solidFill>
                      <a:srgbClr val="F3F5F9"/>
                    </a:solidFill>
                  </a:tcPr>
                </a:tc>
              </a:tr>
              <a:tr h="548640">
                <a:tc>
                  <a:txBody>
                    <a:bodyPr wrap="square"/>
                    <a:lstStyle/>
                    <a:p>
                      <a:pPr algn="l"/>
                      <a:r>
                        <a:rPr sz="1200" b="0" i="0">
                          <a:solidFill>
                            <a:srgbClr val="1F2A44"/>
                          </a:solidFill>
                          <a:latin typeface="Consolas"/>
                        </a:rPr>
                        <a:t>GET …/runs/{id}/report</a:t>
                      </a:r>
                    </a:p>
                  </a:txBody>
                  <a:tcPr marL="54864" marR="54864" marT="18288" marB="18288" anchor="ctr">
                    <a:solidFill>
                      <a:srgbClr val="FFFFFF"/>
                    </a:solidFill>
                  </a:tcPr>
                </a:tc>
                <a:tc>
                  <a:txBody>
                    <a:bodyPr wrap="square"/>
                    <a:lstStyle/>
                    <a:p>
                      <a:pPr algn="l"/>
                      <a:r>
                        <a:rPr sz="1200" b="0" i="0">
                          <a:solidFill>
                            <a:srgbClr val="1F2A44"/>
                          </a:solidFill>
                          <a:latin typeface="Arial"/>
                        </a:rPr>
                        <a:t>MLflow records and artifacts (409 if MLflow is unset)</a:t>
                      </a:r>
                    </a:p>
                  </a:txBody>
                  <a:tcPr marL="54864" marR="54864" marT="18288" marB="18288" anchor="ctr">
                    <a:solidFill>
                      <a:srgbClr val="FFFFFF"/>
                    </a:solidFill>
                  </a:tcPr>
                </a:tc>
              </a:tr>
              <a:tr h="548640">
                <a:tc>
                  <a:txBody>
                    <a:bodyPr wrap="square"/>
                    <a:lstStyle/>
                    <a:p>
                      <a:pPr algn="l"/>
                      <a:r>
                        <a:rPr sz="1200" b="0" i="0">
                          <a:solidFill>
                            <a:srgbClr val="1F2A44"/>
                          </a:solidFill>
                          <a:latin typeface="Arial"/>
                        </a:rPr>
                        <a:t>download from S3</a:t>
                      </a:r>
                    </a:p>
                  </a:txBody>
                  <a:tcPr marL="54864" marR="54864" marT="18288" marB="18288" anchor="ctr">
                    <a:solidFill>
                      <a:srgbClr val="F3F5F9"/>
                    </a:solidFill>
                  </a:tcPr>
                </a:tc>
                <a:tc>
                  <a:txBody>
                    <a:bodyPr wrap="square"/>
                    <a:lstStyle/>
                    <a:p>
                      <a:pPr algn="l"/>
                      <a:r>
                        <a:rPr sz="1200" b="0" i="0">
                          <a:solidFill>
                            <a:srgbClr val="1F2A44"/>
                          </a:solidFill>
                          <a:latin typeface="Consolas"/>
                        </a:rPr>
                        <a:t>run.json</a:t>
                      </a:r>
                      <a:r>
                        <a:rPr sz="1200" b="0" i="0">
                          <a:solidFill>
                            <a:srgbClr val="1F2A44"/>
                          </a:solidFill>
                          <a:latin typeface="Arial"/>
                        </a:rPr>
                        <a:t>, </a:t>
                      </a:r>
                      <a:r>
                        <a:rPr sz="1200" b="0" i="0">
                          <a:solidFill>
                            <a:srgbClr val="1F2A44"/>
                          </a:solidFill>
                          <a:latin typeface="Consolas"/>
                        </a:rPr>
                        <a:t>report.*</a:t>
                      </a:r>
                      <a:r>
                        <a:rPr sz="1200" b="0" i="0">
                          <a:solidFill>
                            <a:srgbClr val="1F2A44"/>
                          </a:solidFill>
                          <a:latin typeface="Arial"/>
                        </a:rPr>
                        <a:t>, </a:t>
                      </a:r>
                      <a:r>
                        <a:rPr sz="1200" b="0" i="0">
                          <a:solidFill>
                            <a:srgbClr val="1F2A44"/>
                          </a:solidFill>
                          <a:latin typeface="Consolas"/>
                        </a:rPr>
                        <a:t>token_report.*</a:t>
                      </a:r>
                      <a:r>
                        <a:rPr sz="1200" b="0" i="0">
                          <a:solidFill>
                            <a:srgbClr val="1F2A44"/>
                          </a:solidFill>
                          <a:latin typeface="Arial"/>
                        </a:rPr>
                        <a:t>, </a:t>
                      </a:r>
                      <a:r>
                        <a:rPr sz="1200" b="0" i="0">
                          <a:solidFill>
                            <a:srgbClr val="1F2A44"/>
                          </a:solidFill>
                          <a:latin typeface="Consolas"/>
                        </a:rPr>
                        <a:t>span_report.*</a:t>
                      </a:r>
                      <a:r>
                        <a:rPr sz="1200" b="0" i="0">
                          <a:solidFill>
                            <a:srgbClr val="1F2A44"/>
                          </a:solidFill>
                          <a:latin typeface="Arial"/>
                        </a:rPr>
                        <a:t>, </a:t>
                      </a:r>
                      <a:r>
                        <a:rPr sz="1200" b="0" i="0">
                          <a:solidFill>
                            <a:srgbClr val="1F2A44"/>
                          </a:solidFill>
                          <a:latin typeface="Consolas"/>
                        </a:rPr>
                        <a:t>manifest.json</a:t>
                      </a:r>
                    </a:p>
                  </a:txBody>
                  <a:tcPr marL="54864" marR="54864" marT="18288" marB="18288" anchor="ctr">
                    <a:solidFill>
                      <a:srgbClr val="F3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image carries the benchmark; </a:t>
            </a:r>
            <a:r>
              <a:rPr sz="2600" b="1" i="0">
                <a:solidFill>
                  <a:srgbClr val="1F2A44"/>
                </a:solidFill>
                <a:latin typeface="Consolas"/>
              </a:rPr>
              <a:t>tool_env</a:t>
            </a:r>
            <a:r>
              <a:rPr sz="2600" b="1" i="0">
                <a:solidFill>
                  <a:srgbClr val="1F2A44"/>
                </a:solidFill>
                <a:latin typeface="Arial"/>
              </a:rPr>
              <a:t> adds credentials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each image bakes in, and the two env vars per benchmark that it does not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13</a:t>
            </a:r>
          </a:p>
        </p:txBody>
      </p:sp>
      <p:graphicFrame>
        <p:nvGraphicFramePr>
          <p:cNvPr id="8" name="Table 7"/>
          <p:cNvGraphicFramePr>
            <a:graphicFrameLocks noGrp="1"/>
          </p:cNvGraphicFramePr>
          <p:nvPr/>
        </p:nvGraphicFramePr>
        <p:xfrm>
          <a:off x="411480" y="1325880"/>
          <a:ext cx="11365990" cy="2267712"/>
        </p:xfrm>
        <a:graphic>
          <a:graphicData uri="http://schemas.openxmlformats.org/drawingml/2006/table">
            <a:tbl>
              <a:tblPr firstRow="0" bandRow="0">
                <a:tableStyleId>{5C22544A-7EE6-4342-B048-85BDC9FD1C3A}</a:tableStyleId>
              </a:tblPr>
              <a:tblGrid>
                <a:gridCol w="1008273"/>
                <a:gridCol w="2199869"/>
                <a:gridCol w="4216416"/>
                <a:gridCol w="3941432"/>
              </a:tblGrid>
              <a:tr h="566928">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MCP tool image</a:t>
                      </a:r>
                    </a:p>
                  </a:txBody>
                  <a:tcPr marL="54864" marR="54864" marT="18288" marB="18288" anchor="ctr">
                    <a:solidFill>
                      <a:srgbClr val="1F2A44"/>
                    </a:solidFill>
                  </a:tcPr>
                </a:tc>
                <a:tc>
                  <a:txBody>
                    <a:bodyPr wrap="square"/>
                    <a:lstStyle/>
                    <a:p>
                      <a:pPr algn="l"/>
                      <a:r>
                        <a:rPr sz="1200" b="1" i="0">
                          <a:solidFill>
                            <a:srgbClr val="FFFFFF"/>
                          </a:solidFill>
                          <a:latin typeface="Arial"/>
                        </a:rPr>
                        <a:t>baked into the image</a:t>
                      </a:r>
                    </a:p>
                  </a:txBody>
                  <a:tcPr marL="54864" marR="54864" marT="18288" marB="18288" anchor="ctr">
                    <a:solidFill>
                      <a:srgbClr val="1F2A44"/>
                    </a:solidFill>
                  </a:tcPr>
                </a:tc>
                <a:tc>
                  <a:txBody>
                    <a:bodyPr wrap="square"/>
                    <a:lstStyle/>
                    <a:p>
                      <a:pPr algn="l"/>
                      <a:r>
                        <a:rPr sz="1200" b="1" i="0">
                          <a:solidFill>
                            <a:srgbClr val="FFFFFF"/>
                          </a:solidFill>
                          <a:latin typeface="Arial"/>
                        </a:rPr>
                        <a:t>added by </a:t>
                      </a:r>
                      <a:r>
                        <a:rPr sz="1200" b="1" i="0">
                          <a:solidFill>
                            <a:srgbClr val="FFFFFF"/>
                          </a:solidFill>
                          <a:latin typeface="Consolas"/>
                        </a:rPr>
                        <a:t>tool_env</a:t>
                      </a:r>
                    </a:p>
                  </a:txBody>
                  <a:tcPr marL="54864" marR="54864" marT="18288" marB="18288" anchor="ctr">
                    <a:solidFill>
                      <a:srgbClr val="1F2A44"/>
                    </a:solidFill>
                  </a:tcPr>
                </a:tc>
              </a:tr>
              <a:tr h="566928">
                <a:tc>
                  <a:txBody>
                    <a:bodyPr wrap="square"/>
                    <a:lstStyle/>
                    <a:p>
                      <a:pPr algn="l"/>
                      <a:r>
                        <a:rPr sz="1200" b="1"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Consolas"/>
                        </a:rPr>
                        <a:t>exgentic-mcp-gsm8k</a:t>
                      </a:r>
                    </a:p>
                  </a:txBody>
                  <a:tcPr marL="54864" marR="54864" marT="18288" marB="18288" anchor="ctr">
                    <a:solidFill>
                      <a:srgbClr val="FFFFFF"/>
                    </a:solidFill>
                  </a:tcPr>
                </a:tc>
                <a:tc>
                  <a:txBody>
                    <a:bodyPr wrap="square"/>
                    <a:lstStyle/>
                    <a:p>
                      <a:pPr algn="l"/>
                      <a:r>
                        <a:rPr sz="1200" b="0" i="0">
                          <a:solidFill>
                            <a:srgbClr val="1F2A44"/>
                          </a:solidFill>
                          <a:latin typeface="Arial"/>
                        </a:rPr>
                        <a:t>the HuggingFace loader, pinned to main/test: those 1,319 rows, fetched at pod start</a:t>
                      </a:r>
                    </a:p>
                  </a:txBody>
                  <a:tcPr marL="54864" marR="54864" marT="18288" marB="18288" anchor="ctr">
                    <a:solidFill>
                      <a:srgbClr val="FFFFFF"/>
                    </a:solidFill>
                  </a:tcPr>
                </a:tc>
                <a:tc>
                  <a:txBody>
                    <a:bodyPr wrap="square"/>
                    <a:lstStyle/>
                    <a:p>
                      <a:pPr algn="l"/>
                      <a:r>
                        <a:rPr sz="1200" b="0" i="0">
                          <a:solidFill>
                            <a:srgbClr val="1F2A44"/>
                          </a:solidFill>
                          <a:latin typeface="Consolas"/>
                        </a:rPr>
                        <a:t>HF_TOKEN</a:t>
                      </a:r>
                      <a:r>
                        <a:rPr sz="1200" b="0" i="0">
                          <a:solidFill>
                            <a:srgbClr val="1F2A44"/>
                          </a:solidFill>
                          <a:latin typeface="Arial"/>
                        </a:rPr>
                        <a:t> (from </a:t>
                      </a:r>
                      <a:r>
                        <a:rPr sz="1200" b="0" i="0">
                          <a:solidFill>
                            <a:srgbClr val="1F2A44"/>
                          </a:solidFill>
                          <a:latin typeface="Consolas"/>
                        </a:rPr>
                        <a:t>hf-secret</a:t>
                      </a:r>
                      <a:r>
                        <a:rPr sz="1200" b="0" i="0">
                          <a:solidFill>
                            <a:srgbClr val="1F2A44"/>
                          </a:solidFill>
                          <a:latin typeface="Arial"/>
                        </a:rPr>
                        <a:t>), plus </a:t>
                      </a:r>
                      <a:r>
                        <a:rPr sz="1200" b="0" i="0">
                          <a:solidFill>
                            <a:srgbClr val="1F2A44"/>
                          </a:solidFill>
                          <a:latin typeface="Consolas"/>
                        </a:rPr>
                        <a:t>EXGENTIC_SET_BENCHMARK_RUNNER=direct</a:t>
                      </a:r>
                    </a:p>
                  </a:txBody>
                  <a:tcPr marL="54864" marR="54864" marT="18288" marB="18288" anchor="ctr">
                    <a:solidFill>
                      <a:srgbClr val="FFFFFF"/>
                    </a:solidFill>
                  </a:tcPr>
                </a:tc>
              </a:tr>
              <a:tr h="566928">
                <a:tc>
                  <a:txBody>
                    <a:bodyPr wrap="square"/>
                    <a:lstStyle/>
                    <a:p>
                      <a:pPr algn="l"/>
                      <a:r>
                        <a:rPr sz="1200" b="1" i="0">
                          <a:solidFill>
                            <a:srgbClr val="1F2A44"/>
                          </a:solidFill>
                          <a:latin typeface="Arial"/>
                        </a:rPr>
                        <a:t>tau2</a:t>
                      </a:r>
                    </a:p>
                  </a:txBody>
                  <a:tcPr marL="54864" marR="54864" marT="18288" marB="18288" anchor="ctr">
                    <a:solidFill>
                      <a:srgbClr val="F3F5F9"/>
                    </a:solidFill>
                  </a:tcPr>
                </a:tc>
                <a:tc>
                  <a:txBody>
                    <a:bodyPr wrap="square"/>
                    <a:lstStyle/>
                    <a:p>
                      <a:pPr algn="l"/>
                      <a:r>
                        <a:rPr sz="1200" b="0" i="0">
                          <a:solidFill>
                            <a:srgbClr val="1F2A44"/>
                          </a:solidFill>
                          <a:latin typeface="Consolas"/>
                        </a:rPr>
                        <a:t>exgentic-mcp-tau2</a:t>
                      </a:r>
                    </a:p>
                  </a:txBody>
                  <a:tcPr marL="54864" marR="54864" marT="18288" marB="18288" anchor="ctr">
                    <a:solidFill>
                      <a:srgbClr val="F3F5F9"/>
                    </a:solidFill>
                  </a:tcPr>
                </a:tc>
                <a:tc>
                  <a:txBody>
                    <a:bodyPr wrap="square"/>
                    <a:lstStyle/>
                    <a:p>
                      <a:pPr algn="l"/>
                      <a:r>
                        <a:rPr sz="1200" b="0" i="0">
                          <a:solidFill>
                            <a:srgbClr val="1F2A44"/>
                          </a:solidFill>
                          <a:latin typeface="Arial"/>
                        </a:rPr>
                        <a:t>tau2-bench at v0.1.3, its retail domain (114 tasks), and a user-simulator LLM</a:t>
                      </a:r>
                    </a:p>
                  </a:txBody>
                  <a:tcPr marL="54864" marR="54864" marT="18288" marB="18288" anchor="ctr">
                    <a:solidFill>
                      <a:srgbClr val="F3F5F9"/>
                    </a:solidFill>
                  </a:tcPr>
                </a:tc>
                <a:tc>
                  <a:txBody>
                    <a:bodyPr wrap="square"/>
                    <a:lstStyle/>
                    <a:p>
                      <a:pPr algn="l"/>
                      <a:r>
                        <a:rPr sz="1200" b="0" i="0">
                          <a:solidFill>
                            <a:srgbClr val="1F2A44"/>
                          </a:solidFill>
                          <a:latin typeface="Consolas"/>
                        </a:rPr>
                        <a:t>OPENAI_API_KEY</a:t>
                      </a:r>
                      <a:r>
                        <a:rPr sz="1200" b="0" i="0">
                          <a:solidFill>
                            <a:srgbClr val="1F2A44"/>
                          </a:solidFill>
                          <a:latin typeface="Arial"/>
                        </a:rPr>
                        <a:t> (from </a:t>
                      </a:r>
                      <a:r>
                        <a:rPr sz="1200" b="0" i="0">
                          <a:solidFill>
                            <a:srgbClr val="1F2A44"/>
                          </a:solidFill>
                          <a:latin typeface="Consolas"/>
                        </a:rPr>
                        <a:t>openai-secret</a:t>
                      </a:r>
                      <a:r>
                        <a:rPr sz="1200" b="0" i="0">
                          <a:solidFill>
                            <a:srgbClr val="1F2A44"/>
                          </a:solidFill>
                          <a:latin typeface="Arial"/>
                        </a:rPr>
                        <a:t>) and an action timeout of 1000: the simulator makes its own calls</a:t>
                      </a:r>
                    </a:p>
                  </a:txBody>
                  <a:tcPr marL="54864" marR="54864" marT="18288" marB="18288" anchor="ctr">
                    <a:solidFill>
                      <a:srgbClr val="F3F5F9"/>
                    </a:solidFill>
                  </a:tcPr>
                </a:tc>
              </a:tr>
              <a:tr h="566928">
                <a:tc>
                  <a:txBody>
                    <a:bodyPr wrap="square"/>
                    <a:lstStyle/>
                    <a:p>
                      <a:pPr algn="l"/>
                      <a:r>
                        <a:rPr sz="1200" b="1" i="0">
                          <a:solidFill>
                            <a:srgbClr val="1F2A44"/>
                          </a:solidFill>
                          <a:latin typeface="Arial"/>
                        </a:rPr>
                        <a:t>appworld</a:t>
                      </a:r>
                    </a:p>
                  </a:txBody>
                  <a:tcPr marL="54864" marR="54864" marT="18288" marB="18288" anchor="ctr">
                    <a:solidFill>
                      <a:srgbClr val="FFFFFF"/>
                    </a:solidFill>
                  </a:tcPr>
                </a:tc>
                <a:tc>
                  <a:txBody>
                    <a:bodyPr wrap="square"/>
                    <a:lstStyle/>
                    <a:p>
                      <a:pPr algn="l"/>
                      <a:r>
                        <a:rPr sz="1200" b="0" i="0">
                          <a:solidFill>
                            <a:srgbClr val="1F2A44"/>
                          </a:solidFill>
                          <a:latin typeface="Consolas"/>
                        </a:rPr>
                        <a:t>exgentic-mcp-appworld</a:t>
                      </a:r>
                    </a:p>
                  </a:txBody>
                  <a:tcPr marL="54864" marR="54864" marT="18288" marB="18288" anchor="ctr">
                    <a:solidFill>
                      <a:srgbClr val="FFFFFF"/>
                    </a:solidFill>
                  </a:tcPr>
                </a:tc>
                <a:tc>
                  <a:txBody>
                    <a:bodyPr wrap="square"/>
                    <a:lstStyle/>
                    <a:p>
                      <a:pPr algn="l"/>
                      <a:r>
                        <a:rPr sz="1200" b="0" i="0">
                          <a:solidFill>
                            <a:srgbClr val="1F2A44"/>
                          </a:solidFill>
                          <a:latin typeface="Arial"/>
                        </a:rPr>
                        <a:t>the whole app-suite sandbox at upstream </a:t>
                      </a:r>
                      <a:r>
                        <a:rPr sz="1200" b="0" i="0">
                          <a:solidFill>
                            <a:srgbClr val="1F2A44"/>
                          </a:solidFill>
                          <a:latin typeface="Consolas"/>
                        </a:rPr>
                        <a:t>edc96012</a:t>
                      </a:r>
                      <a:r>
                        <a:rPr sz="1200" b="0" i="0">
                          <a:solidFill>
                            <a:srgbClr val="1F2A44"/>
                          </a:solidFill>
                          <a:latin typeface="Arial"/>
                        </a:rPr>
                        <a:t>, behind a custom tool-per-API adapter; test_normal split</a:t>
                      </a:r>
                    </a:p>
                  </a:txBody>
                  <a:tcPr marL="54864" marR="54864" marT="18288" marB="18288" anchor="ctr">
                    <a:solidFill>
                      <a:srgbClr val="FFFFFF"/>
                    </a:solidFill>
                  </a:tcPr>
                </a:tc>
                <a:tc>
                  <a:txBody>
                    <a:bodyPr wrap="square"/>
                    <a:lstStyle/>
                    <a:p>
                      <a:pPr algn="l"/>
                      <a:r>
                        <a:rPr sz="1200" b="0" i="0">
                          <a:solidFill>
                            <a:srgbClr val="1F2A44"/>
                          </a:solidFill>
                          <a:latin typeface="Arial"/>
                        </a:rPr>
                        <a:t>nothing beyond </a:t>
                      </a:r>
                      <a:r>
                        <a:rPr sz="1200" b="0" i="0">
                          <a:solidFill>
                            <a:srgbClr val="1F2A44"/>
                          </a:solidFill>
                          <a:latin typeface="Consolas"/>
                        </a:rPr>
                        <a:t>BENCHMARK_NAME</a:t>
                      </a:r>
                    </a:p>
                  </a:txBody>
                  <a:tcPr marL="54864" marR="54864" marT="18288" marB="18288" anchor="ctr">
                    <a:solidFill>
                      <a:srgbClr val="FFFFFF"/>
                    </a:solidFill>
                  </a:tcPr>
                </a:tc>
              </a:tr>
            </a:tbl>
          </a:graphicData>
        </a:graphic>
      </p:graphicFrame>
      <p:sp>
        <p:nvSpPr>
          <p:cNvPr id="9" name="Rounded Rectangle 8"/>
          <p:cNvSpPr/>
          <p:nvPr/>
        </p:nvSpPr>
        <p:spPr>
          <a:xfrm>
            <a:off x="411480" y="3794760"/>
            <a:ext cx="5577840"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One agent image serves all three</a:t>
            </a:r>
          </a:p>
          <a:p>
            <a:pPr algn="l">
              <a:spcAft>
                <a:spcPts val="300"/>
              </a:spcAft>
            </a:pPr>
            <a:r>
              <a:rPr sz="1200" b="0" i="0">
                <a:solidFill>
                  <a:srgbClr val="1F2A44"/>
                </a:solidFill>
                <a:latin typeface="Consolas"/>
              </a:rPr>
              <a:t>exgentic-a2a-tool_calling:latest</a:t>
            </a:r>
            <a:r>
              <a:rPr sz="1200" b="0" i="0">
                <a:solidFill>
                  <a:srgbClr val="1F2A44"/>
                </a:solidFill>
                <a:latin typeface="Arial"/>
              </a:rPr>
              <a:t> is the only agent; per benchmark it gains a name suffix. The benchmark lives in the MCP pod; the subject is the same binary.</a:t>
            </a:r>
          </a:p>
        </p:txBody>
      </p:sp>
      <p:sp>
        <p:nvSpPr>
          <p:cNvPr id="10" name="Rounded Rectangle 9"/>
          <p:cNvSpPr/>
          <p:nvPr/>
        </p:nvSpPr>
        <p:spPr>
          <a:xfrm>
            <a:off x="6199632" y="3794760"/>
            <a:ext cx="5577840"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LLM base is never baked in</a:t>
            </a:r>
          </a:p>
          <a:p>
            <a:pPr algn="l">
              <a:spcAft>
                <a:spcPts val="300"/>
              </a:spcAft>
            </a:pPr>
            <a:r>
              <a:rPr sz="1200" b="0" i="0">
                <a:solidFill>
                  <a:srgbClr val="1F2A44"/>
                </a:solidFill>
                <a:latin typeface="Consolas"/>
              </a:rPr>
              <a:t>OPENAI_API_BASE</a:t>
            </a:r>
            <a:r>
              <a:rPr sz="1200" b="0" i="0">
                <a:solidFill>
                  <a:srgbClr val="1F2A44"/>
                </a:solidFill>
                <a:latin typeface="Arial"/>
              </a:rPr>
              <a:t> comes per deploy from the instance's </a:t>
            </a:r>
            <a:r>
              <a:rPr sz="1200" b="0" i="0">
                <a:solidFill>
                  <a:srgbClr val="1F2A44"/>
                </a:solidFill>
                <a:latin typeface="Consolas"/>
              </a:rPr>
              <a:t>workload_llm.api_base</a:t>
            </a:r>
            <a:r>
              <a:rPr sz="1200" b="0" i="0">
                <a:solidFill>
                  <a:srgbClr val="1F2A44"/>
                </a:solidFill>
                <a:latin typeface="Arial"/>
              </a:rPr>
              <a:t>; a deploy with no gateway configured is rejected (422), not defaulted.</a:t>
            </a:r>
          </a:p>
        </p:txBody>
      </p:sp>
      <p:sp>
        <p:nvSpPr>
          <p:cNvPr id="11" name="Rounded Rectangle 10"/>
          <p:cNvSpPr/>
          <p:nvPr/>
        </p:nvSpPr>
        <p:spPr>
          <a:xfrm>
            <a:off x="411480" y="5120640"/>
            <a:ext cx="11365992" cy="11430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Two traps in the last column</a:t>
            </a:r>
          </a:p>
          <a:p>
            <a:pPr algn="l" marL="137160" indent="-137160">
              <a:spcAft>
                <a:spcPts val="200"/>
              </a:spcAft>
              <a:buChar char="•"/>
            </a:pPr>
            <a:r>
              <a:rPr sz="1200" b="0" i="0">
                <a:solidFill>
                  <a:srgbClr val="1F2A44"/>
                </a:solidFill>
                <a:latin typeface="Arial"/>
              </a:rPr>
              <a:t>appworld rejects the action-timeout override tau2 needs, and crashes at start: the env is per benchmark, not a shared default.</a:t>
            </a:r>
          </a:p>
          <a:p>
            <a:pPr algn="l" marL="137160" indent="-137160">
              <a:spcAft>
                <a:spcPts val="200"/>
              </a:spcAft>
              <a:buChar char="•"/>
            </a:pPr>
            <a:r>
              <a:rPr sz="1200" b="0" i="0">
                <a:solidFill>
                  <a:srgbClr val="1F2A44"/>
                </a:solidFill>
                <a:latin typeface="Consolas"/>
              </a:rPr>
              <a:t>hf-secret</a:t>
            </a:r>
            <a:r>
              <a:rPr sz="1200" b="0" i="0">
                <a:solidFill>
                  <a:srgbClr val="1F2A44"/>
                </a:solidFill>
                <a:latin typeface="Arial"/>
              </a:rPr>
              <a:t> must exist for gsm8k although the dataset is public, or the MCP pod sits in </a:t>
            </a:r>
            <a:r>
              <a:rPr sz="1200" b="0" i="0">
                <a:solidFill>
                  <a:srgbClr val="1F2A44"/>
                </a:solidFill>
                <a:latin typeface="Consolas"/>
              </a:rPr>
              <a:t>CreateContainerConfigError</a:t>
            </a:r>
            <a:r>
              <a:rPr sz="1200" b="0" i="0">
                <a:solidFill>
                  <a:srgbClr val="1F2A44"/>
                </a:solidFill>
                <a:latin typeface="Arial"/>
              </a:rPr>
              <a:t>. A missing Secret surfaces as 424 on the precheck.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One task, end to end: everything the agent does is one A2A turn</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system in time, with the span each step appears as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14</a:t>
            </a:r>
          </a:p>
        </p:txBody>
      </p:sp>
      <p:graphicFrame>
        <p:nvGraphicFramePr>
          <p:cNvPr id="8" name="Table 7"/>
          <p:cNvGraphicFramePr>
            <a:graphicFrameLocks noGrp="1"/>
          </p:cNvGraphicFramePr>
          <p:nvPr/>
        </p:nvGraphicFramePr>
        <p:xfrm>
          <a:off x="411480" y="1325880"/>
          <a:ext cx="11365991" cy="3291840"/>
        </p:xfrm>
        <a:graphic>
          <a:graphicData uri="http://schemas.openxmlformats.org/drawingml/2006/table">
            <a:tbl>
              <a:tblPr firstRow="0" bandRow="0">
                <a:tableStyleId>{5C22544A-7EE6-4342-B048-85BDC9FD1C3A}</a:tableStyleId>
              </a:tblPr>
              <a:tblGrid>
                <a:gridCol w="1008273"/>
                <a:gridCol w="7332898"/>
                <a:gridCol w="3024820"/>
              </a:tblGrid>
              <a:tr h="329184">
                <a:tc>
                  <a:txBody>
                    <a:bodyPr wrap="square"/>
                    <a:lstStyle/>
                    <a:p>
                      <a:pPr algn="l"/>
                      <a:r>
                        <a:rPr sz="1100" b="1" i="0">
                          <a:solidFill>
                            <a:srgbClr val="FFFFFF"/>
                          </a:solidFill>
                          <a:latin typeface="Arial"/>
                        </a:rPr>
                        <a:t>who</a:t>
                      </a:r>
                    </a:p>
                  </a:txBody>
                  <a:tcPr marL="54864" marR="54864" marT="18288" marB="18288" anchor="ctr">
                    <a:solidFill>
                      <a:srgbClr val="1F2A44"/>
                    </a:solidFill>
                  </a:tcPr>
                </a:tc>
                <a:tc>
                  <a:txBody>
                    <a:bodyPr wrap="square"/>
                    <a:lstStyle/>
                    <a:p>
                      <a:pPr algn="l"/>
                      <a:r>
                        <a:rPr sz="1100" b="1" i="0">
                          <a:solidFill>
                            <a:srgbClr val="FFFFFF"/>
                          </a:solidFill>
                          <a:latin typeface="Arial"/>
                        </a:rPr>
                        <a:t>step</a:t>
                      </a:r>
                    </a:p>
                  </a:txBody>
                  <a:tcPr marL="54864" marR="54864" marT="18288" marB="18288" anchor="ctr">
                    <a:solidFill>
                      <a:srgbClr val="1F2A44"/>
                    </a:solidFill>
                  </a:tcPr>
                </a:tc>
                <a:tc>
                  <a:txBody>
                    <a:bodyPr wrap="square"/>
                    <a:lstStyle/>
                    <a:p>
                      <a:pPr algn="l"/>
                      <a:r>
                        <a:rPr sz="1100" b="1" i="0">
                          <a:solidFill>
                            <a:srgbClr val="FFFFFF"/>
                          </a:solidFill>
                          <a:latin typeface="Arial"/>
                        </a:rPr>
                        <a:t>span</a:t>
                      </a:r>
                    </a:p>
                  </a:txBody>
                  <a:tcPr marL="54864" marR="54864" marT="18288" marB="18288" anchor="ctr">
                    <a:solidFill>
                      <a:srgbClr val="1F2A44"/>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FFFFF"/>
                    </a:solidFill>
                  </a:tcPr>
                </a:tc>
                <a:tc>
                  <a:txBody>
                    <a:bodyPr wrap="square"/>
                    <a:lstStyle/>
                    <a:p>
                      <a:pPr algn="l"/>
                      <a:r>
                        <a:rPr sz="1100" b="0" i="0">
                          <a:solidFill>
                            <a:srgbClr val="1F2A44"/>
                          </a:solidFill>
                          <a:latin typeface="Consolas"/>
                        </a:rPr>
                        <a:t>create_session(task_id)</a:t>
                      </a:r>
                      <a:r>
                        <a:rPr sz="1100" b="0" i="0">
                          <a:solidFill>
                            <a:srgbClr val="1F2A44"/>
                          </a:solidFill>
                          <a:latin typeface="Arial"/>
                        </a:rPr>
                        <a:t> → MCP pod</a:t>
                      </a:r>
                    </a:p>
                  </a:txBody>
                  <a:tcPr marL="54864" marR="54864" marT="18288" marB="18288" anchor="ctr">
                    <a:solidFill>
                      <a:srgbClr val="FFFFFF"/>
                    </a:solidFill>
                  </a:tcPr>
                </a:tc>
                <a:tc>
                  <a:txBody>
                    <a:bodyPr wrap="square"/>
                    <a:lstStyle/>
                    <a:p>
                      <a:pPr algn="l"/>
                      <a:r>
                        <a:rPr sz="1100" b="0" i="0">
                          <a:solidFill>
                            <a:srgbClr val="1F2A44"/>
                          </a:solidFill>
                          <a:latin typeface="Consolas"/>
                        </a:rPr>
                        <a:t>MCP.CreateSession</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3F5F9"/>
                    </a:solidFill>
                  </a:tcPr>
                </a:tc>
                <a:tc>
                  <a:txBody>
                    <a:bodyPr wrap="square"/>
                    <a:lstStyle/>
                    <a:p>
                      <a:pPr algn="l"/>
                      <a:r>
                        <a:rPr sz="1100" b="0" i="0">
                          <a:solidFill>
                            <a:srgbClr val="1F2A44"/>
                          </a:solidFill>
                          <a:latin typeface="Consolas"/>
                        </a:rPr>
                        <a:t>send_prompt</a:t>
                      </a:r>
                      <a:r>
                        <a:rPr sz="1100" b="0" i="0">
                          <a:solidFill>
                            <a:srgbClr val="1F2A44"/>
                          </a:solidFill>
                          <a:latin typeface="Arial"/>
                        </a:rPr>
                        <a:t> → agent: the task text, </a:t>
                      </a:r>
                      <a:r>
                        <a:rPr sz="1100" b="0" i="0">
                          <a:solidFill>
                            <a:srgbClr val="1F2A44"/>
                          </a:solidFill>
                          <a:latin typeface="Consolas"/>
                        </a:rPr>
                        <a:t>session_id</a:t>
                      </a:r>
                      <a:r>
                        <a:rPr sz="1100" b="0" i="0">
                          <a:solidFill>
                            <a:srgbClr val="1F2A44"/>
                          </a:solidFill>
                          <a:latin typeface="Arial"/>
                        </a:rPr>
                        <a:t> in A2A metadata; once per task</a:t>
                      </a:r>
                    </a:p>
                  </a:txBody>
                  <a:tcPr marL="54864" marR="54864" marT="18288" marB="18288" anchor="ctr">
                    <a:solidFill>
                      <a:srgbClr val="F3F5F9"/>
                    </a:solidFill>
                  </a:tcPr>
                </a:tc>
                <a:tc>
                  <a:txBody>
                    <a:bodyPr wrap="square"/>
                    <a:lstStyle/>
                    <a:p>
                      <a:pPr algn="l"/>
                      <a:r>
                        <a:rPr sz="1100" b="0" i="0">
                          <a:solidFill>
                            <a:srgbClr val="1F2A44"/>
                          </a:solidFill>
                          <a:latin typeface="Consolas"/>
                        </a:rPr>
                        <a:t>Agent.Call</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Consolas"/>
                        </a:rPr>
                        <a:t>connect_mcp</a:t>
                      </a:r>
                      <a:r>
                        <a:rPr sz="1100" b="0" i="0">
                          <a:solidFill>
                            <a:srgbClr val="1F2A44"/>
                          </a:solidFill>
                          <a:latin typeface="Arial"/>
                        </a:rPr>
                        <a:t>: </a:t>
                      </a:r>
                      <a:r>
                        <a:rPr sz="1100" b="0" i="0">
                          <a:solidFill>
                            <a:srgbClr val="1F2A44"/>
                          </a:solidFill>
                          <a:latin typeface="Consolas"/>
                        </a:rPr>
                        <a:t>tools/list</a:t>
                      </a:r>
                      <a:r>
                        <a:rPr sz="1100" b="0" i="0">
                          <a:solidFill>
                            <a:srgbClr val="1F2A44"/>
                          </a:solidFill>
                          <a:latin typeface="Arial"/>
                        </a:rPr>
                        <a:t> → MCP pod (per task; ~40–50 ms)</a:t>
                      </a:r>
                    </a:p>
                  </a:txBody>
                  <a:tcPr marL="54864" marR="54864" marT="18288" marB="18288" anchor="ctr">
                    <a:solidFill>
                      <a:srgbClr val="FFFFFF"/>
                    </a:solidFill>
                  </a:tcPr>
                </a:tc>
                <a:tc>
                  <a:txBody>
                    <a:bodyPr wrap="square"/>
                    <a:lstStyle/>
                    <a:p>
                      <a:pPr algn="l"/>
                      <a:r>
                        <a:rPr sz="1100" b="0" i="0">
                          <a:solidFill>
                            <a:srgbClr val="1F2A44"/>
                          </a:solidFill>
                          <a:latin typeface="Consolas"/>
                        </a:rPr>
                        <a:t>connect_mcp</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3F5F9"/>
                    </a:solidFill>
                  </a:tcPr>
                </a:tc>
                <a:tc>
                  <a:txBody>
                    <a:bodyPr wrap="square"/>
                    <a:lstStyle/>
                    <a:p>
                      <a:pPr algn="l"/>
                      <a:r>
                        <a:rPr sz="1100" b="0" i="0">
                          <a:solidFill>
                            <a:srgbClr val="1F2A44"/>
                          </a:solidFill>
                          <a:latin typeface="Consolas"/>
                        </a:rPr>
                        <a:t>create_agent</a:t>
                      </a:r>
                      <a:r>
                        <a:rPr sz="1100" b="0" i="0">
                          <a:solidFill>
                            <a:srgbClr val="1F2A44"/>
                          </a:solidFill>
                          <a:latin typeface="Arial"/>
                        </a:rPr>
                        <a:t> (~12–15 ms warm, up to 5.2 s on a cold pod)</a:t>
                      </a:r>
                    </a:p>
                  </a:txBody>
                  <a:tcPr marL="54864" marR="54864" marT="18288" marB="18288" anchor="ctr">
                    <a:solidFill>
                      <a:srgbClr val="F3F5F9"/>
                    </a:solidFill>
                  </a:tcPr>
                </a:tc>
                <a:tc>
                  <a:txBody>
                    <a:bodyPr wrap="square"/>
                    <a:lstStyle/>
                    <a:p>
                      <a:pPr algn="l"/>
                      <a:r>
                        <a:rPr sz="1100" b="0" i="0">
                          <a:solidFill>
                            <a:srgbClr val="1F2A44"/>
                          </a:solidFill>
                          <a:latin typeface="Consolas"/>
                        </a:rPr>
                        <a:t>create_agent</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Consolas"/>
                        </a:rPr>
                        <a:t>initial_observation</a:t>
                      </a:r>
                      <a:r>
                        <a:rPr sz="1100" b="0" i="0">
                          <a:solidFill>
                            <a:srgbClr val="1F2A44"/>
                          </a:solidFill>
                          <a:latin typeface="Arial"/>
                        </a:rPr>
                        <a:t>: local, no I/O, ~70 µs</a:t>
                      </a:r>
                    </a:p>
                  </a:txBody>
                  <a:tcPr marL="54864" marR="54864" marT="18288" marB="18288" anchor="ctr">
                    <a:solidFill>
                      <a:srgbClr val="FFFFFF"/>
                    </a:solidFill>
                  </a:tcPr>
                </a:tc>
                <a:tc>
                  <a:txBody>
                    <a:bodyPr wrap="square"/>
                    <a:lstStyle/>
                    <a:p>
                      <a:pPr algn="l"/>
                      <a:r>
                        <a:rPr sz="1100" b="0" i="0">
                          <a:solidFill>
                            <a:srgbClr val="1F2A44"/>
                          </a:solidFill>
                          <a:latin typeface="Arial"/>
                        </a:rPr>
                        <a:t>never counted</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3F5F9"/>
                    </a:solidFill>
                  </a:tcPr>
                </a:tc>
                <a:tc>
                  <a:txBody>
                    <a:bodyPr wrap="square"/>
                    <a:lstStyle/>
                    <a:p>
                      <a:pPr algn="l"/>
                      <a:r>
                        <a:rPr sz="1100" b="0" i="0">
                          <a:solidFill>
                            <a:srgbClr val="1F2A44"/>
                          </a:solidFill>
                          <a:latin typeface="Arial"/>
                        </a:rPr>
                        <a:t>the loop: chat → </a:t>
                      </a:r>
                      <a:r>
                        <a:rPr sz="1100" b="0" i="0">
                          <a:solidFill>
                            <a:srgbClr val="1F2A44"/>
                          </a:solidFill>
                          <a:latin typeface="Consolas"/>
                        </a:rPr>
                        <a:t>execute_tool</a:t>
                      </a:r>
                      <a:r>
                        <a:rPr sz="1100" b="0" i="0">
                          <a:solidFill>
                            <a:srgbClr val="1F2A44"/>
                          </a:solidFill>
                          <a:latin typeface="Arial"/>
                        </a:rPr>
                        <a:t> → MCP pod → observation → chat → …</a:t>
                      </a:r>
                    </a:p>
                  </a:txBody>
                  <a:tcPr marL="54864" marR="54864" marT="18288" marB="18288" anchor="ctr">
                    <a:solidFill>
                      <a:srgbClr val="F3F5F9"/>
                    </a:solidFill>
                  </a:tcPr>
                </a:tc>
                <a:tc>
                  <a:txBody>
                    <a:bodyPr wrap="square"/>
                    <a:lstStyle/>
                    <a:p>
                      <a:pPr algn="l"/>
                      <a:r>
                        <a:rPr sz="1100" b="0" i="0">
                          <a:solidFill>
                            <a:srgbClr val="1F2A44"/>
                          </a:solidFill>
                          <a:latin typeface="Consolas"/>
                        </a:rPr>
                        <a:t>chat</a:t>
                      </a:r>
                      <a:r>
                        <a:rPr sz="1100" b="0" i="0">
                          <a:solidFill>
                            <a:srgbClr val="1F2A44"/>
                          </a:solidFill>
                          <a:latin typeface="Arial"/>
                        </a:rPr>
                        <a:t> · </a:t>
                      </a:r>
                      <a:r>
                        <a:rPr sz="1100" b="0" i="0">
                          <a:solidFill>
                            <a:srgbClr val="1F2A44"/>
                          </a:solidFill>
                          <a:latin typeface="Consolas"/>
                        </a:rPr>
                        <a:t>execute_tool</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Arial"/>
                        </a:rPr>
                        <a:t>returns its final message when the model asks for no further tool</a:t>
                      </a:r>
                    </a:p>
                  </a:txBody>
                  <a:tcPr marL="54864" marR="54864" marT="18288" marB="18288" anchor="ctr">
                    <a:solidFill>
                      <a:srgbClr val="FFFFFF"/>
                    </a:solidFill>
                  </a:tcPr>
                </a:tc>
                <a:tc>
                  <a:txBody>
                    <a:bodyPr wrap="square"/>
                    <a:lstStyle/>
                    <a:p>
                      <a:pPr algn="l"/>
                      <a:r>
                        <a:rPr sz="1100" b="0" i="0">
                          <a:solidFill>
                            <a:srgbClr val="1F2A44"/>
                          </a:solidFill>
                          <a:latin typeface="Arial"/>
                        </a:rPr>
                        <a:t>the runner discards it</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3F5F9"/>
                    </a:solidFill>
                  </a:tcPr>
                </a:tc>
                <a:tc>
                  <a:txBody>
                    <a:bodyPr wrap="square"/>
                    <a:lstStyle/>
                    <a:p>
                      <a:pPr algn="l"/>
                      <a:r>
                        <a:rPr sz="1100" b="0" i="0">
                          <a:solidFill>
                            <a:srgbClr val="1F2A44"/>
                          </a:solidFill>
                          <a:latin typeface="Consolas"/>
                        </a:rPr>
                        <a:t>evaluate_session</a:t>
                      </a:r>
                      <a:r>
                        <a:rPr sz="1100" b="0" i="0">
                          <a:solidFill>
                            <a:srgbClr val="1F2A44"/>
                          </a:solidFill>
                          <a:latin typeface="Arial"/>
                        </a:rPr>
                        <a:t> → MCP pod: the verdict, off the session's final state</a:t>
                      </a:r>
                    </a:p>
                  </a:txBody>
                  <a:tcPr marL="54864" marR="54864" marT="18288" marB="18288" anchor="ctr">
                    <a:solidFill>
                      <a:srgbClr val="F3F5F9"/>
                    </a:solidFill>
                  </a:tcPr>
                </a:tc>
                <a:tc>
                  <a:txBody>
                    <a:bodyPr wrap="square"/>
                    <a:lstStyle/>
                    <a:p>
                      <a:pPr algn="l"/>
                      <a:r>
                        <a:rPr sz="1100" b="0" i="0">
                          <a:solidFill>
                            <a:srgbClr val="1F2A44"/>
                          </a:solidFill>
                          <a:latin typeface="Consolas"/>
                        </a:rPr>
                        <a:t>Evaluator.Evaluate</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FFFFF"/>
                    </a:solidFill>
                  </a:tcPr>
                </a:tc>
                <a:tc>
                  <a:txBody>
                    <a:bodyPr wrap="square"/>
                    <a:lstStyle/>
                    <a:p>
                      <a:pPr algn="l"/>
                      <a:r>
                        <a:rPr sz="1100" b="0" i="0">
                          <a:solidFill>
                            <a:srgbClr val="1F2A44"/>
                          </a:solidFill>
                          <a:latin typeface="Consolas"/>
                        </a:rPr>
                        <a:t>delete_session</a:t>
                      </a:r>
                      <a:r>
                        <a:rPr sz="1100" b="0" i="0">
                          <a:solidFill>
                            <a:srgbClr val="1F2A44"/>
                          </a:solidFill>
                          <a:latin typeface="Arial"/>
                        </a:rPr>
                        <a:t> → MCP pod, in a </a:t>
                      </a:r>
                      <a:r>
                        <a:rPr sz="1100" b="0" i="0">
                          <a:solidFill>
                            <a:srgbClr val="1F2A44"/>
                          </a:solidFill>
                          <a:latin typeface="Consolas"/>
                        </a:rPr>
                        <a:t>finally</a:t>
                      </a:r>
                    </a:p>
                  </a:txBody>
                  <a:tcPr marL="54864" marR="54864" marT="18288" marB="18288" anchor="ctr">
                    <a:solidFill>
                      <a:srgbClr val="FFFFFF"/>
                    </a:solidFill>
                  </a:tcPr>
                </a:tc>
                <a:tc>
                  <a:txBody>
                    <a:bodyPr wrap="square"/>
                    <a:lstStyle/>
                    <a:p>
                      <a:pPr algn="l"/>
                      <a:r>
                        <a:rPr sz="1100" b="0" i="0">
                          <a:solidFill>
                            <a:srgbClr val="1F2A44"/>
                          </a:solidFill>
                          <a:latin typeface="Arial"/>
                        </a:rPr>
                        <a:t>no span</a:t>
                      </a:r>
                    </a:p>
                  </a:txBody>
                  <a:tcPr marL="54864" marR="54864" marT="18288" marB="18288" anchor="ctr">
                    <a:solidFill>
                      <a:srgbClr val="FFFFFF"/>
                    </a:solidFill>
                  </a:tcPr>
                </a:tc>
              </a:tr>
            </a:tbl>
          </a:graphicData>
        </a:graphic>
      </p:graphicFrame>
      <p:sp>
        <p:nvSpPr>
          <p:cNvPr id="9" name="Rounded Rectangle 8"/>
          <p:cNvSpPr/>
          <p:nvPr/>
        </p:nvSpPr>
        <p:spPr>
          <a:xfrm>
            <a:off x="411480"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One A2A turn per task</a:t>
            </a:r>
          </a:p>
          <a:p>
            <a:pPr algn="l">
              <a:spcAft>
                <a:spcPts val="300"/>
              </a:spcAft>
            </a:pPr>
            <a:r>
              <a:rPr sz="1200" b="0" i="0">
                <a:solidFill>
                  <a:srgbClr val="1F2A44"/>
                </a:solidFill>
                <a:latin typeface="Consolas"/>
              </a:rPr>
              <a:t>Agent.Call</a:t>
            </a:r>
            <a:r>
              <a:rPr sz="1200" b="0" i="0">
                <a:solidFill>
                  <a:srgbClr val="1F2A44"/>
                </a:solidFill>
                <a:latin typeface="Arial"/>
              </a:rPr>
              <a:t> minus the agent's </a:t>
            </a:r>
            <a:r>
              <a:rPr sz="1200" b="0" i="0">
                <a:solidFill>
                  <a:srgbClr val="1F2A44"/>
                </a:solidFill>
                <a:latin typeface="Consolas"/>
              </a:rPr>
              <a:t>POST /</a:t>
            </a:r>
            <a:r>
              <a:rPr sz="1200" b="0" i="0">
                <a:solidFill>
                  <a:srgbClr val="1F2A44"/>
                </a:solidFill>
                <a:latin typeface="Arial"/>
              </a:rPr>
              <a:t> span is the Service's own cost: a median 16.3 ms of a 2.5 s gsm8k task, 15.9 ms of a 40 s tau2 one.</a:t>
            </a:r>
          </a:p>
        </p:txBody>
      </p:sp>
      <p:sp>
        <p:nvSpPr>
          <p:cNvPr id="10" name="Rounded Rectangle 9"/>
          <p:cNvSpPr/>
          <p:nvPr/>
        </p:nvSpPr>
        <p:spPr>
          <a:xfrm>
            <a:off x="4270248"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Service issues no tool call</a:t>
            </a:r>
          </a:p>
          <a:p>
            <a:pPr algn="l">
              <a:spcAft>
                <a:spcPts val="300"/>
              </a:spcAft>
            </a:pPr>
            <a:r>
              <a:rPr sz="1200" b="0" i="0">
                <a:solidFill>
                  <a:srgbClr val="1F2A44"/>
                </a:solidFill>
                <a:latin typeface="Arial"/>
              </a:rPr>
              <a:t>Its MCP traffic is the session lifecycle. </a:t>
            </a:r>
            <a:r>
              <a:rPr sz="1200" b="0" i="0">
                <a:solidFill>
                  <a:srgbClr val="1F2A44"/>
                </a:solidFill>
                <a:latin typeface="Consolas"/>
              </a:rPr>
              <a:t>execute_tool</a:t>
            </a:r>
            <a:r>
              <a:rPr sz="1200" b="0" i="0">
                <a:solidFill>
                  <a:srgbClr val="1F2A44"/>
                </a:solidFill>
                <a:latin typeface="Arial"/>
              </a:rPr>
              <a:t> is the agent's call; the Service never learns a tool's name.</a:t>
            </a:r>
          </a:p>
        </p:txBody>
      </p:sp>
      <p:sp>
        <p:nvSpPr>
          <p:cNvPr id="11" name="Rounded Rectangle 10"/>
          <p:cNvSpPr/>
          <p:nvPr/>
        </p:nvSpPr>
        <p:spPr>
          <a:xfrm>
            <a:off x="8119872"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session id joins the halves</a:t>
            </a:r>
          </a:p>
          <a:p>
            <a:pPr algn="l">
              <a:spcAft>
                <a:spcPts val="300"/>
              </a:spcAft>
            </a:pPr>
            <a:r>
              <a:rPr sz="1200" b="0" i="0">
                <a:solidFill>
                  <a:srgbClr val="1F2A44"/>
                </a:solidFill>
                <a:latin typeface="Arial"/>
              </a:rPr>
              <a:t>It rides in A2A metadata, never the prompt: the agent's tool calls mutate the session the Service grades, so prose alone fails a gsm8k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Nobody scripts a task's trajectory: the model produces it, step by step</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each component defines, and what it does not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15</a:t>
            </a:r>
          </a:p>
        </p:txBody>
      </p:sp>
      <p:graphicFrame>
        <p:nvGraphicFramePr>
          <p:cNvPr id="8" name="Table 7"/>
          <p:cNvGraphicFramePr>
            <a:graphicFrameLocks noGrp="1"/>
          </p:cNvGraphicFramePr>
          <p:nvPr/>
        </p:nvGraphicFramePr>
        <p:xfrm>
          <a:off x="411480" y="1325880"/>
          <a:ext cx="11365990" cy="2377440"/>
        </p:xfrm>
        <a:graphic>
          <a:graphicData uri="http://schemas.openxmlformats.org/drawingml/2006/table">
            <a:tbl>
              <a:tblPr firstRow="0" bandRow="0">
                <a:tableStyleId>{5C22544A-7EE6-4342-B048-85BDC9FD1C3A}</a:tableStyleId>
              </a:tblPr>
              <a:tblGrid>
                <a:gridCol w="1833224"/>
                <a:gridCol w="6049640"/>
                <a:gridCol w="3483126"/>
              </a:tblGrid>
              <a:tr h="475488">
                <a:tc>
                  <a:txBody>
                    <a:bodyPr wrap="square"/>
                    <a:lstStyle/>
                    <a:p>
                      <a:pPr algn="l"/>
                      <a:r>
                        <a:rPr sz="1200" b="1" i="0">
                          <a:solidFill>
                            <a:srgbClr val="FFFFFF"/>
                          </a:solidFill>
                          <a:latin typeface="Arial"/>
                        </a:rPr>
                        <a:t>component</a:t>
                      </a:r>
                    </a:p>
                  </a:txBody>
                  <a:tcPr marL="54864" marR="54864" marT="18288" marB="18288" anchor="ctr">
                    <a:solidFill>
                      <a:srgbClr val="1F2A44"/>
                    </a:solidFill>
                  </a:tcPr>
                </a:tc>
                <a:tc>
                  <a:txBody>
                    <a:bodyPr wrap="square"/>
                    <a:lstStyle/>
                    <a:p>
                      <a:pPr algn="l"/>
                      <a:r>
                        <a:rPr sz="1200" b="1" i="0">
                          <a:solidFill>
                            <a:srgbClr val="FFFFFF"/>
                          </a:solidFill>
                          <a:latin typeface="Arial"/>
                        </a:rPr>
                        <a:t>defines</a:t>
                      </a:r>
                    </a:p>
                  </a:txBody>
                  <a:tcPr marL="54864" marR="54864" marT="18288" marB="18288" anchor="ctr">
                    <a:solidFill>
                      <a:srgbClr val="1F2A44"/>
                    </a:solidFill>
                  </a:tcPr>
                </a:tc>
                <a:tc>
                  <a:txBody>
                    <a:bodyPr wrap="square"/>
                    <a:lstStyle/>
                    <a:p>
                      <a:pPr algn="l"/>
                      <a:r>
                        <a:rPr sz="1200" b="1" i="0">
                          <a:solidFill>
                            <a:srgbClr val="FFFFFF"/>
                          </a:solidFill>
                          <a:latin typeface="Arial"/>
                        </a:rPr>
                        <a:t>does NOT define</a:t>
                      </a:r>
                    </a:p>
                  </a:txBody>
                  <a:tcPr marL="54864" marR="54864" marT="18288" marB="18288" anchor="ctr">
                    <a:solidFill>
                      <a:srgbClr val="1F2A44"/>
                    </a:solidFill>
                  </a:tcPr>
                </a:tc>
              </a:tr>
              <a:tr h="475488">
                <a:tc>
                  <a:txBody>
                    <a:bodyPr wrap="square"/>
                    <a:lstStyle/>
                    <a:p>
                      <a:pPr algn="l"/>
                      <a:r>
                        <a:rPr sz="1200" b="1" i="0">
                          <a:solidFill>
                            <a:srgbClr val="1F2A44"/>
                          </a:solidFill>
                          <a:latin typeface="Arial"/>
                        </a:rPr>
                        <a:t>MCP pod</a:t>
                      </a:r>
                    </a:p>
                  </a:txBody>
                  <a:tcPr marL="54864" marR="54864" marT="18288" marB="18288" anchor="ctr">
                    <a:solidFill>
                      <a:srgbClr val="FFFFFF"/>
                    </a:solidFill>
                  </a:tcPr>
                </a:tc>
                <a:tc>
                  <a:txBody>
                    <a:bodyPr wrap="square"/>
                    <a:lstStyle/>
                    <a:p>
                      <a:pPr algn="l"/>
                      <a:r>
                        <a:rPr sz="1200" b="0" i="0">
                          <a:solidFill>
                            <a:srgbClr val="1F2A44"/>
                          </a:solidFill>
                          <a:latin typeface="Arial"/>
                        </a:rPr>
                        <a:t>the task list; each task's initial state and instruction; the tool surface; the evaluator</a:t>
                      </a:r>
                    </a:p>
                  </a:txBody>
                  <a:tcPr marL="54864" marR="54864" marT="18288" marB="18288" anchor="ctr">
                    <a:solidFill>
                      <a:srgbClr val="FFFFFF"/>
                    </a:solidFill>
                  </a:tcPr>
                </a:tc>
                <a:tc>
                  <a:txBody>
                    <a:bodyPr wrap="square"/>
                    <a:lstStyle/>
                    <a:p>
                      <a:pPr algn="l"/>
                      <a:r>
                        <a:rPr sz="1200" b="0" i="0">
                          <a:solidFill>
                            <a:srgbClr val="1F2A44"/>
                          </a:solidFill>
                          <a:latin typeface="Arial"/>
                        </a:rPr>
                        <a:t>any ordering: it answers calls, never asks</a:t>
                      </a:r>
                    </a:p>
                  </a:txBody>
                  <a:tcPr marL="54864" marR="54864" marT="18288" marB="18288" anchor="ctr">
                    <a:solidFill>
                      <a:srgbClr val="FFFFFF"/>
                    </a:solidFill>
                  </a:tcPr>
                </a:tc>
              </a:tr>
              <a:tr h="475488">
                <a:tc>
                  <a:txBody>
                    <a:bodyPr wrap="square"/>
                    <a:lstStyle/>
                    <a:p>
                      <a:pPr algn="l"/>
                      <a:r>
                        <a:rPr sz="1200" b="1" i="0">
                          <a:solidFill>
                            <a:srgbClr val="1F2A44"/>
                          </a:solidFill>
                          <a:latin typeface="Arial"/>
                        </a:rPr>
                        <a:t>agent runtime</a:t>
                      </a:r>
                    </a:p>
                  </a:txBody>
                  <a:tcPr marL="54864" marR="54864" marT="18288" marB="18288" anchor="ctr">
                    <a:solidFill>
                      <a:srgbClr val="F3F5F9"/>
                    </a:solidFill>
                  </a:tcPr>
                </a:tc>
                <a:tc>
                  <a:txBody>
                    <a:bodyPr wrap="square"/>
                    <a:lstStyle/>
                    <a:p>
                      <a:pPr algn="l"/>
                      <a:r>
                        <a:rPr sz="1200" b="0" i="0">
                          <a:solidFill>
                            <a:srgbClr val="1F2A44"/>
                          </a:solidFill>
                          <a:latin typeface="Arial"/>
                        </a:rPr>
                        <a:t>the loop (model → tool → observation → model) and when to stop</a:t>
                      </a:r>
                    </a:p>
                  </a:txBody>
                  <a:tcPr marL="54864" marR="54864" marT="18288" marB="18288" anchor="ctr">
                    <a:solidFill>
                      <a:srgbClr val="F3F5F9"/>
                    </a:solidFill>
                  </a:tcPr>
                </a:tc>
                <a:tc>
                  <a:txBody>
                    <a:bodyPr wrap="square"/>
                    <a:lstStyle/>
                    <a:p>
                      <a:pPr algn="l"/>
                      <a:r>
                        <a:rPr sz="1200" b="0" i="0">
                          <a:solidFill>
                            <a:srgbClr val="1F2A44"/>
                          </a:solidFill>
                          <a:latin typeface="Arial"/>
                        </a:rPr>
                        <a:t>which tool, with which arguments</a:t>
                      </a:r>
                    </a:p>
                  </a:txBody>
                  <a:tcPr marL="54864" marR="54864" marT="18288" marB="18288" anchor="ctr">
                    <a:solidFill>
                      <a:srgbClr val="F3F5F9"/>
                    </a:solidFill>
                  </a:tcPr>
                </a:tc>
              </a:tr>
              <a:tr h="475488">
                <a:tc>
                  <a:txBody>
                    <a:bodyPr wrap="square"/>
                    <a:lstStyle/>
                    <a:p>
                      <a:pPr algn="l"/>
                      <a:r>
                        <a:rPr sz="1200" b="1" i="0">
                          <a:solidFill>
                            <a:srgbClr val="1F2A44"/>
                          </a:solidFill>
                          <a:latin typeface="Arial"/>
                        </a:rPr>
                        <a:t>the Service</a:t>
                      </a:r>
                    </a:p>
                  </a:txBody>
                  <a:tcPr marL="54864" marR="54864" marT="18288" marB="18288" anchor="ctr">
                    <a:solidFill>
                      <a:srgbClr val="FFFFFF"/>
                    </a:solidFill>
                  </a:tcPr>
                </a:tc>
                <a:tc>
                  <a:txBody>
                    <a:bodyPr wrap="square"/>
                    <a:lstStyle/>
                    <a:p>
                      <a:pPr algn="l"/>
                      <a:r>
                        <a:rPr sz="1200" b="0" i="0">
                          <a:solidFill>
                            <a:srgbClr val="1F2A44"/>
                          </a:solidFill>
                          <a:latin typeface="Arial"/>
                        </a:rPr>
                        <a:t>one prompt per task (no tool instructions), the session lifecycle, the timeout, the telemetry</a:t>
                      </a:r>
                    </a:p>
                  </a:txBody>
                  <a:tcPr marL="54864" marR="54864" marT="18288" marB="18288" anchor="ctr">
                    <a:solidFill>
                      <a:srgbClr val="FFFFFF"/>
                    </a:solidFill>
                  </a:tcPr>
                </a:tc>
                <a:tc>
                  <a:txBody>
                    <a:bodyPr wrap="square"/>
                    <a:lstStyle/>
                    <a:p>
                      <a:pPr algn="l"/>
                      <a:r>
                        <a:rPr sz="1200" b="0" i="0">
                          <a:solidFill>
                            <a:srgbClr val="1F2A44"/>
                          </a:solidFill>
                          <a:latin typeface="Arial"/>
                        </a:rPr>
                        <a:t>anything about the trajectory</a:t>
                      </a:r>
                    </a:p>
                  </a:txBody>
                  <a:tcPr marL="54864" marR="54864" marT="18288" marB="18288" anchor="ctr">
                    <a:solidFill>
                      <a:srgbClr val="FFFFFF"/>
                    </a:solidFill>
                  </a:tcPr>
                </a:tc>
              </a:tr>
              <a:tr h="475488">
                <a:tc>
                  <a:txBody>
                    <a:bodyPr wrap="square"/>
                    <a:lstStyle/>
                    <a:p>
                      <a:pPr algn="l"/>
                      <a:r>
                        <a:rPr sz="1200" b="1" i="0">
                          <a:solidFill>
                            <a:srgbClr val="1F2A44"/>
                          </a:solidFill>
                          <a:latin typeface="Arial"/>
                        </a:rPr>
                        <a:t>the model</a:t>
                      </a:r>
                    </a:p>
                  </a:txBody>
                  <a:tcPr marL="54864" marR="54864" marT="18288" marB="18288" anchor="ctr">
                    <a:solidFill>
                      <a:srgbClr val="F3F5F9"/>
                    </a:solidFill>
                  </a:tcPr>
                </a:tc>
                <a:tc>
                  <a:txBody>
                    <a:bodyPr wrap="square"/>
                    <a:lstStyle/>
                    <a:p>
                      <a:pPr algn="l"/>
                      <a:r>
                        <a:rPr sz="1200" b="0" i="0">
                          <a:solidFill>
                            <a:srgbClr val="1F2A44"/>
                          </a:solidFill>
                          <a:latin typeface="Arial"/>
                        </a:rPr>
                        <a:t>every step</a:t>
                      </a:r>
                    </a:p>
                  </a:txBody>
                  <a:tcPr marL="54864" marR="54864" marT="18288" marB="18288" anchor="ctr">
                    <a:solidFill>
                      <a:srgbClr val="F3F5F9"/>
                    </a:solidFill>
                  </a:tcPr>
                </a:tc>
                <a:tc>
                  <a:txBody>
                    <a:bodyPr wrap="square"/>
                    <a:lstStyle/>
                    <a:p>
                      <a:pPr algn="l"/>
                      <a:r>
                        <a:rPr sz="1200" b="0" i="0">
                          <a:solidFill>
                            <a:srgbClr val="1F2A44"/>
                          </a:solidFill>
                          <a:latin typeface="Arial"/>
                        </a:rPr>
                        <a:t>—</a:t>
                      </a:r>
                    </a:p>
                  </a:txBody>
                  <a:tcPr marL="54864" marR="54864" marT="18288" marB="18288" anchor="ctr">
                    <a:solidFill>
                      <a:srgbClr val="F3F5F9"/>
                    </a:solidFill>
                  </a:tcPr>
                </a:tc>
              </a:tr>
            </a:tbl>
          </a:graphicData>
        </a:graphic>
      </p:graphicFrame>
      <p:sp>
        <p:nvSpPr>
          <p:cNvPr id="9" name="Rounded Rectangle 8"/>
          <p:cNvSpPr/>
          <p:nvPr/>
        </p:nvSpPr>
        <p:spPr>
          <a:xfrm>
            <a:off x="411480" y="3886200"/>
            <a:ext cx="5577840" cy="1280160"/>
          </a:xfrm>
          <a:prstGeom prst="roundRect">
            <a:avLst>
              <a:gd name="adj" fmla="val 11428"/>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Selection is deterministic; execution is not</a:t>
            </a:r>
          </a:p>
          <a:p>
            <a:pPr algn="l">
              <a:spcAft>
                <a:spcPts val="300"/>
              </a:spcAft>
            </a:pPr>
            <a:r>
              <a:rPr sz="1200" b="0" i="0">
                <a:solidFill>
                  <a:srgbClr val="1F2A44"/>
                </a:solidFill>
                <a:latin typeface="Arial"/>
              </a:rPr>
              <a:t>Same task, model and platform, two legs: tau2 task 7 took 12 chat / 12 tool in one and 10 / 10 in the other. 14 of 20 repeated tau2 tasks and 10 of 10 appworld differ; all 20 gsm8k agree.</a:t>
            </a:r>
          </a:p>
        </p:txBody>
      </p:sp>
      <p:sp>
        <p:nvSpPr>
          <p:cNvPr id="10" name="Rounded Rectangle 9"/>
          <p:cNvSpPr/>
          <p:nvPr/>
        </p:nvSpPr>
        <p:spPr>
          <a:xfrm>
            <a:off x="6199632" y="3886200"/>
            <a:ext cx="5577840" cy="1280160"/>
          </a:xfrm>
          <a:prstGeom prst="roundRect">
            <a:avLst>
              <a:gd name="adj" fmla="val 11428"/>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stop signal comes from the MCP pod</a:t>
            </a:r>
          </a:p>
          <a:p>
            <a:pPr algn="l">
              <a:spcAft>
                <a:spcPts val="300"/>
              </a:spcAft>
            </a:pPr>
            <a:r>
              <a:rPr sz="1200" b="0" i="0">
                <a:solidFill>
                  <a:srgbClr val="1F2A44"/>
                </a:solidFill>
                <a:latin typeface="Arial"/>
              </a:rPr>
              <a:t>No terminal tool name exists in the Service. gsm8k calls </a:t>
            </a:r>
            <a:r>
              <a:rPr sz="1200" b="0" i="0">
                <a:solidFill>
                  <a:srgbClr val="1F2A44"/>
                </a:solidFill>
                <a:latin typeface="Consolas"/>
              </a:rPr>
              <a:t>submit</a:t>
            </a:r>
            <a:r>
              <a:rPr sz="1200" b="0" i="0">
                <a:solidFill>
                  <a:srgbClr val="1F2A44"/>
                </a:solidFill>
                <a:latin typeface="Arial"/>
              </a:rPr>
              <a:t> 172/172; appworld </a:t>
            </a:r>
            <a:r>
              <a:rPr sz="1200" b="0" i="0">
                <a:solidFill>
                  <a:srgbClr val="1F2A44"/>
                </a:solidFill>
                <a:latin typeface="Consolas"/>
              </a:rPr>
              <a:t>finish</a:t>
            </a:r>
            <a:r>
              <a:rPr sz="1200" b="0" i="0">
                <a:solidFill>
                  <a:srgbClr val="1F2A44"/>
                </a:solidFill>
                <a:latin typeface="Arial"/>
              </a:rPr>
              <a:t> 41/49; tau2 has no terminal tool, and 60/60 end on a message.</a:t>
            </a:r>
          </a:p>
        </p:txBody>
      </p:sp>
      <p:sp>
        <p:nvSpPr>
          <p:cNvPr id="11" name="Rounded Rectangle 10"/>
          <p:cNvSpPr/>
          <p:nvPr/>
        </p:nvSpPr>
        <p:spPr>
          <a:xfrm>
            <a:off x="411480" y="5394960"/>
            <a:ext cx="11365992" cy="7315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it matters downstream</a:t>
            </a:r>
          </a:p>
          <a:p>
            <a:pPr algn="l">
              <a:spcAft>
                <a:spcPts val="300"/>
              </a:spcAft>
            </a:pPr>
            <a:r>
              <a:rPr sz="1200" b="0" i="0">
                <a:solidFill>
                  <a:srgbClr val="1F2A44"/>
                </a:solidFill>
                <a:latin typeface="Arial"/>
              </a:rPr>
              <a:t>Grading reads the final state, never a reference trajectory: per-task cost and latency are distributions, hence the CV columns in every report.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Three rungs of a ladder, each ~an order of magnitude dearer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Per task, measured on our own v1.35 runs, both platforms pooled; not the benchmarks' published papers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16</a:t>
            </a:r>
          </a:p>
        </p:txBody>
      </p:sp>
      <p:graphicFrame>
        <p:nvGraphicFramePr>
          <p:cNvPr id="8" name="Table 7"/>
          <p:cNvGraphicFramePr>
            <a:graphicFrameLocks noGrp="1"/>
          </p:cNvGraphicFramePr>
          <p:nvPr/>
        </p:nvGraphicFramePr>
        <p:xfrm>
          <a:off x="411480" y="1325880"/>
          <a:ext cx="11365990" cy="3621024"/>
        </p:xfrm>
        <a:graphic>
          <a:graphicData uri="http://schemas.openxmlformats.org/drawingml/2006/table">
            <a:tbl>
              <a:tblPr firstRow="0" bandRow="0">
                <a:tableStyleId>{5C22544A-7EE6-4342-B048-85BDC9FD1C3A}</a:tableStyleId>
              </a:tblPr>
              <a:tblGrid>
                <a:gridCol w="2656033"/>
                <a:gridCol w="2903319"/>
                <a:gridCol w="2903319"/>
                <a:gridCol w="2903319"/>
              </a:tblGrid>
              <a:tr h="329184">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gsm8k</a:t>
                      </a:r>
                    </a:p>
                  </a:txBody>
                  <a:tcPr marL="54864" marR="54864" marT="18288" marB="18288" anchor="ctr">
                    <a:solidFill>
                      <a:srgbClr val="1F2A44"/>
                    </a:solidFill>
                  </a:tcPr>
                </a:tc>
                <a:tc>
                  <a:txBody>
                    <a:bodyPr wrap="square"/>
                    <a:lstStyle/>
                    <a:p>
                      <a:pPr algn="l"/>
                      <a:r>
                        <a:rPr sz="1200" b="1" i="0">
                          <a:solidFill>
                            <a:srgbClr val="FFFFFF"/>
                          </a:solidFill>
                          <a:latin typeface="Arial"/>
                        </a:rPr>
                        <a:t>tau2</a:t>
                      </a:r>
                    </a:p>
                  </a:txBody>
                  <a:tcPr marL="54864" marR="54864" marT="18288" marB="18288" anchor="ctr">
                    <a:solidFill>
                      <a:srgbClr val="1F2A44"/>
                    </a:solidFill>
                  </a:tcPr>
                </a:tc>
                <a:tc>
                  <a:txBody>
                    <a:bodyPr wrap="square"/>
                    <a:lstStyle/>
                    <a:p>
                      <a:pPr algn="l"/>
                      <a:r>
                        <a:rPr sz="1200" b="1" i="0">
                          <a:solidFill>
                            <a:srgbClr val="FFFFFF"/>
                          </a:solidFill>
                          <a:latin typeface="Arial"/>
                        </a:rPr>
                        <a:t>appworld</a:t>
                      </a:r>
                    </a:p>
                  </a:txBody>
                  <a:tcPr marL="54864" marR="54864" marT="18288" marB="18288" anchor="ctr">
                    <a:solidFill>
                      <a:srgbClr val="1F2A44"/>
                    </a:solidFill>
                  </a:tcPr>
                </a:tc>
              </a:tr>
              <a:tr h="329184">
                <a:tc>
                  <a:txBody>
                    <a:bodyPr wrap="square"/>
                    <a:lstStyle/>
                    <a:p>
                      <a:pPr algn="l"/>
                      <a:r>
                        <a:rPr sz="1200" b="1" i="0">
                          <a:solidFill>
                            <a:srgbClr val="1F2A44"/>
                          </a:solidFill>
                          <a:latin typeface="Arial"/>
                        </a:rPr>
                        <a:t>model (the default)</a:t>
                      </a:r>
                    </a:p>
                  </a:txBody>
                  <a:tcPr marL="54864" marR="54864" marT="18288" marB="18288" anchor="ctr">
                    <a:solidFill>
                      <a:srgbClr val="FFFFFF"/>
                    </a:solidFill>
                  </a:tcPr>
                </a:tc>
                <a:tc>
                  <a:txBody>
                    <a:bodyPr wrap="square"/>
                    <a:lstStyle/>
                    <a:p>
                      <a:pPr algn="l"/>
                      <a:r>
                        <a:rPr sz="1200" b="0" i="0">
                          <a:solidFill>
                            <a:srgbClr val="1F2A44"/>
                          </a:solidFill>
                          <a:latin typeface="Arial"/>
                        </a:rPr>
                        <a:t>Azure/gpt-5-mini</a:t>
                      </a:r>
                    </a:p>
                  </a:txBody>
                  <a:tcPr marL="54864" marR="54864" marT="18288" marB="18288" anchor="ctr">
                    <a:solidFill>
                      <a:srgbClr val="FFFFFF"/>
                    </a:solidFill>
                  </a:tcPr>
                </a:tc>
                <a:tc>
                  <a:txBody>
                    <a:bodyPr wrap="square"/>
                    <a:lstStyle/>
                    <a:p>
                      <a:pPr algn="l"/>
                      <a:r>
                        <a:rPr sz="1200" b="0" i="0">
                          <a:solidFill>
                            <a:srgbClr val="1F2A44"/>
                          </a:solidFill>
                          <a:latin typeface="Arial"/>
                        </a:rPr>
                        <a:t>aws/claude-sonnet-5</a:t>
                      </a:r>
                    </a:p>
                  </a:txBody>
                  <a:tcPr marL="54864" marR="54864" marT="18288" marB="18288" anchor="ctr">
                    <a:solidFill>
                      <a:srgbClr val="FFFFFF"/>
                    </a:solidFill>
                  </a:tcPr>
                </a:tc>
                <a:tc>
                  <a:txBody>
                    <a:bodyPr wrap="square"/>
                    <a:lstStyle/>
                    <a:p>
                      <a:pPr algn="l"/>
                      <a:r>
                        <a:rPr sz="1200" b="0" i="0">
                          <a:solidFill>
                            <a:srgbClr val="1F2A44"/>
                          </a:solidFill>
                          <a:latin typeface="Arial"/>
                        </a:rPr>
                        <a:t>gemini-2.5-pro</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its rate, in / out $ per 1M</a:t>
                      </a:r>
                    </a:p>
                  </a:txBody>
                  <a:tcPr marL="54864" marR="54864" marT="18288" marB="18288" anchor="ctr">
                    <a:solidFill>
                      <a:srgbClr val="F3F5F9"/>
                    </a:solidFill>
                  </a:tcPr>
                </a:tc>
                <a:tc>
                  <a:txBody>
                    <a:bodyPr wrap="square"/>
                    <a:lstStyle/>
                    <a:p>
                      <a:pPr algn="l"/>
                      <a:r>
                        <a:rPr sz="1200" b="0" i="0">
                          <a:solidFill>
                            <a:srgbClr val="1F2A44"/>
                          </a:solidFill>
                          <a:latin typeface="Arial"/>
                        </a:rPr>
                        <a:t>0.25 / 2.00</a:t>
                      </a:r>
                    </a:p>
                  </a:txBody>
                  <a:tcPr marL="54864" marR="54864" marT="18288" marB="18288" anchor="ctr">
                    <a:solidFill>
                      <a:srgbClr val="F3F5F9"/>
                    </a:solidFill>
                  </a:tcPr>
                </a:tc>
                <a:tc>
                  <a:txBody>
                    <a:bodyPr wrap="square"/>
                    <a:lstStyle/>
                    <a:p>
                      <a:pPr algn="l"/>
                      <a:r>
                        <a:rPr sz="1200" b="0" i="0">
                          <a:solidFill>
                            <a:srgbClr val="1F2A44"/>
                          </a:solidFill>
                          <a:latin typeface="Arial"/>
                        </a:rPr>
                        <a:t>1.52 / 7.60</a:t>
                      </a:r>
                    </a:p>
                  </a:txBody>
                  <a:tcPr marL="54864" marR="54864" marT="18288" marB="18288" anchor="ctr">
                    <a:solidFill>
                      <a:srgbClr val="F3F5F9"/>
                    </a:solidFill>
                  </a:tcPr>
                </a:tc>
                <a:tc>
                  <a:txBody>
                    <a:bodyPr wrap="square"/>
                    <a:lstStyle/>
                    <a:p>
                      <a:pPr algn="l"/>
                      <a:r>
                        <a:rPr sz="1200" b="0" i="0">
                          <a:solidFill>
                            <a:srgbClr val="1F2A44"/>
                          </a:solidFill>
                          <a:latin typeface="Arial"/>
                        </a:rPr>
                        <a:t>1.25 / 10.00</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what it tests</a:t>
                      </a:r>
                    </a:p>
                  </a:txBody>
                  <a:tcPr marL="54864" marR="54864" marT="18288" marB="18288" anchor="ctr">
                    <a:solidFill>
                      <a:srgbClr val="FFFFFF"/>
                    </a:solidFill>
                  </a:tcPr>
                </a:tc>
                <a:tc>
                  <a:txBody>
                    <a:bodyPr wrap="square"/>
                    <a:lstStyle/>
                    <a:p>
                      <a:pPr algn="l"/>
                      <a:r>
                        <a:rPr sz="1200" b="0" i="0">
                          <a:solidFill>
                            <a:srgbClr val="1F2A44"/>
                          </a:solidFill>
                          <a:latin typeface="Arial"/>
                        </a:rPr>
                        <a:t>multi-step arithmetic</a:t>
                      </a:r>
                    </a:p>
                  </a:txBody>
                  <a:tcPr marL="54864" marR="54864" marT="18288" marB="18288" anchor="ctr">
                    <a:solidFill>
                      <a:srgbClr val="FFFFFF"/>
                    </a:solidFill>
                  </a:tcPr>
                </a:tc>
                <a:tc>
                  <a:txBody>
                    <a:bodyPr wrap="square"/>
                    <a:lstStyle/>
                    <a:p>
                      <a:pPr algn="l"/>
                      <a:r>
                        <a:rPr sz="1200" b="0" i="0">
                          <a:solidFill>
                            <a:srgbClr val="1F2A44"/>
                          </a:solidFill>
                          <a:latin typeface="Arial"/>
                        </a:rPr>
                        <a:t>multi-turn dialogue + tools</a:t>
                      </a:r>
                    </a:p>
                  </a:txBody>
                  <a:tcPr marL="54864" marR="54864" marT="18288" marB="18288" anchor="ctr">
                    <a:solidFill>
                      <a:srgbClr val="FFFFFF"/>
                    </a:solidFill>
                  </a:tcPr>
                </a:tc>
                <a:tc>
                  <a:txBody>
                    <a:bodyPr wrap="square"/>
                    <a:lstStyle/>
                    <a:p>
                      <a:pPr algn="l"/>
                      <a:r>
                        <a:rPr sz="1200" b="0" i="0">
                          <a:solidFill>
                            <a:srgbClr val="1F2A44"/>
                          </a:solidFill>
                          <a:latin typeface="Arial"/>
                        </a:rPr>
                        <a:t>long-horizon app automation</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task rows measured</a:t>
                      </a:r>
                    </a:p>
                  </a:txBody>
                  <a:tcPr marL="54864" marR="54864" marT="18288" marB="18288" anchor="ctr">
                    <a:solidFill>
                      <a:srgbClr val="F3F5F9"/>
                    </a:solidFill>
                  </a:tcPr>
                </a:tc>
                <a:tc>
                  <a:txBody>
                    <a:bodyPr wrap="square"/>
                    <a:lstStyle/>
                    <a:p>
                      <a:pPr algn="l"/>
                      <a:r>
                        <a:rPr sz="1200" b="0" i="0">
                          <a:solidFill>
                            <a:srgbClr val="1F2A44"/>
                          </a:solidFill>
                          <a:latin typeface="Arial"/>
                        </a:rPr>
                        <a:t>172 of 172</a:t>
                      </a:r>
                    </a:p>
                  </a:txBody>
                  <a:tcPr marL="54864" marR="54864" marT="18288" marB="18288" anchor="ctr">
                    <a:solidFill>
                      <a:srgbClr val="F3F5F9"/>
                    </a:solidFill>
                  </a:tcPr>
                </a:tc>
                <a:tc>
                  <a:txBody>
                    <a:bodyPr wrap="square"/>
                    <a:lstStyle/>
                    <a:p>
                      <a:pPr algn="l"/>
                      <a:r>
                        <a:rPr sz="1200" b="0" i="0">
                          <a:solidFill>
                            <a:srgbClr val="1F2A44"/>
                          </a:solidFill>
                          <a:latin typeface="Arial"/>
                        </a:rPr>
                        <a:t>60 of 60</a:t>
                      </a:r>
                    </a:p>
                  </a:txBody>
                  <a:tcPr marL="54864" marR="54864" marT="18288" marB="18288" anchor="ctr">
                    <a:solidFill>
                      <a:srgbClr val="F3F5F9"/>
                    </a:solidFill>
                  </a:tcPr>
                </a:tc>
                <a:tc>
                  <a:txBody>
                    <a:bodyPr wrap="square"/>
                    <a:lstStyle/>
                    <a:p>
                      <a:pPr algn="l"/>
                      <a:r>
                        <a:rPr sz="1200" b="0" i="0">
                          <a:solidFill>
                            <a:srgbClr val="1F2A44"/>
                          </a:solidFill>
                          <a:latin typeface="Arial"/>
                        </a:rPr>
                        <a:t>49 of 50 (1 timed out)</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pass rate</a:t>
                      </a:r>
                    </a:p>
                  </a:txBody>
                  <a:tcPr marL="54864" marR="54864" marT="18288" marB="18288" anchor="ctr">
                    <a:solidFill>
                      <a:srgbClr val="FFFFFF"/>
                    </a:solidFill>
                  </a:tcPr>
                </a:tc>
                <a:tc>
                  <a:txBody>
                    <a:bodyPr wrap="square"/>
                    <a:lstStyle/>
                    <a:p>
                      <a:pPr algn="l"/>
                      <a:r>
                        <a:rPr sz="1200" b="0" i="0">
                          <a:solidFill>
                            <a:srgbClr val="1F2A44"/>
                          </a:solidFill>
                          <a:latin typeface="Arial"/>
                        </a:rPr>
                        <a:t>0.98</a:t>
                      </a:r>
                    </a:p>
                  </a:txBody>
                  <a:tcPr marL="54864" marR="54864" marT="18288" marB="18288" anchor="ctr">
                    <a:solidFill>
                      <a:srgbClr val="FFFFFF"/>
                    </a:solidFill>
                  </a:tcPr>
                </a:tc>
                <a:tc>
                  <a:txBody>
                    <a:bodyPr wrap="square"/>
                    <a:lstStyle/>
                    <a:p>
                      <a:pPr algn="l"/>
                      <a:r>
                        <a:rPr sz="1200" b="0" i="0">
                          <a:solidFill>
                            <a:srgbClr val="1F2A44"/>
                          </a:solidFill>
                          <a:latin typeface="Arial"/>
                        </a:rPr>
                        <a:t>0.90</a:t>
                      </a:r>
                    </a:p>
                  </a:txBody>
                  <a:tcPr marL="54864" marR="54864" marT="18288" marB="18288" anchor="ctr">
                    <a:solidFill>
                      <a:srgbClr val="FFFFFF"/>
                    </a:solidFill>
                  </a:tcPr>
                </a:tc>
                <a:tc>
                  <a:txBody>
                    <a:bodyPr wrap="square"/>
                    <a:lstStyle/>
                    <a:p>
                      <a:pPr algn="l"/>
                      <a:r>
                        <a:rPr sz="1200" b="0" i="0">
                          <a:solidFill>
                            <a:srgbClr val="1F2A44"/>
                          </a:solidFill>
                          <a:latin typeface="Arial"/>
                        </a:rPr>
                        <a:t>0.00</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input / output tokens</a:t>
                      </a:r>
                    </a:p>
                  </a:txBody>
                  <a:tcPr marL="54864" marR="54864" marT="18288" marB="18288" anchor="ctr">
                    <a:solidFill>
                      <a:srgbClr val="F3F5F9"/>
                    </a:solidFill>
                  </a:tcPr>
                </a:tc>
                <a:tc>
                  <a:txBody>
                    <a:bodyPr wrap="square"/>
                    <a:lstStyle/>
                    <a:p>
                      <a:pPr algn="l"/>
                      <a:r>
                        <a:rPr sz="1200" b="0" i="0">
                          <a:solidFill>
                            <a:srgbClr val="1F2A44"/>
                          </a:solidFill>
                          <a:latin typeface="Arial"/>
                        </a:rPr>
                        <a:t>343 / 170</a:t>
                      </a:r>
                    </a:p>
                  </a:txBody>
                  <a:tcPr marL="54864" marR="54864" marT="18288" marB="18288" anchor="ctr">
                    <a:solidFill>
                      <a:srgbClr val="F3F5F9"/>
                    </a:solidFill>
                  </a:tcPr>
                </a:tc>
                <a:tc>
                  <a:txBody>
                    <a:bodyPr wrap="square"/>
                    <a:lstStyle/>
                    <a:p>
                      <a:pPr algn="l"/>
                      <a:r>
                        <a:rPr sz="1200" b="0" i="0">
                          <a:solidFill>
                            <a:srgbClr val="1F2A44"/>
                          </a:solidFill>
                          <a:latin typeface="Arial"/>
                        </a:rPr>
                        <a:t>87,935 / 2,071</a:t>
                      </a:r>
                    </a:p>
                  </a:txBody>
                  <a:tcPr marL="54864" marR="54864" marT="18288" marB="18288" anchor="ctr">
                    <a:solidFill>
                      <a:srgbClr val="F3F5F9"/>
                    </a:solidFill>
                  </a:tcPr>
                </a:tc>
                <a:tc>
                  <a:txBody>
                    <a:bodyPr wrap="square"/>
                    <a:lstStyle/>
                    <a:p>
                      <a:pPr algn="l"/>
                      <a:r>
                        <a:rPr sz="1200" b="0" i="0">
                          <a:solidFill>
                            <a:srgbClr val="1F2A44"/>
                          </a:solidFill>
                          <a:latin typeface="Arial"/>
                        </a:rPr>
                        <a:t>291,509 / 26,950</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cost, at those rates</a:t>
                      </a:r>
                    </a:p>
                  </a:txBody>
                  <a:tcPr marL="54864" marR="54864" marT="18288" marB="18288" anchor="ctr">
                    <a:solidFill>
                      <a:srgbClr val="FFFFFF"/>
                    </a:solidFill>
                  </a:tcPr>
                </a:tc>
                <a:tc>
                  <a:txBody>
                    <a:bodyPr wrap="square"/>
                    <a:lstStyle/>
                    <a:p>
                      <a:pPr algn="l"/>
                      <a:r>
                        <a:rPr sz="1200" b="0" i="0">
                          <a:solidFill>
                            <a:srgbClr val="1F2A44"/>
                          </a:solidFill>
                          <a:latin typeface="Arial"/>
                        </a:rPr>
                        <a:t>$0.00053</a:t>
                      </a:r>
                    </a:p>
                  </a:txBody>
                  <a:tcPr marL="54864" marR="54864" marT="18288" marB="18288" anchor="ctr">
                    <a:solidFill>
                      <a:srgbClr val="FFFFFF"/>
                    </a:solidFill>
                  </a:tcPr>
                </a:tc>
                <a:tc>
                  <a:txBody>
                    <a:bodyPr wrap="square"/>
                    <a:lstStyle/>
                    <a:p>
                      <a:pPr algn="l"/>
                      <a:r>
                        <a:rPr sz="1200" b="0" i="0">
                          <a:solidFill>
                            <a:srgbClr val="1F2A44"/>
                          </a:solidFill>
                          <a:latin typeface="Arial"/>
                        </a:rPr>
                        <a:t>$0.149</a:t>
                      </a:r>
                    </a:p>
                  </a:txBody>
                  <a:tcPr marL="54864" marR="54864" marT="18288" marB="18288" anchor="ctr">
                    <a:solidFill>
                      <a:srgbClr val="FFFFFF"/>
                    </a:solidFill>
                  </a:tcPr>
                </a:tc>
                <a:tc>
                  <a:txBody>
                    <a:bodyPr wrap="square"/>
                    <a:lstStyle/>
                    <a:p>
                      <a:pPr algn="l"/>
                      <a:r>
                        <a:rPr sz="1200" b="0" i="0">
                          <a:solidFill>
                            <a:srgbClr val="1F2A44"/>
                          </a:solidFill>
                          <a:latin typeface="Arial"/>
                        </a:rPr>
                        <a:t>$0.634</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LLM / tool calls</a:t>
                      </a:r>
                    </a:p>
                  </a:txBody>
                  <a:tcPr marL="54864" marR="54864" marT="18288" marB="18288" anchor="ctr">
                    <a:solidFill>
                      <a:srgbClr val="F3F5F9"/>
                    </a:solidFill>
                  </a:tcPr>
                </a:tc>
                <a:tc>
                  <a:txBody>
                    <a:bodyPr wrap="square"/>
                    <a:lstStyle/>
                    <a:p>
                      <a:pPr algn="l"/>
                      <a:r>
                        <a:rPr sz="1200" b="0" i="0">
                          <a:solidFill>
                            <a:srgbClr val="1F2A44"/>
                          </a:solidFill>
                          <a:latin typeface="Arial"/>
                        </a:rPr>
                        <a:t>1.1 / 1.1</a:t>
                      </a:r>
                    </a:p>
                  </a:txBody>
                  <a:tcPr marL="54864" marR="54864" marT="18288" marB="18288" anchor="ctr">
                    <a:solidFill>
                      <a:srgbClr val="F3F5F9"/>
                    </a:solidFill>
                  </a:tcPr>
                </a:tc>
                <a:tc>
                  <a:txBody>
                    <a:bodyPr wrap="square"/>
                    <a:lstStyle/>
                    <a:p>
                      <a:pPr algn="l"/>
                      <a:r>
                        <a:rPr sz="1200" b="0" i="0">
                          <a:solidFill>
                            <a:srgbClr val="1F2A44"/>
                          </a:solidFill>
                          <a:latin typeface="Arial"/>
                        </a:rPr>
                        <a:t>11.1 / 11.1</a:t>
                      </a:r>
                    </a:p>
                  </a:txBody>
                  <a:tcPr marL="54864" marR="54864" marT="18288" marB="18288" anchor="ctr">
                    <a:solidFill>
                      <a:srgbClr val="F3F5F9"/>
                    </a:solidFill>
                  </a:tcPr>
                </a:tc>
                <a:tc>
                  <a:txBody>
                    <a:bodyPr wrap="square"/>
                    <a:lstStyle/>
                    <a:p>
                      <a:pPr algn="l"/>
                      <a:r>
                        <a:rPr sz="1200" b="0" i="0">
                          <a:solidFill>
                            <a:srgbClr val="1F2A44"/>
                          </a:solidFill>
                          <a:latin typeface="Arial"/>
                        </a:rPr>
                        <a:t>30.2 / 14.9</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median / slowest task</a:t>
                      </a:r>
                    </a:p>
                  </a:txBody>
                  <a:tcPr marL="54864" marR="54864" marT="18288" marB="18288" anchor="ctr">
                    <a:solidFill>
                      <a:srgbClr val="FFFFFF"/>
                    </a:solidFill>
                  </a:tcPr>
                </a:tc>
                <a:tc>
                  <a:txBody>
                    <a:bodyPr wrap="square"/>
                    <a:lstStyle/>
                    <a:p>
                      <a:pPr algn="l"/>
                      <a:r>
                        <a:rPr sz="1200" b="0" i="0">
                          <a:solidFill>
                            <a:srgbClr val="1F2A44"/>
                          </a:solidFill>
                          <a:latin typeface="Arial"/>
                        </a:rPr>
                        <a:t>2.5 s / 15 s</a:t>
                      </a:r>
                    </a:p>
                  </a:txBody>
                  <a:tcPr marL="54864" marR="54864" marT="18288" marB="18288" anchor="ctr">
                    <a:solidFill>
                      <a:srgbClr val="FFFFFF"/>
                    </a:solidFill>
                  </a:tcPr>
                </a:tc>
                <a:tc>
                  <a:txBody>
                    <a:bodyPr wrap="square"/>
                    <a:lstStyle/>
                    <a:p>
                      <a:pPr algn="l"/>
                      <a:r>
                        <a:rPr sz="1200" b="0" i="0">
                          <a:solidFill>
                            <a:srgbClr val="1F2A44"/>
                          </a:solidFill>
                          <a:latin typeface="Arial"/>
                        </a:rPr>
                        <a:t>48 s / 75 s</a:t>
                      </a:r>
                    </a:p>
                  </a:txBody>
                  <a:tcPr marL="54864" marR="54864" marT="18288" marB="18288" anchor="ctr">
                    <a:solidFill>
                      <a:srgbClr val="FFFFFF"/>
                    </a:solidFill>
                  </a:tcPr>
                </a:tc>
                <a:tc>
                  <a:txBody>
                    <a:bodyPr wrap="square"/>
                    <a:lstStyle/>
                    <a:p>
                      <a:pPr algn="l"/>
                      <a:r>
                        <a:rPr sz="1200" b="0" i="0">
                          <a:solidFill>
                            <a:srgbClr val="1F2A44"/>
                          </a:solidFill>
                          <a:latin typeface="Arial"/>
                        </a:rPr>
                        <a:t>222 s / 591 s</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task pool</a:t>
                      </a:r>
                    </a:p>
                  </a:txBody>
                  <a:tcPr marL="54864" marR="54864" marT="18288" marB="18288" anchor="ctr">
                    <a:solidFill>
                      <a:srgbClr val="F3F5F9"/>
                    </a:solidFill>
                  </a:tcPr>
                </a:tc>
                <a:tc>
                  <a:txBody>
                    <a:bodyPr wrap="square"/>
                    <a:lstStyle/>
                    <a:p>
                      <a:pPr algn="l"/>
                      <a:r>
                        <a:rPr sz="1200" b="0" i="0">
                          <a:solidFill>
                            <a:srgbClr val="1F2A44"/>
                          </a:solidFill>
                          <a:latin typeface="Arial"/>
                        </a:rPr>
                        <a:t>1,319 (main/test)</a:t>
                      </a:r>
                    </a:p>
                  </a:txBody>
                  <a:tcPr marL="54864" marR="54864" marT="18288" marB="18288" anchor="ctr">
                    <a:solidFill>
                      <a:srgbClr val="F3F5F9"/>
                    </a:solidFill>
                  </a:tcPr>
                </a:tc>
                <a:tc>
                  <a:txBody>
                    <a:bodyPr wrap="square"/>
                    <a:lstStyle/>
                    <a:p>
                      <a:pPr algn="l"/>
                      <a:r>
                        <a:rPr sz="1200" b="0" i="0">
                          <a:solidFill>
                            <a:srgbClr val="1F2A44"/>
                          </a:solidFill>
                          <a:latin typeface="Arial"/>
                        </a:rPr>
                        <a:t>114 (retail)</a:t>
                      </a:r>
                    </a:p>
                  </a:txBody>
                  <a:tcPr marL="54864" marR="54864" marT="18288" marB="18288" anchor="ctr">
                    <a:solidFill>
                      <a:srgbClr val="F3F5F9"/>
                    </a:solidFill>
                  </a:tcPr>
                </a:tc>
                <a:tc>
                  <a:txBody>
                    <a:bodyPr wrap="square"/>
                    <a:lstStyle/>
                    <a:p>
                      <a:pPr algn="l"/>
                      <a:r>
                        <a:rPr sz="1200" b="0" i="0">
                          <a:solidFill>
                            <a:srgbClr val="1F2A44"/>
                          </a:solidFill>
                          <a:latin typeface="Arial"/>
                        </a:rPr>
                        <a:t>168 (test_normal)</a:t>
                      </a:r>
                    </a:p>
                  </a:txBody>
                  <a:tcPr marL="54864" marR="54864" marT="18288" marB="18288" anchor="ctr">
                    <a:solidFill>
                      <a:srgbClr val="F3F5F9"/>
                    </a:solidFill>
                  </a:tcPr>
                </a:tc>
              </a:tr>
            </a:tbl>
          </a:graphicData>
        </a:graphic>
      </p:graphicFrame>
      <p:sp>
        <p:nvSpPr>
          <p:cNvPr id="9" name="Rounded Rectangle 8"/>
          <p:cNvSpPr/>
          <p:nvPr/>
        </p:nvSpPr>
        <p:spPr>
          <a:xfrm>
            <a:off x="411480" y="5120640"/>
            <a:ext cx="11365992" cy="11430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Read the model row before any dollar figure</a:t>
            </a:r>
          </a:p>
          <a:p>
            <a:pPr algn="l">
              <a:spcAft>
                <a:spcPts val="200"/>
              </a:spcAft>
            </a:pPr>
            <a:r>
              <a:rPr sz="1200" b="0" i="0">
                <a:solidFill>
                  <a:srgbClr val="1F2A44"/>
                </a:solidFill>
                <a:latin typeface="Arial"/>
              </a:rPr>
              <a:t>The rungs do not run the same model, so no cost here transfers to another one. A tau2 task is ~256× a gsm8k task's input tokens and 282× its dollars; appworld ~850× and 1,195×. Budget by benchmark, not by task count.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each benchmark stresses, and what a result from it tells you</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Why all three are in the matrix</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17</a:t>
            </a:r>
          </a:p>
        </p:txBody>
      </p:sp>
      <p:sp>
        <p:nvSpPr>
          <p:cNvPr id="8" name="Rounded Rectangle 7"/>
          <p:cNvSpPr/>
          <p:nvPr/>
        </p:nvSpPr>
        <p:spPr>
          <a:xfrm>
            <a:off x="41148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gsm8k: the canary</a:t>
            </a:r>
          </a:p>
          <a:p>
            <a:pPr algn="l" marL="148590" indent="-148590">
              <a:spcAft>
                <a:spcPts val="300"/>
              </a:spcAft>
              <a:buChar char="•"/>
            </a:pPr>
            <a:r>
              <a:rPr sz="1300" b="0" i="0">
                <a:solidFill>
                  <a:srgbClr val="1F2A44"/>
                </a:solidFill>
                <a:latin typeface="Arial"/>
              </a:rPr>
              <a:t>One prompt in, one answer out: ~1 LLM call and 1 tool call</a:t>
            </a:r>
          </a:p>
          <a:p>
            <a:pPr algn="l" marL="148590" indent="-148590">
              <a:spcAft>
                <a:spcPts val="300"/>
              </a:spcAft>
              <a:buChar char="•"/>
            </a:pPr>
            <a:r>
              <a:rPr sz="1300" b="0" i="0">
                <a:solidFill>
                  <a:srgbClr val="1F2A44"/>
                </a:solidFill>
                <a:latin typeface="Arial"/>
              </a:rPr>
              <a:t>A failure means infrastructure: deploy, auth, LLM reach, telemetry</a:t>
            </a:r>
          </a:p>
          <a:p>
            <a:pPr algn="l" marL="148590" indent="-148590">
              <a:spcAft>
                <a:spcPts val="300"/>
              </a:spcAft>
              <a:buChar char="•"/>
            </a:pPr>
            <a:r>
              <a:rPr sz="1300" b="0" i="0">
                <a:solidFill>
                  <a:srgbClr val="1F2A44"/>
                </a:solidFill>
                <a:latin typeface="Arial"/>
              </a:rPr>
              <a:t>Saturates near 1.0, so it cannot rank models</a:t>
            </a:r>
          </a:p>
          <a:p>
            <a:pPr algn="l" marL="148590" indent="-148590">
              <a:spcAft>
                <a:spcPts val="300"/>
              </a:spcAft>
              <a:buChar char="•"/>
            </a:pPr>
            <a:r>
              <a:rPr sz="1300" b="0" i="0">
                <a:solidFill>
                  <a:srgbClr val="1F2A44"/>
                </a:solidFill>
                <a:latin typeface="Arial"/>
              </a:rPr>
              <a:t>Task 0 costs 320 input tokens on every cluster: proof two environments compare</a:t>
            </a:r>
          </a:p>
          <a:p>
            <a:pPr algn="l" marL="148590" indent="-148590">
              <a:spcAft>
                <a:spcPts val="300"/>
              </a:spcAft>
              <a:buChar char="•"/>
            </a:pPr>
            <a:r>
              <a:rPr sz="1300" b="0" i="0">
                <a:solidFill>
                  <a:srgbClr val="1F2A44"/>
                </a:solidFill>
                <a:latin typeface="Arial"/>
              </a:rPr>
              <a:t>A 50-task leg is ~24 K tokens, less than one appworld task</a:t>
            </a:r>
          </a:p>
        </p:txBody>
      </p:sp>
      <p:sp>
        <p:nvSpPr>
          <p:cNvPr id="9" name="Rounded Rectangle 8"/>
          <p:cNvSpPr/>
          <p:nvPr/>
        </p:nvSpPr>
        <p:spPr>
          <a:xfrm>
            <a:off x="425196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tau2: the discriminator</a:t>
            </a:r>
          </a:p>
          <a:p>
            <a:pPr algn="l" marL="148590" indent="-148590">
              <a:spcAft>
                <a:spcPts val="300"/>
              </a:spcAft>
              <a:buChar char="•"/>
            </a:pPr>
            <a:r>
              <a:rPr sz="1300" b="0" i="0">
                <a:solidFill>
                  <a:srgbClr val="1F2A44"/>
                </a:solidFill>
                <a:latin typeface="Arial"/>
              </a:rPr>
              <a:t>A server-side user-simulator LLM plays the customer; ~11 tool calls</a:t>
            </a:r>
          </a:p>
          <a:p>
            <a:pPr algn="l" marL="148590" indent="-148590">
              <a:spcAft>
                <a:spcPts val="300"/>
              </a:spcAft>
              <a:buChar char="•"/>
            </a:pPr>
            <a:r>
              <a:rPr sz="1300" b="0" i="0">
                <a:solidFill>
                  <a:srgbClr val="1F2A44"/>
                </a:solidFill>
                <a:latin typeface="Arial"/>
              </a:rPr>
              <a:t>Retail domain (114 tasks), the library default, recorded nowhere</a:t>
            </a:r>
          </a:p>
          <a:p>
            <a:pPr algn="l" marL="148590" indent="-148590">
              <a:spcAft>
                <a:spcPts val="300"/>
              </a:spcAft>
              <a:buChar char="•"/>
            </a:pPr>
            <a:r>
              <a:rPr sz="1300" b="0" i="0">
                <a:solidFill>
                  <a:srgbClr val="1F2A44"/>
                </a:solidFill>
                <a:latin typeface="Arial"/>
              </a:rPr>
              <a:t>Model choice dominates: 0.1 on gpt-5-mini, 0.9 on claude-sonnet-5, same 10 tasks</a:t>
            </a:r>
          </a:p>
          <a:p>
            <a:pPr algn="l" marL="148590" indent="-148590">
              <a:spcAft>
                <a:spcPts val="300"/>
              </a:spcAft>
              <a:buChar char="•"/>
            </a:pPr>
            <a:r>
              <a:rPr sz="1300" b="0" i="0">
                <a:solidFill>
                  <a:srgbClr val="1F2A44"/>
                </a:solidFill>
                <a:latin typeface="Arial"/>
              </a:rPr>
              <a:t>Nondeterministic: the same 10 tasks scored 0.90 and 1.00 on two clusters</a:t>
            </a:r>
          </a:p>
          <a:p>
            <a:pPr algn="l" marL="148590" indent="-148590">
              <a:spcAft>
                <a:spcPts val="300"/>
              </a:spcAft>
              <a:buChar char="•"/>
            </a:pPr>
            <a:r>
              <a:rPr sz="1300" b="0" i="0">
                <a:solidFill>
                  <a:srgbClr val="1F2A44"/>
                </a:solidFill>
                <a:latin typeface="Arial"/>
              </a:rPr>
              <a:t>22% of wall time is the simulator, whose tokens no report of ours sees</a:t>
            </a:r>
          </a:p>
        </p:txBody>
      </p:sp>
      <p:sp>
        <p:nvSpPr>
          <p:cNvPr id="10" name="Rounded Rectangle 9"/>
          <p:cNvSpPr/>
          <p:nvPr/>
        </p:nvSpPr>
        <p:spPr>
          <a:xfrm>
            <a:off x="809244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appworld: the stress test</a:t>
            </a:r>
          </a:p>
          <a:p>
            <a:pPr algn="l" marL="148590" indent="-148590">
              <a:spcAft>
                <a:spcPts val="300"/>
              </a:spcAft>
              <a:buChar char="•"/>
            </a:pPr>
            <a:r>
              <a:rPr sz="1300" b="0" i="0">
                <a:solidFill>
                  <a:srgbClr val="1F2A44"/>
                </a:solidFill>
                <a:latin typeface="Arial"/>
              </a:rPr>
              <a:t>Chores across simulated apps: ~30 LLM calls, ~15 tool calls, ~290 K input</a:t>
            </a:r>
          </a:p>
          <a:p>
            <a:pPr algn="l" marL="148590" indent="-148590">
              <a:spcAft>
                <a:spcPts val="300"/>
              </a:spcAft>
              <a:buChar char="•"/>
            </a:pPr>
            <a:r>
              <a:rPr sz="1300" b="0" i="0">
                <a:solidFill>
                  <a:srgbClr val="1F2A44"/>
                </a:solidFill>
                <a:latin typeface="Arial"/>
              </a:rPr>
              <a:t>Graded by programmatic tests over the final app state, no LLM judge</a:t>
            </a:r>
          </a:p>
          <a:p>
            <a:pPr algn="l" marL="148590" indent="-148590">
              <a:spcAft>
                <a:spcPts val="300"/>
              </a:spcAft>
              <a:buChar char="•"/>
            </a:pPr>
            <a:r>
              <a:rPr sz="1300" b="0" i="0">
                <a:solidFill>
                  <a:srgbClr val="1F2A44"/>
                </a:solidFill>
                <a:latin typeface="Arial"/>
              </a:rPr>
              <a:t>0.00 is honest: runs complete and tokens record; the job is not done</a:t>
            </a:r>
          </a:p>
          <a:p>
            <a:pPr algn="l" marL="148590" indent="-148590">
              <a:spcAft>
                <a:spcPts val="300"/>
              </a:spcAft>
              <a:buChar char="•"/>
            </a:pPr>
            <a:r>
              <a:rPr sz="1300" b="0" i="0">
                <a:solidFill>
                  <a:srgbClr val="1F2A44"/>
                </a:solidFill>
                <a:latin typeface="Arial"/>
              </a:rPr>
              <a:t>41 of 49 tasks call </a:t>
            </a:r>
            <a:r>
              <a:rPr sz="1300" b="0" i="0">
                <a:solidFill>
                  <a:srgbClr val="1F2A44"/>
                </a:solidFill>
                <a:latin typeface="Consolas"/>
              </a:rPr>
              <a:t>finish</a:t>
            </a:r>
            <a:r>
              <a:rPr sz="1300" b="0" i="0">
                <a:solidFill>
                  <a:srgbClr val="1F2A44"/>
                </a:solidFill>
                <a:latin typeface="Arial"/>
              </a:rPr>
              <a:t>; the assertions disagree</a:t>
            </a:r>
          </a:p>
          <a:p>
            <a:pPr algn="l" marL="148590" indent="-148590">
              <a:spcAft>
                <a:spcPts val="300"/>
              </a:spcAft>
              <a:buChar char="•"/>
            </a:pPr>
            <a:r>
              <a:rPr sz="1300" b="0" i="0">
                <a:solidFill>
                  <a:srgbClr val="1F2A44"/>
                </a:solidFill>
                <a:latin typeface="Arial"/>
              </a:rPr>
              <a:t>Tool shortlisting: two model calls per tool call, 67% of the input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They differ in the shape of a task, not just its size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a task is, how it ends, and what a result from it is worth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18</a:t>
            </a:r>
          </a:p>
        </p:txBody>
      </p:sp>
      <p:graphicFrame>
        <p:nvGraphicFramePr>
          <p:cNvPr id="8" name="Table 7"/>
          <p:cNvGraphicFramePr>
            <a:graphicFrameLocks noGrp="1"/>
          </p:cNvGraphicFramePr>
          <p:nvPr/>
        </p:nvGraphicFramePr>
        <p:xfrm>
          <a:off x="411480" y="1325880"/>
          <a:ext cx="11365989" cy="4389120"/>
        </p:xfrm>
        <a:graphic>
          <a:graphicData uri="http://schemas.openxmlformats.org/drawingml/2006/table">
            <a:tbl>
              <a:tblPr firstRow="0" bandRow="0">
                <a:tableStyleId>{5C22544A-7EE6-4342-B048-85BDC9FD1C3A}</a:tableStyleId>
              </a:tblPr>
              <a:tblGrid>
                <a:gridCol w="1741563"/>
                <a:gridCol w="3208142"/>
                <a:gridCol w="3208142"/>
                <a:gridCol w="3208142"/>
              </a:tblGrid>
              <a:tr h="548640">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gsm8k</a:t>
                      </a:r>
                    </a:p>
                  </a:txBody>
                  <a:tcPr marL="54864" marR="54864" marT="18288" marB="18288" anchor="ctr">
                    <a:solidFill>
                      <a:srgbClr val="1F2A44"/>
                    </a:solidFill>
                  </a:tcPr>
                </a:tc>
                <a:tc>
                  <a:txBody>
                    <a:bodyPr wrap="square"/>
                    <a:lstStyle/>
                    <a:p>
                      <a:pPr algn="l"/>
                      <a:r>
                        <a:rPr sz="1200" b="1" i="0">
                          <a:solidFill>
                            <a:srgbClr val="FFFFFF"/>
                          </a:solidFill>
                          <a:latin typeface="Arial"/>
                        </a:rPr>
                        <a:t>tau2</a:t>
                      </a:r>
                    </a:p>
                  </a:txBody>
                  <a:tcPr marL="54864" marR="54864" marT="18288" marB="18288" anchor="ctr">
                    <a:solidFill>
                      <a:srgbClr val="1F2A44"/>
                    </a:solidFill>
                  </a:tcPr>
                </a:tc>
                <a:tc>
                  <a:txBody>
                    <a:bodyPr wrap="square"/>
                    <a:lstStyle/>
                    <a:p>
                      <a:pPr algn="l"/>
                      <a:r>
                        <a:rPr sz="1200" b="1" i="0">
                          <a:solidFill>
                            <a:srgbClr val="FFFFFF"/>
                          </a:solidFill>
                          <a:latin typeface="Arial"/>
                        </a:rPr>
                        <a:t>appworld</a:t>
                      </a:r>
                    </a:p>
                  </a:txBody>
                  <a:tcPr marL="54864" marR="54864" marT="18288" marB="18288" anchor="ctr">
                    <a:solidFill>
                      <a:srgbClr val="1F2A44"/>
                    </a:solidFill>
                  </a:tcPr>
                </a:tc>
              </a:tr>
              <a:tr h="548640">
                <a:tc>
                  <a:txBody>
                    <a:bodyPr wrap="square"/>
                    <a:lstStyle/>
                    <a:p>
                      <a:pPr algn="l"/>
                      <a:r>
                        <a:rPr sz="1200" b="1" i="0">
                          <a:solidFill>
                            <a:srgbClr val="1F2A44"/>
                          </a:solidFill>
                          <a:latin typeface="Arial"/>
                        </a:rPr>
                        <a:t>a task is</a:t>
                      </a:r>
                    </a:p>
                  </a:txBody>
                  <a:tcPr marL="54864" marR="54864" marT="18288" marB="18288" anchor="ctr">
                    <a:solidFill>
                      <a:srgbClr val="FFFFFF"/>
                    </a:solidFill>
                  </a:tcPr>
                </a:tc>
                <a:tc>
                  <a:txBody>
                    <a:bodyPr wrap="square"/>
                    <a:lstStyle/>
                    <a:p>
                      <a:pPr algn="l"/>
                      <a:r>
                        <a:rPr sz="1200" b="0" i="0">
                          <a:solidFill>
                            <a:srgbClr val="1F2A44"/>
                          </a:solidFill>
                          <a:latin typeface="Arial"/>
                        </a:rPr>
                        <a:t>one grade-school word problem, answered in text</a:t>
                      </a:r>
                    </a:p>
                  </a:txBody>
                  <a:tcPr marL="54864" marR="54864" marT="18288" marB="18288" anchor="ctr">
                    <a:solidFill>
                      <a:srgbClr val="FFFFFF"/>
                    </a:solidFill>
                  </a:tcPr>
                </a:tc>
                <a:tc>
                  <a:txBody>
                    <a:bodyPr wrap="square"/>
                    <a:lstStyle/>
                    <a:p>
                      <a:pPr algn="l"/>
                      <a:r>
                        <a:rPr sz="1200" b="0" i="0">
                          <a:solidFill>
                            <a:srgbClr val="1F2A44"/>
                          </a:solidFill>
                          <a:latin typeface="Arial"/>
                        </a:rPr>
                        <a:t>one retail customer-service conversation with a simulated user</a:t>
                      </a:r>
                    </a:p>
                  </a:txBody>
                  <a:tcPr marL="54864" marR="54864" marT="18288" marB="18288" anchor="ctr">
                    <a:solidFill>
                      <a:srgbClr val="FFFFFF"/>
                    </a:solidFill>
                  </a:tcPr>
                </a:tc>
                <a:tc>
                  <a:txBody>
                    <a:bodyPr wrap="square"/>
                    <a:lstStyle/>
                    <a:p>
                      <a:pPr algn="l"/>
                      <a:r>
                        <a:rPr sz="1200" b="0" i="0">
                          <a:solidFill>
                            <a:srgbClr val="1F2A44"/>
                          </a:solidFill>
                          <a:latin typeface="Arial"/>
                        </a:rPr>
                        <a:t>one multi-app scenario automated through an API surface</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turns</a:t>
                      </a:r>
                    </a:p>
                  </a:txBody>
                  <a:tcPr marL="54864" marR="54864" marT="18288" marB="18288" anchor="ctr">
                    <a:solidFill>
                      <a:srgbClr val="F3F5F9"/>
                    </a:solidFill>
                  </a:tcPr>
                </a:tc>
                <a:tc>
                  <a:txBody>
                    <a:bodyPr wrap="square"/>
                    <a:lstStyle/>
                    <a:p>
                      <a:pPr algn="l"/>
                      <a:r>
                        <a:rPr sz="1200" b="0" i="0">
                          <a:solidFill>
                            <a:srgbClr val="1F2A44"/>
                          </a:solidFill>
                          <a:latin typeface="Arial"/>
                        </a:rPr>
                        <a:t>1 model call, ~1 tool call</a:t>
                      </a:r>
                    </a:p>
                  </a:txBody>
                  <a:tcPr marL="54864" marR="54864" marT="18288" marB="18288" anchor="ctr">
                    <a:solidFill>
                      <a:srgbClr val="F3F5F9"/>
                    </a:solidFill>
                  </a:tcPr>
                </a:tc>
                <a:tc>
                  <a:txBody>
                    <a:bodyPr wrap="square"/>
                    <a:lstStyle/>
                    <a:p>
                      <a:pPr algn="l"/>
                      <a:r>
                        <a:rPr sz="1200" b="0" i="0">
                          <a:solidFill>
                            <a:srgbClr val="1F2A44"/>
                          </a:solidFill>
                          <a:latin typeface="Arial"/>
                        </a:rPr>
                        <a:t>~11 calls alternating with the simulator</a:t>
                      </a:r>
                    </a:p>
                  </a:txBody>
                  <a:tcPr marL="54864" marR="54864" marT="18288" marB="18288" anchor="ctr">
                    <a:solidFill>
                      <a:srgbClr val="F3F5F9"/>
                    </a:solidFill>
                  </a:tcPr>
                </a:tc>
                <a:tc>
                  <a:txBody>
                    <a:bodyPr wrap="square"/>
                    <a:lstStyle/>
                    <a:p>
                      <a:pPr algn="l"/>
                      <a:r>
                        <a:rPr sz="1200" b="0" i="0">
                          <a:solidFill>
                            <a:srgbClr val="1F2A44"/>
                          </a:solidFill>
                          <a:latin typeface="Arial"/>
                        </a:rPr>
                        <a:t>~30 calls, each re-sending the whole conversation</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ends when</a:t>
                      </a:r>
                    </a:p>
                  </a:txBody>
                  <a:tcPr marL="54864" marR="54864" marT="18288" marB="18288" anchor="ctr">
                    <a:solidFill>
                      <a:srgbClr val="FFFFFF"/>
                    </a:solidFill>
                  </a:tcPr>
                </a:tc>
                <a:tc>
                  <a:txBody>
                    <a:bodyPr wrap="square"/>
                    <a:lstStyle/>
                    <a:p>
                      <a:pPr algn="l"/>
                      <a:r>
                        <a:rPr sz="1200" b="0" i="0">
                          <a:solidFill>
                            <a:srgbClr val="1F2A44"/>
                          </a:solidFill>
                          <a:latin typeface="Arial"/>
                        </a:rPr>
                        <a:t>the answer is emitted</a:t>
                      </a:r>
                    </a:p>
                  </a:txBody>
                  <a:tcPr marL="54864" marR="54864" marT="18288" marB="18288" anchor="ctr">
                    <a:solidFill>
                      <a:srgbClr val="FFFFFF"/>
                    </a:solidFill>
                  </a:tcPr>
                </a:tc>
                <a:tc>
                  <a:txBody>
                    <a:bodyPr wrap="square"/>
                    <a:lstStyle/>
                    <a:p>
                      <a:pPr algn="l"/>
                      <a:r>
                        <a:rPr sz="1200" b="0" i="0">
                          <a:solidFill>
                            <a:srgbClr val="1F2A44"/>
                          </a:solidFill>
                          <a:latin typeface="Arial"/>
                        </a:rPr>
                        <a:t>the dialogue resolves, or policy is violated</a:t>
                      </a:r>
                    </a:p>
                  </a:txBody>
                  <a:tcPr marL="54864" marR="54864" marT="18288" marB="18288" anchor="ctr">
                    <a:solidFill>
                      <a:srgbClr val="FFFFFF"/>
                    </a:solidFill>
                  </a:tcPr>
                </a:tc>
                <a:tc>
                  <a:txBody>
                    <a:bodyPr wrap="square"/>
                    <a:lstStyle/>
                    <a:p>
                      <a:pPr algn="l"/>
                      <a:r>
                        <a:rPr sz="1200" b="0" i="0">
                          <a:solidFill>
                            <a:srgbClr val="1F2A44"/>
                          </a:solidFill>
                          <a:latin typeface="Arial"/>
                        </a:rPr>
                        <a:t>the goal state is reached, or the 600 s timeout kills it</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scored by</a:t>
                      </a:r>
                    </a:p>
                  </a:txBody>
                  <a:tcPr marL="54864" marR="54864" marT="18288" marB="18288" anchor="ctr">
                    <a:solidFill>
                      <a:srgbClr val="F3F5F9"/>
                    </a:solidFill>
                  </a:tcPr>
                </a:tc>
                <a:tc>
                  <a:txBody>
                    <a:bodyPr wrap="square"/>
                    <a:lstStyle/>
                    <a:p>
                      <a:pPr algn="l"/>
                      <a:r>
                        <a:rPr sz="1200" b="0" i="0">
                          <a:solidFill>
                            <a:srgbClr val="1F2A44"/>
                          </a:solidFill>
                          <a:latin typeface="Arial"/>
                        </a:rPr>
                        <a:t>exact numeric match</a:t>
                      </a:r>
                    </a:p>
                  </a:txBody>
                  <a:tcPr marL="54864" marR="54864" marT="18288" marB="18288" anchor="ctr">
                    <a:solidFill>
                      <a:srgbClr val="F3F5F9"/>
                    </a:solidFill>
                  </a:tcPr>
                </a:tc>
                <a:tc>
                  <a:txBody>
                    <a:bodyPr wrap="square"/>
                    <a:lstStyle/>
                    <a:p>
                      <a:pPr algn="l"/>
                      <a:r>
                        <a:rPr sz="1200" b="0" i="0">
                          <a:solidFill>
                            <a:srgbClr val="1F2A44"/>
                          </a:solidFill>
                          <a:latin typeface="Arial"/>
                        </a:rPr>
                        <a:t>completion and policy compliance</a:t>
                      </a:r>
                    </a:p>
                  </a:txBody>
                  <a:tcPr marL="54864" marR="54864" marT="18288" marB="18288" anchor="ctr">
                    <a:solidFill>
                      <a:srgbClr val="F3F5F9"/>
                    </a:solidFill>
                  </a:tcPr>
                </a:tc>
                <a:tc>
                  <a:txBody>
                    <a:bodyPr wrap="square"/>
                    <a:lstStyle/>
                    <a:p>
                      <a:pPr algn="l"/>
                      <a:r>
                        <a:rPr sz="1200" b="0" i="0">
                          <a:solidFill>
                            <a:srgbClr val="1F2A44"/>
                          </a:solidFill>
                          <a:latin typeface="Arial"/>
                        </a:rPr>
                        <a:t>appworld's state assertions, all or nothing</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it tests</a:t>
                      </a:r>
                    </a:p>
                  </a:txBody>
                  <a:tcPr marL="54864" marR="54864" marT="18288" marB="18288" anchor="ctr">
                    <a:solidFill>
                      <a:srgbClr val="FFFFFF"/>
                    </a:solidFill>
                  </a:tcPr>
                </a:tc>
                <a:tc>
                  <a:txBody>
                    <a:bodyPr wrap="square"/>
                    <a:lstStyle/>
                    <a:p>
                      <a:pPr algn="l"/>
                      <a:r>
                        <a:rPr sz="1200" b="0" i="0">
                          <a:solidFill>
                            <a:srgbClr val="1F2A44"/>
                          </a:solidFill>
                          <a:latin typeface="Arial"/>
                        </a:rPr>
                        <a:t>that the plumbing works</a:t>
                      </a:r>
                    </a:p>
                  </a:txBody>
                  <a:tcPr marL="54864" marR="54864" marT="18288" marB="18288" anchor="ctr">
                    <a:solidFill>
                      <a:srgbClr val="FFFFFF"/>
                    </a:solidFill>
                  </a:tcPr>
                </a:tc>
                <a:tc>
                  <a:txBody>
                    <a:bodyPr wrap="square"/>
                    <a:lstStyle/>
                    <a:p>
                      <a:pPr algn="l"/>
                      <a:r>
                        <a:rPr sz="1200" b="0" i="0">
                          <a:solidFill>
                            <a:srgbClr val="1F2A44"/>
                          </a:solidFill>
                          <a:latin typeface="Arial"/>
                        </a:rPr>
                        <a:t>that the agent holds state and uses tools under a policy</a:t>
                      </a:r>
                    </a:p>
                  </a:txBody>
                  <a:tcPr marL="54864" marR="54864" marT="18288" marB="18288" anchor="ctr">
                    <a:solidFill>
                      <a:srgbClr val="FFFFFF"/>
                    </a:solidFill>
                  </a:tcPr>
                </a:tc>
                <a:tc>
                  <a:txBody>
                    <a:bodyPr wrap="square"/>
                    <a:lstStyle/>
                    <a:p>
                      <a:pPr algn="l"/>
                      <a:r>
                        <a:rPr sz="1200" b="0" i="0">
                          <a:solidFill>
                            <a:srgbClr val="1F2A44"/>
                          </a:solidFill>
                          <a:latin typeface="Arial"/>
                        </a:rPr>
                        <a:t>that the agent survives long horizons</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a result is worth</a:t>
                      </a:r>
                    </a:p>
                  </a:txBody>
                  <a:tcPr marL="54864" marR="54864" marT="18288" marB="18288" anchor="ctr">
                    <a:solidFill>
                      <a:srgbClr val="F3F5F9"/>
                    </a:solidFill>
                  </a:tcPr>
                </a:tc>
                <a:tc>
                  <a:txBody>
                    <a:bodyPr wrap="square"/>
                    <a:lstStyle/>
                    <a:p>
                      <a:pPr algn="l"/>
                      <a:r>
                        <a:rPr sz="1200" b="0" i="0">
                          <a:solidFill>
                            <a:srgbClr val="1F2A44"/>
                          </a:solidFill>
                          <a:latin typeface="Arial"/>
                        </a:rPr>
                        <a:t>a go/no-go on infrastructure</a:t>
                      </a:r>
                    </a:p>
                  </a:txBody>
                  <a:tcPr marL="54864" marR="54864" marT="18288" marB="18288" anchor="ctr">
                    <a:solidFill>
                      <a:srgbClr val="F3F5F9"/>
                    </a:solidFill>
                  </a:tcPr>
                </a:tc>
                <a:tc>
                  <a:txBody>
                    <a:bodyPr wrap="square"/>
                    <a:lstStyle/>
                    <a:p>
                      <a:pPr algn="l"/>
                      <a:r>
                        <a:rPr sz="1200" b="0" i="0">
                          <a:solidFill>
                            <a:srgbClr val="1F2A44"/>
                          </a:solidFill>
                          <a:latin typeface="Arial"/>
                        </a:rPr>
                        <a:t>a real model comparison, with headroom both ways</a:t>
                      </a:r>
                    </a:p>
                  </a:txBody>
                  <a:tcPr marL="54864" marR="54864" marT="18288" marB="18288" anchor="ctr">
                    <a:solidFill>
                      <a:srgbClr val="F3F5F9"/>
                    </a:solidFill>
                  </a:tcPr>
                </a:tc>
                <a:tc>
                  <a:txBody>
                    <a:bodyPr wrap="square"/>
                    <a:lstStyle/>
                    <a:p>
                      <a:pPr algn="l"/>
                      <a:r>
                        <a:rPr sz="1200" b="0" i="0">
                          <a:solidFill>
                            <a:srgbClr val="1F2A44"/>
                          </a:solidFill>
                          <a:latin typeface="Arial"/>
                        </a:rPr>
                        <a:t>a stress signal: what breaks, not who is better</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watch out for</a:t>
                      </a:r>
                    </a:p>
                  </a:txBody>
                  <a:tcPr marL="54864" marR="54864" marT="18288" marB="18288" anchor="ctr">
                    <a:solidFill>
                      <a:srgbClr val="FFFFFF"/>
                    </a:solidFill>
                  </a:tcPr>
                </a:tc>
                <a:tc>
                  <a:txBody>
                    <a:bodyPr wrap="square"/>
                    <a:lstStyle/>
                    <a:p>
                      <a:pPr algn="l"/>
                      <a:r>
                        <a:rPr sz="1200" b="0" i="0">
                          <a:solidFill>
                            <a:srgbClr val="1F2A44"/>
                          </a:solidFill>
                          <a:latin typeface="Arial"/>
                        </a:rPr>
                        <a:t>1.0 proves nothing about the agent</a:t>
                      </a:r>
                    </a:p>
                  </a:txBody>
                  <a:tcPr marL="54864" marR="54864" marT="18288" marB="18288" anchor="ctr">
                    <a:solidFill>
                      <a:srgbClr val="FFFFFF"/>
                    </a:solidFill>
                  </a:tcPr>
                </a:tc>
                <a:tc>
                  <a:txBody>
                    <a:bodyPr wrap="square"/>
                    <a:lstStyle/>
                    <a:p>
                      <a:pPr algn="l"/>
                      <a:r>
                        <a:rPr sz="1200" b="0" i="0">
                          <a:solidFill>
                            <a:srgbClr val="1F2A44"/>
                          </a:solidFill>
                          <a:latin typeface="Arial"/>
                        </a:rPr>
                        <a:t>the simulator is billed but not in our telemetry</a:t>
                      </a:r>
                    </a:p>
                  </a:txBody>
                  <a:tcPr marL="54864" marR="54864" marT="18288" marB="18288" anchor="ctr">
                    <a:solidFill>
                      <a:srgbClr val="FFFFFF"/>
                    </a:solidFill>
                  </a:tcPr>
                </a:tc>
                <a:tc>
                  <a:txBody>
                    <a:bodyPr wrap="square"/>
                    <a:lstStyle/>
                    <a:p>
                      <a:pPr algn="l"/>
                      <a:r>
                        <a:rPr sz="1200" b="0" i="0">
                          <a:solidFill>
                            <a:srgbClr val="1F2A44"/>
                          </a:solidFill>
                          <a:latin typeface="Arial"/>
                        </a:rPr>
                        <a:t>a killed task leaves no report row</a:t>
                      </a:r>
                    </a:p>
                  </a:txBody>
                  <a:tcPr marL="54864" marR="54864" marT="18288" marB="18288"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Five things that mislead in reading the numbers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Every one of these cost us a wrong conclusion first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19</a:t>
            </a:r>
          </a:p>
        </p:txBody>
      </p:sp>
      <p:sp>
        <p:nvSpPr>
          <p:cNvPr id="8" name="Rounded Rectangle 7"/>
          <p:cNvSpPr/>
          <p:nvPr/>
        </p:nvSpPr>
        <p:spPr>
          <a:xfrm>
            <a:off x="411480" y="1325880"/>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1  </a:t>
            </a:r>
            <a:r>
              <a:rPr sz="1300" b="1" i="0">
                <a:solidFill>
                  <a:srgbClr val="1F2A44"/>
                </a:solidFill>
                <a:latin typeface="Consolas"/>
              </a:rPr>
              <a:t>pass_rate</a:t>
            </a:r>
            <a:r>
              <a:rPr sz="1300" b="1" i="0">
                <a:solidFill>
                  <a:srgbClr val="1F2A44"/>
                </a:solidFill>
                <a:latin typeface="Arial"/>
              </a:rPr>
              <a:t> = evaluated passes / total</a:t>
            </a:r>
          </a:p>
          <a:p>
            <a:pPr algn="l">
              <a:spcAft>
                <a:spcPts val="200"/>
              </a:spcAft>
            </a:pPr>
            <a:r>
              <a:rPr sz="1200" b="0" i="0">
                <a:solidFill>
                  <a:srgbClr val="1F2A44"/>
                </a:solidFill>
                <a:latin typeface="Arial"/>
              </a:rPr>
              <a:t>A task that errors before evaluation counts as not passed: check the error column.</a:t>
            </a:r>
          </a:p>
        </p:txBody>
      </p:sp>
      <p:sp>
        <p:nvSpPr>
          <p:cNvPr id="9" name="Rounded Rectangle 8"/>
          <p:cNvSpPr/>
          <p:nvPr/>
        </p:nvSpPr>
        <p:spPr>
          <a:xfrm>
            <a:off x="411480" y="2313432"/>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2  The </a:t>
            </a:r>
            <a:r>
              <a:rPr sz="1300" b="1" i="0">
                <a:solidFill>
                  <a:srgbClr val="1F2A44"/>
                </a:solidFill>
                <a:latin typeface="Consolas"/>
              </a:rPr>
              <a:t>llm</a:t>
            </a:r>
            <a:r>
              <a:rPr sz="1300" b="1" i="0">
                <a:solidFill>
                  <a:srgbClr val="1F2A44"/>
                </a:solidFill>
                <a:latin typeface="Arial"/>
              </a:rPr>
              <a:t> column changed meaning between agent versions</a:t>
            </a:r>
          </a:p>
          <a:p>
            <a:pPr algn="l">
              <a:spcAft>
                <a:spcPts val="200"/>
              </a:spcAft>
            </a:pPr>
            <a:r>
              <a:rPr sz="1200" b="0" i="0">
                <a:solidFill>
                  <a:srgbClr val="1F2A44"/>
                </a:solidFill>
                <a:latin typeface="Arial"/>
              </a:rPr>
              <a:t>Agents up to exgentic 0.3.5.dev131 sent a counted probe; the current one sends none (absent across all 2,338 chat spans). Never compare across it.</a:t>
            </a:r>
          </a:p>
        </p:txBody>
      </p:sp>
      <p:sp>
        <p:nvSpPr>
          <p:cNvPr id="10" name="Rounded Rectangle 9"/>
          <p:cNvSpPr/>
          <p:nvPr/>
        </p:nvSpPr>
        <p:spPr>
          <a:xfrm>
            <a:off x="411480" y="3300984"/>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3  Tiny tokens are lost telemetry, and </a:t>
            </a:r>
            <a:r>
              <a:rPr sz="1300" b="1" i="0">
                <a:solidFill>
                  <a:srgbClr val="1F2A44"/>
                </a:solidFill>
                <a:latin typeface="Consolas"/>
              </a:rPr>
              <a:t>tokens == 0</a:t>
            </a:r>
            <a:r>
              <a:rPr sz="1300" b="1" i="0">
                <a:solidFill>
                  <a:srgbClr val="1F2A44"/>
                </a:solidFill>
                <a:latin typeface="Arial"/>
              </a:rPr>
              <a:t> will not catch it</a:t>
            </a:r>
          </a:p>
          <a:p>
            <a:pPr algn="l">
              <a:spcAft>
                <a:spcPts val="200"/>
              </a:spcAft>
            </a:pPr>
            <a:r>
              <a:rPr sz="1200" b="0" i="0">
                <a:solidFill>
                  <a:srgbClr val="1F2A44"/>
                </a:solidFill>
                <a:latin typeface="Arial"/>
              </a:rPr>
              <a:t>Use the structural test: </a:t>
            </a:r>
            <a:r>
              <a:rPr sz="1200" b="0" i="0">
                <a:solidFill>
                  <a:srgbClr val="1F2A44"/>
                </a:solidFill>
                <a:latin typeface="Consolas"/>
              </a:rPr>
              <a:t>llm</a:t>
            </a:r>
            <a:r>
              <a:rPr sz="1200" b="0" i="0">
                <a:solidFill>
                  <a:srgbClr val="1F2A44"/>
                </a:solidFill>
                <a:latin typeface="Arial"/>
              </a:rPr>
              <a:t> ≤ 1 with </a:t>
            </a:r>
            <a:r>
              <a:rPr sz="1200" b="0" i="0">
                <a:solidFill>
                  <a:srgbClr val="1F2A44"/>
                </a:solidFill>
                <a:latin typeface="Consolas"/>
              </a:rPr>
              <a:t>tool</a:t>
            </a:r>
            <a:r>
              <a:rPr sz="1200" b="0" i="0">
                <a:solidFill>
                  <a:srgbClr val="1F2A44"/>
                </a:solidFill>
                <a:latin typeface="Arial"/>
              </a:rPr>
              <a:t> ≥ 2 is impossible.</a:t>
            </a:r>
          </a:p>
        </p:txBody>
      </p:sp>
      <p:sp>
        <p:nvSpPr>
          <p:cNvPr id="11" name="Rounded Rectangle 10"/>
          <p:cNvSpPr/>
          <p:nvPr/>
        </p:nvSpPr>
        <p:spPr>
          <a:xfrm>
            <a:off x="411480" y="4288536"/>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4  Output varies more than input, in most runs</a:t>
            </a:r>
          </a:p>
          <a:p>
            <a:pPr algn="l">
              <a:spcAft>
                <a:spcPts val="200"/>
              </a:spcAft>
            </a:pPr>
            <a:r>
              <a:rPr sz="1200" b="0" i="0">
                <a:solidFill>
                  <a:srgbClr val="1F2A44"/>
                </a:solidFill>
                <a:latin typeface="Arial"/>
              </a:rPr>
              <a:t>OUT CV &gt; IN CV in 16 of 22 multi-task legs; only appworld is input-led. Read the CV.</a:t>
            </a:r>
          </a:p>
        </p:txBody>
      </p:sp>
      <p:sp>
        <p:nvSpPr>
          <p:cNvPr id="12" name="Rounded Rectangle 11"/>
          <p:cNvSpPr/>
          <p:nvPr/>
        </p:nvSpPr>
        <p:spPr>
          <a:xfrm>
            <a:off x="411480" y="5276088"/>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5  Task selection is deterministic</a:t>
            </a:r>
          </a:p>
          <a:p>
            <a:pPr algn="l">
              <a:spcAft>
                <a:spcPts val="200"/>
              </a:spcAft>
            </a:pPr>
            <a:r>
              <a:rPr sz="1200" b="0" i="0">
                <a:solidFill>
                  <a:srgbClr val="1F2A44"/>
                </a:solidFill>
                <a:latin typeface="Arial"/>
              </a:rPr>
              <a:t>The first </a:t>
            </a:r>
            <a:r>
              <a:rPr sz="1200" b="0" i="0">
                <a:solidFill>
                  <a:srgbClr val="1F2A44"/>
                </a:solidFill>
                <a:latin typeface="Consolas"/>
              </a:rPr>
              <a:t>max_tasks</a:t>
            </a:r>
            <a:r>
              <a:rPr sz="1200" b="0" i="0">
                <a:solidFill>
                  <a:srgbClr val="1F2A44"/>
                </a:solidFill>
                <a:latin typeface="Arial"/>
              </a:rPr>
              <a:t> tasks: the same </a:t>
            </a:r>
            <a:r>
              <a:rPr sz="1200" b="0" i="0">
                <a:solidFill>
                  <a:srgbClr val="1F2A44"/>
                </a:solidFill>
                <a:latin typeface="Consolas"/>
              </a:rPr>
              <a:t>task_id</a:t>
            </a:r>
            <a:r>
              <a:rPr sz="1200" b="0" i="0">
                <a:solidFill>
                  <a:srgbClr val="1F2A44"/>
                </a:solidFill>
                <a:latin typeface="Arial"/>
              </a:rPr>
              <a:t> is the same task on every cluster.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Pick a benchmark by what it is for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at the rate card on the cost slides; v1.35 measured costs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20</a:t>
            </a:r>
          </a:p>
        </p:txBody>
      </p:sp>
      <p:graphicFrame>
        <p:nvGraphicFramePr>
          <p:cNvPr id="8" name="Table 7"/>
          <p:cNvGraphicFramePr>
            <a:graphicFrameLocks noGrp="1"/>
          </p:cNvGraphicFramePr>
          <p:nvPr/>
        </p:nvGraphicFramePr>
        <p:xfrm>
          <a:off x="411480" y="1325880"/>
          <a:ext cx="11365991" cy="2743200"/>
        </p:xfrm>
        <a:graphic>
          <a:graphicData uri="http://schemas.openxmlformats.org/drawingml/2006/table">
            <a:tbl>
              <a:tblPr firstRow="0" bandRow="0">
                <a:tableStyleId>{5C22544A-7EE6-4342-B048-85BDC9FD1C3A}</a:tableStyleId>
              </a:tblPr>
              <a:tblGrid>
                <a:gridCol w="5041367"/>
                <a:gridCol w="4216416"/>
                <a:gridCol w="2108208"/>
              </a:tblGrid>
              <a:tr h="457200">
                <a:tc>
                  <a:txBody>
                    <a:bodyPr wrap="square"/>
                    <a:lstStyle/>
                    <a:p>
                      <a:pPr algn="l"/>
                      <a:r>
                        <a:rPr sz="1300" b="1" i="0">
                          <a:solidFill>
                            <a:srgbClr val="FFFFFF"/>
                          </a:solidFill>
                          <a:latin typeface="Arial"/>
                        </a:rPr>
                        <a:t>if you want to …</a:t>
                      </a:r>
                    </a:p>
                  </a:txBody>
                  <a:tcPr marL="54864" marR="54864" marT="18288" marB="18288" anchor="ctr">
                    <a:solidFill>
                      <a:srgbClr val="1F2A44"/>
                    </a:solidFill>
                  </a:tcPr>
                </a:tc>
                <a:tc>
                  <a:txBody>
                    <a:bodyPr wrap="square"/>
                    <a:lstStyle/>
                    <a:p>
                      <a:pPr algn="l"/>
                      <a:r>
                        <a:rPr sz="1300" b="1" i="0">
                          <a:solidFill>
                            <a:srgbClr val="FFFFFF"/>
                          </a:solidFill>
                          <a:latin typeface="Arial"/>
                        </a:rPr>
                        <a:t>use</a:t>
                      </a:r>
                    </a:p>
                  </a:txBody>
                  <a:tcPr marL="54864" marR="54864" marT="18288" marB="18288" anchor="ctr">
                    <a:solidFill>
                      <a:srgbClr val="1F2A44"/>
                    </a:solidFill>
                  </a:tcPr>
                </a:tc>
                <a:tc>
                  <a:txBody>
                    <a:bodyPr wrap="square"/>
                    <a:lstStyle/>
                    <a:p>
                      <a:pPr algn="r"/>
                      <a:r>
                        <a:rPr sz="1300" b="1" i="0">
                          <a:solidFill>
                            <a:srgbClr val="FFFFFF"/>
                          </a:solidFill>
                          <a:latin typeface="Arial"/>
                        </a:rPr>
                        <a:t>costs</a:t>
                      </a:r>
                    </a:p>
                  </a:txBody>
                  <a:tcPr marL="54864" marR="54864" marT="18288" marB="18288" anchor="ctr">
                    <a:solidFill>
                      <a:srgbClr val="1F2A44"/>
                    </a:solidFill>
                  </a:tcPr>
                </a:tc>
              </a:tr>
              <a:tr h="457200">
                <a:tc>
                  <a:txBody>
                    <a:bodyPr wrap="square"/>
                    <a:lstStyle/>
                    <a:p>
                      <a:pPr algn="l"/>
                      <a:r>
                        <a:rPr sz="1300" b="0" i="0">
                          <a:solidFill>
                            <a:srgbClr val="1F2A44"/>
                          </a:solidFill>
                          <a:latin typeface="Arial"/>
                        </a:rPr>
                        <a:t>check a cluster, deploy, auth or telemetry path works</a:t>
                      </a:r>
                    </a:p>
                  </a:txBody>
                  <a:tcPr marL="54864" marR="54864" marT="18288" marB="18288" anchor="ctr">
                    <a:solidFill>
                      <a:srgbClr val="FFFFFF"/>
                    </a:solidFill>
                  </a:tcPr>
                </a:tc>
                <a:tc>
                  <a:txBody>
                    <a:bodyPr wrap="square"/>
                    <a:lstStyle/>
                    <a:p>
                      <a:pPr algn="l"/>
                      <a:r>
                        <a:rPr sz="1300" b="0" i="0">
                          <a:solidFill>
                            <a:srgbClr val="1F2A44"/>
                          </a:solidFill>
                          <a:latin typeface="Arial"/>
                        </a:rPr>
                        <a:t>gsm8k, 1–10 tasks</a:t>
                      </a:r>
                    </a:p>
                  </a:txBody>
                  <a:tcPr marL="54864" marR="54864" marT="18288" marB="18288" anchor="ctr">
                    <a:solidFill>
                      <a:srgbClr val="FFFFFF"/>
                    </a:solidFill>
                  </a:tcPr>
                </a:tc>
                <a:tc>
                  <a:txBody>
                    <a:bodyPr wrap="square"/>
                    <a:lstStyle/>
                    <a:p>
                      <a:pPr algn="r"/>
                      <a:r>
                        <a:rPr sz="1300" b="0" i="0">
                          <a:solidFill>
                            <a:srgbClr val="1F2A44"/>
                          </a:solidFill>
                          <a:latin typeface="Arial"/>
                        </a:rPr>
                        <a:t>&lt; $0.01</a:t>
                      </a:r>
                    </a:p>
                  </a:txBody>
                  <a:tcPr marL="54864" marR="54864" marT="18288" marB="18288" anchor="ctr">
                    <a:solidFill>
                      <a:srgbClr val="FFFFFF"/>
                    </a:solidFill>
                  </a:tcPr>
                </a:tc>
              </a:tr>
              <a:tr h="457200">
                <a:tc>
                  <a:txBody>
                    <a:bodyPr wrap="square"/>
                    <a:lstStyle/>
                    <a:p>
                      <a:pPr algn="l"/>
                      <a:r>
                        <a:rPr sz="1300" b="0" i="0">
                          <a:solidFill>
                            <a:srgbClr val="1F2A44"/>
                          </a:solidFill>
                          <a:latin typeface="Arial"/>
                        </a:rPr>
                        <a:t>exercise concurrency and volume cheaply</a:t>
                      </a:r>
                    </a:p>
                  </a:txBody>
                  <a:tcPr marL="54864" marR="54864" marT="18288" marB="18288" anchor="ctr">
                    <a:solidFill>
                      <a:srgbClr val="F3F5F9"/>
                    </a:solidFill>
                  </a:tcPr>
                </a:tc>
                <a:tc>
                  <a:txBody>
                    <a:bodyPr wrap="square"/>
                    <a:lstStyle/>
                    <a:p>
                      <a:pPr algn="l"/>
                      <a:r>
                        <a:rPr sz="1300" b="0" i="0">
                          <a:solidFill>
                            <a:srgbClr val="1F2A44"/>
                          </a:solidFill>
                          <a:latin typeface="Arial"/>
                        </a:rPr>
                        <a:t>gsm8k, 50 tasks at p=4</a:t>
                      </a:r>
                    </a:p>
                  </a:txBody>
                  <a:tcPr marL="54864" marR="54864" marT="18288" marB="18288" anchor="ctr">
                    <a:solidFill>
                      <a:srgbClr val="F3F5F9"/>
                    </a:solidFill>
                  </a:tcPr>
                </a:tc>
                <a:tc>
                  <a:txBody>
                    <a:bodyPr wrap="square"/>
                    <a:lstStyle/>
                    <a:p>
                      <a:pPr algn="r"/>
                      <a:r>
                        <a:rPr sz="1300" b="0" i="0">
                          <a:solidFill>
                            <a:srgbClr val="1F2A44"/>
                          </a:solidFill>
                          <a:latin typeface="Arial"/>
                        </a:rPr>
                        <a:t>$0.02</a:t>
                      </a:r>
                    </a:p>
                  </a:txBody>
                  <a:tcPr marL="54864" marR="54864" marT="18288" marB="18288" anchor="ctr">
                    <a:solidFill>
                      <a:srgbClr val="F3F5F9"/>
                    </a:solidFill>
                  </a:tcPr>
                </a:tc>
              </a:tr>
              <a:tr h="457200">
                <a:tc>
                  <a:txBody>
                    <a:bodyPr wrap="square"/>
                    <a:lstStyle/>
                    <a:p>
                      <a:pPr algn="l"/>
                      <a:r>
                        <a:rPr sz="1300" b="0" i="0">
                          <a:solidFill>
                            <a:srgbClr val="1F2A44"/>
                          </a:solidFill>
                          <a:latin typeface="Arial"/>
                        </a:rPr>
                        <a:t>compare models meaningfully</a:t>
                      </a:r>
                    </a:p>
                  </a:txBody>
                  <a:tcPr marL="54864" marR="54864" marT="18288" marB="18288" anchor="ctr">
                    <a:solidFill>
                      <a:srgbClr val="FFFFFF"/>
                    </a:solidFill>
                  </a:tcPr>
                </a:tc>
                <a:tc>
                  <a:txBody>
                    <a:bodyPr wrap="square"/>
                    <a:lstStyle/>
                    <a:p>
                      <a:pPr algn="l"/>
                      <a:r>
                        <a:rPr sz="1300" b="0" i="0">
                          <a:solidFill>
                            <a:srgbClr val="1F2A44"/>
                          </a:solidFill>
                          <a:latin typeface="Arial"/>
                        </a:rPr>
                        <a:t>tau2: it discriminates, gsm8k saturates</a:t>
                      </a:r>
                    </a:p>
                  </a:txBody>
                  <a:tcPr marL="54864" marR="54864" marT="18288" marB="18288" anchor="ctr">
                    <a:solidFill>
                      <a:srgbClr val="FFFFFF"/>
                    </a:solidFill>
                  </a:tcPr>
                </a:tc>
                <a:tc>
                  <a:txBody>
                    <a:bodyPr wrap="square"/>
                    <a:lstStyle/>
                    <a:p>
                      <a:pPr algn="r"/>
                      <a:r>
                        <a:rPr sz="1300" b="0" i="0">
                          <a:solidFill>
                            <a:srgbClr val="1F2A44"/>
                          </a:solidFill>
                          <a:latin typeface="Arial"/>
                        </a:rPr>
                        <a:t>$1.60 / 10</a:t>
                      </a:r>
                    </a:p>
                  </a:txBody>
                  <a:tcPr marL="54864" marR="54864" marT="18288" marB="18288" anchor="ctr">
                    <a:solidFill>
                      <a:srgbClr val="FFFFFF"/>
                    </a:solidFill>
                  </a:tcPr>
                </a:tc>
              </a:tr>
              <a:tr h="457200">
                <a:tc>
                  <a:txBody>
                    <a:bodyPr wrap="square"/>
                    <a:lstStyle/>
                    <a:p>
                      <a:pPr algn="l"/>
                      <a:r>
                        <a:rPr sz="1300" b="0" i="0">
                          <a:solidFill>
                            <a:srgbClr val="1F2A44"/>
                          </a:solidFill>
                          <a:latin typeface="Arial"/>
                        </a:rPr>
                        <a:t>stress long contexts, long tasks, timeouts</a:t>
                      </a:r>
                    </a:p>
                  </a:txBody>
                  <a:tcPr marL="54864" marR="54864" marT="18288" marB="18288" anchor="ctr">
                    <a:solidFill>
                      <a:srgbClr val="F3F5F9"/>
                    </a:solidFill>
                  </a:tcPr>
                </a:tc>
                <a:tc>
                  <a:txBody>
                    <a:bodyPr wrap="square"/>
                    <a:lstStyle/>
                    <a:p>
                      <a:pPr algn="l"/>
                      <a:r>
                        <a:rPr sz="1300" b="0" i="0">
                          <a:solidFill>
                            <a:srgbClr val="1F2A44"/>
                          </a:solidFill>
                          <a:latin typeface="Arial"/>
                        </a:rPr>
                        <a:t>appworld</a:t>
                      </a:r>
                    </a:p>
                  </a:txBody>
                  <a:tcPr marL="54864" marR="54864" marT="18288" marB="18288" anchor="ctr">
                    <a:solidFill>
                      <a:srgbClr val="F3F5F9"/>
                    </a:solidFill>
                  </a:tcPr>
                </a:tc>
                <a:tc>
                  <a:txBody>
                    <a:bodyPr wrap="square"/>
                    <a:lstStyle/>
                    <a:p>
                      <a:pPr algn="r"/>
                      <a:r>
                        <a:rPr sz="1300" b="0" i="0">
                          <a:solidFill>
                            <a:srgbClr val="1F2A44"/>
                          </a:solidFill>
                          <a:latin typeface="Arial"/>
                        </a:rPr>
                        <a:t>$3.10–3.40 / 5</a:t>
                      </a:r>
                    </a:p>
                  </a:txBody>
                  <a:tcPr marL="54864" marR="54864" marT="18288" marB="18288" anchor="ctr">
                    <a:solidFill>
                      <a:srgbClr val="F3F5F9"/>
                    </a:solidFill>
                  </a:tcPr>
                </a:tc>
              </a:tr>
              <a:tr h="457200">
                <a:tc>
                  <a:txBody>
                    <a:bodyPr wrap="square"/>
                    <a:lstStyle/>
                    <a:p>
                      <a:pPr algn="l"/>
                      <a:r>
                        <a:rPr sz="1300" b="0" i="0">
                          <a:solidFill>
                            <a:srgbClr val="1F2A44"/>
                          </a:solidFill>
                          <a:latin typeface="Arial"/>
                        </a:rPr>
                        <a:t>get a fast signal that nothing regressed</a:t>
                      </a:r>
                    </a:p>
                  </a:txBody>
                  <a:tcPr marL="54864" marR="54864" marT="18288" marB="18288" anchor="ctr">
                    <a:solidFill>
                      <a:srgbClr val="FFFFFF"/>
                    </a:solidFill>
                  </a:tcPr>
                </a:tc>
                <a:tc>
                  <a:txBody>
                    <a:bodyPr wrap="square"/>
                    <a:lstStyle/>
                    <a:p>
                      <a:pPr algn="l"/>
                      <a:r>
                        <a:rPr sz="1300" b="0" i="0">
                          <a:solidFill>
                            <a:srgbClr val="1F2A44"/>
                          </a:solidFill>
                          <a:latin typeface="Arial"/>
                        </a:rPr>
                        <a:t>gsm8k: if it fails, fix infrastructure</a:t>
                      </a:r>
                    </a:p>
                  </a:txBody>
                  <a:tcPr marL="54864" marR="54864" marT="18288" marB="18288" anchor="ctr">
                    <a:solidFill>
                      <a:srgbClr val="FFFFFF"/>
                    </a:solidFill>
                  </a:tcPr>
                </a:tc>
                <a:tc>
                  <a:txBody>
                    <a:bodyPr wrap="square"/>
                    <a:lstStyle/>
                    <a:p>
                      <a:pPr algn="r"/>
                      <a:r>
                        <a:rPr sz="1300" b="0" i="0">
                          <a:solidFill>
                            <a:srgbClr val="1F2A44"/>
                          </a:solidFill>
                          <a:latin typeface="Arial"/>
                        </a:rPr>
                        <a:t>&lt; $0.01</a:t>
                      </a:r>
                    </a:p>
                  </a:txBody>
                  <a:tcPr marL="54864" marR="54864" marT="18288" marB="18288" anchor="ctr">
                    <a:solidFill>
                      <a:srgbClr val="FFFFFF"/>
                    </a:solidFill>
                  </a:tcPr>
                </a:tc>
              </a:tr>
            </a:tbl>
          </a:graphicData>
        </a:graphic>
      </p:graphicFrame>
      <p:sp>
        <p:nvSpPr>
          <p:cNvPr id="9" name="Rounded Rectangle 8"/>
          <p:cNvSpPr/>
          <p:nvPr/>
        </p:nvSpPr>
        <p:spPr>
          <a:xfrm>
            <a:off x="411480" y="4297680"/>
            <a:ext cx="11365992"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Budget by benchmark, not by task count</a:t>
            </a:r>
          </a:p>
          <a:p>
            <a:pPr algn="l">
              <a:spcAft>
                <a:spcPts val="300"/>
              </a:spcAft>
            </a:pPr>
            <a:r>
              <a:rPr sz="1300" b="0" i="0">
                <a:solidFill>
                  <a:srgbClr val="1F2A44"/>
                </a:solidFill>
                <a:latin typeface="Arial"/>
              </a:rPr>
              <a:t>The eight gsm8k legs together are 0.2% of the matrix's bill on both platforms; appworld's two legs are 78% of it on OpenShift (77% on KinD). A 50-task gsm8k leg costs 2 cents, about a thirtieth of a single appworld task.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each leg costs: the same work, close to the same bill</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Tokens and dollars per leg, v1.35, OpenShift (OCP) and KinD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21</a:t>
            </a:r>
          </a:p>
        </p:txBody>
      </p:sp>
      <p:graphicFrame>
        <p:nvGraphicFramePr>
          <p:cNvPr id="8" name="Table 7"/>
          <p:cNvGraphicFramePr>
            <a:graphicFrameLocks noGrp="1"/>
          </p:cNvGraphicFramePr>
          <p:nvPr/>
        </p:nvGraphicFramePr>
        <p:xfrm>
          <a:off x="411480" y="1325880"/>
          <a:ext cx="6400800" cy="3456432"/>
        </p:xfrm>
        <a:graphic>
          <a:graphicData uri="http://schemas.openxmlformats.org/drawingml/2006/table">
            <a:tbl>
              <a:tblPr firstRow="0" bandRow="0">
                <a:tableStyleId>{5C22544A-7EE6-4342-B048-85BDC9FD1C3A}</a:tableStyleId>
              </a:tblPr>
              <a:tblGrid>
                <a:gridCol w="2377440"/>
                <a:gridCol w="1005840"/>
                <a:gridCol w="1005840"/>
                <a:gridCol w="1005840"/>
                <a:gridCol w="1005840"/>
              </a:tblGrid>
              <a:tr h="384048">
                <a:tc>
                  <a:txBody>
                    <a:bodyPr wrap="square"/>
                    <a:lstStyle/>
                    <a:p>
                      <a:pPr algn="l"/>
                      <a:r>
                        <a:rPr sz="1200" b="1" i="0">
                          <a:solidFill>
                            <a:srgbClr val="FFFFFF"/>
                          </a:solidFill>
                          <a:latin typeface="Arial"/>
                        </a:rPr>
                        <a:t>leg</a:t>
                      </a:r>
                    </a:p>
                  </a:txBody>
                  <a:tcPr marL="54864" marR="54864" marT="18288" marB="18288" anchor="ctr">
                    <a:solidFill>
                      <a:srgbClr val="1F2A44"/>
                    </a:solidFill>
                  </a:tcPr>
                </a:tc>
                <a:tc>
                  <a:txBody>
                    <a:bodyPr wrap="square"/>
                    <a:lstStyle/>
                    <a:p>
                      <a:pPr algn="r"/>
                      <a:r>
                        <a:rPr sz="1200" b="1" i="0">
                          <a:solidFill>
                            <a:srgbClr val="FFFFFF"/>
                          </a:solidFill>
                          <a:latin typeface="Arial"/>
                        </a:rPr>
                        <a:t>tok OCP</a:t>
                      </a:r>
                    </a:p>
                  </a:txBody>
                  <a:tcPr marL="54864" marR="54864" marT="18288" marB="18288" anchor="ctr">
                    <a:solidFill>
                      <a:srgbClr val="1F2A44"/>
                    </a:solidFill>
                  </a:tcPr>
                </a:tc>
                <a:tc>
                  <a:txBody>
                    <a:bodyPr wrap="square"/>
                    <a:lstStyle/>
                    <a:p>
                      <a:pPr algn="r"/>
                      <a:r>
                        <a:rPr sz="1200" b="1" i="0">
                          <a:solidFill>
                            <a:srgbClr val="FFFFFF"/>
                          </a:solidFill>
                          <a:latin typeface="Arial"/>
                        </a:rPr>
                        <a:t>$ OCP</a:t>
                      </a:r>
                    </a:p>
                  </a:txBody>
                  <a:tcPr marL="54864" marR="54864" marT="18288" marB="18288" anchor="ctr">
                    <a:solidFill>
                      <a:srgbClr val="1F2A44"/>
                    </a:solidFill>
                  </a:tcPr>
                </a:tc>
                <a:tc>
                  <a:txBody>
                    <a:bodyPr wrap="square"/>
                    <a:lstStyle/>
                    <a:p>
                      <a:pPr algn="r"/>
                      <a:r>
                        <a:rPr sz="1200" b="1" i="0">
                          <a:solidFill>
                            <a:srgbClr val="FFFFFF"/>
                          </a:solidFill>
                          <a:latin typeface="Arial"/>
                        </a:rPr>
                        <a:t>tok KinD</a:t>
                      </a:r>
                    </a:p>
                  </a:txBody>
                  <a:tcPr marL="54864" marR="54864" marT="18288" marB="18288" anchor="ctr">
                    <a:solidFill>
                      <a:srgbClr val="1F2A44"/>
                    </a:solidFill>
                  </a:tcPr>
                </a:tc>
                <a:tc>
                  <a:txBody>
                    <a:bodyPr wrap="square"/>
                    <a:lstStyle/>
                    <a:p>
                      <a:pPr algn="r"/>
                      <a:r>
                        <a:rPr sz="1200" b="1" i="0">
                          <a:solidFill>
                            <a:srgbClr val="FFFFFF"/>
                          </a:solidFill>
                          <a:latin typeface="Arial"/>
                        </a:rPr>
                        <a:t>$ KinD</a:t>
                      </a:r>
                    </a:p>
                  </a:txBody>
                  <a:tcPr marL="54864" marR="54864" marT="18288" marB="18288" anchor="ctr">
                    <a:solidFill>
                      <a:srgbClr val="1F2A44"/>
                    </a:solidFill>
                  </a:tcPr>
                </a:tc>
              </a:tr>
              <a:tr h="384048">
                <a:tc>
                  <a:txBody>
                    <a:bodyPr wrap="square"/>
                    <a:lstStyle/>
                    <a:p>
                      <a:pPr algn="l"/>
                      <a:r>
                        <a:rPr sz="1200" b="0" i="0">
                          <a:solidFill>
                            <a:srgbClr val="1F2A44"/>
                          </a:solidFill>
                          <a:latin typeface="Arial"/>
                        </a:rPr>
                        <a:t>#1 gsm8k, 1 task</a:t>
                      </a:r>
                    </a:p>
                  </a:txBody>
                  <a:tcPr marL="54864" marR="54864" marT="18288" marB="18288" anchor="ctr">
                    <a:solidFill>
                      <a:srgbClr val="FFFFFF"/>
                    </a:solidFill>
                  </a:tcPr>
                </a:tc>
                <a:tc>
                  <a:txBody>
                    <a:bodyPr wrap="square"/>
                    <a:lstStyle/>
                    <a:p>
                      <a:pPr algn="r"/>
                      <a:r>
                        <a:rPr sz="1200" b="0" i="0">
                          <a:solidFill>
                            <a:srgbClr val="1F2A44"/>
                          </a:solidFill>
                          <a:latin typeface="Arial"/>
                        </a:rPr>
                        <a:t>406</a:t>
                      </a:r>
                    </a:p>
                  </a:txBody>
                  <a:tcPr marL="54864" marR="54864" marT="18288" marB="18288" anchor="ctr">
                    <a:solidFill>
                      <a:srgbClr val="FFFFFF"/>
                    </a:solidFill>
                  </a:tcPr>
                </a:tc>
                <a:tc>
                  <a:txBody>
                    <a:bodyPr wrap="square"/>
                    <a:lstStyle/>
                    <a:p>
                      <a:pPr algn="r"/>
                      <a:r>
                        <a:rPr sz="1200" b="0" i="0">
                          <a:solidFill>
                            <a:srgbClr val="1F2A44"/>
                          </a:solidFill>
                          <a:latin typeface="Arial"/>
                        </a:rPr>
                        <a:t>$0.0003</a:t>
                      </a:r>
                    </a:p>
                  </a:txBody>
                  <a:tcPr marL="54864" marR="54864" marT="18288" marB="18288" anchor="ctr">
                    <a:solidFill>
                      <a:srgbClr val="FFFFFF"/>
                    </a:solidFill>
                  </a:tcPr>
                </a:tc>
                <a:tc>
                  <a:txBody>
                    <a:bodyPr wrap="square"/>
                    <a:lstStyle/>
                    <a:p>
                      <a:pPr algn="r"/>
                      <a:r>
                        <a:rPr sz="1200" b="0" i="0">
                          <a:solidFill>
                            <a:srgbClr val="1F2A44"/>
                          </a:solidFill>
                          <a:latin typeface="Arial"/>
                        </a:rPr>
                        <a:t>406</a:t>
                      </a:r>
                    </a:p>
                  </a:txBody>
                  <a:tcPr marL="54864" marR="54864" marT="18288" marB="18288" anchor="ctr">
                    <a:solidFill>
                      <a:srgbClr val="FFFFFF"/>
                    </a:solidFill>
                  </a:tcPr>
                </a:tc>
                <a:tc>
                  <a:txBody>
                    <a:bodyPr wrap="square"/>
                    <a:lstStyle/>
                    <a:p>
                      <a:pPr algn="r"/>
                      <a:r>
                        <a:rPr sz="1200" b="0" i="0">
                          <a:solidFill>
                            <a:srgbClr val="1F2A44"/>
                          </a:solidFill>
                          <a:latin typeface="Arial"/>
                        </a:rPr>
                        <a:t>$0.0003</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#2 gsm8k, 10 tasks</a:t>
                      </a:r>
                    </a:p>
                  </a:txBody>
                  <a:tcPr marL="54864" marR="54864" marT="18288" marB="18288" anchor="ctr">
                    <a:solidFill>
                      <a:srgbClr val="F3F5F9"/>
                    </a:solidFill>
                  </a:tcPr>
                </a:tc>
                <a:tc>
                  <a:txBody>
                    <a:bodyPr wrap="square"/>
                    <a:lstStyle/>
                    <a:p>
                      <a:pPr algn="r"/>
                      <a:r>
                        <a:rPr sz="1200" b="0" i="0">
                          <a:solidFill>
                            <a:srgbClr val="1F2A44"/>
                          </a:solidFill>
                          <a:latin typeface="Arial"/>
                        </a:rPr>
                        <a:t>5.1 K</a:t>
                      </a:r>
                    </a:p>
                  </a:txBody>
                  <a:tcPr marL="54864" marR="54864" marT="18288" marB="18288" anchor="ctr">
                    <a:solidFill>
                      <a:srgbClr val="F3F5F9"/>
                    </a:solidFill>
                  </a:tcPr>
                </a:tc>
                <a:tc>
                  <a:txBody>
                    <a:bodyPr wrap="square"/>
                    <a:lstStyle/>
                    <a:p>
                      <a:pPr algn="r"/>
                      <a:r>
                        <a:rPr sz="1200" b="0" i="0">
                          <a:solidFill>
                            <a:srgbClr val="1F2A44"/>
                          </a:solidFill>
                          <a:latin typeface="Arial"/>
                        </a:rPr>
                        <a:t>$0.005</a:t>
                      </a:r>
                    </a:p>
                  </a:txBody>
                  <a:tcPr marL="54864" marR="54864" marT="18288" marB="18288" anchor="ctr">
                    <a:solidFill>
                      <a:srgbClr val="F3F5F9"/>
                    </a:solidFill>
                  </a:tcPr>
                </a:tc>
                <a:tc>
                  <a:txBody>
                    <a:bodyPr wrap="square"/>
                    <a:lstStyle/>
                    <a:p>
                      <a:pPr algn="r"/>
                      <a:r>
                        <a:rPr sz="1200" b="0" i="0">
                          <a:solidFill>
                            <a:srgbClr val="1F2A44"/>
                          </a:solidFill>
                          <a:latin typeface="Arial"/>
                        </a:rPr>
                        <a:t>5.1 K</a:t>
                      </a:r>
                    </a:p>
                  </a:txBody>
                  <a:tcPr marL="54864" marR="54864" marT="18288" marB="18288" anchor="ctr">
                    <a:solidFill>
                      <a:srgbClr val="F3F5F9"/>
                    </a:solidFill>
                  </a:tcPr>
                </a:tc>
                <a:tc>
                  <a:txBody>
                    <a:bodyPr wrap="square"/>
                    <a:lstStyle/>
                    <a:p>
                      <a:pPr algn="r"/>
                      <a:r>
                        <a:rPr sz="1200" b="0" i="0">
                          <a:solidFill>
                            <a:srgbClr val="1F2A44"/>
                          </a:solidFill>
                          <a:latin typeface="Arial"/>
                        </a:rPr>
                        <a:t>$0.005</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#3 gsm8k, 50 tasks p=4</a:t>
                      </a:r>
                    </a:p>
                  </a:txBody>
                  <a:tcPr marL="54864" marR="54864" marT="18288" marB="18288" anchor="ctr">
                    <a:solidFill>
                      <a:srgbClr val="FFFFFF"/>
                    </a:solidFill>
                  </a:tcPr>
                </a:tc>
                <a:tc>
                  <a:txBody>
                    <a:bodyPr wrap="square"/>
                    <a:lstStyle/>
                    <a:p>
                      <a:pPr algn="r"/>
                      <a:r>
                        <a:rPr sz="1200" b="0" i="0">
                          <a:solidFill>
                            <a:srgbClr val="1F2A44"/>
                          </a:solidFill>
                          <a:latin typeface="Arial"/>
                        </a:rPr>
                        <a:t>24 K</a:t>
                      </a:r>
                    </a:p>
                  </a:txBody>
                  <a:tcPr marL="54864" marR="54864" marT="18288" marB="18288" anchor="ctr">
                    <a:solidFill>
                      <a:srgbClr val="FFFFFF"/>
                    </a:solidFill>
                  </a:tcPr>
                </a:tc>
                <a:tc>
                  <a:txBody>
                    <a:bodyPr wrap="square"/>
                    <a:lstStyle/>
                    <a:p>
                      <a:pPr algn="r"/>
                      <a:r>
                        <a:rPr sz="1200" b="0" i="0">
                          <a:solidFill>
                            <a:srgbClr val="1F2A44"/>
                          </a:solidFill>
                          <a:latin typeface="Arial"/>
                        </a:rPr>
                        <a:t>$0.020</a:t>
                      </a:r>
                    </a:p>
                  </a:txBody>
                  <a:tcPr marL="54864" marR="54864" marT="18288" marB="18288" anchor="ctr">
                    <a:solidFill>
                      <a:srgbClr val="FFFFFF"/>
                    </a:solidFill>
                  </a:tcPr>
                </a:tc>
                <a:tc>
                  <a:txBody>
                    <a:bodyPr wrap="square"/>
                    <a:lstStyle/>
                    <a:p>
                      <a:pPr algn="r"/>
                      <a:r>
                        <a:rPr sz="1200" b="0" i="0">
                          <a:solidFill>
                            <a:srgbClr val="1F2A44"/>
                          </a:solidFill>
                          <a:latin typeface="Arial"/>
                        </a:rPr>
                        <a:t>25 K</a:t>
                      </a:r>
                    </a:p>
                  </a:txBody>
                  <a:tcPr marL="54864" marR="54864" marT="18288" marB="18288" anchor="ctr">
                    <a:solidFill>
                      <a:srgbClr val="FFFFFF"/>
                    </a:solidFill>
                  </a:tcPr>
                </a:tc>
                <a:tc>
                  <a:txBody>
                    <a:bodyPr wrap="square"/>
                    <a:lstStyle/>
                    <a:p>
                      <a:pPr algn="r"/>
                      <a:r>
                        <a:rPr sz="1200" b="0" i="0">
                          <a:solidFill>
                            <a:srgbClr val="1F2A44"/>
                          </a:solidFill>
                          <a:latin typeface="Arial"/>
                        </a:rPr>
                        <a:t>$0.022</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#9 tau2, 10 tasks</a:t>
                      </a:r>
                    </a:p>
                  </a:txBody>
                  <a:tcPr marL="54864" marR="54864" marT="18288" marB="18288" anchor="ctr">
                    <a:solidFill>
                      <a:srgbClr val="F3F5F9"/>
                    </a:solidFill>
                  </a:tcPr>
                </a:tc>
                <a:tc>
                  <a:txBody>
                    <a:bodyPr wrap="square"/>
                    <a:lstStyle/>
                    <a:p>
                      <a:pPr algn="r"/>
                      <a:r>
                        <a:rPr sz="1200" b="0" i="0">
                          <a:solidFill>
                            <a:srgbClr val="1F2A44"/>
                          </a:solidFill>
                          <a:latin typeface="Arial"/>
                        </a:rPr>
                        <a:t>0.96 M</a:t>
                      </a:r>
                    </a:p>
                  </a:txBody>
                  <a:tcPr marL="54864" marR="54864" marT="18288" marB="18288" anchor="ctr">
                    <a:solidFill>
                      <a:srgbClr val="F3F5F9"/>
                    </a:solidFill>
                  </a:tcPr>
                </a:tc>
                <a:tc>
                  <a:txBody>
                    <a:bodyPr wrap="square"/>
                    <a:lstStyle/>
                    <a:p>
                      <a:pPr algn="r"/>
                      <a:r>
                        <a:rPr sz="1200" b="0" i="0">
                          <a:solidFill>
                            <a:srgbClr val="1F2A44"/>
                          </a:solidFill>
                          <a:latin typeface="Arial"/>
                        </a:rPr>
                        <a:t>$1.59</a:t>
                      </a:r>
                    </a:p>
                  </a:txBody>
                  <a:tcPr marL="54864" marR="54864" marT="18288" marB="18288" anchor="ctr">
                    <a:solidFill>
                      <a:srgbClr val="F3F5F9"/>
                    </a:solidFill>
                  </a:tcPr>
                </a:tc>
                <a:tc>
                  <a:txBody>
                    <a:bodyPr wrap="square"/>
                    <a:lstStyle/>
                    <a:p>
                      <a:pPr algn="r"/>
                      <a:r>
                        <a:rPr sz="1200" b="0" i="0">
                          <a:solidFill>
                            <a:srgbClr val="1F2A44"/>
                          </a:solidFill>
                          <a:latin typeface="Arial"/>
                        </a:rPr>
                        <a:t>0.94 M</a:t>
                      </a:r>
                    </a:p>
                  </a:txBody>
                  <a:tcPr marL="54864" marR="54864" marT="18288" marB="18288" anchor="ctr">
                    <a:solidFill>
                      <a:srgbClr val="F3F5F9"/>
                    </a:solidFill>
                  </a:tcPr>
                </a:tc>
                <a:tc>
                  <a:txBody>
                    <a:bodyPr wrap="square"/>
                    <a:lstStyle/>
                    <a:p>
                      <a:pPr algn="r"/>
                      <a:r>
                        <a:rPr sz="1200" b="0" i="0">
                          <a:solidFill>
                            <a:srgbClr val="1F2A44"/>
                          </a:solidFill>
                          <a:latin typeface="Arial"/>
                        </a:rPr>
                        <a:t>$1.56</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#10 tau2, 20 tasks p=4</a:t>
                      </a:r>
                    </a:p>
                  </a:txBody>
                  <a:tcPr marL="54864" marR="54864" marT="18288" marB="18288" anchor="ctr">
                    <a:solidFill>
                      <a:srgbClr val="FFFFFF"/>
                    </a:solidFill>
                  </a:tcPr>
                </a:tc>
                <a:tc>
                  <a:txBody>
                    <a:bodyPr wrap="square"/>
                    <a:lstStyle/>
                    <a:p>
                      <a:pPr algn="r"/>
                      <a:r>
                        <a:rPr sz="1200" b="0" i="0">
                          <a:solidFill>
                            <a:srgbClr val="1F2A44"/>
                          </a:solidFill>
                          <a:latin typeface="Arial"/>
                        </a:rPr>
                        <a:t>1.74 M</a:t>
                      </a:r>
                    </a:p>
                  </a:txBody>
                  <a:tcPr marL="54864" marR="54864" marT="18288" marB="18288" anchor="ctr">
                    <a:solidFill>
                      <a:srgbClr val="FFFFFF"/>
                    </a:solidFill>
                  </a:tcPr>
                </a:tc>
                <a:tc>
                  <a:txBody>
                    <a:bodyPr wrap="square"/>
                    <a:lstStyle/>
                    <a:p>
                      <a:pPr algn="r"/>
                      <a:r>
                        <a:rPr sz="1200" b="0" i="0">
                          <a:solidFill>
                            <a:srgbClr val="1F2A44"/>
                          </a:solidFill>
                          <a:latin typeface="Arial"/>
                        </a:rPr>
                        <a:t>$2.88</a:t>
                      </a:r>
                    </a:p>
                  </a:txBody>
                  <a:tcPr marL="54864" marR="54864" marT="18288" marB="18288" anchor="ctr">
                    <a:solidFill>
                      <a:srgbClr val="FFFFFF"/>
                    </a:solidFill>
                  </a:tcPr>
                </a:tc>
                <a:tc>
                  <a:txBody>
                    <a:bodyPr wrap="square"/>
                    <a:lstStyle/>
                    <a:p>
                      <a:pPr algn="r"/>
                      <a:r>
                        <a:rPr sz="1200" b="0" i="0">
                          <a:solidFill>
                            <a:srgbClr val="1F2A44"/>
                          </a:solidFill>
                          <a:latin typeface="Arial"/>
                        </a:rPr>
                        <a:t>1.77 M</a:t>
                      </a:r>
                    </a:p>
                  </a:txBody>
                  <a:tcPr marL="54864" marR="54864" marT="18288" marB="18288" anchor="ctr">
                    <a:solidFill>
                      <a:srgbClr val="FFFFFF"/>
                    </a:solidFill>
                  </a:tcPr>
                </a:tc>
                <a:tc>
                  <a:txBody>
                    <a:bodyPr wrap="square"/>
                    <a:lstStyle/>
                    <a:p>
                      <a:pPr algn="r"/>
                      <a:r>
                        <a:rPr sz="1200" b="0" i="0">
                          <a:solidFill>
                            <a:srgbClr val="1F2A44"/>
                          </a:solidFill>
                          <a:latin typeface="Arial"/>
                        </a:rPr>
                        <a:t>$2.93</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#11 appworld, 5 tasks</a:t>
                      </a:r>
                    </a:p>
                  </a:txBody>
                  <a:tcPr marL="54864" marR="54864" marT="18288" marB="18288" anchor="ctr">
                    <a:solidFill>
                      <a:srgbClr val="F3F5F9"/>
                    </a:solidFill>
                  </a:tcPr>
                </a:tc>
                <a:tc>
                  <a:txBody>
                    <a:bodyPr wrap="square"/>
                    <a:lstStyle/>
                    <a:p>
                      <a:pPr algn="r"/>
                      <a:r>
                        <a:rPr sz="1200" b="0" i="0">
                          <a:solidFill>
                            <a:srgbClr val="1F2A44"/>
                          </a:solidFill>
                          <a:latin typeface="Arial"/>
                        </a:rPr>
                        <a:t>1.55 M</a:t>
                      </a:r>
                    </a:p>
                  </a:txBody>
                  <a:tcPr marL="54864" marR="54864" marT="18288" marB="18288" anchor="ctr">
                    <a:solidFill>
                      <a:srgbClr val="F3F5F9"/>
                    </a:solidFill>
                  </a:tcPr>
                </a:tc>
                <a:tc>
                  <a:txBody>
                    <a:bodyPr wrap="square"/>
                    <a:lstStyle/>
                    <a:p>
                      <a:pPr algn="r"/>
                      <a:r>
                        <a:rPr sz="1200" b="0" i="0">
                          <a:solidFill>
                            <a:srgbClr val="1F2A44"/>
                          </a:solidFill>
                          <a:latin typeface="Arial"/>
                        </a:rPr>
                        <a:t>$3.10</a:t>
                      </a:r>
                    </a:p>
                  </a:txBody>
                  <a:tcPr marL="54864" marR="54864" marT="18288" marB="18288" anchor="ctr">
                    <a:solidFill>
                      <a:srgbClr val="F3F5F9"/>
                    </a:solidFill>
                  </a:tcPr>
                </a:tc>
                <a:tc>
                  <a:txBody>
                    <a:bodyPr wrap="square"/>
                    <a:lstStyle/>
                    <a:p>
                      <a:pPr algn="r"/>
                      <a:r>
                        <a:rPr sz="1200" b="0" i="0">
                          <a:solidFill>
                            <a:srgbClr val="1F2A44"/>
                          </a:solidFill>
                          <a:latin typeface="Arial"/>
                        </a:rPr>
                        <a:t>1.71 M</a:t>
                      </a:r>
                    </a:p>
                  </a:txBody>
                  <a:tcPr marL="54864" marR="54864" marT="18288" marB="18288" anchor="ctr">
                    <a:solidFill>
                      <a:srgbClr val="F3F5F9"/>
                    </a:solidFill>
                  </a:tcPr>
                </a:tc>
                <a:tc>
                  <a:txBody>
                    <a:bodyPr wrap="square"/>
                    <a:lstStyle/>
                    <a:p>
                      <a:pPr algn="r"/>
                      <a:r>
                        <a:rPr sz="1200" b="0" i="0">
                          <a:solidFill>
                            <a:srgbClr val="1F2A44"/>
                          </a:solidFill>
                          <a:latin typeface="Arial"/>
                        </a:rPr>
                        <a:t>$3.39</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#12 appworld, 20 tasks p=4</a:t>
                      </a:r>
                    </a:p>
                  </a:txBody>
                  <a:tcPr marL="54864" marR="54864" marT="18288" marB="18288" anchor="ctr">
                    <a:solidFill>
                      <a:srgbClr val="FFFFFF"/>
                    </a:solidFill>
                  </a:tcPr>
                </a:tc>
                <a:tc>
                  <a:txBody>
                    <a:bodyPr wrap="square"/>
                    <a:lstStyle/>
                    <a:p>
                      <a:pPr algn="r"/>
                      <a:r>
                        <a:rPr sz="1200" b="0" i="0">
                          <a:solidFill>
                            <a:srgbClr val="1F2A44"/>
                          </a:solidFill>
                          <a:latin typeface="Arial"/>
                        </a:rPr>
                        <a:t>6.47 M</a:t>
                      </a:r>
                    </a:p>
                  </a:txBody>
                  <a:tcPr marL="54864" marR="54864" marT="18288" marB="18288" anchor="ctr">
                    <a:solidFill>
                      <a:srgbClr val="FFFFFF"/>
                    </a:solidFill>
                  </a:tcPr>
                </a:tc>
                <a:tc>
                  <a:txBody>
                    <a:bodyPr wrap="square"/>
                    <a:lstStyle/>
                    <a:p>
                      <a:pPr algn="r"/>
                      <a:r>
                        <a:rPr sz="1200" b="0" i="0">
                          <a:solidFill>
                            <a:srgbClr val="1F2A44"/>
                          </a:solidFill>
                          <a:latin typeface="Arial"/>
                        </a:rPr>
                        <a:t>$12.63</a:t>
                      </a:r>
                    </a:p>
                  </a:txBody>
                  <a:tcPr marL="54864" marR="54864" marT="18288" marB="18288" anchor="ctr">
                    <a:solidFill>
                      <a:srgbClr val="FFFFFF"/>
                    </a:solidFill>
                  </a:tcPr>
                </a:tc>
                <a:tc>
                  <a:txBody>
                    <a:bodyPr wrap="square"/>
                    <a:lstStyle/>
                    <a:p>
                      <a:pPr algn="r"/>
                      <a:r>
                        <a:rPr sz="1200" b="0" i="0">
                          <a:solidFill>
                            <a:srgbClr val="1F2A44"/>
                          </a:solidFill>
                          <a:latin typeface="Arial"/>
                        </a:rPr>
                        <a:t>5.87 M</a:t>
                      </a:r>
                    </a:p>
                  </a:txBody>
                  <a:tcPr marL="54864" marR="54864" marT="18288" marB="18288" anchor="ctr">
                    <a:solidFill>
                      <a:srgbClr val="FFFFFF"/>
                    </a:solidFill>
                  </a:tcPr>
                </a:tc>
                <a:tc>
                  <a:txBody>
                    <a:bodyPr wrap="square"/>
                    <a:lstStyle/>
                    <a:p>
                      <a:pPr algn="r"/>
                      <a:r>
                        <a:rPr sz="1200" b="0" i="0">
                          <a:solidFill>
                            <a:srgbClr val="1F2A44"/>
                          </a:solidFill>
                          <a:latin typeface="Arial"/>
                        </a:rPr>
                        <a:t>$11.94</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all 12 legs</a:t>
                      </a:r>
                    </a:p>
                  </a:txBody>
                  <a:tcPr marL="54864" marR="54864" marT="18288" marB="18288" anchor="ctr">
                    <a:solidFill>
                      <a:srgbClr val="F3F5F9"/>
                    </a:solidFill>
                  </a:tcPr>
                </a:tc>
                <a:tc>
                  <a:txBody>
                    <a:bodyPr wrap="square"/>
                    <a:lstStyle/>
                    <a:p>
                      <a:pPr algn="r"/>
                      <a:r>
                        <a:rPr sz="1200" b="1" i="0">
                          <a:solidFill>
                            <a:srgbClr val="1F2A44"/>
                          </a:solidFill>
                          <a:latin typeface="Arial"/>
                        </a:rPr>
                        <a:t>10.8 M</a:t>
                      </a:r>
                    </a:p>
                  </a:txBody>
                  <a:tcPr marL="54864" marR="54864" marT="18288" marB="18288" anchor="ctr">
                    <a:solidFill>
                      <a:srgbClr val="F3F5F9"/>
                    </a:solidFill>
                  </a:tcPr>
                </a:tc>
                <a:tc>
                  <a:txBody>
                    <a:bodyPr wrap="square"/>
                    <a:lstStyle/>
                    <a:p>
                      <a:pPr algn="r"/>
                      <a:r>
                        <a:rPr sz="1200" b="1" i="0">
                          <a:solidFill>
                            <a:srgbClr val="1F2A44"/>
                          </a:solidFill>
                          <a:latin typeface="Arial"/>
                        </a:rPr>
                        <a:t>$20.25</a:t>
                      </a:r>
                    </a:p>
                  </a:txBody>
                  <a:tcPr marL="54864" marR="54864" marT="18288" marB="18288" anchor="ctr">
                    <a:solidFill>
                      <a:srgbClr val="F3F5F9"/>
                    </a:solidFill>
                  </a:tcPr>
                </a:tc>
                <a:tc>
                  <a:txBody>
                    <a:bodyPr wrap="square"/>
                    <a:lstStyle/>
                    <a:p>
                      <a:pPr algn="r"/>
                      <a:r>
                        <a:rPr sz="1200" b="1" i="0">
                          <a:solidFill>
                            <a:srgbClr val="1F2A44"/>
                          </a:solidFill>
                          <a:latin typeface="Arial"/>
                        </a:rPr>
                        <a:t>10.3 M</a:t>
                      </a:r>
                    </a:p>
                  </a:txBody>
                  <a:tcPr marL="54864" marR="54864" marT="18288" marB="18288" anchor="ctr">
                    <a:solidFill>
                      <a:srgbClr val="F3F5F9"/>
                    </a:solidFill>
                  </a:tcPr>
                </a:tc>
                <a:tc>
                  <a:txBody>
                    <a:bodyPr wrap="square"/>
                    <a:lstStyle/>
                    <a:p>
                      <a:pPr algn="r"/>
                      <a:r>
                        <a:rPr sz="1200" b="1" i="0">
                          <a:solidFill>
                            <a:srgbClr val="1F2A44"/>
                          </a:solidFill>
                          <a:latin typeface="Arial"/>
                        </a:rPr>
                        <a:t>$19.87</a:t>
                      </a:r>
                    </a:p>
                  </a:txBody>
                  <a:tcPr marL="54864" marR="54864" marT="18288" marB="18288" anchor="ctr">
                    <a:solidFill>
                      <a:srgbClr val="F3F5F9"/>
                    </a:solidFill>
                  </a:tcPr>
                </a:tc>
              </a:tr>
            </a:tbl>
          </a:graphicData>
        </a:graphic>
      </p:graphicFrame>
      <p:sp>
        <p:nvSpPr>
          <p:cNvPr id="9" name="Rounded Rectangle 8"/>
          <p:cNvSpPr/>
          <p:nvPr/>
        </p:nvSpPr>
        <p:spPr>
          <a:xfrm>
            <a:off x="7040880" y="1325880"/>
            <a:ext cx="4736592" cy="1325880"/>
          </a:xfrm>
          <a:prstGeom prst="roundRect">
            <a:avLst>
              <a:gd name="adj" fmla="val 11034"/>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Within 2%, but not by law</a:t>
            </a:r>
          </a:p>
          <a:p>
            <a:pPr algn="l">
              <a:spcAft>
                <a:spcPts val="300"/>
              </a:spcAft>
            </a:pPr>
            <a:r>
              <a:rPr sz="1200" b="0" i="0">
                <a:solidFill>
                  <a:srgbClr val="1F2A44"/>
                </a:solidFill>
                <a:latin typeface="Arial"/>
              </a:rPr>
              <a:t>The totals land within 2% ($20.25 / $19.87): the same request bodies through one gateway. appworld turn counts are nondeterministic, so size it on your cluster.</a:t>
            </a:r>
          </a:p>
        </p:txBody>
      </p:sp>
      <p:sp>
        <p:nvSpPr>
          <p:cNvPr id="10" name="Rounded Rectangle 9"/>
          <p:cNvSpPr/>
          <p:nvPr/>
        </p:nvSpPr>
        <p:spPr>
          <a:xfrm>
            <a:off x="7040880" y="2834640"/>
            <a:ext cx="4736592" cy="1965960"/>
          </a:xfrm>
          <a:prstGeom prst="roundRect">
            <a:avLst>
              <a:gd name="adj" fmla="val 7441"/>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The totals understate it</a:t>
            </a:r>
          </a:p>
          <a:p>
            <a:pPr algn="l" marL="137160" indent="-137160">
              <a:spcAft>
                <a:spcPts val="200"/>
              </a:spcAft>
              <a:buChar char="•"/>
            </a:pPr>
            <a:r>
              <a:rPr sz="1200" b="0" i="0">
                <a:solidFill>
                  <a:srgbClr val="1F2A44"/>
                </a:solidFill>
                <a:latin typeface="Arial"/>
              </a:rPr>
              <a:t>a task killed by its timeout burns tokens and leaves no report row</a:t>
            </a:r>
          </a:p>
          <a:p>
            <a:pPr algn="l" marL="137160" indent="-137160">
              <a:spcAft>
                <a:spcPts val="200"/>
              </a:spcAft>
              <a:buChar char="•"/>
            </a:pPr>
            <a:r>
              <a:rPr sz="1200" b="0" i="0">
                <a:solidFill>
                  <a:srgbClr val="1F2A44"/>
                </a:solidFill>
                <a:latin typeface="Arial"/>
              </a:rPr>
              <a:t>tau2's user simulator is billed by the gateway and counted nowhere here</a:t>
            </a:r>
          </a:p>
          <a:p>
            <a:pPr algn="l" marL="137160" indent="-137160">
              <a:spcAft>
                <a:spcPts val="200"/>
              </a:spcAft>
              <a:buChar char="•"/>
            </a:pPr>
            <a:r>
              <a:rPr sz="1200" b="0" i="0">
                <a:solidFill>
                  <a:srgbClr val="1F2A44"/>
                </a:solidFill>
                <a:latin typeface="Arial"/>
              </a:rPr>
              <a:t>a replayed completion re-reports usage never made upstream</a:t>
            </a:r>
          </a:p>
          <a:p>
            <a:pPr algn="l" marL="137160" indent="-137160">
              <a:spcAft>
                <a:spcPts val="200"/>
              </a:spcAft>
              <a:buChar char="•"/>
            </a:pPr>
            <a:r>
              <a:rPr sz="1200" b="0" i="0">
                <a:solidFill>
                  <a:srgbClr val="1F2A44"/>
                </a:solidFill>
                <a:latin typeface="Arial"/>
              </a:rPr>
              <a:t>the IBAC judge's calls are not in the agent's spans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Money amplifies the difficulty ladder rather than tracking it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Per task, pooled over both platforms, at our gateway's posted rates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22</a:t>
            </a:r>
          </a:p>
        </p:txBody>
      </p:sp>
      <p:graphicFrame>
        <p:nvGraphicFramePr>
          <p:cNvPr id="8" name="Table 7"/>
          <p:cNvGraphicFramePr>
            <a:graphicFrameLocks noGrp="1"/>
          </p:cNvGraphicFramePr>
          <p:nvPr/>
        </p:nvGraphicFramePr>
        <p:xfrm>
          <a:off x="411480" y="1325880"/>
          <a:ext cx="6035038" cy="4023360"/>
        </p:xfrm>
        <a:graphic>
          <a:graphicData uri="http://schemas.openxmlformats.org/drawingml/2006/table">
            <a:tbl>
              <a:tblPr firstRow="0" bandRow="0">
                <a:tableStyleId>{5C22544A-7EE6-4342-B048-85BDC9FD1C3A}</a:tableStyleId>
              </a:tblPr>
              <a:tblGrid>
                <a:gridCol w="2130014"/>
                <a:gridCol w="1242508"/>
                <a:gridCol w="1331258"/>
                <a:gridCol w="1331258"/>
              </a:tblGrid>
              <a:tr h="365760">
                <a:tc>
                  <a:txBody>
                    <a:bodyPr wrap="square"/>
                    <a:lstStyle/>
                    <a:p>
                      <a:pPr algn="l"/>
                      <a:r>
                        <a:rPr sz="1200" b="1" i="0">
                          <a:solidFill>
                            <a:srgbClr val="FFFFFF"/>
                          </a:solidFill>
                          <a:latin typeface="Arial"/>
                        </a:rPr>
                        <a:t>per task</a:t>
                      </a:r>
                    </a:p>
                  </a:txBody>
                  <a:tcPr marL="54864" marR="54864" marT="18288" marB="18288" anchor="ctr">
                    <a:solidFill>
                      <a:srgbClr val="1F2A44"/>
                    </a:solidFill>
                  </a:tcPr>
                </a:tc>
                <a:tc>
                  <a:txBody>
                    <a:bodyPr wrap="square"/>
                    <a:lstStyle/>
                    <a:p>
                      <a:pPr algn="r"/>
                      <a:r>
                        <a:rPr sz="1200" b="1" i="0">
                          <a:solidFill>
                            <a:srgbClr val="FFFFFF"/>
                          </a:solidFill>
                          <a:latin typeface="Arial"/>
                        </a:rPr>
                        <a:t>gsm8k</a:t>
                      </a:r>
                    </a:p>
                  </a:txBody>
                  <a:tcPr marL="54864" marR="54864" marT="18288" marB="18288" anchor="ctr">
                    <a:solidFill>
                      <a:srgbClr val="1F2A44"/>
                    </a:solidFill>
                  </a:tcPr>
                </a:tc>
                <a:tc>
                  <a:txBody>
                    <a:bodyPr wrap="square"/>
                    <a:lstStyle/>
                    <a:p>
                      <a:pPr algn="r"/>
                      <a:r>
                        <a:rPr sz="1200" b="1" i="0">
                          <a:solidFill>
                            <a:srgbClr val="FFFFFF"/>
                          </a:solidFill>
                          <a:latin typeface="Arial"/>
                        </a:rPr>
                        <a:t>tau2</a:t>
                      </a:r>
                    </a:p>
                  </a:txBody>
                  <a:tcPr marL="54864" marR="54864" marT="18288" marB="18288" anchor="ctr">
                    <a:solidFill>
                      <a:srgbClr val="1F2A44"/>
                    </a:solidFill>
                  </a:tcPr>
                </a:tc>
                <a:tc>
                  <a:txBody>
                    <a:bodyPr wrap="square"/>
                    <a:lstStyle/>
                    <a:p>
                      <a:pPr algn="r"/>
                      <a:r>
                        <a:rPr sz="1200" b="1" i="0">
                          <a:solidFill>
                            <a:srgbClr val="FFFFFF"/>
                          </a:solidFill>
                          <a:latin typeface="Arial"/>
                        </a:rPr>
                        <a:t>appworld</a:t>
                      </a:r>
                    </a:p>
                  </a:txBody>
                  <a:tcPr marL="54864" marR="54864" marT="18288" marB="18288" anchor="ctr">
                    <a:solidFill>
                      <a:srgbClr val="1F2A44"/>
                    </a:solidFill>
                  </a:tcPr>
                </a:tc>
              </a:tr>
              <a:tr h="365760">
                <a:tc>
                  <a:txBody>
                    <a:bodyPr wrap="square"/>
                    <a:lstStyle/>
                    <a:p>
                      <a:pPr algn="l"/>
                      <a:r>
                        <a:rPr sz="1200" b="1" i="0">
                          <a:solidFill>
                            <a:srgbClr val="1F2A44"/>
                          </a:solidFill>
                          <a:latin typeface="Arial"/>
                        </a:rPr>
                        <a:t>model</a:t>
                      </a:r>
                    </a:p>
                  </a:txBody>
                  <a:tcPr marL="54864" marR="54864" marT="18288" marB="18288" anchor="ctr">
                    <a:solidFill>
                      <a:srgbClr val="FFFFFF"/>
                    </a:solidFill>
                  </a:tcPr>
                </a:tc>
                <a:tc>
                  <a:txBody>
                    <a:bodyPr wrap="square"/>
                    <a:lstStyle/>
                    <a:p>
                      <a:pPr algn="r"/>
                      <a:r>
                        <a:rPr sz="1200" b="0" i="0">
                          <a:solidFill>
                            <a:srgbClr val="1F2A44"/>
                          </a:solidFill>
                          <a:latin typeface="Arial"/>
                        </a:rPr>
                        <a:t>gpt-5-mini</a:t>
                      </a:r>
                    </a:p>
                  </a:txBody>
                  <a:tcPr marL="54864" marR="54864" marT="18288" marB="18288" anchor="ctr">
                    <a:solidFill>
                      <a:srgbClr val="FFFFFF"/>
                    </a:solidFill>
                  </a:tcPr>
                </a:tc>
                <a:tc>
                  <a:txBody>
                    <a:bodyPr wrap="square"/>
                    <a:lstStyle/>
                    <a:p>
                      <a:pPr algn="r"/>
                      <a:r>
                        <a:rPr sz="1200" b="0" i="0">
                          <a:solidFill>
                            <a:srgbClr val="1F2A44"/>
                          </a:solidFill>
                          <a:latin typeface="Arial"/>
                        </a:rPr>
                        <a:t>claude-sonnet-5</a:t>
                      </a:r>
                    </a:p>
                  </a:txBody>
                  <a:tcPr marL="54864" marR="54864" marT="18288" marB="18288" anchor="ctr">
                    <a:solidFill>
                      <a:srgbClr val="FFFFFF"/>
                    </a:solidFill>
                  </a:tcPr>
                </a:tc>
                <a:tc>
                  <a:txBody>
                    <a:bodyPr wrap="square"/>
                    <a:lstStyle/>
                    <a:p>
                      <a:pPr algn="r"/>
                      <a:r>
                        <a:rPr sz="1200" b="0" i="0">
                          <a:solidFill>
                            <a:srgbClr val="1F2A44"/>
                          </a:solidFill>
                          <a:latin typeface="Arial"/>
                        </a:rPr>
                        <a:t>gemini-2.5-pro</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LLM calls</a:t>
                      </a:r>
                    </a:p>
                  </a:txBody>
                  <a:tcPr marL="54864" marR="54864" marT="18288" marB="18288" anchor="ctr">
                    <a:solidFill>
                      <a:srgbClr val="F3F5F9"/>
                    </a:solidFill>
                  </a:tcPr>
                </a:tc>
                <a:tc>
                  <a:txBody>
                    <a:bodyPr wrap="square"/>
                    <a:lstStyle/>
                    <a:p>
                      <a:pPr algn="r"/>
                      <a:r>
                        <a:rPr sz="1200" b="0" i="0">
                          <a:solidFill>
                            <a:srgbClr val="1F2A44"/>
                          </a:solidFill>
                          <a:latin typeface="Arial"/>
                        </a:rPr>
                        <a:t>1.11</a:t>
                      </a:r>
                    </a:p>
                  </a:txBody>
                  <a:tcPr marL="54864" marR="54864" marT="18288" marB="18288" anchor="ctr">
                    <a:solidFill>
                      <a:srgbClr val="F3F5F9"/>
                    </a:solidFill>
                  </a:tcPr>
                </a:tc>
                <a:tc>
                  <a:txBody>
                    <a:bodyPr wrap="square"/>
                    <a:lstStyle/>
                    <a:p>
                      <a:pPr algn="r"/>
                      <a:r>
                        <a:rPr sz="1200" b="0" i="0">
                          <a:solidFill>
                            <a:srgbClr val="1F2A44"/>
                          </a:solidFill>
                          <a:latin typeface="Arial"/>
                        </a:rPr>
                        <a:t>11.10</a:t>
                      </a:r>
                    </a:p>
                  </a:txBody>
                  <a:tcPr marL="54864" marR="54864" marT="18288" marB="18288" anchor="ctr">
                    <a:solidFill>
                      <a:srgbClr val="F3F5F9"/>
                    </a:solidFill>
                  </a:tcPr>
                </a:tc>
                <a:tc>
                  <a:txBody>
                    <a:bodyPr wrap="square"/>
                    <a:lstStyle/>
                    <a:p>
                      <a:pPr algn="r"/>
                      <a:r>
                        <a:rPr sz="1200" b="0" i="0">
                          <a:solidFill>
                            <a:srgbClr val="1F2A44"/>
                          </a:solidFill>
                          <a:latin typeface="Arial"/>
                        </a:rPr>
                        <a:t>30.22</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total tokens</a:t>
                      </a:r>
                    </a:p>
                  </a:txBody>
                  <a:tcPr marL="54864" marR="54864" marT="18288" marB="18288" anchor="ctr">
                    <a:solidFill>
                      <a:srgbClr val="FFFFFF"/>
                    </a:solidFill>
                  </a:tcPr>
                </a:tc>
                <a:tc>
                  <a:txBody>
                    <a:bodyPr wrap="square"/>
                    <a:lstStyle/>
                    <a:p>
                      <a:pPr algn="r"/>
                      <a:r>
                        <a:rPr sz="1200" b="0" i="0">
                          <a:solidFill>
                            <a:srgbClr val="1F2A44"/>
                          </a:solidFill>
                          <a:latin typeface="Arial"/>
                        </a:rPr>
                        <a:t>513</a:t>
                      </a:r>
                    </a:p>
                  </a:txBody>
                  <a:tcPr marL="54864" marR="54864" marT="18288" marB="18288" anchor="ctr">
                    <a:solidFill>
                      <a:srgbClr val="FFFFFF"/>
                    </a:solidFill>
                  </a:tcPr>
                </a:tc>
                <a:tc>
                  <a:txBody>
                    <a:bodyPr wrap="square"/>
                    <a:lstStyle/>
                    <a:p>
                      <a:pPr algn="r"/>
                      <a:r>
                        <a:rPr sz="1200" b="0" i="0">
                          <a:solidFill>
                            <a:srgbClr val="1F2A44"/>
                          </a:solidFill>
                          <a:latin typeface="Arial"/>
                        </a:rPr>
                        <a:t>90,006</a:t>
                      </a:r>
                    </a:p>
                  </a:txBody>
                  <a:tcPr marL="54864" marR="54864" marT="18288" marB="18288" anchor="ctr">
                    <a:solidFill>
                      <a:srgbClr val="FFFFFF"/>
                    </a:solidFill>
                  </a:tcPr>
                </a:tc>
                <a:tc>
                  <a:txBody>
                    <a:bodyPr wrap="square"/>
                    <a:lstStyle/>
                    <a:p>
                      <a:pPr algn="r"/>
                      <a:r>
                        <a:rPr sz="1200" b="0" i="0">
                          <a:solidFill>
                            <a:srgbClr val="1F2A44"/>
                          </a:solidFill>
                          <a:latin typeface="Arial"/>
                        </a:rPr>
                        <a:t>318,459</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 gsm8k, in tokens</a:t>
                      </a:r>
                    </a:p>
                  </a:txBody>
                  <a:tcPr marL="54864" marR="54864" marT="18288" marB="18288" anchor="ctr">
                    <a:solidFill>
                      <a:srgbClr val="F3F5F9"/>
                    </a:solidFill>
                  </a:tcPr>
                </a:tc>
                <a:tc>
                  <a:txBody>
                    <a:bodyPr wrap="square"/>
                    <a:lstStyle/>
                    <a:p>
                      <a:pPr algn="r"/>
                      <a:r>
                        <a:rPr sz="1200" b="0" i="0">
                          <a:solidFill>
                            <a:srgbClr val="1F2A44"/>
                          </a:solidFill>
                          <a:latin typeface="Arial"/>
                        </a:rPr>
                        <a:t>1×</a:t>
                      </a:r>
                    </a:p>
                  </a:txBody>
                  <a:tcPr marL="54864" marR="54864" marT="18288" marB="18288" anchor="ctr">
                    <a:solidFill>
                      <a:srgbClr val="F3F5F9"/>
                    </a:solidFill>
                  </a:tcPr>
                </a:tc>
                <a:tc>
                  <a:txBody>
                    <a:bodyPr wrap="square"/>
                    <a:lstStyle/>
                    <a:p>
                      <a:pPr algn="r"/>
                      <a:r>
                        <a:rPr sz="1200" b="0" i="0">
                          <a:solidFill>
                            <a:srgbClr val="1F2A44"/>
                          </a:solidFill>
                          <a:latin typeface="Arial"/>
                        </a:rPr>
                        <a:t>175×</a:t>
                      </a:r>
                    </a:p>
                  </a:txBody>
                  <a:tcPr marL="54864" marR="54864" marT="18288" marB="18288" anchor="ctr">
                    <a:solidFill>
                      <a:srgbClr val="F3F5F9"/>
                    </a:solidFill>
                  </a:tcPr>
                </a:tc>
                <a:tc>
                  <a:txBody>
                    <a:bodyPr wrap="square"/>
                    <a:lstStyle/>
                    <a:p>
                      <a:pPr algn="r"/>
                      <a:r>
                        <a:rPr sz="1200" b="0" i="0">
                          <a:solidFill>
                            <a:srgbClr val="1F2A44"/>
                          </a:solidFill>
                          <a:latin typeface="Arial"/>
                        </a:rPr>
                        <a:t>621×</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cost</a:t>
                      </a:r>
                    </a:p>
                  </a:txBody>
                  <a:tcPr marL="54864" marR="54864" marT="18288" marB="18288" anchor="ctr">
                    <a:solidFill>
                      <a:srgbClr val="FFFFFF"/>
                    </a:solidFill>
                  </a:tcPr>
                </a:tc>
                <a:tc>
                  <a:txBody>
                    <a:bodyPr wrap="square"/>
                    <a:lstStyle/>
                    <a:p>
                      <a:pPr algn="r"/>
                      <a:r>
                        <a:rPr sz="1200" b="0" i="0">
                          <a:solidFill>
                            <a:srgbClr val="1F2A44"/>
                          </a:solidFill>
                          <a:latin typeface="Arial"/>
                        </a:rPr>
                        <a:t>$0.00053</a:t>
                      </a:r>
                    </a:p>
                  </a:txBody>
                  <a:tcPr marL="54864" marR="54864" marT="18288" marB="18288" anchor="ctr">
                    <a:solidFill>
                      <a:srgbClr val="FFFFFF"/>
                    </a:solidFill>
                  </a:tcPr>
                </a:tc>
                <a:tc>
                  <a:txBody>
                    <a:bodyPr wrap="square"/>
                    <a:lstStyle/>
                    <a:p>
                      <a:pPr algn="r"/>
                      <a:r>
                        <a:rPr sz="1200" b="0" i="0">
                          <a:solidFill>
                            <a:srgbClr val="1F2A44"/>
                          </a:solidFill>
                          <a:latin typeface="Arial"/>
                        </a:rPr>
                        <a:t>$0.149</a:t>
                      </a:r>
                    </a:p>
                  </a:txBody>
                  <a:tcPr marL="54864" marR="54864" marT="18288" marB="18288" anchor="ctr">
                    <a:solidFill>
                      <a:srgbClr val="FFFFFF"/>
                    </a:solidFill>
                  </a:tcPr>
                </a:tc>
                <a:tc>
                  <a:txBody>
                    <a:bodyPr wrap="square"/>
                    <a:lstStyle/>
                    <a:p>
                      <a:pPr algn="r"/>
                      <a:r>
                        <a:rPr sz="1200" b="0" i="0">
                          <a:solidFill>
                            <a:srgbClr val="1F2A44"/>
                          </a:solidFill>
                          <a:latin typeface="Arial"/>
                        </a:rPr>
                        <a:t>$0.634</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 gsm8k, in dollars</a:t>
                      </a:r>
                    </a:p>
                  </a:txBody>
                  <a:tcPr marL="54864" marR="54864" marT="18288" marB="18288" anchor="ctr">
                    <a:solidFill>
                      <a:srgbClr val="F3F5F9"/>
                    </a:solidFill>
                  </a:tcPr>
                </a:tc>
                <a:tc>
                  <a:txBody>
                    <a:bodyPr wrap="square"/>
                    <a:lstStyle/>
                    <a:p>
                      <a:pPr algn="r"/>
                      <a:r>
                        <a:rPr sz="1200" b="0" i="0">
                          <a:solidFill>
                            <a:srgbClr val="1F2A44"/>
                          </a:solidFill>
                          <a:latin typeface="Arial"/>
                        </a:rPr>
                        <a:t>1×</a:t>
                      </a:r>
                    </a:p>
                  </a:txBody>
                  <a:tcPr marL="54864" marR="54864" marT="18288" marB="18288" anchor="ctr">
                    <a:solidFill>
                      <a:srgbClr val="F3F5F9"/>
                    </a:solidFill>
                  </a:tcPr>
                </a:tc>
                <a:tc>
                  <a:txBody>
                    <a:bodyPr wrap="square"/>
                    <a:lstStyle/>
                    <a:p>
                      <a:pPr algn="r"/>
                      <a:r>
                        <a:rPr sz="1200" b="0" i="0">
                          <a:solidFill>
                            <a:srgbClr val="1F2A44"/>
                          </a:solidFill>
                          <a:latin typeface="Arial"/>
                        </a:rPr>
                        <a:t>282×</a:t>
                      </a:r>
                    </a:p>
                  </a:txBody>
                  <a:tcPr marL="54864" marR="54864" marT="18288" marB="18288" anchor="ctr">
                    <a:solidFill>
                      <a:srgbClr val="F3F5F9"/>
                    </a:solidFill>
                  </a:tcPr>
                </a:tc>
                <a:tc>
                  <a:txBody>
                    <a:bodyPr wrap="square"/>
                    <a:lstStyle/>
                    <a:p>
                      <a:pPr algn="r"/>
                      <a:r>
                        <a:rPr sz="1200" b="0" i="0">
                          <a:solidFill>
                            <a:srgbClr val="1F2A44"/>
                          </a:solidFill>
                          <a:latin typeface="Arial"/>
                        </a:rPr>
                        <a:t>1,195×</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cost of 100 tasks</a:t>
                      </a:r>
                    </a:p>
                  </a:txBody>
                  <a:tcPr marL="54864" marR="54864" marT="18288" marB="18288" anchor="ctr">
                    <a:solidFill>
                      <a:srgbClr val="FFFFFF"/>
                    </a:solidFill>
                  </a:tcPr>
                </a:tc>
                <a:tc>
                  <a:txBody>
                    <a:bodyPr wrap="square"/>
                    <a:lstStyle/>
                    <a:p>
                      <a:pPr algn="r"/>
                      <a:r>
                        <a:rPr sz="1200" b="0" i="0">
                          <a:solidFill>
                            <a:srgbClr val="1F2A44"/>
                          </a:solidFill>
                          <a:latin typeface="Arial"/>
                        </a:rPr>
                        <a:t>$0.05</a:t>
                      </a:r>
                    </a:p>
                  </a:txBody>
                  <a:tcPr marL="54864" marR="54864" marT="18288" marB="18288" anchor="ctr">
                    <a:solidFill>
                      <a:srgbClr val="FFFFFF"/>
                    </a:solidFill>
                  </a:tcPr>
                </a:tc>
                <a:tc>
                  <a:txBody>
                    <a:bodyPr wrap="square"/>
                    <a:lstStyle/>
                    <a:p>
                      <a:pPr algn="r"/>
                      <a:r>
                        <a:rPr sz="1200" b="0" i="0">
                          <a:solidFill>
                            <a:srgbClr val="1F2A44"/>
                          </a:solidFill>
                          <a:latin typeface="Arial"/>
                        </a:rPr>
                        <a:t>$14.94</a:t>
                      </a:r>
                    </a:p>
                  </a:txBody>
                  <a:tcPr marL="54864" marR="54864" marT="18288" marB="18288" anchor="ctr">
                    <a:solidFill>
                      <a:srgbClr val="FFFFFF"/>
                    </a:solidFill>
                  </a:tcPr>
                </a:tc>
                <a:tc>
                  <a:txBody>
                    <a:bodyPr wrap="square"/>
                    <a:lstStyle/>
                    <a:p>
                      <a:pPr algn="r"/>
                      <a:r>
                        <a:rPr sz="1200" b="0" i="0">
                          <a:solidFill>
                            <a:srgbClr val="1F2A44"/>
                          </a:solidFill>
                          <a:latin typeface="Arial"/>
                        </a:rPr>
                        <a:t>$63.39</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input share of tokens</a:t>
                      </a:r>
                    </a:p>
                  </a:txBody>
                  <a:tcPr marL="54864" marR="54864" marT="18288" marB="18288" anchor="ctr">
                    <a:solidFill>
                      <a:srgbClr val="F3F5F9"/>
                    </a:solidFill>
                  </a:tcPr>
                </a:tc>
                <a:tc>
                  <a:txBody>
                    <a:bodyPr wrap="square"/>
                    <a:lstStyle/>
                    <a:p>
                      <a:pPr algn="r"/>
                      <a:r>
                        <a:rPr sz="1200" b="0" i="0">
                          <a:solidFill>
                            <a:srgbClr val="1F2A44"/>
                          </a:solidFill>
                          <a:latin typeface="Arial"/>
                        </a:rPr>
                        <a:t>67%</a:t>
                      </a:r>
                    </a:p>
                  </a:txBody>
                  <a:tcPr marL="54864" marR="54864" marT="18288" marB="18288" anchor="ctr">
                    <a:solidFill>
                      <a:srgbClr val="F3F5F9"/>
                    </a:solidFill>
                  </a:tcPr>
                </a:tc>
                <a:tc>
                  <a:txBody>
                    <a:bodyPr wrap="square"/>
                    <a:lstStyle/>
                    <a:p>
                      <a:pPr algn="r"/>
                      <a:r>
                        <a:rPr sz="1200" b="0" i="0">
                          <a:solidFill>
                            <a:srgbClr val="1F2A44"/>
                          </a:solidFill>
                          <a:latin typeface="Arial"/>
                        </a:rPr>
                        <a:t>98%</a:t>
                      </a:r>
                    </a:p>
                  </a:txBody>
                  <a:tcPr marL="54864" marR="54864" marT="18288" marB="18288" anchor="ctr">
                    <a:solidFill>
                      <a:srgbClr val="F3F5F9"/>
                    </a:solidFill>
                  </a:tcPr>
                </a:tc>
                <a:tc>
                  <a:txBody>
                    <a:bodyPr wrap="square"/>
                    <a:lstStyle/>
                    <a:p>
                      <a:pPr algn="r"/>
                      <a:r>
                        <a:rPr sz="1200" b="0" i="0">
                          <a:solidFill>
                            <a:srgbClr val="1F2A44"/>
                          </a:solidFill>
                          <a:latin typeface="Arial"/>
                        </a:rPr>
                        <a:t>92%</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input share of cost</a:t>
                      </a:r>
                    </a:p>
                  </a:txBody>
                  <a:tcPr marL="54864" marR="54864" marT="18288" marB="18288" anchor="ctr">
                    <a:solidFill>
                      <a:srgbClr val="FFFFFF"/>
                    </a:solidFill>
                  </a:tcPr>
                </a:tc>
                <a:tc>
                  <a:txBody>
                    <a:bodyPr wrap="square"/>
                    <a:lstStyle/>
                    <a:p>
                      <a:pPr algn="r"/>
                      <a:r>
                        <a:rPr sz="1200" b="0" i="0">
                          <a:solidFill>
                            <a:srgbClr val="1F2A44"/>
                          </a:solidFill>
                          <a:latin typeface="Arial"/>
                        </a:rPr>
                        <a:t>32%</a:t>
                      </a:r>
                    </a:p>
                  </a:txBody>
                  <a:tcPr marL="54864" marR="54864" marT="18288" marB="18288" anchor="ctr">
                    <a:solidFill>
                      <a:srgbClr val="FFFFFF"/>
                    </a:solidFill>
                  </a:tcPr>
                </a:tc>
                <a:tc>
                  <a:txBody>
                    <a:bodyPr wrap="square"/>
                    <a:lstStyle/>
                    <a:p>
                      <a:pPr algn="r"/>
                      <a:r>
                        <a:rPr sz="1200" b="0" i="0">
                          <a:solidFill>
                            <a:srgbClr val="1F2A44"/>
                          </a:solidFill>
                          <a:latin typeface="Arial"/>
                        </a:rPr>
                        <a:t>89%</a:t>
                      </a:r>
                    </a:p>
                  </a:txBody>
                  <a:tcPr marL="54864" marR="54864" marT="18288" marB="18288" anchor="ctr">
                    <a:solidFill>
                      <a:srgbClr val="FFFFFF"/>
                    </a:solidFill>
                  </a:tcPr>
                </a:tc>
                <a:tc>
                  <a:txBody>
                    <a:bodyPr wrap="square"/>
                    <a:lstStyle/>
                    <a:p>
                      <a:pPr algn="r"/>
                      <a:r>
                        <a:rPr sz="1200" b="0" i="0">
                          <a:solidFill>
                            <a:srgbClr val="1F2A44"/>
                          </a:solidFill>
                          <a:latin typeface="Arial"/>
                        </a:rPr>
                        <a:t>57%</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time inside model calls</a:t>
                      </a:r>
                    </a:p>
                  </a:txBody>
                  <a:tcPr marL="54864" marR="54864" marT="18288" marB="18288" anchor="ctr">
                    <a:solidFill>
                      <a:srgbClr val="F3F5F9"/>
                    </a:solidFill>
                  </a:tcPr>
                </a:tc>
                <a:tc>
                  <a:txBody>
                    <a:bodyPr wrap="square"/>
                    <a:lstStyle/>
                    <a:p>
                      <a:pPr algn="r"/>
                      <a:r>
                        <a:rPr sz="1200" b="0" i="0">
                          <a:solidFill>
                            <a:srgbClr val="1F2A44"/>
                          </a:solidFill>
                          <a:latin typeface="Arial"/>
                        </a:rPr>
                        <a:t>82%</a:t>
                      </a:r>
                    </a:p>
                  </a:txBody>
                  <a:tcPr marL="54864" marR="54864" marT="18288" marB="18288" anchor="ctr">
                    <a:solidFill>
                      <a:srgbClr val="F3F5F9"/>
                    </a:solidFill>
                  </a:tcPr>
                </a:tc>
                <a:tc>
                  <a:txBody>
                    <a:bodyPr wrap="square"/>
                    <a:lstStyle/>
                    <a:p>
                      <a:pPr algn="r"/>
                      <a:r>
                        <a:rPr sz="1200" b="0" i="0">
                          <a:solidFill>
                            <a:srgbClr val="1F2A44"/>
                          </a:solidFill>
                          <a:latin typeface="Arial"/>
                        </a:rPr>
                        <a:t>60%</a:t>
                      </a:r>
                    </a:p>
                  </a:txBody>
                  <a:tcPr marL="54864" marR="54864" marT="18288" marB="18288" anchor="ctr">
                    <a:solidFill>
                      <a:srgbClr val="F3F5F9"/>
                    </a:solidFill>
                  </a:tcPr>
                </a:tc>
                <a:tc>
                  <a:txBody>
                    <a:bodyPr wrap="square"/>
                    <a:lstStyle/>
                    <a:p>
                      <a:pPr algn="r"/>
                      <a:r>
                        <a:rPr sz="1200" b="0" i="0">
                          <a:solidFill>
                            <a:srgbClr val="1F2A44"/>
                          </a:solidFill>
                          <a:latin typeface="Arial"/>
                        </a:rPr>
                        <a:t>95%</a:t>
                      </a:r>
                    </a:p>
                  </a:txBody>
                  <a:tcPr marL="54864" marR="54864" marT="18288" marB="18288" anchor="ctr">
                    <a:solidFill>
                      <a:srgbClr val="F3F5F9"/>
                    </a:solidFill>
                  </a:tcPr>
                </a:tc>
              </a:tr>
            </a:tbl>
          </a:graphicData>
        </a:graphic>
      </p:graphicFrame>
      <p:sp>
        <p:nvSpPr>
          <p:cNvPr id="9" name="Rounded Rectangle 8"/>
          <p:cNvSpPr/>
          <p:nvPr/>
        </p:nvSpPr>
        <p:spPr>
          <a:xfrm>
            <a:off x="6675120" y="1325880"/>
            <a:ext cx="5102352"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formula</a:t>
            </a:r>
          </a:p>
          <a:p>
            <a:pPr algn="l">
              <a:spcAft>
                <a:spcPts val="300"/>
              </a:spcAft>
            </a:pPr>
            <a:r>
              <a:rPr sz="1300" b="0" i="0">
                <a:solidFill>
                  <a:srgbClr val="1F2A44"/>
                </a:solidFill>
                <a:latin typeface="Arial"/>
              </a:rPr>
              <a:t>cost per task = (input tokens × P_in + output tokens × P_out) / 1 M. Which model is cheaper is a property of the price list, not of the models.</a:t>
            </a:r>
          </a:p>
        </p:txBody>
      </p:sp>
      <p:sp>
        <p:nvSpPr>
          <p:cNvPr id="10" name="Rounded Rectangle 9"/>
          <p:cNvSpPr/>
          <p:nvPr/>
        </p:nvSpPr>
        <p:spPr>
          <a:xfrm>
            <a:off x="6675120" y="2697480"/>
            <a:ext cx="510235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money climbs faster</a:t>
            </a:r>
          </a:p>
          <a:p>
            <a:pPr algn="l">
              <a:spcAft>
                <a:spcPts val="300"/>
              </a:spcAft>
            </a:pPr>
            <a:r>
              <a:rPr sz="1300" b="0" i="0">
                <a:solidFill>
                  <a:srgbClr val="1F2A44"/>
                </a:solidFill>
                <a:latin typeface="Arial"/>
              </a:rPr>
              <a:t>The harder benchmarks also run the dearer models: tau2 is 175× a gsm8k task in tokens but 282× in dollars, appworld 621× but 1,195×. A budget scaled off the token ratios is short by 1.6–1.9×.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Output is priced 4–8× input at every provider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rate card: read off the gateway's admin UI on 2026-09-17, kept in </a:t>
            </a:r>
            <a:r>
              <a:rPr sz="1400" b="0" i="0">
                <a:solidFill>
                  <a:srgbClr val="5B6477"/>
                </a:solidFill>
                <a:latin typeface="Consolas"/>
              </a:rPr>
              <a:t>reference/model_prices.json</a:t>
            </a:r>
            <a:r>
              <a:rPr sz="1400" b="0" i="0">
                <a:solidFill>
                  <a:srgbClr val="5B6477"/>
                </a:solidFill>
                <a:latin typeface="Arial"/>
              </a:rPr>
              <a:t>; posted rates, not an invoice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23</a:t>
            </a:r>
          </a:p>
        </p:txBody>
      </p:sp>
      <p:graphicFrame>
        <p:nvGraphicFramePr>
          <p:cNvPr id="8" name="Table 7"/>
          <p:cNvGraphicFramePr>
            <a:graphicFrameLocks noGrp="1"/>
          </p:cNvGraphicFramePr>
          <p:nvPr/>
        </p:nvGraphicFramePr>
        <p:xfrm>
          <a:off x="411480" y="1325880"/>
          <a:ext cx="11365989" cy="2103120"/>
        </p:xfrm>
        <a:graphic>
          <a:graphicData uri="http://schemas.openxmlformats.org/drawingml/2006/table">
            <a:tbl>
              <a:tblPr firstRow="0" bandRow="0">
                <a:tableStyleId>{5C22544A-7EE6-4342-B048-85BDC9FD1C3A}</a:tableStyleId>
              </a:tblPr>
              <a:tblGrid>
                <a:gridCol w="3666449"/>
                <a:gridCol w="1466579"/>
                <a:gridCol w="1191595"/>
                <a:gridCol w="1191595"/>
                <a:gridCol w="1008273"/>
                <a:gridCol w="2841498"/>
              </a:tblGrid>
              <a:tr h="420624">
                <a:tc>
                  <a:txBody>
                    <a:bodyPr wrap="square"/>
                    <a:lstStyle/>
                    <a:p>
                      <a:pPr algn="l"/>
                      <a:r>
                        <a:rPr sz="1300" b="1" i="0">
                          <a:solidFill>
                            <a:srgbClr val="FFFFFF"/>
                          </a:solidFill>
                          <a:latin typeface="Arial"/>
                        </a:rPr>
                        <a:t>model (as </a:t>
                      </a:r>
                      <a:r>
                        <a:rPr sz="1300" b="1" i="0">
                          <a:solidFill>
                            <a:srgbClr val="FFFFFF"/>
                          </a:solidFill>
                          <a:latin typeface="Consolas"/>
                        </a:rPr>
                        <a:t>report.ndjson</a:t>
                      </a:r>
                      <a:r>
                        <a:rPr sz="1300" b="1" i="0">
                          <a:solidFill>
                            <a:srgbClr val="FFFFFF"/>
                          </a:solidFill>
                          <a:latin typeface="Arial"/>
                        </a:rPr>
                        <a:t> records it)</a:t>
                      </a:r>
                    </a:p>
                  </a:txBody>
                  <a:tcPr marL="54864" marR="54864" marT="18288" marB="18288" anchor="ctr">
                    <a:solidFill>
                      <a:srgbClr val="1F2A44"/>
                    </a:solidFill>
                  </a:tcPr>
                </a:tc>
                <a:tc>
                  <a:txBody>
                    <a:bodyPr wrap="square"/>
                    <a:lstStyle/>
                    <a:p>
                      <a:pPr algn="l"/>
                      <a:r>
                        <a:rPr sz="1300" b="1" i="0">
                          <a:solidFill>
                            <a:srgbClr val="FFFFFF"/>
                          </a:solidFill>
                          <a:latin typeface="Arial"/>
                        </a:rPr>
                        <a:t>provider</a:t>
                      </a:r>
                    </a:p>
                  </a:txBody>
                  <a:tcPr marL="54864" marR="54864" marT="18288" marB="18288" anchor="ctr">
                    <a:solidFill>
                      <a:srgbClr val="1F2A44"/>
                    </a:solidFill>
                  </a:tcPr>
                </a:tc>
                <a:tc>
                  <a:txBody>
                    <a:bodyPr wrap="square"/>
                    <a:lstStyle/>
                    <a:p>
                      <a:pPr algn="r"/>
                      <a:r>
                        <a:rPr sz="1300" b="1" i="0">
                          <a:solidFill>
                            <a:srgbClr val="FFFFFF"/>
                          </a:solidFill>
                          <a:latin typeface="Arial"/>
                        </a:rPr>
                        <a:t>in $/1M</a:t>
                      </a:r>
                    </a:p>
                  </a:txBody>
                  <a:tcPr marL="54864" marR="54864" marT="18288" marB="18288" anchor="ctr">
                    <a:solidFill>
                      <a:srgbClr val="1F2A44"/>
                    </a:solidFill>
                  </a:tcPr>
                </a:tc>
                <a:tc>
                  <a:txBody>
                    <a:bodyPr wrap="square"/>
                    <a:lstStyle/>
                    <a:p>
                      <a:pPr algn="r"/>
                      <a:r>
                        <a:rPr sz="1300" b="1" i="0">
                          <a:solidFill>
                            <a:srgbClr val="FFFFFF"/>
                          </a:solidFill>
                          <a:latin typeface="Arial"/>
                        </a:rPr>
                        <a:t>out $/1M</a:t>
                      </a:r>
                    </a:p>
                  </a:txBody>
                  <a:tcPr marL="54864" marR="54864" marT="18288" marB="18288" anchor="ctr">
                    <a:solidFill>
                      <a:srgbClr val="1F2A44"/>
                    </a:solidFill>
                  </a:tcPr>
                </a:tc>
                <a:tc>
                  <a:txBody>
                    <a:bodyPr wrap="square"/>
                    <a:lstStyle/>
                    <a:p>
                      <a:pPr algn="r"/>
                      <a:r>
                        <a:rPr sz="1300" b="1" i="0">
                          <a:solidFill>
                            <a:srgbClr val="FFFFFF"/>
                          </a:solidFill>
                          <a:latin typeface="Arial"/>
                        </a:rPr>
                        <a:t>out/in</a:t>
                      </a:r>
                    </a:p>
                  </a:txBody>
                  <a:tcPr marL="54864" marR="54864" marT="18288" marB="18288" anchor="ctr">
                    <a:solidFill>
                      <a:srgbClr val="1F2A44"/>
                    </a:solidFill>
                  </a:tcPr>
                </a:tc>
                <a:tc>
                  <a:txBody>
                    <a:bodyPr wrap="square"/>
                    <a:lstStyle/>
                    <a:p>
                      <a:pPr algn="r"/>
                      <a:r>
                        <a:rPr sz="1300" b="1" i="0">
                          <a:solidFill>
                            <a:srgbClr val="FFFFFF"/>
                          </a:solidFill>
                          <a:latin typeface="Arial"/>
                        </a:rPr>
                        <a:t>used by</a:t>
                      </a:r>
                    </a:p>
                  </a:txBody>
                  <a:tcPr marL="54864" marR="54864" marT="18288" marB="18288" anchor="ctr">
                    <a:solidFill>
                      <a:srgbClr val="1F2A44"/>
                    </a:solidFill>
                  </a:tcPr>
                </a:tc>
              </a:tr>
              <a:tr h="420624">
                <a:tc>
                  <a:txBody>
                    <a:bodyPr wrap="square"/>
                    <a:lstStyle/>
                    <a:p>
                      <a:pPr algn="l"/>
                      <a:r>
                        <a:rPr sz="1300" b="0" i="0">
                          <a:solidFill>
                            <a:srgbClr val="1F2A44"/>
                          </a:solidFill>
                          <a:latin typeface="Arial"/>
                        </a:rPr>
                        <a:t>Azure/gpt-5-mini-2025-08-07</a:t>
                      </a:r>
                    </a:p>
                  </a:txBody>
                  <a:tcPr marL="54864" marR="54864" marT="18288" marB="18288" anchor="ctr">
                    <a:solidFill>
                      <a:srgbClr val="FFFFFF"/>
                    </a:solidFill>
                  </a:tcPr>
                </a:tc>
                <a:tc>
                  <a:txBody>
                    <a:bodyPr wrap="square"/>
                    <a:lstStyle/>
                    <a:p>
                      <a:pPr algn="l"/>
                      <a:r>
                        <a:rPr sz="1300" b="0" i="0">
                          <a:solidFill>
                            <a:srgbClr val="1F2A44"/>
                          </a:solidFill>
                          <a:latin typeface="Arial"/>
                        </a:rPr>
                        <a:t>azure</a:t>
                      </a:r>
                    </a:p>
                  </a:txBody>
                  <a:tcPr marL="54864" marR="54864" marT="18288" marB="18288" anchor="ctr">
                    <a:solidFill>
                      <a:srgbClr val="FFFFFF"/>
                    </a:solidFill>
                  </a:tcPr>
                </a:tc>
                <a:tc>
                  <a:txBody>
                    <a:bodyPr wrap="square"/>
                    <a:lstStyle/>
                    <a:p>
                      <a:pPr algn="r"/>
                      <a:r>
                        <a:rPr sz="1300" b="0" i="0">
                          <a:solidFill>
                            <a:srgbClr val="1F2A44"/>
                          </a:solidFill>
                          <a:latin typeface="Arial"/>
                        </a:rPr>
                        <a:t>0.25</a:t>
                      </a:r>
                    </a:p>
                  </a:txBody>
                  <a:tcPr marL="54864" marR="54864" marT="18288" marB="18288" anchor="ctr">
                    <a:solidFill>
                      <a:srgbClr val="FFFFFF"/>
                    </a:solidFill>
                  </a:tcPr>
                </a:tc>
                <a:tc>
                  <a:txBody>
                    <a:bodyPr wrap="square"/>
                    <a:lstStyle/>
                    <a:p>
                      <a:pPr algn="r"/>
                      <a:r>
                        <a:rPr sz="1300" b="0" i="0">
                          <a:solidFill>
                            <a:srgbClr val="1F2A44"/>
                          </a:solidFill>
                          <a:latin typeface="Arial"/>
                        </a:rPr>
                        <a:t>2.00</a:t>
                      </a:r>
                    </a:p>
                  </a:txBody>
                  <a:tcPr marL="54864" marR="54864" marT="18288" marB="18288" anchor="ctr">
                    <a:solidFill>
                      <a:srgbClr val="FFFFFF"/>
                    </a:solidFill>
                  </a:tcPr>
                </a:tc>
                <a:tc>
                  <a:txBody>
                    <a:bodyPr wrap="square"/>
                    <a:lstStyle/>
                    <a:p>
                      <a:pPr algn="r"/>
                      <a:r>
                        <a:rPr sz="1300" b="0" i="0">
                          <a:solidFill>
                            <a:srgbClr val="1F2A44"/>
                          </a:solidFill>
                          <a:latin typeface="Arial"/>
                        </a:rPr>
                        <a:t>8.0×</a:t>
                      </a:r>
                    </a:p>
                  </a:txBody>
                  <a:tcPr marL="54864" marR="54864" marT="18288" marB="18288" anchor="ctr">
                    <a:solidFill>
                      <a:srgbClr val="FFFFFF"/>
                    </a:solidFill>
                  </a:tcPr>
                </a:tc>
                <a:tc>
                  <a:txBody>
                    <a:bodyPr wrap="square"/>
                    <a:lstStyle/>
                    <a:p>
                      <a:pPr algn="r"/>
                      <a:r>
                        <a:rPr sz="1300" b="0" i="0">
                          <a:solidFill>
                            <a:srgbClr val="1F2A44"/>
                          </a:solidFill>
                          <a:latin typeface="Arial"/>
                        </a:rPr>
                        <a:t>gsm8k</a:t>
                      </a:r>
                    </a:p>
                  </a:txBody>
                  <a:tcPr marL="54864" marR="54864" marT="18288" marB="18288" anchor="ctr">
                    <a:solidFill>
                      <a:srgbClr val="FFFFFF"/>
                    </a:solidFill>
                  </a:tcPr>
                </a:tc>
              </a:tr>
              <a:tr h="420624">
                <a:tc>
                  <a:txBody>
                    <a:bodyPr wrap="square"/>
                    <a:lstStyle/>
                    <a:p>
                      <a:pPr algn="l"/>
                      <a:r>
                        <a:rPr sz="1300" b="0" i="0">
                          <a:solidFill>
                            <a:srgbClr val="1F2A44"/>
                          </a:solidFill>
                          <a:latin typeface="Arial"/>
                        </a:rPr>
                        <a:t>gemini-2.5-pro</a:t>
                      </a:r>
                    </a:p>
                  </a:txBody>
                  <a:tcPr marL="54864" marR="54864" marT="18288" marB="18288" anchor="ctr">
                    <a:solidFill>
                      <a:srgbClr val="F3F5F9"/>
                    </a:solidFill>
                  </a:tcPr>
                </a:tc>
                <a:tc>
                  <a:txBody>
                    <a:bodyPr wrap="square"/>
                    <a:lstStyle/>
                    <a:p>
                      <a:pPr algn="l"/>
                      <a:r>
                        <a:rPr sz="1300" b="0" i="0">
                          <a:solidFill>
                            <a:srgbClr val="1F2A44"/>
                          </a:solidFill>
                          <a:latin typeface="Arial"/>
                        </a:rPr>
                        <a:t>vertex_ai</a:t>
                      </a:r>
                    </a:p>
                  </a:txBody>
                  <a:tcPr marL="54864" marR="54864" marT="18288" marB="18288" anchor="ctr">
                    <a:solidFill>
                      <a:srgbClr val="F3F5F9"/>
                    </a:solidFill>
                  </a:tcPr>
                </a:tc>
                <a:tc>
                  <a:txBody>
                    <a:bodyPr wrap="square"/>
                    <a:lstStyle/>
                    <a:p>
                      <a:pPr algn="r"/>
                      <a:r>
                        <a:rPr sz="1300" b="0" i="0">
                          <a:solidFill>
                            <a:srgbClr val="1F2A44"/>
                          </a:solidFill>
                          <a:latin typeface="Arial"/>
                        </a:rPr>
                        <a:t>1.25</a:t>
                      </a:r>
                    </a:p>
                  </a:txBody>
                  <a:tcPr marL="54864" marR="54864" marT="18288" marB="18288" anchor="ctr">
                    <a:solidFill>
                      <a:srgbClr val="F3F5F9"/>
                    </a:solidFill>
                  </a:tcPr>
                </a:tc>
                <a:tc>
                  <a:txBody>
                    <a:bodyPr wrap="square"/>
                    <a:lstStyle/>
                    <a:p>
                      <a:pPr algn="r"/>
                      <a:r>
                        <a:rPr sz="1300" b="0" i="0">
                          <a:solidFill>
                            <a:srgbClr val="1F2A44"/>
                          </a:solidFill>
                          <a:latin typeface="Arial"/>
                        </a:rPr>
                        <a:t>10.00</a:t>
                      </a:r>
                    </a:p>
                  </a:txBody>
                  <a:tcPr marL="54864" marR="54864" marT="18288" marB="18288" anchor="ctr">
                    <a:solidFill>
                      <a:srgbClr val="F3F5F9"/>
                    </a:solidFill>
                  </a:tcPr>
                </a:tc>
                <a:tc>
                  <a:txBody>
                    <a:bodyPr wrap="square"/>
                    <a:lstStyle/>
                    <a:p>
                      <a:pPr algn="r"/>
                      <a:r>
                        <a:rPr sz="1300" b="0" i="0">
                          <a:solidFill>
                            <a:srgbClr val="1F2A44"/>
                          </a:solidFill>
                          <a:latin typeface="Arial"/>
                        </a:rPr>
                        <a:t>8.0×</a:t>
                      </a:r>
                    </a:p>
                  </a:txBody>
                  <a:tcPr marL="54864" marR="54864" marT="18288" marB="18288" anchor="ctr">
                    <a:solidFill>
                      <a:srgbClr val="F3F5F9"/>
                    </a:solidFill>
                  </a:tcPr>
                </a:tc>
                <a:tc>
                  <a:txBody>
                    <a:bodyPr wrap="square"/>
                    <a:lstStyle/>
                    <a:p>
                      <a:pPr algn="r"/>
                      <a:r>
                        <a:rPr sz="1300" b="0" i="0">
                          <a:solidFill>
                            <a:srgbClr val="1F2A44"/>
                          </a:solidFill>
                          <a:latin typeface="Arial"/>
                        </a:rPr>
                        <a:t>appworld</a:t>
                      </a:r>
                    </a:p>
                  </a:txBody>
                  <a:tcPr marL="54864" marR="54864" marT="18288" marB="18288" anchor="ctr">
                    <a:solidFill>
                      <a:srgbClr val="F3F5F9"/>
                    </a:solidFill>
                  </a:tcPr>
                </a:tc>
              </a:tr>
              <a:tr h="420624">
                <a:tc>
                  <a:txBody>
                    <a:bodyPr wrap="square"/>
                    <a:lstStyle/>
                    <a:p>
                      <a:pPr algn="l"/>
                      <a:r>
                        <a:rPr sz="1300" b="0" i="0">
                          <a:solidFill>
                            <a:srgbClr val="1F2A44"/>
                          </a:solidFill>
                          <a:latin typeface="Arial"/>
                        </a:rPr>
                        <a:t>aws/claude-sonnet-5</a:t>
                      </a:r>
                    </a:p>
                  </a:txBody>
                  <a:tcPr marL="54864" marR="54864" marT="18288" marB="18288" anchor="ctr">
                    <a:solidFill>
                      <a:srgbClr val="FFFFFF"/>
                    </a:solidFill>
                  </a:tcPr>
                </a:tc>
                <a:tc>
                  <a:txBody>
                    <a:bodyPr wrap="square"/>
                    <a:lstStyle/>
                    <a:p>
                      <a:pPr algn="l"/>
                      <a:r>
                        <a:rPr sz="1300" b="0" i="0">
                          <a:solidFill>
                            <a:srgbClr val="1F2A44"/>
                          </a:solidFill>
                          <a:latin typeface="Arial"/>
                        </a:rPr>
                        <a:t>bedrock</a:t>
                      </a:r>
                    </a:p>
                  </a:txBody>
                  <a:tcPr marL="54864" marR="54864" marT="18288" marB="18288" anchor="ctr">
                    <a:solidFill>
                      <a:srgbClr val="FFFFFF"/>
                    </a:solidFill>
                  </a:tcPr>
                </a:tc>
                <a:tc>
                  <a:txBody>
                    <a:bodyPr wrap="square"/>
                    <a:lstStyle/>
                    <a:p>
                      <a:pPr algn="r"/>
                      <a:r>
                        <a:rPr sz="1300" b="0" i="0">
                          <a:solidFill>
                            <a:srgbClr val="1F2A44"/>
                          </a:solidFill>
                          <a:latin typeface="Arial"/>
                        </a:rPr>
                        <a:t>1.52</a:t>
                      </a:r>
                    </a:p>
                  </a:txBody>
                  <a:tcPr marL="54864" marR="54864" marT="18288" marB="18288" anchor="ctr">
                    <a:solidFill>
                      <a:srgbClr val="FFFFFF"/>
                    </a:solidFill>
                  </a:tcPr>
                </a:tc>
                <a:tc>
                  <a:txBody>
                    <a:bodyPr wrap="square"/>
                    <a:lstStyle/>
                    <a:p>
                      <a:pPr algn="r"/>
                      <a:r>
                        <a:rPr sz="1300" b="0" i="0">
                          <a:solidFill>
                            <a:srgbClr val="1F2A44"/>
                          </a:solidFill>
                          <a:latin typeface="Arial"/>
                        </a:rPr>
                        <a:t>7.60</a:t>
                      </a:r>
                    </a:p>
                  </a:txBody>
                  <a:tcPr marL="54864" marR="54864" marT="18288" marB="18288" anchor="ctr">
                    <a:solidFill>
                      <a:srgbClr val="FFFFFF"/>
                    </a:solidFill>
                  </a:tcPr>
                </a:tc>
                <a:tc>
                  <a:txBody>
                    <a:bodyPr wrap="square"/>
                    <a:lstStyle/>
                    <a:p>
                      <a:pPr algn="r"/>
                      <a:r>
                        <a:rPr sz="1300" b="0" i="0">
                          <a:solidFill>
                            <a:srgbClr val="1F2A44"/>
                          </a:solidFill>
                          <a:latin typeface="Arial"/>
                        </a:rPr>
                        <a:t>5.0×</a:t>
                      </a:r>
                    </a:p>
                  </a:txBody>
                  <a:tcPr marL="54864" marR="54864" marT="18288" marB="18288" anchor="ctr">
                    <a:solidFill>
                      <a:srgbClr val="FFFFFF"/>
                    </a:solidFill>
                  </a:tcPr>
                </a:tc>
                <a:tc>
                  <a:txBody>
                    <a:bodyPr wrap="square"/>
                    <a:lstStyle/>
                    <a:p>
                      <a:pPr algn="r"/>
                      <a:r>
                        <a:rPr sz="1300" b="0" i="0">
                          <a:solidFill>
                            <a:srgbClr val="1F2A44"/>
                          </a:solidFill>
                          <a:latin typeface="Arial"/>
                        </a:rPr>
                        <a:t>tau2</a:t>
                      </a:r>
                    </a:p>
                  </a:txBody>
                  <a:tcPr marL="54864" marR="54864" marT="18288" marB="18288" anchor="ctr">
                    <a:solidFill>
                      <a:srgbClr val="FFFFFF"/>
                    </a:solidFill>
                  </a:tcPr>
                </a:tc>
              </a:tr>
              <a:tr h="420624">
                <a:tc>
                  <a:txBody>
                    <a:bodyPr wrap="square"/>
                    <a:lstStyle/>
                    <a:p>
                      <a:pPr algn="l"/>
                      <a:r>
                        <a:rPr sz="1300" b="0" i="0">
                          <a:solidFill>
                            <a:srgbClr val="1F2A44"/>
                          </a:solidFill>
                          <a:latin typeface="Arial"/>
                        </a:rPr>
                        <a:t>Azure/gpt-4.1</a:t>
                      </a:r>
                    </a:p>
                  </a:txBody>
                  <a:tcPr marL="54864" marR="54864" marT="18288" marB="18288" anchor="ctr">
                    <a:solidFill>
                      <a:srgbClr val="F3F5F9"/>
                    </a:solidFill>
                  </a:tcPr>
                </a:tc>
                <a:tc>
                  <a:txBody>
                    <a:bodyPr wrap="square"/>
                    <a:lstStyle/>
                    <a:p>
                      <a:pPr algn="l"/>
                      <a:r>
                        <a:rPr sz="1300" b="0" i="0">
                          <a:solidFill>
                            <a:srgbClr val="1F2A44"/>
                          </a:solidFill>
                          <a:latin typeface="Arial"/>
                        </a:rPr>
                        <a:t>azure</a:t>
                      </a:r>
                    </a:p>
                  </a:txBody>
                  <a:tcPr marL="54864" marR="54864" marT="18288" marB="18288" anchor="ctr">
                    <a:solidFill>
                      <a:srgbClr val="F3F5F9"/>
                    </a:solidFill>
                  </a:tcPr>
                </a:tc>
                <a:tc>
                  <a:txBody>
                    <a:bodyPr wrap="square"/>
                    <a:lstStyle/>
                    <a:p>
                      <a:pPr algn="r"/>
                      <a:r>
                        <a:rPr sz="1300" b="0" i="0">
                          <a:solidFill>
                            <a:srgbClr val="1F2A44"/>
                          </a:solidFill>
                          <a:latin typeface="Arial"/>
                        </a:rPr>
                        <a:t>2.00</a:t>
                      </a:r>
                    </a:p>
                  </a:txBody>
                  <a:tcPr marL="54864" marR="54864" marT="18288" marB="18288" anchor="ctr">
                    <a:solidFill>
                      <a:srgbClr val="F3F5F9"/>
                    </a:solidFill>
                  </a:tcPr>
                </a:tc>
                <a:tc>
                  <a:txBody>
                    <a:bodyPr wrap="square"/>
                    <a:lstStyle/>
                    <a:p>
                      <a:pPr algn="r"/>
                      <a:r>
                        <a:rPr sz="1300" b="0" i="0">
                          <a:solidFill>
                            <a:srgbClr val="1F2A44"/>
                          </a:solidFill>
                          <a:latin typeface="Arial"/>
                        </a:rPr>
                        <a:t>8.00</a:t>
                      </a:r>
                    </a:p>
                  </a:txBody>
                  <a:tcPr marL="54864" marR="54864" marT="18288" marB="18288" anchor="ctr">
                    <a:solidFill>
                      <a:srgbClr val="F3F5F9"/>
                    </a:solidFill>
                  </a:tcPr>
                </a:tc>
                <a:tc>
                  <a:txBody>
                    <a:bodyPr wrap="square"/>
                    <a:lstStyle/>
                    <a:p>
                      <a:pPr algn="r"/>
                      <a:r>
                        <a:rPr sz="1300" b="0" i="0">
                          <a:solidFill>
                            <a:srgbClr val="1F2A44"/>
                          </a:solidFill>
                          <a:latin typeface="Arial"/>
                        </a:rPr>
                        <a:t>4.0×</a:t>
                      </a:r>
                    </a:p>
                  </a:txBody>
                  <a:tcPr marL="54864" marR="54864" marT="18288" marB="18288" anchor="ctr">
                    <a:solidFill>
                      <a:srgbClr val="F3F5F9"/>
                    </a:solidFill>
                  </a:tcPr>
                </a:tc>
                <a:tc>
                  <a:txBody>
                    <a:bodyPr wrap="square"/>
                    <a:lstStyle/>
                    <a:p>
                      <a:pPr algn="r"/>
                      <a:r>
                        <a:rPr sz="1300" b="0" i="0">
                          <a:solidFill>
                            <a:srgbClr val="1F2A44"/>
                          </a:solidFill>
                          <a:latin typeface="Arial"/>
                        </a:rPr>
                        <a:t>leg #4, and the IBAC judge</a:t>
                      </a:r>
                    </a:p>
                  </a:txBody>
                  <a:tcPr marL="54864" marR="54864" marT="18288" marB="18288" anchor="ctr">
                    <a:solidFill>
                      <a:srgbClr val="F3F5F9"/>
                    </a:solidFill>
                  </a:tcPr>
                </a:tc>
              </a:tr>
            </a:tbl>
          </a:graphicData>
        </a:graphic>
      </p:graphicFrame>
      <p:sp>
        <p:nvSpPr>
          <p:cNvPr id="9" name="Rounded Rectangle 8"/>
          <p:cNvSpPr/>
          <p:nvPr/>
        </p:nvSpPr>
        <p:spPr>
          <a:xfrm>
            <a:off x="411480" y="3703320"/>
            <a:ext cx="11365992" cy="105156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That one fact explains the counter-intuitive results</a:t>
            </a:r>
          </a:p>
          <a:p>
            <a:pPr algn="l">
              <a:spcAft>
                <a:spcPts val="300"/>
              </a:spcAft>
            </a:pPr>
            <a:r>
              <a:rPr sz="1300" b="0" i="0">
                <a:solidFill>
                  <a:srgbClr val="1F2A44"/>
                </a:solidFill>
                <a:latin typeface="Arial"/>
              </a:rPr>
              <a:t>A reasoning model's verbosity is charged at the expensive end, so a model can win on tokens and lose on the bill. Read the input share of cost, not of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Which way the dollars are wrong: one bias each way</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judge makes our totals too low; an unmodelled cache discount, too high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24</a:t>
            </a:r>
          </a:p>
        </p:txBody>
      </p:sp>
      <p:sp>
        <p:nvSpPr>
          <p:cNvPr id="8" name="Rounded Rectangle 7"/>
          <p:cNvSpPr/>
          <p:nvPr/>
        </p:nvSpPr>
        <p:spPr>
          <a:xfrm>
            <a:off x="411480" y="1325880"/>
            <a:ext cx="5577840" cy="2743200"/>
          </a:xfrm>
          <a:prstGeom prst="roundRect">
            <a:avLst>
              <a:gd name="adj" fmla="val 5333"/>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Too low: the IBAC judge is not in our telemetry</a:t>
            </a:r>
          </a:p>
          <a:p>
            <a:pPr algn="l" marL="148590" indent="-148590">
              <a:spcAft>
                <a:spcPts val="200"/>
              </a:spcAft>
              <a:buChar char="•"/>
            </a:pPr>
            <a:r>
              <a:rPr sz="1300" b="0" i="0">
                <a:solidFill>
                  <a:srgbClr val="1F2A44"/>
                </a:solidFill>
                <a:latin typeface="Arial"/>
              </a:rPr>
              <a:t>~1 completion per authorized tool call, on Azure/gpt-4.1, the dearest model on the card</a:t>
            </a:r>
          </a:p>
          <a:p>
            <a:pPr algn="l" marL="148590" indent="-148590">
              <a:spcAft>
                <a:spcPts val="200"/>
              </a:spcAft>
              <a:buChar char="•"/>
            </a:pPr>
            <a:r>
              <a:rPr sz="1300" b="0" i="0">
                <a:solidFill>
                  <a:srgbClr val="1F2A44"/>
                </a:solidFill>
                <a:latin typeface="Arial"/>
              </a:rPr>
              <a:t>a fixed 1,577-character system prompt that does not shrink with the task</a:t>
            </a:r>
          </a:p>
          <a:p>
            <a:pPr algn="l" marL="148590" indent="-148590">
              <a:spcAft>
                <a:spcPts val="200"/>
              </a:spcAft>
              <a:buChar char="•"/>
            </a:pPr>
            <a:r>
              <a:rPr sz="1300" b="0" i="0">
                <a:solidFill>
                  <a:srgbClr val="1F2A44"/>
                </a:solidFill>
                <a:latin typeface="Arial"/>
              </a:rPr>
              <a:t>≥ $0.00111 per call: 2.6× the whole gsm8k task it authorizes</a:t>
            </a:r>
          </a:p>
          <a:p>
            <a:pPr algn="l" marL="148590" indent="-148590">
              <a:spcAft>
                <a:spcPts val="200"/>
              </a:spcAft>
              <a:buChar char="•"/>
            </a:pPr>
            <a:r>
              <a:rPr sz="1300" b="0" i="0">
                <a:solidFill>
                  <a:srgbClr val="1F2A44"/>
                </a:solidFill>
                <a:latin typeface="Arial"/>
              </a:rPr>
              <a:t>1.7–3.4× the agent's own bill on legs #6–#8</a:t>
            </a:r>
          </a:p>
          <a:p>
            <a:pPr algn="l" marL="148590" indent="-148590">
              <a:spcAft>
                <a:spcPts val="200"/>
              </a:spcAft>
              <a:buChar char="•"/>
            </a:pPr>
            <a:r>
              <a:rPr sz="1300" b="0" i="0">
                <a:solidFill>
                  <a:srgbClr val="1F2A44"/>
                </a:solidFill>
                <a:latin typeface="Arial"/>
              </a:rPr>
              <a:t>tau2's user simulator is invisible the same way</a:t>
            </a:r>
          </a:p>
        </p:txBody>
      </p:sp>
      <p:sp>
        <p:nvSpPr>
          <p:cNvPr id="9" name="Rounded Rectangle 8"/>
          <p:cNvSpPr/>
          <p:nvPr/>
        </p:nvSpPr>
        <p:spPr>
          <a:xfrm>
            <a:off x="6199632" y="1325880"/>
            <a:ext cx="5577840" cy="2743200"/>
          </a:xfrm>
          <a:prstGeom prst="roundRect">
            <a:avLst>
              <a:gd name="adj" fmla="val 5333"/>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Too high: an unmodelled cache discount</a:t>
            </a:r>
          </a:p>
          <a:p>
            <a:pPr algn="l" marL="148590" indent="-148590">
              <a:spcAft>
                <a:spcPts val="200"/>
              </a:spcAft>
              <a:buChar char="•"/>
            </a:pPr>
            <a:r>
              <a:rPr sz="1300" b="0" i="0">
                <a:solidFill>
                  <a:srgbClr val="1F2A44"/>
                </a:solidFill>
                <a:latin typeface="Arial"/>
              </a:rPr>
              <a:t>the gateway reports cached input but publishes no cached-input rate</a:t>
            </a:r>
          </a:p>
          <a:p>
            <a:pPr algn="l" marL="148590" indent="-148590">
              <a:spcAft>
                <a:spcPts val="200"/>
              </a:spcAft>
              <a:buChar char="•"/>
            </a:pPr>
            <a:r>
              <a:rPr sz="1300" b="0" i="0">
                <a:solidFill>
                  <a:srgbClr val="1F2A44"/>
                </a:solidFill>
                <a:latin typeface="Consolas"/>
              </a:rPr>
              <a:t>report.ndjson</a:t>
            </a:r>
            <a:r>
              <a:rPr sz="1300" b="0" i="0">
                <a:solidFill>
                  <a:srgbClr val="1F2A44"/>
                </a:solidFill>
                <a:latin typeface="Arial"/>
              </a:rPr>
              <a:t> stores one undifferentiated input count: no past run can be re-priced</a:t>
            </a:r>
          </a:p>
          <a:p>
            <a:pPr algn="l" marL="148590" indent="-148590">
              <a:spcAft>
                <a:spcPts val="200"/>
              </a:spcAft>
              <a:buChar char="•"/>
            </a:pPr>
            <a:r>
              <a:rPr sz="1300" b="0" i="0">
                <a:solidFill>
                  <a:srgbClr val="1F2A44"/>
                </a:solidFill>
                <a:latin typeface="Arial"/>
              </a:rPr>
              <a:t>if cached input were free: tau2 floors at $0.0157 a task (not $0.149), appworld at $0.270 (not $0.634)</a:t>
            </a:r>
          </a:p>
          <a:p>
            <a:pPr algn="l" marL="148590" indent="-148590">
              <a:spcAft>
                <a:spcPts val="200"/>
              </a:spcAft>
              <a:buChar char="•"/>
            </a:pPr>
            <a:r>
              <a:rPr sz="1300" b="0" i="0">
                <a:solidFill>
                  <a:srgbClr val="1F2A44"/>
                </a:solidFill>
                <a:latin typeface="Arial"/>
              </a:rPr>
              <a:t>gsm8k barely moves: caching pays off on a long re-sent prefix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Money climbs the ladder faster than tokens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Multiple of one gsm8k task on gpt-5-mini per task; v1.35, both platforms pooled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25</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Money climbs the difficulty ladder faster than tokens do: tau2 is 175× a gsm8k task in tokens but 282× in dollars, appworld is 621× a gsm8k task in tokens but 1,195× in dollars — so a budget scaled off the token ratios is short by 1.6–1.9×.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Read the share of the BILL, not the share of tokens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Input's share, % of a task's tokens against % of its bill; per benchmark and model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26</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Output is priced 4–8× input on every model we use, so the token split misstates the bill every time: gsm8k on gpt-5-mini is 64% input by tokens and only 18% by cost.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Model choice is settled on the input side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task, split into what input and output cost; the same 5 gsm8k tasks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27</a:t>
            </a:r>
          </a:p>
        </p:txBody>
      </p:sp>
      <p:graphicFrame>
        <p:nvGraphicFramePr>
          <p:cNvPr id="8" name="Chart 7"/>
          <p:cNvGraphicFramePr>
            <a:graphicFrameLocks noGrp="1"/>
          </p:cNvGraphicFramePr>
          <p:nvPr/>
        </p:nvGraphicFramePr>
        <p:xfrm>
          <a:off x="411480" y="1280160"/>
          <a:ext cx="6949440" cy="3657600"/>
        </p:xfrm>
        <a:graphic>
          <a:graphicData uri="http://schemas.openxmlformats.org/drawingml/2006/chart">
            <c:chart xmlns:c="http://schemas.openxmlformats.org/drawingml/2006/chart" r:id="rId3"/>
          </a:graphicData>
        </a:graphic>
      </p:graphicFrame>
      <p:graphicFrame>
        <p:nvGraphicFramePr>
          <p:cNvPr id="9" name="Table 8"/>
          <p:cNvGraphicFramePr>
            <a:graphicFrameLocks noGrp="1"/>
          </p:cNvGraphicFramePr>
          <p:nvPr/>
        </p:nvGraphicFramePr>
        <p:xfrm>
          <a:off x="7589520" y="1417320"/>
          <a:ext cx="4187950" cy="1920240"/>
        </p:xfrm>
        <a:graphic>
          <a:graphicData uri="http://schemas.openxmlformats.org/drawingml/2006/table">
            <a:tbl>
              <a:tblPr firstRow="0" bandRow="0">
                <a:tableStyleId>{5C22544A-7EE6-4342-B048-85BDC9FD1C3A}</a:tableStyleId>
              </a:tblPr>
              <a:tblGrid>
                <a:gridCol w="1456678"/>
                <a:gridCol w="1365636"/>
                <a:gridCol w="1365636"/>
              </a:tblGrid>
              <a:tr h="384048">
                <a:tc>
                  <a:txBody>
                    <a:bodyPr wrap="square"/>
                    <a:lstStyle/>
                    <a:p>
                      <a:pPr algn="l"/>
                      <a:r>
                        <a:rPr sz="1200" b="1" i="0">
                          <a:solidFill>
                            <a:srgbClr val="FFFFFF"/>
                          </a:solidFill>
                          <a:latin typeface="Arial"/>
                        </a:rPr>
                        <a:t>per task</a:t>
                      </a:r>
                    </a:p>
                  </a:txBody>
                  <a:tcPr marL="54864" marR="54864" marT="18288" marB="18288" anchor="ctr">
                    <a:solidFill>
                      <a:srgbClr val="1F2A44"/>
                    </a:solidFill>
                  </a:tcPr>
                </a:tc>
                <a:tc>
                  <a:txBody>
                    <a:bodyPr wrap="square"/>
                    <a:lstStyle/>
                    <a:p>
                      <a:pPr algn="r"/>
                      <a:r>
                        <a:rPr sz="1200" b="1" i="0">
                          <a:solidFill>
                            <a:srgbClr val="FFFFFF"/>
                          </a:solidFill>
                          <a:latin typeface="Arial"/>
                        </a:rPr>
                        <a:t>gpt-5-mini</a:t>
                      </a:r>
                    </a:p>
                  </a:txBody>
                  <a:tcPr marL="54864" marR="54864" marT="18288" marB="18288" anchor="ctr">
                    <a:solidFill>
                      <a:srgbClr val="1F2A44"/>
                    </a:solidFill>
                  </a:tcPr>
                </a:tc>
                <a:tc>
                  <a:txBody>
                    <a:bodyPr wrap="square"/>
                    <a:lstStyle/>
                    <a:p>
                      <a:pPr algn="r"/>
                      <a:r>
                        <a:rPr sz="1200" b="1" i="0">
                          <a:solidFill>
                            <a:srgbClr val="FFFFFF"/>
                          </a:solidFill>
                          <a:latin typeface="Arial"/>
                        </a:rPr>
                        <a:t>gpt-4.1</a:t>
                      </a:r>
                    </a:p>
                  </a:txBody>
                  <a:tcPr marL="54864" marR="54864" marT="18288" marB="18288" anchor="ctr">
                    <a:solidFill>
                      <a:srgbClr val="1F2A44"/>
                    </a:solidFill>
                  </a:tcPr>
                </a:tc>
              </a:tr>
              <a:tr h="384048">
                <a:tc>
                  <a:txBody>
                    <a:bodyPr wrap="square"/>
                    <a:lstStyle/>
                    <a:p>
                      <a:pPr algn="l"/>
                      <a:r>
                        <a:rPr sz="1200" b="1" i="0">
                          <a:solidFill>
                            <a:srgbClr val="1F2A44"/>
                          </a:solidFill>
                          <a:latin typeface="Arial"/>
                        </a:rPr>
                        <a:t>cost</a:t>
                      </a:r>
                    </a:p>
                  </a:txBody>
                  <a:tcPr marL="54864" marR="54864" marT="18288" marB="18288" anchor="ctr">
                    <a:solidFill>
                      <a:srgbClr val="FFFFFF"/>
                    </a:solidFill>
                  </a:tcPr>
                </a:tc>
                <a:tc>
                  <a:txBody>
                    <a:bodyPr wrap="square"/>
                    <a:lstStyle/>
                    <a:p>
                      <a:pPr algn="r"/>
                      <a:r>
                        <a:rPr sz="1200" b="0" i="0">
                          <a:solidFill>
                            <a:srgbClr val="1F2A44"/>
                          </a:solidFill>
                          <a:latin typeface="Arial"/>
                        </a:rPr>
                        <a:t>$0.00046</a:t>
                      </a:r>
                    </a:p>
                  </a:txBody>
                  <a:tcPr marL="54864" marR="54864" marT="18288" marB="18288" anchor="ctr">
                    <a:solidFill>
                      <a:srgbClr val="FFFFFF"/>
                    </a:solidFill>
                  </a:tcPr>
                </a:tc>
                <a:tc>
                  <a:txBody>
                    <a:bodyPr wrap="square"/>
                    <a:lstStyle/>
                    <a:p>
                      <a:pPr algn="r"/>
                      <a:r>
                        <a:rPr sz="1200" b="0" i="0">
                          <a:solidFill>
                            <a:srgbClr val="1F2A44"/>
                          </a:solidFill>
                          <a:latin typeface="Arial"/>
                        </a:rPr>
                        <a:t>$0.00212</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input tokens</a:t>
                      </a:r>
                    </a:p>
                  </a:txBody>
                  <a:tcPr marL="54864" marR="54864" marT="18288" marB="18288" anchor="ctr">
                    <a:solidFill>
                      <a:srgbClr val="F3F5F9"/>
                    </a:solidFill>
                  </a:tcPr>
                </a:tc>
                <a:tc>
                  <a:txBody>
                    <a:bodyPr wrap="square"/>
                    <a:lstStyle/>
                    <a:p>
                      <a:pPr algn="r"/>
                      <a:r>
                        <a:rPr sz="1200" b="0" i="0">
                          <a:solidFill>
                            <a:srgbClr val="1F2A44"/>
                          </a:solidFill>
                          <a:latin typeface="Arial"/>
                        </a:rPr>
                        <a:t>313</a:t>
                      </a:r>
                    </a:p>
                  </a:txBody>
                  <a:tcPr marL="54864" marR="54864" marT="18288" marB="18288" anchor="ctr">
                    <a:solidFill>
                      <a:srgbClr val="F3F5F9"/>
                    </a:solidFill>
                  </a:tcPr>
                </a:tc>
                <a:tc>
                  <a:txBody>
                    <a:bodyPr wrap="square"/>
                    <a:lstStyle/>
                    <a:p>
                      <a:pPr algn="r"/>
                      <a:r>
                        <a:rPr sz="1200" b="0" i="0">
                          <a:solidFill>
                            <a:srgbClr val="1F2A44"/>
                          </a:solidFill>
                          <a:latin typeface="Arial"/>
                        </a:rPr>
                        <a:t>808</a:t>
                      </a:r>
                    </a:p>
                  </a:txBody>
                  <a:tcPr marL="54864" marR="54864" marT="18288" marB="18288" anchor="ctr">
                    <a:solidFill>
                      <a:srgbClr val="F3F5F9"/>
                    </a:solidFill>
                  </a:tcPr>
                </a:tc>
              </a:tr>
              <a:tr h="384048">
                <a:tc>
                  <a:txBody>
                    <a:bodyPr wrap="square"/>
                    <a:lstStyle/>
                    <a:p>
                      <a:pPr algn="l"/>
                      <a:r>
                        <a:rPr sz="1200" b="1" i="0">
                          <a:solidFill>
                            <a:srgbClr val="1F2A44"/>
                          </a:solidFill>
                          <a:latin typeface="Arial"/>
                        </a:rPr>
                        <a:t>output tokens</a:t>
                      </a:r>
                    </a:p>
                  </a:txBody>
                  <a:tcPr marL="54864" marR="54864" marT="18288" marB="18288" anchor="ctr">
                    <a:solidFill>
                      <a:srgbClr val="FFFFFF"/>
                    </a:solidFill>
                  </a:tcPr>
                </a:tc>
                <a:tc>
                  <a:txBody>
                    <a:bodyPr wrap="square"/>
                    <a:lstStyle/>
                    <a:p>
                      <a:pPr algn="r"/>
                      <a:r>
                        <a:rPr sz="1200" b="0" i="0">
                          <a:solidFill>
                            <a:srgbClr val="1F2A44"/>
                          </a:solidFill>
                          <a:latin typeface="Arial"/>
                        </a:rPr>
                        <a:t>192</a:t>
                      </a:r>
                    </a:p>
                  </a:txBody>
                  <a:tcPr marL="54864" marR="54864" marT="18288" marB="18288" anchor="ctr">
                    <a:solidFill>
                      <a:srgbClr val="FFFFFF"/>
                    </a:solidFill>
                  </a:tcPr>
                </a:tc>
                <a:tc>
                  <a:txBody>
                    <a:bodyPr wrap="square"/>
                    <a:lstStyle/>
                    <a:p>
                      <a:pPr algn="r"/>
                      <a:r>
                        <a:rPr sz="1200" b="0" i="0">
                          <a:solidFill>
                            <a:srgbClr val="1F2A44"/>
                          </a:solidFill>
                          <a:latin typeface="Arial"/>
                        </a:rPr>
                        <a:t>63</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pass rate</a:t>
                      </a:r>
                    </a:p>
                  </a:txBody>
                  <a:tcPr marL="54864" marR="54864" marT="18288" marB="18288" anchor="ctr">
                    <a:solidFill>
                      <a:srgbClr val="F3F5F9"/>
                    </a:solidFill>
                  </a:tcPr>
                </a:tc>
                <a:tc>
                  <a:txBody>
                    <a:bodyPr wrap="square"/>
                    <a:lstStyle/>
                    <a:p>
                      <a:pPr algn="r"/>
                      <a:r>
                        <a:rPr sz="1200" b="0" i="0">
                          <a:solidFill>
                            <a:srgbClr val="1F2A44"/>
                          </a:solidFill>
                          <a:latin typeface="Arial"/>
                        </a:rPr>
                        <a:t>0.95</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r>
            </a:tbl>
          </a:graphicData>
        </a:graphic>
      </p:graphicFrame>
      <p:sp>
        <p:nvSpPr>
          <p:cNvPr id="10" name="TextBox 9"/>
          <p:cNvSpPr txBox="1"/>
          <p:nvPr/>
        </p:nvSpPr>
        <p:spPr>
          <a:xfrm>
            <a:off x="7589520" y="3520440"/>
            <a:ext cx="4187952" cy="1280160"/>
          </a:xfrm>
          <a:prstGeom prst="rect">
            <a:avLst/>
          </a:prstGeom>
          <a:noFill/>
        </p:spPr>
        <p:txBody>
          <a:bodyPr wrap="square" lIns="36576" rIns="36576" tIns="18288" bIns="18288" anchor="t">
            <a:spAutoFit/>
          </a:bodyPr>
          <a:lstStyle/>
          <a:p>
            <a:pPr algn="l">
              <a:spcAft>
                <a:spcPts val="600"/>
              </a:spcAft>
            </a:pPr>
            <a:r>
              <a:rPr sz="1300" b="1" i="0">
                <a:solidFill>
                  <a:srgbClr val="1F2A44"/>
                </a:solidFill>
                <a:latin typeface="Arial"/>
              </a:rPr>
              <a:t>4.6×</a:t>
            </a:r>
            <a:r>
              <a:rPr sz="1300" b="0" i="0">
                <a:solidFill>
                  <a:srgbClr val="1F2A44"/>
                </a:solidFill>
                <a:latin typeface="Arial"/>
              </a:rPr>
              <a:t> the cost per task, on identical work: the reasoning model answers in one call; gpt-4.1 takes ~3 tool round-trips.</a:t>
            </a:r>
          </a:p>
        </p:txBody>
      </p:sp>
      <p:sp>
        <p:nvSpPr>
          <p:cNvPr id="11" name="TextBox 10"/>
          <p:cNvSpPr txBox="1"/>
          <p:nvPr/>
        </p:nvSpPr>
        <p:spPr>
          <a:xfrm>
            <a:off x="411480" y="525780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gpt-4.1 costs 4.6× gpt-5-mini on the identical 5 gsm8k tasks, and the input side decides it alone: 21× the input bill, against an output bill the two models split within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Two legs of twelve are most of the bill</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leg, OpenShift v1.35: $20.25 for all twelve, the top two 78% of it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28</a:t>
            </a:r>
          </a:p>
        </p:txBody>
      </p:sp>
      <p:graphicFrame>
        <p:nvGraphicFramePr>
          <p:cNvPr id="8" name="Chart 7"/>
          <p:cNvGraphicFramePr>
            <a:graphicFrameLocks noGrp="1"/>
          </p:cNvGraphicFramePr>
          <p:nvPr/>
        </p:nvGraphicFramePr>
        <p:xfrm>
          <a:off x="411480" y="1280160"/>
          <a:ext cx="11365992" cy="434340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Two of the twelve legs are 78% of a matrix's bill, while all 8 gsm8k legs together are 0.2% of it — so budget by benchmark, not by task count.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Efficiency only means anything per SUCCESS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task attempted and per task passed, pooled; a table, because the three span three orders of magnitude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29</a:t>
            </a:r>
          </a:p>
        </p:txBody>
      </p:sp>
      <p:graphicFrame>
        <p:nvGraphicFramePr>
          <p:cNvPr id="8" name="Table 7"/>
          <p:cNvGraphicFramePr>
            <a:graphicFrameLocks noGrp="1"/>
          </p:cNvGraphicFramePr>
          <p:nvPr/>
        </p:nvGraphicFramePr>
        <p:xfrm>
          <a:off x="411480" y="1463040"/>
          <a:ext cx="11365989" cy="2267712"/>
        </p:xfrm>
        <a:graphic>
          <a:graphicData uri="http://schemas.openxmlformats.org/drawingml/2006/table">
            <a:tbl>
              <a:tblPr firstRow="0" bandRow="0">
                <a:tableStyleId>{5C22544A-7EE6-4342-B048-85BDC9FD1C3A}</a:tableStyleId>
              </a:tblPr>
              <a:tblGrid>
                <a:gridCol w="2016546"/>
                <a:gridCol w="2749836"/>
                <a:gridCol w="1833224"/>
                <a:gridCol w="4766383"/>
              </a:tblGrid>
              <a:tr h="566928">
                <a:tc>
                  <a:txBody>
                    <a:bodyPr wrap="square"/>
                    <a:lstStyle/>
                    <a:p>
                      <a:pPr algn="l"/>
                      <a:r>
                        <a:rPr sz="1500" b="1" i="0">
                          <a:solidFill>
                            <a:srgbClr val="FFFFFF"/>
                          </a:solidFill>
                          <a:latin typeface="Arial"/>
                        </a:rPr>
                        <a:t>benchmark</a:t>
                      </a:r>
                    </a:p>
                  </a:txBody>
                  <a:tcPr marL="54864" marR="54864" marT="18288" marB="18288" anchor="ctr">
                    <a:solidFill>
                      <a:srgbClr val="1F2A44"/>
                    </a:solidFill>
                  </a:tcPr>
                </a:tc>
                <a:tc>
                  <a:txBody>
                    <a:bodyPr wrap="square"/>
                    <a:lstStyle/>
                    <a:p>
                      <a:pPr algn="r"/>
                      <a:r>
                        <a:rPr sz="1500" b="1" i="0">
                          <a:solidFill>
                            <a:srgbClr val="FFFFFF"/>
                          </a:solidFill>
                          <a:latin typeface="Arial"/>
                        </a:rPr>
                        <a:t>per task attempted</a:t>
                      </a:r>
                    </a:p>
                  </a:txBody>
                  <a:tcPr marL="54864" marR="54864" marT="18288" marB="18288" anchor="ctr">
                    <a:solidFill>
                      <a:srgbClr val="1F2A44"/>
                    </a:solidFill>
                  </a:tcPr>
                </a:tc>
                <a:tc>
                  <a:txBody>
                    <a:bodyPr wrap="square"/>
                    <a:lstStyle/>
                    <a:p>
                      <a:pPr algn="r"/>
                      <a:r>
                        <a:rPr sz="1500" b="1" i="0">
                          <a:solidFill>
                            <a:srgbClr val="FFFFFF"/>
                          </a:solidFill>
                          <a:latin typeface="Arial"/>
                        </a:rPr>
                        <a:t>pass rate</a:t>
                      </a:r>
                    </a:p>
                  </a:txBody>
                  <a:tcPr marL="54864" marR="54864" marT="18288" marB="18288" anchor="ctr">
                    <a:solidFill>
                      <a:srgbClr val="1F2A44"/>
                    </a:solidFill>
                  </a:tcPr>
                </a:tc>
                <a:tc>
                  <a:txBody>
                    <a:bodyPr wrap="square"/>
                    <a:lstStyle/>
                    <a:p>
                      <a:pPr algn="r"/>
                      <a:r>
                        <a:rPr sz="1500" b="1" i="0">
                          <a:solidFill>
                            <a:srgbClr val="FFFFFF"/>
                          </a:solidFill>
                          <a:latin typeface="Arial"/>
                        </a:rPr>
                        <a:t>per task PASSED</a:t>
                      </a:r>
                    </a:p>
                  </a:txBody>
                  <a:tcPr marL="54864" marR="54864" marT="18288" marB="18288" anchor="ctr">
                    <a:solidFill>
                      <a:srgbClr val="1F2A44"/>
                    </a:solidFill>
                  </a:tcPr>
                </a:tc>
              </a:tr>
              <a:tr h="566928">
                <a:tc>
                  <a:txBody>
                    <a:bodyPr wrap="square"/>
                    <a:lstStyle/>
                    <a:p>
                      <a:pPr algn="l"/>
                      <a:r>
                        <a:rPr sz="1500" b="1" i="0">
                          <a:solidFill>
                            <a:srgbClr val="1F2A44"/>
                          </a:solidFill>
                          <a:latin typeface="Arial"/>
                        </a:rPr>
                        <a:t>gsm8k</a:t>
                      </a:r>
                    </a:p>
                  </a:txBody>
                  <a:tcPr marL="54864" marR="54864" marT="18288" marB="18288" anchor="ctr">
                    <a:solidFill>
                      <a:srgbClr val="FFFFFF"/>
                    </a:solidFill>
                  </a:tcPr>
                </a:tc>
                <a:tc>
                  <a:txBody>
                    <a:bodyPr wrap="square"/>
                    <a:lstStyle/>
                    <a:p>
                      <a:pPr algn="r"/>
                      <a:r>
                        <a:rPr sz="1500" b="0" i="0">
                          <a:solidFill>
                            <a:srgbClr val="1F2A44"/>
                          </a:solidFill>
                          <a:latin typeface="Arial"/>
                        </a:rPr>
                        <a:t>$0.00053</a:t>
                      </a:r>
                    </a:p>
                  </a:txBody>
                  <a:tcPr marL="54864" marR="54864" marT="18288" marB="18288" anchor="ctr">
                    <a:solidFill>
                      <a:srgbClr val="FFFFFF"/>
                    </a:solidFill>
                  </a:tcPr>
                </a:tc>
                <a:tc>
                  <a:txBody>
                    <a:bodyPr wrap="square"/>
                    <a:lstStyle/>
                    <a:p>
                      <a:pPr algn="r"/>
                      <a:r>
                        <a:rPr sz="1500" b="0" i="0">
                          <a:solidFill>
                            <a:srgbClr val="1F2A44"/>
                          </a:solidFill>
                          <a:latin typeface="Arial"/>
                        </a:rPr>
                        <a:t>0.98</a:t>
                      </a:r>
                    </a:p>
                  </a:txBody>
                  <a:tcPr marL="54864" marR="54864" marT="18288" marB="18288" anchor="ctr">
                    <a:solidFill>
                      <a:srgbClr val="FFFFFF"/>
                    </a:solidFill>
                  </a:tcPr>
                </a:tc>
                <a:tc>
                  <a:txBody>
                    <a:bodyPr wrap="square"/>
                    <a:lstStyle/>
                    <a:p>
                      <a:pPr algn="r"/>
                      <a:r>
                        <a:rPr sz="1500" b="0" i="0">
                          <a:solidFill>
                            <a:srgbClr val="1F2A44"/>
                          </a:solidFill>
                          <a:latin typeface="Arial"/>
                        </a:rPr>
                        <a:t>$0.00054</a:t>
                      </a:r>
                    </a:p>
                  </a:txBody>
                  <a:tcPr marL="54864" marR="54864" marT="18288" marB="18288" anchor="ctr">
                    <a:solidFill>
                      <a:srgbClr val="FFFFFF"/>
                    </a:solidFill>
                  </a:tcPr>
                </a:tc>
              </a:tr>
              <a:tr h="566928">
                <a:tc>
                  <a:txBody>
                    <a:bodyPr wrap="square"/>
                    <a:lstStyle/>
                    <a:p>
                      <a:pPr algn="l"/>
                      <a:r>
                        <a:rPr sz="1500" b="1" i="0">
                          <a:solidFill>
                            <a:srgbClr val="1F2A44"/>
                          </a:solidFill>
                          <a:latin typeface="Arial"/>
                        </a:rPr>
                        <a:t>tau2</a:t>
                      </a:r>
                    </a:p>
                  </a:txBody>
                  <a:tcPr marL="54864" marR="54864" marT="18288" marB="18288" anchor="ctr">
                    <a:solidFill>
                      <a:srgbClr val="F3F5F9"/>
                    </a:solidFill>
                  </a:tcPr>
                </a:tc>
                <a:tc>
                  <a:txBody>
                    <a:bodyPr wrap="square"/>
                    <a:lstStyle/>
                    <a:p>
                      <a:pPr algn="r"/>
                      <a:r>
                        <a:rPr sz="1500" b="0" i="0">
                          <a:solidFill>
                            <a:srgbClr val="1F2A44"/>
                          </a:solidFill>
                          <a:latin typeface="Arial"/>
                        </a:rPr>
                        <a:t>$0.14940</a:t>
                      </a:r>
                    </a:p>
                  </a:txBody>
                  <a:tcPr marL="54864" marR="54864" marT="18288" marB="18288" anchor="ctr">
                    <a:solidFill>
                      <a:srgbClr val="F3F5F9"/>
                    </a:solidFill>
                  </a:tcPr>
                </a:tc>
                <a:tc>
                  <a:txBody>
                    <a:bodyPr wrap="square"/>
                    <a:lstStyle/>
                    <a:p>
                      <a:pPr algn="r"/>
                      <a:r>
                        <a:rPr sz="1500" b="0" i="0">
                          <a:solidFill>
                            <a:srgbClr val="1F2A44"/>
                          </a:solidFill>
                          <a:latin typeface="Arial"/>
                        </a:rPr>
                        <a:t>0.90</a:t>
                      </a:r>
                    </a:p>
                  </a:txBody>
                  <a:tcPr marL="54864" marR="54864" marT="18288" marB="18288" anchor="ctr">
                    <a:solidFill>
                      <a:srgbClr val="F3F5F9"/>
                    </a:solidFill>
                  </a:tcPr>
                </a:tc>
                <a:tc>
                  <a:txBody>
                    <a:bodyPr wrap="square"/>
                    <a:lstStyle/>
                    <a:p>
                      <a:pPr algn="r"/>
                      <a:r>
                        <a:rPr sz="1500" b="0" i="0">
                          <a:solidFill>
                            <a:srgbClr val="1F2A44"/>
                          </a:solidFill>
                          <a:latin typeface="Arial"/>
                        </a:rPr>
                        <a:t>$0.16600</a:t>
                      </a:r>
                    </a:p>
                  </a:txBody>
                  <a:tcPr marL="54864" marR="54864" marT="18288" marB="18288" anchor="ctr">
                    <a:solidFill>
                      <a:srgbClr val="F3F5F9"/>
                    </a:solidFill>
                  </a:tcPr>
                </a:tc>
              </a:tr>
              <a:tr h="566928">
                <a:tc>
                  <a:txBody>
                    <a:bodyPr wrap="square"/>
                    <a:lstStyle/>
                    <a:p>
                      <a:pPr algn="l"/>
                      <a:r>
                        <a:rPr sz="1500" b="1" i="0">
                          <a:solidFill>
                            <a:srgbClr val="1F2A44"/>
                          </a:solidFill>
                          <a:latin typeface="Arial"/>
                        </a:rPr>
                        <a:t>appworld</a:t>
                      </a:r>
                    </a:p>
                  </a:txBody>
                  <a:tcPr marL="54864" marR="54864" marT="18288" marB="18288" anchor="ctr">
                    <a:solidFill>
                      <a:srgbClr val="FFFFFF"/>
                    </a:solidFill>
                  </a:tcPr>
                </a:tc>
                <a:tc>
                  <a:txBody>
                    <a:bodyPr wrap="square"/>
                    <a:lstStyle/>
                    <a:p>
                      <a:pPr algn="r"/>
                      <a:r>
                        <a:rPr sz="1500" b="0" i="0">
                          <a:solidFill>
                            <a:srgbClr val="1F2A44"/>
                          </a:solidFill>
                          <a:latin typeface="Arial"/>
                        </a:rPr>
                        <a:t>$0.63389</a:t>
                      </a:r>
                    </a:p>
                  </a:txBody>
                  <a:tcPr marL="54864" marR="54864" marT="18288" marB="18288" anchor="ctr">
                    <a:solidFill>
                      <a:srgbClr val="FFFFFF"/>
                    </a:solidFill>
                  </a:tcPr>
                </a:tc>
                <a:tc>
                  <a:txBody>
                    <a:bodyPr wrap="square"/>
                    <a:lstStyle/>
                    <a:p>
                      <a:pPr algn="r"/>
                      <a:r>
                        <a:rPr sz="1500" b="0" i="0">
                          <a:solidFill>
                            <a:srgbClr val="1F2A44"/>
                          </a:solidFill>
                          <a:latin typeface="Arial"/>
                        </a:rPr>
                        <a:t>0.00</a:t>
                      </a:r>
                    </a:p>
                  </a:txBody>
                  <a:tcPr marL="54864" marR="54864" marT="18288" marB="18288" anchor="ctr">
                    <a:solidFill>
                      <a:srgbClr val="FFFFFF"/>
                    </a:solidFill>
                  </a:tcPr>
                </a:tc>
                <a:tc>
                  <a:txBody>
                    <a:bodyPr wrap="square"/>
                    <a:lstStyle/>
                    <a:p>
                      <a:pPr algn="r"/>
                      <a:r>
                        <a:rPr sz="1500" b="0" i="0">
                          <a:solidFill>
                            <a:srgbClr val="1F2A44"/>
                          </a:solidFill>
                          <a:latin typeface="Arial"/>
                        </a:rPr>
                        <a:t>no finite cost: it passed nothing</a:t>
                      </a:r>
                    </a:p>
                  </a:txBody>
                  <a:tcPr marL="54864" marR="54864" marT="18288" marB="18288" anchor="ctr">
                    <a:solidFill>
                      <a:srgbClr val="FFFFFF"/>
                    </a:solidFill>
                  </a:tcPr>
                </a:tc>
              </a:tr>
            </a:tbl>
          </a:graphicData>
        </a:graphic>
      </p:graphicFrame>
      <p:sp>
        <p:nvSpPr>
          <p:cNvPr id="9" name="Rounded Rectangle 8"/>
          <p:cNvSpPr/>
          <p:nvPr/>
        </p:nvSpPr>
        <p:spPr>
          <a:xfrm>
            <a:off x="411480" y="4023360"/>
            <a:ext cx="11365992"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Never quote tokens per task as efficiency</a:t>
            </a:r>
          </a:p>
          <a:p>
            <a:pPr algn="l">
              <a:spcAft>
                <a:spcPts val="300"/>
              </a:spcAft>
            </a:pPr>
            <a:r>
              <a:rPr sz="1300" b="0" i="0">
                <a:solidFill>
                  <a:srgbClr val="1F2A44"/>
                </a:solidFill>
                <a:latin typeface="Arial"/>
              </a:rPr>
              <a:t>A change that halves your token use and halves your pass rate has gained you nothing. The unbounded row is the honest report of a benchmark that runs and then fails.</a:t>
            </a:r>
          </a:p>
        </p:txBody>
      </p:sp>
      <p:sp>
        <p:nvSpPr>
          <p:cNvPr id="10" name="TextBox 9"/>
          <p:cNvSpPr txBox="1"/>
          <p:nvPr/>
        </p:nvSpPr>
        <p:spPr>
          <a:xfrm>
            <a:off x="411480" y="534924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Dividing by the pass rate is what turns a token count into an efficiency figure: gsm8k $0.00053 per task becomes $0.00054 per PASS; tau2 $0.1494 per task becomes $0.1660 per PASS — and appworld has no finite cost per success at all, because it passed nothing.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 the plugin legs, the check outcosts the work</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plugin leg, the agent's own calls and the judge's floor ($0.00111 a call)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30</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One IBAC judge completion costs at least $0.00111 — 2.6× the entire gsm8k task on gpt-5-mini it is authorizing — so across legs #6/#7/#8 the judge bills 1.7–3.4× what the agent does.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canonical 12-run matrix: one fixed set of request bodies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12 legs on every platform, every version</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31</a:t>
            </a:r>
          </a:p>
        </p:txBody>
      </p:sp>
      <p:graphicFrame>
        <p:nvGraphicFramePr>
          <p:cNvPr id="8" name="Table 7"/>
          <p:cNvGraphicFramePr>
            <a:graphicFrameLocks noGrp="1"/>
          </p:cNvGraphicFramePr>
          <p:nvPr/>
        </p:nvGraphicFramePr>
        <p:xfrm>
          <a:off x="411480" y="1325880"/>
          <a:ext cx="6949438" cy="4754880"/>
        </p:xfrm>
        <a:graphic>
          <a:graphicData uri="http://schemas.openxmlformats.org/drawingml/2006/table">
            <a:tbl>
              <a:tblPr firstRow="0" bandRow="0">
                <a:tableStyleId>{5C22544A-7EE6-4342-B048-85BDC9FD1C3A}</a:tableStyleId>
              </a:tblPr>
              <a:tblGrid>
                <a:gridCol w="548640"/>
                <a:gridCol w="1371599"/>
                <a:gridCol w="822960"/>
                <a:gridCol w="1005839"/>
                <a:gridCol w="3200400"/>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benchmark</a:t>
                      </a:r>
                    </a:p>
                  </a:txBody>
                  <a:tcPr marL="54864" marR="54864" marT="18288" marB="18288" anchor="ctr">
                    <a:solidFill>
                      <a:srgbClr val="1F2A44"/>
                    </a:solidFill>
                  </a:tcPr>
                </a:tc>
                <a:tc>
                  <a:txBody>
                    <a:bodyPr wrap="square"/>
                    <a:lstStyle/>
                    <a:p>
                      <a:pPr algn="l"/>
                      <a:r>
                        <a:rPr sz="1200" b="1" i="0">
                          <a:solidFill>
                            <a:srgbClr val="FFFFFF"/>
                          </a:solidFill>
                          <a:latin typeface="Arial"/>
                        </a:rPr>
                        <a:t>tasks</a:t>
                      </a:r>
                    </a:p>
                  </a:txBody>
                  <a:tcPr marL="54864" marR="54864" marT="18288" marB="18288" anchor="ctr">
                    <a:solidFill>
                      <a:srgbClr val="1F2A44"/>
                    </a:solidFill>
                  </a:tcPr>
                </a:tc>
                <a:tc>
                  <a:txBody>
                    <a:bodyPr wrap="square"/>
                    <a:lstStyle/>
                    <a:p>
                      <a:pPr algn="l"/>
                      <a:r>
                        <a:rPr sz="1200" b="1" i="0">
                          <a:solidFill>
                            <a:srgbClr val="FFFFFF"/>
                          </a:solidFill>
                          <a:latin typeface="Arial"/>
                        </a:rPr>
                        <a:t>parallel</a:t>
                      </a:r>
                    </a:p>
                  </a:txBody>
                  <a:tcPr marL="54864" marR="54864" marT="18288" marB="18288" anchor="ctr">
                    <a:solidFill>
                      <a:srgbClr val="1F2A44"/>
                    </a:solidFill>
                  </a:tcPr>
                </a:tc>
                <a:tc>
                  <a:txBody>
                    <a:bodyPr wrap="square"/>
                    <a:lstStyle/>
                    <a:p>
                      <a:pPr algn="l"/>
                      <a:r>
                        <a:rPr sz="1200" b="1" i="0">
                          <a:solidFill>
                            <a:srgbClr val="FFFFFF"/>
                          </a:solidFill>
                          <a:latin typeface="Arial"/>
                        </a:rPr>
                        <a:t>what it varies</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baseline: the smoke test</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1</a:t>
                      </a:r>
                    </a:p>
                  </a:txBody>
                  <a:tcPr marL="54864" marR="54864" marT="18288" marB="18288" anchor="ctr">
                    <a:solidFill>
                      <a:srgbClr val="F3F5F9"/>
                    </a:solidFill>
                  </a:tcPr>
                </a:tc>
                <a:tc>
                  <a:txBody>
                    <a:bodyPr wrap="square"/>
                    <a:lstStyle/>
                    <a:p>
                      <a:pPr algn="l"/>
                      <a:r>
                        <a:rPr sz="1200" b="0" i="0">
                          <a:solidFill>
                            <a:srgbClr val="1F2A44"/>
                          </a:solidFill>
                          <a:latin typeface="Arial"/>
                        </a:rPr>
                        <a:t>volume, still serial</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50</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volume + concurrency</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model swap → Azure/gpt-4.1</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preset: auth-only</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preset: ibac-only</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preset: full (enforce)</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full + </a:t>
                      </a:r>
                      <a:r>
                        <a:rPr sz="1200" b="0" i="0">
                          <a:solidFill>
                            <a:srgbClr val="1F2A44"/>
                          </a:solidFill>
                          <a:latin typeface="Consolas"/>
                        </a:rPr>
                        <a:t>ibac:observe</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l"/>
                      <a:r>
                        <a:rPr sz="1200" b="0" i="0">
                          <a:solidFill>
                            <a:srgbClr val="1F2A44"/>
                          </a:solidFill>
                          <a:latin typeface="Arial"/>
                        </a:rPr>
                        <a:t>10</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multi-turn + user simulator</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l"/>
                      <a:r>
                        <a:rPr sz="1200" b="0" i="0">
                          <a:solidFill>
                            <a:srgbClr val="1F2A44"/>
                          </a:solidFill>
                          <a:latin typeface="Arial"/>
                        </a:rPr>
                        <a:t>20</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multi-turn under concurrency</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long-horizon, gemini-2.5-pro</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l"/>
                      <a:r>
                        <a:rPr sz="1200" b="0" i="0">
                          <a:solidFill>
                            <a:srgbClr val="1F2A44"/>
                          </a:solidFill>
                          <a:latin typeface="Arial"/>
                        </a:rPr>
                        <a:t>20</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long-horizon under concurrency</a:t>
                      </a:r>
                    </a:p>
                  </a:txBody>
                  <a:tcPr marL="54864" marR="54864" marT="18288" marB="18288" anchor="ctr">
                    <a:solidFill>
                      <a:srgbClr val="F3F5F9"/>
                    </a:solidFill>
                  </a:tcPr>
                </a:tc>
              </a:tr>
            </a:tbl>
          </a:graphicData>
        </a:graphic>
      </p:graphicFrame>
      <p:sp>
        <p:nvSpPr>
          <p:cNvPr id="9" name="Rounded Rectangle 8"/>
          <p:cNvSpPr/>
          <p:nvPr/>
        </p:nvSpPr>
        <p:spPr>
          <a:xfrm>
            <a:off x="7589520" y="1325880"/>
            <a:ext cx="4187952" cy="1600200"/>
          </a:xfrm>
          <a:prstGeom prst="roundRect">
            <a:avLst>
              <a:gd name="adj" fmla="val 914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a fixed matrix</a:t>
            </a:r>
          </a:p>
          <a:p>
            <a:pPr algn="l" marL="148590" indent="-148590">
              <a:spcAft>
                <a:spcPts val="300"/>
              </a:spcAft>
              <a:buChar char="•"/>
            </a:pPr>
            <a:r>
              <a:rPr sz="1300" b="0" i="0">
                <a:solidFill>
                  <a:srgbClr val="1F2A44"/>
                </a:solidFill>
                <a:latin typeface="Arial"/>
              </a:rPr>
              <a:t>task selection is deterministic: the same leg runs the same tasks anywhere</a:t>
            </a:r>
          </a:p>
          <a:p>
            <a:pPr algn="l" marL="148590" indent="-148590">
              <a:spcAft>
                <a:spcPts val="300"/>
              </a:spcAft>
              <a:buChar char="•"/>
            </a:pPr>
            <a:r>
              <a:rPr sz="1300" b="0" i="0">
                <a:solidFill>
                  <a:srgbClr val="1F2A44"/>
                </a:solidFill>
                <a:latin typeface="Arial"/>
              </a:rPr>
              <a:t>so a difference is attributable to the platform, not the workload</a:t>
            </a:r>
          </a:p>
        </p:txBody>
      </p:sp>
      <p:sp>
        <p:nvSpPr>
          <p:cNvPr id="10" name="Rounded Rectangle 9"/>
          <p:cNvSpPr/>
          <p:nvPr/>
        </p:nvSpPr>
        <p:spPr>
          <a:xfrm>
            <a:off x="7589520" y="3108960"/>
            <a:ext cx="4187952" cy="1600200"/>
          </a:xfrm>
          <a:prstGeom prst="roundRect">
            <a:avLst>
              <a:gd name="adj" fmla="val 914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Every leg deploys fresh</a:t>
            </a:r>
          </a:p>
          <a:p>
            <a:pPr algn="l" marL="148590" indent="-148590">
              <a:spcAft>
                <a:spcPts val="300"/>
              </a:spcAft>
              <a:buChar char="•"/>
            </a:pPr>
            <a:r>
              <a:rPr sz="1300" b="0" i="0">
                <a:solidFill>
                  <a:srgbClr val="1F2A44"/>
                </a:solidFill>
                <a:latin typeface="Arial"/>
              </a:rPr>
              <a:t>only a newly created pod re-pulls </a:t>
            </a:r>
            <a:r>
              <a:rPr sz="1300" b="0" i="0">
                <a:solidFill>
                  <a:srgbClr val="1F2A44"/>
                </a:solidFill>
                <a:latin typeface="Consolas"/>
              </a:rPr>
              <a:t>:latest</a:t>
            </a:r>
          </a:p>
          <a:p>
            <a:pPr algn="l" marL="148590" indent="-148590">
              <a:spcAft>
                <a:spcPts val="300"/>
              </a:spcAft>
              <a:buChar char="•"/>
            </a:pPr>
            <a:r>
              <a:rPr sz="1300" b="0" i="0">
                <a:solidFill>
                  <a:srgbClr val="1F2A44"/>
                </a:solidFill>
                <a:latin typeface="Arial"/>
              </a:rPr>
              <a:t>the reports in </a:t>
            </a:r>
            <a:r>
              <a:rPr sz="1300" b="0" i="0">
                <a:solidFill>
                  <a:srgbClr val="1F2A44"/>
                </a:solidFill>
                <a:latin typeface="Consolas"/>
              </a:rPr>
              <a:t>docs/results/</a:t>
            </a:r>
            <a:r>
              <a:rPr sz="1300" b="0" i="0">
                <a:solidFill>
                  <a:srgbClr val="1F2A44"/>
                </a:solidFill>
                <a:latin typeface="Arial"/>
              </a:rPr>
              <a:t> derive every number from the mirrored artifacts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Each band of legs changes one thing, and established one thing</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So a difference between two legs has one candidate explanation</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32</a:t>
            </a:r>
          </a:p>
        </p:txBody>
      </p:sp>
      <p:graphicFrame>
        <p:nvGraphicFramePr>
          <p:cNvPr id="8" name="Table 7"/>
          <p:cNvGraphicFramePr>
            <a:graphicFrameLocks noGrp="1"/>
          </p:cNvGraphicFramePr>
          <p:nvPr/>
        </p:nvGraphicFramePr>
        <p:xfrm>
          <a:off x="411480" y="1325880"/>
          <a:ext cx="11365990" cy="3072384"/>
        </p:xfrm>
        <a:graphic>
          <a:graphicData uri="http://schemas.openxmlformats.org/drawingml/2006/table">
            <a:tbl>
              <a:tblPr firstRow="0" bandRow="0">
                <a:tableStyleId>{5C22544A-7EE6-4342-B048-85BDC9FD1C3A}</a:tableStyleId>
              </a:tblPr>
              <a:tblGrid>
                <a:gridCol w="1099934"/>
                <a:gridCol w="3941432"/>
                <a:gridCol w="6324624"/>
              </a:tblGrid>
              <a:tr h="512064">
                <a:tc>
                  <a:txBody>
                    <a:bodyPr wrap="square"/>
                    <a:lstStyle/>
                    <a:p>
                      <a:pPr algn="l"/>
                      <a:r>
                        <a:rPr sz="1200" b="1" i="0">
                          <a:solidFill>
                            <a:srgbClr val="FFFFFF"/>
                          </a:solidFill>
                          <a:latin typeface="Arial"/>
                        </a:rPr>
                        <a:t>legs</a:t>
                      </a:r>
                    </a:p>
                  </a:txBody>
                  <a:tcPr marL="54864" marR="54864" marT="18288" marB="18288" anchor="ctr">
                    <a:solidFill>
                      <a:srgbClr val="1F2A44"/>
                    </a:solidFill>
                  </a:tcPr>
                </a:tc>
                <a:tc>
                  <a:txBody>
                    <a:bodyPr wrap="square"/>
                    <a:lstStyle/>
                    <a:p>
                      <a:pPr algn="l"/>
                      <a:r>
                        <a:rPr sz="1200" b="1" i="0">
                          <a:solidFill>
                            <a:srgbClr val="FFFFFF"/>
                          </a:solidFill>
                          <a:latin typeface="Arial"/>
                        </a:rPr>
                        <a:t>what they vary</a:t>
                      </a:r>
                    </a:p>
                  </a:txBody>
                  <a:tcPr marL="54864" marR="54864" marT="18288" marB="18288" anchor="ctr">
                    <a:solidFill>
                      <a:srgbClr val="1F2A44"/>
                    </a:solidFill>
                  </a:tcPr>
                </a:tc>
                <a:tc>
                  <a:txBody>
                    <a:bodyPr wrap="square"/>
                    <a:lstStyle/>
                    <a:p>
                      <a:pPr algn="l"/>
                      <a:r>
                        <a:rPr sz="1200" b="1" i="0">
                          <a:solidFill>
                            <a:srgbClr val="FFFFFF"/>
                          </a:solidFill>
                          <a:latin typeface="Arial"/>
                        </a:rPr>
                        <a:t>what running them established</a:t>
                      </a:r>
                    </a:p>
                  </a:txBody>
                  <a:tcPr marL="54864" marR="54864" marT="18288" marB="18288" anchor="ctr">
                    <a:solidFill>
                      <a:srgbClr val="1F2A44"/>
                    </a:solidFill>
                  </a:tcPr>
                </a:tc>
              </a:tr>
              <a:tr h="512064">
                <a:tc>
                  <a:txBody>
                    <a:bodyPr wrap="square"/>
                    <a:lstStyle/>
                    <a:p>
                      <a:pPr algn="l"/>
                      <a:r>
                        <a:rPr sz="1200" b="1" i="0">
                          <a:solidFill>
                            <a:srgbClr val="1F2A44"/>
                          </a:solidFill>
                          <a:latin typeface="Arial"/>
                        </a:rPr>
                        <a:t>#1–#3</a:t>
                      </a:r>
                    </a:p>
                  </a:txBody>
                  <a:tcPr marL="54864" marR="54864" marT="18288" marB="18288" anchor="ctr">
                    <a:solidFill>
                      <a:srgbClr val="FFFFFF"/>
                    </a:solidFill>
                  </a:tcPr>
                </a:tc>
                <a:tc>
                  <a:txBody>
                    <a:bodyPr wrap="square"/>
                    <a:lstStyle/>
                    <a:p>
                      <a:pPr algn="l"/>
                      <a:r>
                        <a:rPr sz="1200" b="0" i="0">
                          <a:solidFill>
                            <a:srgbClr val="1F2A44"/>
                          </a:solidFill>
                          <a:latin typeface="Arial"/>
                        </a:rPr>
                        <a:t>gsm8k 1 → 10 → 50 tasks, p=1 → 4</a:t>
                      </a:r>
                    </a:p>
                  </a:txBody>
                  <a:tcPr marL="54864" marR="54864" marT="18288" marB="18288" anchor="ctr">
                    <a:solidFill>
                      <a:srgbClr val="FFFFFF"/>
                    </a:solidFill>
                  </a:tcPr>
                </a:tc>
                <a:tc>
                  <a:txBody>
                    <a:bodyPr wrap="square"/>
                    <a:lstStyle/>
                    <a:p>
                      <a:pPr algn="l"/>
                      <a:r>
                        <a:rPr sz="1200" b="0" i="0">
                          <a:solidFill>
                            <a:srgbClr val="1F2A44"/>
                          </a:solidFill>
                          <a:latin typeface="Arial"/>
                        </a:rPr>
                        <a:t>the pipeline is stable and deterministic: 7 of 12 legs have byte-identical input tokens across two unlike clusters</a:t>
                      </a:r>
                    </a:p>
                  </a:txBody>
                  <a:tcPr marL="54864" marR="54864" marT="18288" marB="18288" anchor="ctr">
                    <a:solidFill>
                      <a:srgbClr val="FFFFFF"/>
                    </a:solidFill>
                  </a:tcPr>
                </a:tc>
              </a:tr>
              <a:tr h="512064">
                <a:tc>
                  <a:txBody>
                    <a:bodyPr wrap="square"/>
                    <a:lstStyle/>
                    <a:p>
                      <a:pPr algn="l"/>
                      <a:r>
                        <a:rPr sz="1200" b="1"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 on Azure/gpt-4.1, identical tasks</a:t>
                      </a:r>
                    </a:p>
                  </a:txBody>
                  <a:tcPr marL="54864" marR="54864" marT="18288" marB="18288" anchor="ctr">
                    <a:solidFill>
                      <a:srgbClr val="F3F5F9"/>
                    </a:solidFill>
                  </a:tcPr>
                </a:tc>
                <a:tc>
                  <a:txBody>
                    <a:bodyPr wrap="square"/>
                    <a:lstStyle/>
                    <a:p>
                      <a:pPr algn="l"/>
                      <a:r>
                        <a:rPr sz="1200" b="0" i="0">
                          <a:solidFill>
                            <a:srgbClr val="1F2A44"/>
                          </a:solidFill>
                          <a:latin typeface="Arial"/>
                        </a:rPr>
                        <a:t>the one clean model comparison: 4.6× the cost of gpt-5-mini for no pass-rate gain</a:t>
                      </a:r>
                    </a:p>
                  </a:txBody>
                  <a:tcPr marL="54864" marR="54864" marT="18288" marB="18288" anchor="ctr">
                    <a:solidFill>
                      <a:srgbClr val="F3F5F9"/>
                    </a:solidFill>
                  </a:tcPr>
                </a:tc>
              </a:tr>
              <a:tr h="512064">
                <a:tc>
                  <a:txBody>
                    <a:bodyPr wrap="square"/>
                    <a:lstStyle/>
                    <a:p>
                      <a:pPr algn="l"/>
                      <a:r>
                        <a:rPr sz="1200" b="1" i="0">
                          <a:solidFill>
                            <a:srgbClr val="1F2A44"/>
                          </a:solidFill>
                          <a:latin typeface="Arial"/>
                        </a:rPr>
                        <a:t>#5–#8</a:t>
                      </a:r>
                    </a:p>
                  </a:txBody>
                  <a:tcPr marL="54864" marR="54864" marT="18288" marB="18288" anchor="ctr">
                    <a:solidFill>
                      <a:srgbClr val="FFFFFF"/>
                    </a:solidFill>
                  </a:tcPr>
                </a:tc>
                <a:tc>
                  <a:txBody>
                    <a:bodyPr wrap="square"/>
                    <a:lstStyle/>
                    <a:p>
                      <a:pPr algn="l"/>
                      <a:r>
                        <a:rPr sz="1200" b="0" i="0">
                          <a:solidFill>
                            <a:srgbClr val="1F2A44"/>
                          </a:solidFill>
                          <a:latin typeface="Arial"/>
                        </a:rPr>
                        <a:t>AuthBridge presets, the same 5 tasks</a:t>
                      </a:r>
                    </a:p>
                  </a:txBody>
                  <a:tcPr marL="54864" marR="54864" marT="18288" marB="18288" anchor="ctr">
                    <a:solidFill>
                      <a:srgbClr val="FFFFFF"/>
                    </a:solidFill>
                  </a:tcPr>
                </a:tc>
                <a:tc>
                  <a:txBody>
                    <a:bodyPr wrap="square"/>
                    <a:lstStyle/>
                    <a:p>
                      <a:pPr algn="l"/>
                      <a:r>
                        <a:rPr sz="1200" b="0" i="0">
                          <a:solidFill>
                            <a:srgbClr val="1F2A44"/>
                          </a:solidFill>
                          <a:latin typeface="Arial"/>
                        </a:rPr>
                        <a:t>the cost lands in the IBAC judge: +1.36 s/task on OpenShift, +1.48 s on KinD</a:t>
                      </a:r>
                    </a:p>
                  </a:txBody>
                  <a:tcPr marL="54864" marR="54864" marT="18288" marB="18288" anchor="ctr">
                    <a:solidFill>
                      <a:srgbClr val="FFFFFF"/>
                    </a:solidFill>
                  </a:tcPr>
                </a:tc>
              </a:tr>
              <a:tr h="512064">
                <a:tc>
                  <a:txBody>
                    <a:bodyPr wrap="square"/>
                    <a:lstStyle/>
                    <a:p>
                      <a:pPr algn="l"/>
                      <a:r>
                        <a:rPr sz="1200" b="1" i="0">
                          <a:solidFill>
                            <a:srgbClr val="1F2A44"/>
                          </a:solidFill>
                          <a:latin typeface="Arial"/>
                        </a:rPr>
                        <a:t>#9–#10</a:t>
                      </a:r>
                    </a:p>
                  </a:txBody>
                  <a:tcPr marL="54864" marR="54864" marT="18288" marB="18288" anchor="ctr">
                    <a:solidFill>
                      <a:srgbClr val="F3F5F9"/>
                    </a:solidFill>
                  </a:tcPr>
                </a:tc>
                <a:tc>
                  <a:txBody>
                    <a:bodyPr wrap="square"/>
                    <a:lstStyle/>
                    <a:p>
                      <a:pPr algn="l"/>
                      <a:r>
                        <a:rPr sz="1200" b="0" i="0">
                          <a:solidFill>
                            <a:srgbClr val="1F2A44"/>
                          </a:solidFill>
                          <a:latin typeface="Arial"/>
                        </a:rPr>
                        <a:t>tau2 10 → 20 tasks, p=1 → 4</a:t>
                      </a:r>
                    </a:p>
                  </a:txBody>
                  <a:tcPr marL="54864" marR="54864" marT="18288" marB="18288" anchor="ctr">
                    <a:solidFill>
                      <a:srgbClr val="F3F5F9"/>
                    </a:solidFill>
                  </a:tcPr>
                </a:tc>
                <a:tc>
                  <a:txBody>
                    <a:bodyPr wrap="square"/>
                    <a:lstStyle/>
                    <a:p>
                      <a:pPr algn="l"/>
                      <a:r>
                        <a:rPr sz="1200" b="0" i="0">
                          <a:solidFill>
                            <a:srgbClr val="1F2A44"/>
                          </a:solidFill>
                          <a:latin typeface="Arial"/>
                        </a:rPr>
                        <a:t>multi-turn works end to end; pass rates carry information (0.85–1.00)</a:t>
                      </a:r>
                    </a:p>
                  </a:txBody>
                  <a:tcPr marL="54864" marR="54864" marT="18288" marB="18288" anchor="ctr">
                    <a:solidFill>
                      <a:srgbClr val="F3F5F9"/>
                    </a:solidFill>
                  </a:tcPr>
                </a:tc>
              </a:tr>
              <a:tr h="512064">
                <a:tc>
                  <a:txBody>
                    <a:bodyPr wrap="square"/>
                    <a:lstStyle/>
                    <a:p>
                      <a:pPr algn="l"/>
                      <a:r>
                        <a:rPr sz="1200" b="1" i="0">
                          <a:solidFill>
                            <a:srgbClr val="1F2A44"/>
                          </a:solidFill>
                          <a:latin typeface="Arial"/>
                        </a:rPr>
                        <a:t>#11–#12</a:t>
                      </a:r>
                    </a:p>
                  </a:txBody>
                  <a:tcPr marL="54864" marR="54864" marT="18288" marB="18288" anchor="ctr">
                    <a:solidFill>
                      <a:srgbClr val="FFFFFF"/>
                    </a:solidFill>
                  </a:tcPr>
                </a:tc>
                <a:tc>
                  <a:txBody>
                    <a:bodyPr wrap="square"/>
                    <a:lstStyle/>
                    <a:p>
                      <a:pPr algn="l"/>
                      <a:r>
                        <a:rPr sz="1200" b="0" i="0">
                          <a:solidFill>
                            <a:srgbClr val="1F2A44"/>
                          </a:solidFill>
                          <a:latin typeface="Arial"/>
                        </a:rPr>
                        <a:t>appworld 5 → 20 tasks, p=1 → 4</a:t>
                      </a:r>
                    </a:p>
                  </a:txBody>
                  <a:tcPr marL="54864" marR="54864" marT="18288" marB="18288" anchor="ctr">
                    <a:solidFill>
                      <a:srgbClr val="FFFFFF"/>
                    </a:solidFill>
                  </a:tcPr>
                </a:tc>
                <a:tc>
                  <a:txBody>
                    <a:bodyPr wrap="square"/>
                    <a:lstStyle/>
                    <a:p>
                      <a:pPr algn="l"/>
                      <a:r>
                        <a:rPr sz="1200" b="0" i="0">
                          <a:solidFill>
                            <a:srgbClr val="1F2A44"/>
                          </a:solidFill>
                          <a:latin typeface="Arial"/>
                        </a:rPr>
                        <a:t>the limits are upstream: 0.00, the only timeout, ~77% of the bill in two legs</a:t>
                      </a:r>
                    </a:p>
                  </a:txBody>
                  <a:tcPr marL="54864" marR="54864" marT="18288" marB="18288" anchor="ctr">
                    <a:solidFill>
                      <a:srgbClr val="FFFFFF"/>
                    </a:solidFill>
                  </a:tcPr>
                </a:tc>
              </a:tr>
            </a:tbl>
          </a:graphicData>
        </a:graphic>
      </p:graphicFrame>
      <p:sp>
        <p:nvSpPr>
          <p:cNvPr id="9" name="Rounded Rectangle 8"/>
          <p:cNvSpPr/>
          <p:nvPr/>
        </p:nvSpPr>
        <p:spPr>
          <a:xfrm>
            <a:off x="411480" y="4617720"/>
            <a:ext cx="557784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What the matrix as a whole is worth</a:t>
            </a:r>
          </a:p>
          <a:p>
            <a:pPr algn="l">
              <a:spcAft>
                <a:spcPts val="300"/>
              </a:spcAft>
            </a:pPr>
            <a:r>
              <a:rPr sz="1200" b="0" i="0">
                <a:solidFill>
                  <a:srgbClr val="1F2A44"/>
                </a:solidFill>
                <a:latin typeface="Arial"/>
              </a:rPr>
              <a:t>That the same 12 request bodies measure comparably on two unlike clusters: 0 of 281 rows lost their usage, nothing lost to infrastructure, 8 of 12 pass rates identical.</a:t>
            </a:r>
          </a:p>
        </p:txBody>
      </p:sp>
      <p:sp>
        <p:nvSpPr>
          <p:cNvPr id="10" name="Rounded Rectangle 9"/>
          <p:cNvSpPr/>
          <p:nvPr/>
        </p:nvSpPr>
        <p:spPr>
          <a:xfrm>
            <a:off x="6199632" y="4617720"/>
            <a:ext cx="5577840" cy="118872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Read the per-cause table, then the rate</a:t>
            </a:r>
          </a:p>
          <a:p>
            <a:pPr algn="l">
              <a:spcAft>
                <a:spcPts val="200"/>
              </a:spcAft>
            </a:pPr>
            <a:r>
              <a:rPr sz="1200" b="0" i="0">
                <a:solidFill>
                  <a:srgbClr val="1F2A44"/>
                </a:solidFill>
                <a:latin typeface="Arial"/>
              </a:rPr>
              <a:t>A socket loss and a wrong answer share a denominator. OCP/KinD: timeout 0/1, agent defect 4/4, wrong answer 1/1. Latency travels only approximately (up to 1.7×).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the 12 runs measured on OpenShift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v1.35 on OpenShift (ykt3): 141 tasks, all 12 legs succeeded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33</a:t>
            </a:r>
          </a:p>
        </p:txBody>
      </p:sp>
      <p:graphicFrame>
        <p:nvGraphicFramePr>
          <p:cNvPr id="8" name="Table 7"/>
          <p:cNvGraphicFramePr>
            <a:graphicFrameLocks noGrp="1"/>
          </p:cNvGraphicFramePr>
          <p:nvPr/>
        </p:nvGraphicFramePr>
        <p:xfrm>
          <a:off x="411480" y="1325880"/>
          <a:ext cx="5760714" cy="4754880"/>
        </p:xfrm>
        <a:graphic>
          <a:graphicData uri="http://schemas.openxmlformats.org/drawingml/2006/table">
            <a:tbl>
              <a:tblPr firstRow="0" bandRow="0">
                <a:tableStyleId>{5C22544A-7EE6-4342-B048-85BDC9FD1C3A}</a:tableStyleId>
              </a:tblPr>
              <a:tblGrid>
                <a:gridCol w="457199"/>
                <a:gridCol w="1188719"/>
                <a:gridCol w="822959"/>
                <a:gridCol w="822959"/>
                <a:gridCol w="1005839"/>
                <a:gridCol w="1463039"/>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a:t>
                      </a:r>
                    </a:p>
                  </a:txBody>
                  <a:tcPr marL="54864" marR="54864" marT="18288" marB="18288" anchor="ctr">
                    <a:solidFill>
                      <a:srgbClr val="1F2A44"/>
                    </a:solidFill>
                  </a:tcPr>
                </a:tc>
                <a:tc>
                  <a:txBody>
                    <a:bodyPr wrap="square"/>
                    <a:lstStyle/>
                    <a:p>
                      <a:pPr algn="r"/>
                      <a:r>
                        <a:rPr sz="1200" b="1" i="0">
                          <a:solidFill>
                            <a:srgbClr val="FFFFFF"/>
                          </a:solidFill>
                          <a:latin typeface="Arial"/>
                        </a:rPr>
                        <a:t>pass</a:t>
                      </a:r>
                    </a:p>
                  </a:txBody>
                  <a:tcPr marL="54864" marR="54864" marT="18288" marB="18288" anchor="ctr">
                    <a:solidFill>
                      <a:srgbClr val="1F2A44"/>
                    </a:solidFill>
                  </a:tcPr>
                </a:tc>
                <a:tc>
                  <a:txBody>
                    <a:bodyPr wrap="square"/>
                    <a:lstStyle/>
                    <a:p>
                      <a:pPr algn="r"/>
                      <a:r>
                        <a:rPr sz="1200" b="1" i="0">
                          <a:solidFill>
                            <a:srgbClr val="FFFFFF"/>
                          </a:solidFill>
                          <a:latin typeface="Arial"/>
                        </a:rPr>
                        <a:t>err</a:t>
                      </a:r>
                    </a:p>
                  </a:txBody>
                  <a:tcPr marL="54864" marR="54864" marT="18288" marB="18288" anchor="ctr">
                    <a:solidFill>
                      <a:srgbClr val="1F2A44"/>
                    </a:solidFill>
                  </a:tcPr>
                </a:tc>
                <a:tc>
                  <a:txBody>
                    <a:bodyPr wrap="square"/>
                    <a:lstStyle/>
                    <a:p>
                      <a:pPr algn="r"/>
                      <a:r>
                        <a:rPr sz="1200" b="1" i="0">
                          <a:solidFill>
                            <a:srgbClr val="FFFFFF"/>
                          </a:solidFill>
                          <a:latin typeface="Arial"/>
                        </a:rPr>
                        <a:t>wall</a:t>
                      </a:r>
                    </a:p>
                  </a:txBody>
                  <a:tcPr marL="54864" marR="54864" marT="18288" marB="18288" anchor="ctr">
                    <a:solidFill>
                      <a:srgbClr val="1F2A44"/>
                    </a:solidFill>
                  </a:tcPr>
                </a:tc>
                <a:tc>
                  <a:txBody>
                    <a:bodyPr wrap="square"/>
                    <a:lstStyle/>
                    <a:p>
                      <a:pPr algn="r"/>
                      <a:r>
                        <a:rPr sz="1200" b="1" i="0">
                          <a:solidFill>
                            <a:srgbClr val="FFFFFF"/>
                          </a:solidFill>
                          <a:latin typeface="Arial"/>
                        </a:rPr>
                        <a:t>input tokens</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0/1</a:t>
                      </a:r>
                    </a:p>
                  </a:txBody>
                  <a:tcPr marL="54864" marR="54864" marT="18288" marB="18288" anchor="ctr">
                    <a:solidFill>
                      <a:srgbClr val="FFFFFF"/>
                    </a:solidFill>
                  </a:tcPr>
                </a:tc>
                <a:tc>
                  <a:txBody>
                    <a:bodyPr wrap="square"/>
                    <a:lstStyle/>
                    <a:p>
                      <a:pPr algn="r"/>
                      <a:r>
                        <a:rPr sz="1200" b="0" i="0">
                          <a:solidFill>
                            <a:srgbClr val="1F2A44"/>
                          </a:solidFill>
                          <a:latin typeface="Arial"/>
                        </a:rPr>
                        <a:t>4 s</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0/10</a:t>
                      </a:r>
                    </a:p>
                  </a:txBody>
                  <a:tcPr marL="54864" marR="54864" marT="18288" marB="18288" anchor="ctr">
                    <a:solidFill>
                      <a:srgbClr val="F3F5F9"/>
                    </a:solidFill>
                  </a:tcPr>
                </a:tc>
                <a:tc>
                  <a:txBody>
                    <a:bodyPr wrap="square"/>
                    <a:lstStyle/>
                    <a:p>
                      <a:pPr algn="r"/>
                      <a:r>
                        <a:rPr sz="1200" b="0" i="0">
                          <a:solidFill>
                            <a:srgbClr val="1F2A44"/>
                          </a:solidFill>
                          <a:latin typeface="Arial"/>
                        </a:rPr>
                        <a:t>29 s</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0/50</a:t>
                      </a:r>
                    </a:p>
                  </a:txBody>
                  <a:tcPr marL="54864" marR="54864" marT="18288" marB="18288" anchor="ctr">
                    <a:solidFill>
                      <a:srgbClr val="FFFFFF"/>
                    </a:solidFill>
                  </a:tcPr>
                </a:tc>
                <a:tc>
                  <a:txBody>
                    <a:bodyPr wrap="square"/>
                    <a:lstStyle/>
                    <a:p>
                      <a:pPr algn="r"/>
                      <a:r>
                        <a:rPr sz="1200" b="0" i="0">
                          <a:solidFill>
                            <a:srgbClr val="1F2A44"/>
                          </a:solidFill>
                          <a:latin typeface="Arial"/>
                        </a:rPr>
                        <a:t>34 s</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9 s</a:t>
                      </a:r>
                    </a:p>
                  </a:txBody>
                  <a:tcPr marL="54864" marR="54864" marT="18288" marB="18288" anchor="ctr">
                    <a:solidFill>
                      <a:srgbClr val="F3F5F9"/>
                    </a:solidFill>
                  </a:tcPr>
                </a:tc>
                <a:tc>
                  <a:txBody>
                    <a:bodyPr wrap="square"/>
                    <a:lstStyle/>
                    <a:p>
                      <a:pPr algn="r"/>
                      <a:r>
                        <a:rPr sz="1200" b="0" i="0">
                          <a:solidFill>
                            <a:srgbClr val="1F2A44"/>
                          </a:solidFill>
                          <a:latin typeface="Arial"/>
                        </a:rPr>
                        <a:t>3,908</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0/5</a:t>
                      </a:r>
                    </a:p>
                  </a:txBody>
                  <a:tcPr marL="54864" marR="54864" marT="18288" marB="18288" anchor="ctr">
                    <a:solidFill>
                      <a:srgbClr val="FFFFFF"/>
                    </a:solidFill>
                  </a:tcPr>
                </a:tc>
                <a:tc>
                  <a:txBody>
                    <a:bodyPr wrap="square"/>
                    <a:lstStyle/>
                    <a:p>
                      <a:pPr algn="r"/>
                      <a:r>
                        <a:rPr sz="1200" b="0" i="0">
                          <a:solidFill>
                            <a:srgbClr val="1F2A44"/>
                          </a:solidFill>
                          <a:latin typeface="Arial"/>
                        </a:rPr>
                        <a:t>6 s</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6 s</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0.80</a:t>
                      </a:r>
                    </a:p>
                  </a:txBody>
                  <a:tcPr marL="54864" marR="54864" marT="18288" marB="18288" anchor="ctr">
                    <a:solidFill>
                      <a:srgbClr val="FFFFFF"/>
                    </a:solidFill>
                  </a:tcPr>
                </a:tc>
                <a:tc>
                  <a:txBody>
                    <a:bodyPr wrap="square"/>
                    <a:lstStyle/>
                    <a:p>
                      <a:pPr algn="r"/>
                      <a:r>
                        <a:rPr sz="1200" b="0" i="0">
                          <a:solidFill>
                            <a:srgbClr val="1F2A44"/>
                          </a:solidFill>
                          <a:latin typeface="Arial"/>
                        </a:rPr>
                        <a:t>1/5</a:t>
                      </a:r>
                    </a:p>
                  </a:txBody>
                  <a:tcPr marL="54864" marR="54864" marT="18288" marB="18288" anchor="ctr">
                    <a:solidFill>
                      <a:srgbClr val="FFFFFF"/>
                    </a:solidFill>
                  </a:tcPr>
                </a:tc>
                <a:tc>
                  <a:txBody>
                    <a:bodyPr wrap="square"/>
                    <a:lstStyle/>
                    <a:p>
                      <a:pPr algn="r"/>
                      <a:r>
                        <a:rPr sz="1200" b="0" i="0">
                          <a:solidFill>
                            <a:srgbClr val="1F2A44"/>
                          </a:solidFill>
                          <a:latin typeface="Arial"/>
                        </a:rPr>
                        <a:t>9 s</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7 s</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r"/>
                      <a:r>
                        <a:rPr sz="1200" b="0" i="0">
                          <a:solidFill>
                            <a:srgbClr val="1F2A44"/>
                          </a:solidFill>
                          <a:latin typeface="Arial"/>
                        </a:rPr>
                        <a:t>0.90</a:t>
                      </a:r>
                    </a:p>
                  </a:txBody>
                  <a:tcPr marL="54864" marR="54864" marT="18288" marB="18288" anchor="ctr">
                    <a:solidFill>
                      <a:srgbClr val="FFFFFF"/>
                    </a:solidFill>
                  </a:tcPr>
                </a:tc>
                <a:tc>
                  <a:txBody>
                    <a:bodyPr wrap="square"/>
                    <a:lstStyle/>
                    <a:p>
                      <a:pPr algn="r"/>
                      <a:r>
                        <a:rPr sz="1200" b="0" i="0">
                          <a:solidFill>
                            <a:srgbClr val="1F2A44"/>
                          </a:solidFill>
                          <a:latin typeface="Arial"/>
                        </a:rPr>
                        <a:t>0/10</a:t>
                      </a:r>
                    </a:p>
                  </a:txBody>
                  <a:tcPr marL="54864" marR="54864" marT="18288" marB="18288" anchor="ctr">
                    <a:solidFill>
                      <a:srgbClr val="FFFFFF"/>
                    </a:solidFill>
                  </a:tcPr>
                </a:tc>
                <a:tc>
                  <a:txBody>
                    <a:bodyPr wrap="square"/>
                    <a:lstStyle/>
                    <a:p>
                      <a:pPr algn="r"/>
                      <a:r>
                        <a:rPr sz="1200" b="0" i="0">
                          <a:solidFill>
                            <a:srgbClr val="1F2A44"/>
                          </a:solidFill>
                          <a:latin typeface="Arial"/>
                        </a:rPr>
                        <a:t>511 s</a:t>
                      </a:r>
                    </a:p>
                  </a:txBody>
                  <a:tcPr marL="54864" marR="54864" marT="18288" marB="18288" anchor="ctr">
                    <a:solidFill>
                      <a:srgbClr val="FFFFFF"/>
                    </a:solidFill>
                  </a:tcPr>
                </a:tc>
                <a:tc>
                  <a:txBody>
                    <a:bodyPr wrap="square"/>
                    <a:lstStyle/>
                    <a:p>
                      <a:pPr algn="r"/>
                      <a:r>
                        <a:rPr sz="1200" b="0" i="0">
                          <a:solidFill>
                            <a:srgbClr val="1F2A44"/>
                          </a:solidFill>
                          <a:latin typeface="Arial"/>
                        </a:rPr>
                        <a:t>936,612</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r"/>
                      <a:r>
                        <a:rPr sz="1200" b="0" i="0">
                          <a:solidFill>
                            <a:srgbClr val="1F2A44"/>
                          </a:solidFill>
                          <a:latin typeface="Arial"/>
                        </a:rPr>
                        <a:t>0.90</a:t>
                      </a:r>
                    </a:p>
                  </a:txBody>
                  <a:tcPr marL="54864" marR="54864" marT="18288" marB="18288" anchor="ctr">
                    <a:solidFill>
                      <a:srgbClr val="F3F5F9"/>
                    </a:solidFill>
                  </a:tcPr>
                </a:tc>
                <a:tc>
                  <a:txBody>
                    <a:bodyPr wrap="square"/>
                    <a:lstStyle/>
                    <a:p>
                      <a:pPr algn="r"/>
                      <a:r>
                        <a:rPr sz="1200" b="0" i="0">
                          <a:solidFill>
                            <a:srgbClr val="1F2A44"/>
                          </a:solidFill>
                          <a:latin typeface="Arial"/>
                        </a:rPr>
                        <a:t>0/20</a:t>
                      </a:r>
                    </a:p>
                  </a:txBody>
                  <a:tcPr marL="54864" marR="54864" marT="18288" marB="18288" anchor="ctr">
                    <a:solidFill>
                      <a:srgbClr val="F3F5F9"/>
                    </a:solidFill>
                  </a:tcPr>
                </a:tc>
                <a:tc>
                  <a:txBody>
                    <a:bodyPr wrap="square"/>
                    <a:lstStyle/>
                    <a:p>
                      <a:pPr algn="r"/>
                      <a:r>
                        <a:rPr sz="1200" b="0" i="0">
                          <a:solidFill>
                            <a:srgbClr val="1F2A44"/>
                          </a:solidFill>
                          <a:latin typeface="Arial"/>
                        </a:rPr>
                        <a:t>282 s</a:t>
                      </a:r>
                    </a:p>
                  </a:txBody>
                  <a:tcPr marL="54864" marR="54864" marT="18288" marB="18288" anchor="ctr">
                    <a:solidFill>
                      <a:srgbClr val="F3F5F9"/>
                    </a:solidFill>
                  </a:tcPr>
                </a:tc>
                <a:tc>
                  <a:txBody>
                    <a:bodyPr wrap="square"/>
                    <a:lstStyle/>
                    <a:p>
                      <a:pPr algn="r"/>
                      <a:r>
                        <a:rPr sz="1200" b="0" i="0">
                          <a:solidFill>
                            <a:srgbClr val="1F2A44"/>
                          </a:solidFill>
                          <a:latin typeface="Arial"/>
                        </a:rPr>
                        <a:t>1,695,959</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1/5</a:t>
                      </a:r>
                    </a:p>
                  </a:txBody>
                  <a:tcPr marL="54864" marR="54864" marT="18288" marB="18288" anchor="ctr">
                    <a:solidFill>
                      <a:srgbClr val="FFFFFF"/>
                    </a:solidFill>
                  </a:tcPr>
                </a:tc>
                <a:tc>
                  <a:txBody>
                    <a:bodyPr wrap="square"/>
                    <a:lstStyle/>
                    <a:p>
                      <a:pPr algn="r"/>
                      <a:r>
                        <a:rPr sz="1200" b="0" i="0">
                          <a:solidFill>
                            <a:srgbClr val="1F2A44"/>
                          </a:solidFill>
                          <a:latin typeface="Arial"/>
                        </a:rPr>
                        <a:t>1,284 s</a:t>
                      </a:r>
                    </a:p>
                  </a:txBody>
                  <a:tcPr marL="54864" marR="54864" marT="18288" marB="18288" anchor="ctr">
                    <a:solidFill>
                      <a:srgbClr val="FFFFFF"/>
                    </a:solidFill>
                  </a:tcPr>
                </a:tc>
                <a:tc>
                  <a:txBody>
                    <a:bodyPr wrap="square"/>
                    <a:lstStyle/>
                    <a:p>
                      <a:pPr algn="r"/>
                      <a:r>
                        <a:rPr sz="1200" b="0" i="0">
                          <a:solidFill>
                            <a:srgbClr val="1F2A44"/>
                          </a:solidFill>
                          <a:latin typeface="Arial"/>
                        </a:rPr>
                        <a:t>1,420,531</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3/20</a:t>
                      </a:r>
                    </a:p>
                  </a:txBody>
                  <a:tcPr marL="54864" marR="54864" marT="18288" marB="18288" anchor="ctr">
                    <a:solidFill>
                      <a:srgbClr val="F3F5F9"/>
                    </a:solidFill>
                  </a:tcPr>
                </a:tc>
                <a:tc>
                  <a:txBody>
                    <a:bodyPr wrap="square"/>
                    <a:lstStyle/>
                    <a:p>
                      <a:pPr algn="r"/>
                      <a:r>
                        <a:rPr sz="1200" b="0" i="0">
                          <a:solidFill>
                            <a:srgbClr val="1F2A44"/>
                          </a:solidFill>
                          <a:latin typeface="Arial"/>
                        </a:rPr>
                        <a:t>1,402 s</a:t>
                      </a:r>
                    </a:p>
                  </a:txBody>
                  <a:tcPr marL="54864" marR="54864" marT="18288" marB="18288" anchor="ctr">
                    <a:solidFill>
                      <a:srgbClr val="F3F5F9"/>
                    </a:solidFill>
                  </a:tcPr>
                </a:tc>
                <a:tc>
                  <a:txBody>
                    <a:bodyPr wrap="square"/>
                    <a:lstStyle/>
                    <a:p>
                      <a:pPr algn="r"/>
                      <a:r>
                        <a:rPr sz="1200" b="0" i="0">
                          <a:solidFill>
                            <a:srgbClr val="1F2A44"/>
                          </a:solidFill>
                          <a:latin typeface="Arial"/>
                        </a:rPr>
                        <a:t>5,949,228</a:t>
                      </a:r>
                    </a:p>
                  </a:txBody>
                  <a:tcPr marL="54864" marR="54864" marT="18288" marB="18288" anchor="ctr">
                    <a:solidFill>
                      <a:srgbClr val="F3F5F9"/>
                    </a:solidFill>
                  </a:tcPr>
                </a:tc>
              </a:tr>
            </a:tbl>
          </a:graphicData>
        </a:graphic>
      </p:graphicFrame>
      <p:sp>
        <p:nvSpPr>
          <p:cNvPr id="9" name="Rounded Rectangle 8"/>
          <p:cNvSpPr/>
          <p:nvPr/>
        </p:nvSpPr>
        <p:spPr>
          <a:xfrm>
            <a:off x="6400800" y="1325880"/>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gsm8k nearly saturates</a:t>
            </a:r>
          </a:p>
          <a:p>
            <a:pPr algn="l">
              <a:spcAft>
                <a:spcPts val="300"/>
              </a:spcAft>
            </a:pPr>
            <a:r>
              <a:rPr sz="1200" b="0" i="0">
                <a:solidFill>
                  <a:srgbClr val="1F2A44"/>
                </a:solidFill>
                <a:latin typeface="Arial"/>
              </a:rPr>
              <a:t>6 of 8 legs at 1.00; #4 and #7 lose one task each, both the model's own answers.</a:t>
            </a:r>
          </a:p>
        </p:txBody>
      </p:sp>
      <p:sp>
        <p:nvSpPr>
          <p:cNvPr id="10" name="Rounded Rectangle 9"/>
          <p:cNvSpPr/>
          <p:nvPr/>
        </p:nvSpPr>
        <p:spPr>
          <a:xfrm>
            <a:off x="6400800" y="2313432"/>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tau2 is the leg that moves</a:t>
            </a:r>
          </a:p>
          <a:p>
            <a:pPr algn="l">
              <a:spcAft>
                <a:spcPts val="300"/>
              </a:spcAft>
            </a:pPr>
            <a:r>
              <a:rPr sz="1200" b="0" i="0">
                <a:solidFill>
                  <a:srgbClr val="1F2A44"/>
                </a:solidFill>
                <a:latin typeface="Arial"/>
              </a:rPr>
              <a:t>0.90 and 0.90 here, 1.00 and 0.85 on KinD: at n=10 one task is worth 0.10.</a:t>
            </a:r>
          </a:p>
        </p:txBody>
      </p:sp>
      <p:sp>
        <p:nvSpPr>
          <p:cNvPr id="11" name="Rounded Rectangle 10"/>
          <p:cNvSpPr/>
          <p:nvPr/>
        </p:nvSpPr>
        <p:spPr>
          <a:xfrm>
            <a:off x="6400800" y="3300984"/>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appworld 0.00 is the honest result</a:t>
            </a:r>
          </a:p>
          <a:p>
            <a:pPr algn="l">
              <a:spcAft>
                <a:spcPts val="300"/>
              </a:spcAft>
            </a:pPr>
            <a:r>
              <a:rPr sz="1200" b="0" i="0">
                <a:solidFill>
                  <a:srgbClr val="1F2A44"/>
                </a:solidFill>
                <a:latin typeface="Arial"/>
              </a:rPr>
              <a:t>Runs complete and tokens record; all 4 errors are the agent's own defect.</a:t>
            </a:r>
          </a:p>
        </p:txBody>
      </p:sp>
      <p:sp>
        <p:nvSpPr>
          <p:cNvPr id="12" name="Rounded Rectangle 11"/>
          <p:cNvSpPr/>
          <p:nvPr/>
        </p:nvSpPr>
        <p:spPr>
          <a:xfrm>
            <a:off x="6400800" y="4288536"/>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0 tasks lost to infrastructure</a:t>
            </a:r>
          </a:p>
          <a:p>
            <a:pPr algn="l">
              <a:spcAft>
                <a:spcPts val="300"/>
              </a:spcAft>
            </a:pPr>
            <a:r>
              <a:rPr sz="1200" b="0" i="0">
                <a:solidFill>
                  <a:srgbClr val="1F2A44"/>
                </a:solidFill>
                <a:latin typeface="Arial"/>
              </a:rPr>
              <a:t>v1.35 caps an agent LLM call at 120 s, so a stalled call is cut and retried.</a:t>
            </a:r>
          </a:p>
        </p:txBody>
      </p:sp>
      <p:sp>
        <p:nvSpPr>
          <p:cNvPr id="13" name="Rounded Rectangle 12"/>
          <p:cNvSpPr/>
          <p:nvPr/>
        </p:nvSpPr>
        <p:spPr>
          <a:xfrm>
            <a:off x="6400800" y="5276088"/>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10.0 M input, 728 K output tokens</a:t>
            </a:r>
          </a:p>
          <a:p>
            <a:pPr algn="l">
              <a:spcAft>
                <a:spcPts val="300"/>
              </a:spcAft>
            </a:pPr>
            <a:r>
              <a:rPr sz="1200" b="0" i="0">
                <a:solidFill>
                  <a:srgbClr val="1F2A44"/>
                </a:solidFill>
                <a:latin typeface="Arial"/>
              </a:rPr>
              <a:t>over 3,583 s of run time; appworld is 73% of the input on 25 of 141 rows.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OpenShift and KinD, like for like: seven legs match to the byte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12 request bodies, Service version and instance config</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34</a:t>
            </a:r>
          </a:p>
        </p:txBody>
      </p:sp>
      <p:graphicFrame>
        <p:nvGraphicFramePr>
          <p:cNvPr id="8" name="Table 7"/>
          <p:cNvGraphicFramePr>
            <a:graphicFrameLocks noGrp="1"/>
          </p:cNvGraphicFramePr>
          <p:nvPr/>
        </p:nvGraphicFramePr>
        <p:xfrm>
          <a:off x="411480" y="1325880"/>
          <a:ext cx="6766560" cy="4754880"/>
        </p:xfrm>
        <a:graphic>
          <a:graphicData uri="http://schemas.openxmlformats.org/drawingml/2006/table">
            <a:tbl>
              <a:tblPr firstRow="0" bandRow="0">
                <a:tableStyleId>{5C22544A-7EE6-4342-B048-85BDC9FD1C3A}</a:tableStyleId>
              </a:tblPr>
              <a:tblGrid>
                <a:gridCol w="457200"/>
                <a:gridCol w="1188720"/>
                <a:gridCol w="1005840"/>
                <a:gridCol w="1005840"/>
                <a:gridCol w="1554480"/>
                <a:gridCol w="1554480"/>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a:t>
                      </a:r>
                    </a:p>
                  </a:txBody>
                  <a:tcPr marL="54864" marR="54864" marT="18288" marB="18288" anchor="ctr">
                    <a:solidFill>
                      <a:srgbClr val="1F2A44"/>
                    </a:solidFill>
                  </a:tcPr>
                </a:tc>
                <a:tc>
                  <a:txBody>
                    <a:bodyPr wrap="square"/>
                    <a:lstStyle/>
                    <a:p>
                      <a:pPr algn="r"/>
                      <a:r>
                        <a:rPr sz="1200" b="1" i="0">
                          <a:solidFill>
                            <a:srgbClr val="FFFFFF"/>
                          </a:solidFill>
                          <a:latin typeface="Arial"/>
                        </a:rPr>
                        <a:t>pass OCP</a:t>
                      </a:r>
                    </a:p>
                  </a:txBody>
                  <a:tcPr marL="54864" marR="54864" marT="18288" marB="18288" anchor="ctr">
                    <a:solidFill>
                      <a:srgbClr val="1F2A44"/>
                    </a:solidFill>
                  </a:tcPr>
                </a:tc>
                <a:tc>
                  <a:txBody>
                    <a:bodyPr wrap="square"/>
                    <a:lstStyle/>
                    <a:p>
                      <a:pPr algn="r"/>
                      <a:r>
                        <a:rPr sz="1200" b="1" i="0">
                          <a:solidFill>
                            <a:srgbClr val="FFFFFF"/>
                          </a:solidFill>
                          <a:latin typeface="Arial"/>
                        </a:rPr>
                        <a:t>pass KinD</a:t>
                      </a:r>
                    </a:p>
                  </a:txBody>
                  <a:tcPr marL="54864" marR="54864" marT="18288" marB="18288" anchor="ctr">
                    <a:solidFill>
                      <a:srgbClr val="1F2A44"/>
                    </a:solidFill>
                  </a:tcPr>
                </a:tc>
                <a:tc>
                  <a:txBody>
                    <a:bodyPr wrap="square"/>
                    <a:lstStyle/>
                    <a:p>
                      <a:pPr algn="r"/>
                      <a:r>
                        <a:rPr sz="1200" b="1" i="0">
                          <a:solidFill>
                            <a:srgbClr val="FFFFFF"/>
                          </a:solidFill>
                          <a:latin typeface="Arial"/>
                        </a:rPr>
                        <a:t>input OCP</a:t>
                      </a:r>
                    </a:p>
                  </a:txBody>
                  <a:tcPr marL="54864" marR="54864" marT="18288" marB="18288" anchor="ctr">
                    <a:solidFill>
                      <a:srgbClr val="1F2A44"/>
                    </a:solidFill>
                  </a:tcPr>
                </a:tc>
                <a:tc>
                  <a:txBody>
                    <a:bodyPr wrap="square"/>
                    <a:lstStyle/>
                    <a:p>
                      <a:pPr algn="r"/>
                      <a:r>
                        <a:rPr sz="1200" b="1" i="0">
                          <a:solidFill>
                            <a:srgbClr val="FFFFFF"/>
                          </a:solidFill>
                          <a:latin typeface="Arial"/>
                        </a:rPr>
                        <a:t>input KinD</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3,908</a:t>
                      </a:r>
                    </a:p>
                  </a:txBody>
                  <a:tcPr marL="54864" marR="54864" marT="18288" marB="18288" anchor="ctr">
                    <a:solidFill>
                      <a:srgbClr val="F3F5F9"/>
                    </a:solidFill>
                  </a:tcPr>
                </a:tc>
                <a:tc>
                  <a:txBody>
                    <a:bodyPr wrap="square"/>
                    <a:lstStyle/>
                    <a:p>
                      <a:pPr algn="r"/>
                      <a:r>
                        <a:rPr sz="1200" b="0" i="0">
                          <a:solidFill>
                            <a:srgbClr val="1F2A44"/>
                          </a:solidFill>
                          <a:latin typeface="Arial"/>
                        </a:rPr>
                        <a:t>4,177</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0.80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r"/>
                      <a:r>
                        <a:rPr sz="1200" b="0" i="0">
                          <a:solidFill>
                            <a:srgbClr val="1F2A44"/>
                          </a:solidFill>
                          <a:latin typeface="Arial"/>
                        </a:rPr>
                        <a:t>0.90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936,612</a:t>
                      </a:r>
                    </a:p>
                  </a:txBody>
                  <a:tcPr marL="54864" marR="54864" marT="18288" marB="18288" anchor="ctr">
                    <a:solidFill>
                      <a:srgbClr val="FFFFFF"/>
                    </a:solidFill>
                  </a:tcPr>
                </a:tc>
                <a:tc>
                  <a:txBody>
                    <a:bodyPr wrap="square"/>
                    <a:lstStyle/>
                    <a:p>
                      <a:pPr algn="r"/>
                      <a:r>
                        <a:rPr sz="1200" b="0" i="0">
                          <a:solidFill>
                            <a:srgbClr val="1F2A44"/>
                          </a:solidFill>
                          <a:latin typeface="Arial"/>
                        </a:rPr>
                        <a:t>916,576</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r"/>
                      <a:r>
                        <a:rPr sz="1200" b="0" i="0">
                          <a:solidFill>
                            <a:srgbClr val="1F2A44"/>
                          </a:solidFill>
                          <a:latin typeface="Arial"/>
                        </a:rPr>
                        <a:t>0.90</a:t>
                      </a:r>
                    </a:p>
                  </a:txBody>
                  <a:tcPr marL="54864" marR="54864" marT="18288" marB="18288" anchor="ctr">
                    <a:solidFill>
                      <a:srgbClr val="F3F5F9"/>
                    </a:solidFill>
                  </a:tcPr>
                </a:tc>
                <a:tc>
                  <a:txBody>
                    <a:bodyPr wrap="square"/>
                    <a:lstStyle/>
                    <a:p>
                      <a:pPr algn="r"/>
                      <a:r>
                        <a:rPr sz="1200" b="0" i="0">
                          <a:solidFill>
                            <a:srgbClr val="1F2A44"/>
                          </a:solidFill>
                          <a:latin typeface="Arial"/>
                        </a:rPr>
                        <a:t>0.85</a:t>
                      </a:r>
                    </a:p>
                  </a:txBody>
                  <a:tcPr marL="54864" marR="54864" marT="18288" marB="18288" anchor="ctr">
                    <a:solidFill>
                      <a:srgbClr val="F3F5F9"/>
                    </a:solidFill>
                  </a:tcPr>
                </a:tc>
                <a:tc>
                  <a:txBody>
                    <a:bodyPr wrap="square"/>
                    <a:lstStyle/>
                    <a:p>
                      <a:pPr algn="r"/>
                      <a:r>
                        <a:rPr sz="1200" b="0" i="0">
                          <a:solidFill>
                            <a:srgbClr val="1F2A44"/>
                          </a:solidFill>
                          <a:latin typeface="Arial"/>
                        </a:rPr>
                        <a:t>1,695,959</a:t>
                      </a:r>
                    </a:p>
                  </a:txBody>
                  <a:tcPr marL="54864" marR="54864" marT="18288" marB="18288" anchor="ctr">
                    <a:solidFill>
                      <a:srgbClr val="F3F5F9"/>
                    </a:solidFill>
                  </a:tcPr>
                </a:tc>
                <a:tc>
                  <a:txBody>
                    <a:bodyPr wrap="square"/>
                    <a:lstStyle/>
                    <a:p>
                      <a:pPr algn="r"/>
                      <a:r>
                        <a:rPr sz="1200" b="0" i="0">
                          <a:solidFill>
                            <a:srgbClr val="1F2A44"/>
                          </a:solidFill>
                          <a:latin typeface="Arial"/>
                        </a:rPr>
                        <a:t>1,726,957</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1,420,531</a:t>
                      </a:r>
                    </a:p>
                  </a:txBody>
                  <a:tcPr marL="54864" marR="54864" marT="18288" marB="18288" anchor="ctr">
                    <a:solidFill>
                      <a:srgbClr val="FFFFFF"/>
                    </a:solidFill>
                  </a:tcPr>
                </a:tc>
                <a:tc>
                  <a:txBody>
                    <a:bodyPr wrap="square"/>
                    <a:lstStyle/>
                    <a:p>
                      <a:pPr algn="r"/>
                      <a:r>
                        <a:rPr sz="1200" b="0" i="0">
                          <a:solidFill>
                            <a:srgbClr val="1F2A44"/>
                          </a:solidFill>
                          <a:latin typeface="Arial"/>
                        </a:rPr>
                        <a:t>1,564,276</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5,949,228</a:t>
                      </a:r>
                    </a:p>
                  </a:txBody>
                  <a:tcPr marL="54864" marR="54864" marT="18288" marB="18288" anchor="ctr">
                    <a:solidFill>
                      <a:srgbClr val="F3F5F9"/>
                    </a:solidFill>
                  </a:tcPr>
                </a:tc>
                <a:tc>
                  <a:txBody>
                    <a:bodyPr wrap="square"/>
                    <a:lstStyle/>
                    <a:p>
                      <a:pPr algn="r"/>
                      <a:r>
                        <a:rPr sz="1200" b="0" i="0">
                          <a:solidFill>
                            <a:srgbClr val="1F2A44"/>
                          </a:solidFill>
                          <a:latin typeface="Arial"/>
                        </a:rPr>
                        <a:t>5,349,900</a:t>
                      </a:r>
                    </a:p>
                  </a:txBody>
                  <a:tcPr marL="54864" marR="54864" marT="18288" marB="18288" anchor="ctr">
                    <a:solidFill>
                      <a:srgbClr val="F3F5F9"/>
                    </a:solidFill>
                  </a:tcPr>
                </a:tc>
              </a:tr>
            </a:tbl>
          </a:graphicData>
        </a:graphic>
      </p:graphicFrame>
      <p:sp>
        <p:nvSpPr>
          <p:cNvPr id="9" name="Rounded Rectangle 8"/>
          <p:cNvSpPr/>
          <p:nvPr/>
        </p:nvSpPr>
        <p:spPr>
          <a:xfrm>
            <a:off x="7406640" y="1325880"/>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8 of 12 pass rates identical</a:t>
            </a:r>
          </a:p>
          <a:p>
            <a:pPr algn="l">
              <a:spcAft>
                <a:spcPts val="300"/>
              </a:spcAft>
            </a:pPr>
            <a:r>
              <a:rPr sz="1200" b="0" i="0">
                <a:solidFill>
                  <a:srgbClr val="1F2A44"/>
                </a:solidFill>
                <a:latin typeface="Arial"/>
              </a:rPr>
              <a:t>Each delta is one task; wrong answers 1 to 1, agent defects 4 to 4.</a:t>
            </a:r>
          </a:p>
        </p:txBody>
      </p:sp>
      <p:sp>
        <p:nvSpPr>
          <p:cNvPr id="10" name="Rounded Rectangle 9"/>
          <p:cNvSpPr/>
          <p:nvPr/>
        </p:nvSpPr>
        <p:spPr>
          <a:xfrm>
            <a:off x="7406640" y="2313432"/>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7 legs byte-identical on input</a:t>
            </a:r>
          </a:p>
          <a:p>
            <a:pPr algn="l">
              <a:spcAft>
                <a:spcPts val="300"/>
              </a:spcAft>
            </a:pPr>
            <a:r>
              <a:rPr sz="1200" b="0" i="0">
                <a:solidFill>
                  <a:srgbClr val="1F2A44"/>
                </a:solidFill>
                <a:latin typeface="Arial"/>
              </a:rPr>
              <a:t>320, 3,166, 15,684 and 1,564 ×4: identical work, the strongest like-for-like proof.</a:t>
            </a:r>
          </a:p>
        </p:txBody>
      </p:sp>
      <p:sp>
        <p:nvSpPr>
          <p:cNvPr id="11" name="Rounded Rectangle 10"/>
          <p:cNvSpPr/>
          <p:nvPr/>
        </p:nvSpPr>
        <p:spPr>
          <a:xfrm>
            <a:off x="7406640" y="3300984"/>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#6 and #7 differ in pass, not work</a:t>
            </a:r>
          </a:p>
          <a:p>
            <a:pPr algn="l">
              <a:spcAft>
                <a:spcPts val="300"/>
              </a:spcAft>
            </a:pPr>
            <a:r>
              <a:rPr sz="1200" b="0" i="0">
                <a:solidFill>
                  <a:srgbClr val="1F2A44"/>
                </a:solidFill>
                <a:latin typeface="Arial"/>
              </a:rPr>
              <a:t>Same prompts, different answers: tokens prove the work matched, not that it was right.</a:t>
            </a:r>
          </a:p>
        </p:txBody>
      </p:sp>
      <p:sp>
        <p:nvSpPr>
          <p:cNvPr id="12" name="Rounded Rectangle 11"/>
          <p:cNvSpPr/>
          <p:nvPr/>
        </p:nvSpPr>
        <p:spPr>
          <a:xfrm>
            <a:off x="7406640" y="4288536"/>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Wall time within 6%</a:t>
            </a:r>
          </a:p>
          <a:p>
            <a:pPr algn="l">
              <a:spcAft>
                <a:spcPts val="300"/>
              </a:spcAft>
            </a:pPr>
            <a:r>
              <a:rPr sz="1200" b="0" i="0">
                <a:solidFill>
                  <a:srgbClr val="1F2A44"/>
                </a:solidFill>
                <a:latin typeface="Arial"/>
              </a:rPr>
              <a:t>3,583 s against 3,791 s; the long legs stay within 15%.</a:t>
            </a:r>
          </a:p>
        </p:txBody>
      </p:sp>
      <p:sp>
        <p:nvSpPr>
          <p:cNvPr id="13" name="Rounded Rectangle 12"/>
          <p:cNvSpPr/>
          <p:nvPr/>
        </p:nvSpPr>
        <p:spPr>
          <a:xfrm>
            <a:off x="7406640" y="5276088"/>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0 lost rows, 0 probe failures</a:t>
            </a:r>
          </a:p>
          <a:p>
            <a:pPr algn="l">
              <a:spcAft>
                <a:spcPts val="300"/>
              </a:spcAft>
            </a:pPr>
            <a:r>
              <a:rPr sz="1200" b="0" i="0">
                <a:solidFill>
                  <a:srgbClr val="1F2A44"/>
                </a:solidFill>
                <a:latin typeface="Arial"/>
              </a:rPr>
              <a:t>141 rows against 140: a KinD appworld task timed out before its row was written.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AuthBridge costs: almost all of it is the judge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Non-LLM seconds per task, steady state; the designed 13-leg study, n=50, v1.35</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35</a:t>
            </a:r>
          </a:p>
        </p:txBody>
      </p:sp>
      <p:graphicFrame>
        <p:nvGraphicFramePr>
          <p:cNvPr id="8" name="Table 7"/>
          <p:cNvGraphicFramePr>
            <a:graphicFrameLocks noGrp="1"/>
          </p:cNvGraphicFramePr>
          <p:nvPr/>
        </p:nvGraphicFramePr>
        <p:xfrm>
          <a:off x="411480" y="1325880"/>
          <a:ext cx="6400800" cy="2523744"/>
        </p:xfrm>
        <a:graphic>
          <a:graphicData uri="http://schemas.openxmlformats.org/drawingml/2006/table">
            <a:tbl>
              <a:tblPr firstRow="0" bandRow="0">
                <a:tableStyleId>{5C22544A-7EE6-4342-B048-85BDC9FD1C3A}</a:tableStyleId>
              </a:tblPr>
              <a:tblGrid>
                <a:gridCol w="2377440"/>
                <a:gridCol w="1005840"/>
                <a:gridCol w="1005840"/>
                <a:gridCol w="1005840"/>
                <a:gridCol w="1005840"/>
              </a:tblGrid>
              <a:tr h="420624">
                <a:tc>
                  <a:txBody>
                    <a:bodyPr wrap="square"/>
                    <a:lstStyle/>
                    <a:p>
                      <a:pPr algn="l"/>
                      <a:r>
                        <a:rPr sz="1200" b="1" i="0">
                          <a:solidFill>
                            <a:srgbClr val="FFFFFF"/>
                          </a:solidFill>
                          <a:latin typeface="Arial"/>
                        </a:rPr>
                        <a:t>condition</a:t>
                      </a:r>
                    </a:p>
                  </a:txBody>
                  <a:tcPr marL="54864" marR="54864" marT="18288" marB="18288" anchor="ctr">
                    <a:solidFill>
                      <a:srgbClr val="1F2A44"/>
                    </a:solidFill>
                  </a:tcPr>
                </a:tc>
                <a:tc>
                  <a:txBody>
                    <a:bodyPr wrap="square"/>
                    <a:lstStyle/>
                    <a:p>
                      <a:pPr algn="r"/>
                      <a:r>
                        <a:rPr sz="1200" b="1" i="0">
                          <a:solidFill>
                            <a:srgbClr val="FFFFFF"/>
                          </a:solidFill>
                          <a:latin typeface="Arial"/>
                        </a:rPr>
                        <a:t>OpenShift</a:t>
                      </a:r>
                    </a:p>
                  </a:txBody>
                  <a:tcPr marL="54864" marR="54864" marT="18288" marB="18288" anchor="ctr">
                    <a:solidFill>
                      <a:srgbClr val="1F2A44"/>
                    </a:solidFill>
                  </a:tcPr>
                </a:tc>
                <a:tc>
                  <a:txBody>
                    <a:bodyPr wrap="square"/>
                    <a:lstStyle/>
                    <a:p>
                      <a:pPr algn="r"/>
                      <a:r>
                        <a:rPr sz="1200" b="1" i="0">
                          <a:solidFill>
                            <a:srgbClr val="FFFFFF"/>
                          </a:solidFill>
                          <a:latin typeface="Arial"/>
                        </a:rPr>
                        <a:t>KinD</a:t>
                      </a:r>
                    </a:p>
                  </a:txBody>
                  <a:tcPr marL="54864" marR="54864" marT="18288" marB="18288" anchor="ctr">
                    <a:solidFill>
                      <a:srgbClr val="1F2A44"/>
                    </a:solidFill>
                  </a:tcPr>
                </a:tc>
                <a:tc>
                  <a:txBody>
                    <a:bodyPr wrap="square"/>
                    <a:lstStyle/>
                    <a:p>
                      <a:pPr algn="r"/>
                      <a:r>
                        <a:rPr sz="1200" b="1" i="0">
                          <a:solidFill>
                            <a:srgbClr val="FFFFFF"/>
                          </a:solidFill>
                          <a:latin typeface="Arial"/>
                        </a:rPr>
                        <a:t>OCP step</a:t>
                      </a:r>
                    </a:p>
                  </a:txBody>
                  <a:tcPr marL="54864" marR="54864" marT="18288" marB="18288" anchor="ctr">
                    <a:solidFill>
                      <a:srgbClr val="1F2A44"/>
                    </a:solidFill>
                  </a:tcPr>
                </a:tc>
                <a:tc>
                  <a:txBody>
                    <a:bodyPr wrap="square"/>
                    <a:lstStyle/>
                    <a:p>
                      <a:pPr algn="r"/>
                      <a:r>
                        <a:rPr sz="1200" b="1" i="0">
                          <a:solidFill>
                            <a:srgbClr val="FFFFFF"/>
                          </a:solidFill>
                          <a:latin typeface="Arial"/>
                        </a:rPr>
                        <a:t>KinD step</a:t>
                      </a:r>
                    </a:p>
                  </a:txBody>
                  <a:tcPr marL="54864" marR="54864" marT="18288" marB="18288" anchor="ctr">
                    <a:solidFill>
                      <a:srgbClr val="1F2A44"/>
                    </a:solidFill>
                  </a:tcPr>
                </a:tc>
              </a:tr>
              <a:tr h="420624">
                <a:tc>
                  <a:txBody>
                    <a:bodyPr wrap="square"/>
                    <a:lstStyle/>
                    <a:p>
                      <a:pPr algn="l"/>
                      <a:r>
                        <a:rPr sz="1200" b="0" i="0">
                          <a:solidFill>
                            <a:srgbClr val="1F2A44"/>
                          </a:solidFill>
                          <a:latin typeface="Arial"/>
                        </a:rPr>
                        <a:t>baseline (AuthBridge off)</a:t>
                      </a:r>
                    </a:p>
                  </a:txBody>
                  <a:tcPr marL="54864" marR="54864" marT="18288" marB="18288" anchor="ctr">
                    <a:solidFill>
                      <a:srgbClr val="FFFFFF"/>
                    </a:solidFill>
                  </a:tcPr>
                </a:tc>
                <a:tc>
                  <a:txBody>
                    <a:bodyPr wrap="square"/>
                    <a:lstStyle/>
                    <a:p>
                      <a:pPr algn="r"/>
                      <a:r>
                        <a:rPr sz="1200" b="0" i="0">
                          <a:solidFill>
                            <a:srgbClr val="1F2A44"/>
                          </a:solidFill>
                          <a:latin typeface="Arial"/>
                        </a:rPr>
                        <a:t>0.168</a:t>
                      </a:r>
                    </a:p>
                  </a:txBody>
                  <a:tcPr marL="54864" marR="54864" marT="18288" marB="18288" anchor="ctr">
                    <a:solidFill>
                      <a:srgbClr val="FFFFFF"/>
                    </a:solidFill>
                  </a:tcPr>
                </a:tc>
                <a:tc>
                  <a:txBody>
                    <a:bodyPr wrap="square"/>
                    <a:lstStyle/>
                    <a:p>
                      <a:pPr algn="r"/>
                      <a:r>
                        <a:rPr sz="1200" b="0" i="0">
                          <a:solidFill>
                            <a:srgbClr val="1F2A44"/>
                          </a:solidFill>
                          <a:latin typeface="Arial"/>
                        </a:rPr>
                        <a:t>0.097</a:t>
                      </a:r>
                    </a:p>
                  </a:txBody>
                  <a:tcPr marL="54864" marR="54864" marT="18288" marB="18288" anchor="ctr">
                    <a:solidFill>
                      <a:srgbClr val="FFFFFF"/>
                    </a:solidFill>
                  </a:tcPr>
                </a:tc>
                <a:tc>
                  <a:txBody>
                    <a:bodyPr wrap="square"/>
                    <a:lstStyle/>
                    <a:p>
                      <a:pPr algn="r"/>
                      <a:r>
                        <a:rPr sz="1200" b="0" i="0">
                          <a:solidFill>
                            <a:srgbClr val="1F2A44"/>
                          </a:solidFill>
                          <a:latin typeface="Arial"/>
                        </a:rPr>
                        <a:t>—</a:t>
                      </a:r>
                    </a:p>
                  </a:txBody>
                  <a:tcPr marL="54864" marR="54864" marT="18288" marB="18288" anchor="ctr">
                    <a:solidFill>
                      <a:srgbClr val="FFFFFF"/>
                    </a:solidFill>
                  </a:tcPr>
                </a:tc>
                <a:tc>
                  <a:txBody>
                    <a:bodyPr wrap="square"/>
                    <a:lstStyle/>
                    <a:p>
                      <a:pPr algn="r"/>
                      <a:r>
                        <a:rPr sz="1200" b="0" i="0">
                          <a:solidFill>
                            <a:srgbClr val="1F2A44"/>
                          </a:solidFill>
                          <a:latin typeface="Arial"/>
                        </a:rPr>
                        <a:t>—</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auth-only</a:t>
                      </a:r>
                    </a:p>
                  </a:txBody>
                  <a:tcPr marL="54864" marR="54864" marT="18288" marB="18288" anchor="ctr">
                    <a:solidFill>
                      <a:srgbClr val="F3F5F9"/>
                    </a:solidFill>
                  </a:tcPr>
                </a:tc>
                <a:tc>
                  <a:txBody>
                    <a:bodyPr wrap="square"/>
                    <a:lstStyle/>
                    <a:p>
                      <a:pPr algn="r"/>
                      <a:r>
                        <a:rPr sz="1200" b="0" i="0">
                          <a:solidFill>
                            <a:srgbClr val="1F2A44"/>
                          </a:solidFill>
                          <a:latin typeface="Arial"/>
                        </a:rPr>
                        <a:t>0.214</a:t>
                      </a:r>
                    </a:p>
                  </a:txBody>
                  <a:tcPr marL="54864" marR="54864" marT="18288" marB="18288" anchor="ctr">
                    <a:solidFill>
                      <a:srgbClr val="F3F5F9"/>
                    </a:solidFill>
                  </a:tcPr>
                </a:tc>
                <a:tc>
                  <a:txBody>
                    <a:bodyPr wrap="square"/>
                    <a:lstStyle/>
                    <a:p>
                      <a:pPr algn="r"/>
                      <a:r>
                        <a:rPr sz="1200" b="0" i="0">
                          <a:solidFill>
                            <a:srgbClr val="1F2A44"/>
                          </a:solidFill>
                          <a:latin typeface="Arial"/>
                        </a:rPr>
                        <a:t>0.130</a:t>
                      </a:r>
                    </a:p>
                  </a:txBody>
                  <a:tcPr marL="54864" marR="54864" marT="18288" marB="18288" anchor="ctr">
                    <a:solidFill>
                      <a:srgbClr val="F3F5F9"/>
                    </a:solidFill>
                  </a:tcPr>
                </a:tc>
                <a:tc>
                  <a:txBody>
                    <a:bodyPr wrap="square"/>
                    <a:lstStyle/>
                    <a:p>
                      <a:pPr algn="r"/>
                      <a:r>
                        <a:rPr sz="1200" b="0" i="0">
                          <a:solidFill>
                            <a:srgbClr val="1F2A44"/>
                          </a:solidFill>
                          <a:latin typeface="Arial"/>
                        </a:rPr>
                        <a:t>+0.05</a:t>
                      </a:r>
                    </a:p>
                  </a:txBody>
                  <a:tcPr marL="54864" marR="54864" marT="18288" marB="18288" anchor="ctr">
                    <a:solidFill>
                      <a:srgbClr val="F3F5F9"/>
                    </a:solidFill>
                  </a:tcPr>
                </a:tc>
                <a:tc>
                  <a:txBody>
                    <a:bodyPr wrap="square"/>
                    <a:lstStyle/>
                    <a:p>
                      <a:pPr algn="r"/>
                      <a:r>
                        <a:rPr sz="1200" b="0" i="0">
                          <a:solidFill>
                            <a:srgbClr val="1F2A44"/>
                          </a:solidFill>
                          <a:latin typeface="Arial"/>
                        </a:rPr>
                        <a:t>+0.03</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ibac-only</a:t>
                      </a:r>
                    </a:p>
                  </a:txBody>
                  <a:tcPr marL="54864" marR="54864" marT="18288" marB="18288" anchor="ctr">
                    <a:solidFill>
                      <a:srgbClr val="FFFFFF"/>
                    </a:solidFill>
                  </a:tcPr>
                </a:tc>
                <a:tc>
                  <a:txBody>
                    <a:bodyPr wrap="square"/>
                    <a:lstStyle/>
                    <a:p>
                      <a:pPr algn="r"/>
                      <a:r>
                        <a:rPr sz="1200" b="0" i="0">
                          <a:solidFill>
                            <a:srgbClr val="1F2A44"/>
                          </a:solidFill>
                          <a:latin typeface="Arial"/>
                        </a:rPr>
                        <a:t>1.569</a:t>
                      </a:r>
                    </a:p>
                  </a:txBody>
                  <a:tcPr marL="54864" marR="54864" marT="18288" marB="18288" anchor="ctr">
                    <a:solidFill>
                      <a:srgbClr val="FFFFFF"/>
                    </a:solidFill>
                  </a:tcPr>
                </a:tc>
                <a:tc>
                  <a:txBody>
                    <a:bodyPr wrap="square"/>
                    <a:lstStyle/>
                    <a:p>
                      <a:pPr algn="r"/>
                      <a:r>
                        <a:rPr sz="1200" b="0" i="0">
                          <a:solidFill>
                            <a:srgbClr val="1F2A44"/>
                          </a:solidFill>
                          <a:latin typeface="Arial"/>
                        </a:rPr>
                        <a:t>1.610</a:t>
                      </a:r>
                    </a:p>
                  </a:txBody>
                  <a:tcPr marL="54864" marR="54864" marT="18288" marB="18288" anchor="ctr">
                    <a:solidFill>
                      <a:srgbClr val="FFFFFF"/>
                    </a:solidFill>
                  </a:tcPr>
                </a:tc>
                <a:tc>
                  <a:txBody>
                    <a:bodyPr wrap="square"/>
                    <a:lstStyle/>
                    <a:p>
                      <a:pPr algn="r"/>
                      <a:r>
                        <a:rPr sz="1200" b="1" i="0">
                          <a:solidFill>
                            <a:srgbClr val="1F2A44"/>
                          </a:solidFill>
                          <a:latin typeface="Arial"/>
                        </a:rPr>
                        <a:t>+1.36</a:t>
                      </a:r>
                    </a:p>
                  </a:txBody>
                  <a:tcPr marL="54864" marR="54864" marT="18288" marB="18288" anchor="ctr">
                    <a:solidFill>
                      <a:srgbClr val="FFFFFF"/>
                    </a:solidFill>
                  </a:tcPr>
                </a:tc>
                <a:tc>
                  <a:txBody>
                    <a:bodyPr wrap="square"/>
                    <a:lstStyle/>
                    <a:p>
                      <a:pPr algn="r"/>
                      <a:r>
                        <a:rPr sz="1200" b="1" i="0">
                          <a:solidFill>
                            <a:srgbClr val="1F2A44"/>
                          </a:solidFill>
                          <a:latin typeface="Arial"/>
                        </a:rPr>
                        <a:t>+1.48</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full (auth + ibac)</a:t>
                      </a:r>
                    </a:p>
                  </a:txBody>
                  <a:tcPr marL="54864" marR="54864" marT="18288" marB="18288" anchor="ctr">
                    <a:solidFill>
                      <a:srgbClr val="F3F5F9"/>
                    </a:solidFill>
                  </a:tcPr>
                </a:tc>
                <a:tc>
                  <a:txBody>
                    <a:bodyPr wrap="square"/>
                    <a:lstStyle/>
                    <a:p>
                      <a:pPr algn="r"/>
                      <a:r>
                        <a:rPr sz="1200" b="0" i="0">
                          <a:solidFill>
                            <a:srgbClr val="1F2A44"/>
                          </a:solidFill>
                          <a:latin typeface="Arial"/>
                        </a:rPr>
                        <a:t>1.584</a:t>
                      </a:r>
                    </a:p>
                  </a:txBody>
                  <a:tcPr marL="54864" marR="54864" marT="18288" marB="18288" anchor="ctr">
                    <a:solidFill>
                      <a:srgbClr val="F3F5F9"/>
                    </a:solidFill>
                  </a:tcPr>
                </a:tc>
                <a:tc>
                  <a:txBody>
                    <a:bodyPr wrap="square"/>
                    <a:lstStyle/>
                    <a:p>
                      <a:pPr algn="r"/>
                      <a:r>
                        <a:rPr sz="1200" b="0" i="0">
                          <a:solidFill>
                            <a:srgbClr val="1F2A44"/>
                          </a:solidFill>
                          <a:latin typeface="Arial"/>
                        </a:rPr>
                        <a:t>1.602</a:t>
                      </a:r>
                    </a:p>
                  </a:txBody>
                  <a:tcPr marL="54864" marR="54864" marT="18288" marB="18288" anchor="ctr">
                    <a:solidFill>
                      <a:srgbClr val="F3F5F9"/>
                    </a:solidFill>
                  </a:tcPr>
                </a:tc>
                <a:tc>
                  <a:txBody>
                    <a:bodyPr wrap="square"/>
                    <a:lstStyle/>
                    <a:p>
                      <a:pPr algn="r"/>
                      <a:r>
                        <a:rPr sz="1200" b="0" i="0">
                          <a:solidFill>
                            <a:srgbClr val="1F2A44"/>
                          </a:solidFill>
                          <a:latin typeface="Arial"/>
                        </a:rPr>
                        <a:t>+0.01</a:t>
                      </a:r>
                    </a:p>
                  </a:txBody>
                  <a:tcPr marL="54864" marR="54864" marT="18288" marB="18288" anchor="ctr">
                    <a:solidFill>
                      <a:srgbClr val="F3F5F9"/>
                    </a:solidFill>
                  </a:tcPr>
                </a:tc>
                <a:tc>
                  <a:txBody>
                    <a:bodyPr wrap="square"/>
                    <a:lstStyle/>
                    <a:p>
                      <a:pPr algn="r"/>
                      <a:r>
                        <a:rPr sz="1200" b="0" i="0">
                          <a:solidFill>
                            <a:srgbClr val="1F2A44"/>
                          </a:solidFill>
                          <a:latin typeface="Arial"/>
                        </a:rPr>
                        <a:t>−0.01</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full + </a:t>
                      </a:r>
                      <a:r>
                        <a:rPr sz="1200" b="0" i="0">
                          <a:solidFill>
                            <a:srgbClr val="1F2A44"/>
                          </a:solidFill>
                          <a:latin typeface="Consolas"/>
                        </a:rPr>
                        <a:t>ibac:observe</a:t>
                      </a:r>
                    </a:p>
                  </a:txBody>
                  <a:tcPr marL="54864" marR="54864" marT="18288" marB="18288" anchor="ctr">
                    <a:solidFill>
                      <a:srgbClr val="FFFFFF"/>
                    </a:solidFill>
                  </a:tcPr>
                </a:tc>
                <a:tc>
                  <a:txBody>
                    <a:bodyPr wrap="square"/>
                    <a:lstStyle/>
                    <a:p>
                      <a:pPr algn="r"/>
                      <a:r>
                        <a:rPr sz="1200" b="0" i="0">
                          <a:solidFill>
                            <a:srgbClr val="1F2A44"/>
                          </a:solidFill>
                          <a:latin typeface="Arial"/>
                        </a:rPr>
                        <a:t>1.583</a:t>
                      </a:r>
                    </a:p>
                  </a:txBody>
                  <a:tcPr marL="54864" marR="54864" marT="18288" marB="18288" anchor="ctr">
                    <a:solidFill>
                      <a:srgbClr val="FFFFFF"/>
                    </a:solidFill>
                  </a:tcPr>
                </a:tc>
                <a:tc>
                  <a:txBody>
                    <a:bodyPr wrap="square"/>
                    <a:lstStyle/>
                    <a:p>
                      <a:pPr algn="r"/>
                      <a:r>
                        <a:rPr sz="1200" b="0" i="0">
                          <a:solidFill>
                            <a:srgbClr val="1F2A44"/>
                          </a:solidFill>
                          <a:latin typeface="Arial"/>
                        </a:rPr>
                        <a:t>1.607</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r>
            </a:tbl>
          </a:graphicData>
        </a:graphic>
      </p:graphicFrame>
      <p:graphicFrame>
        <p:nvGraphicFramePr>
          <p:cNvPr id="9" name="Table 8"/>
          <p:cNvGraphicFramePr>
            <a:graphicFrameLocks noGrp="1"/>
          </p:cNvGraphicFramePr>
          <p:nvPr/>
        </p:nvGraphicFramePr>
        <p:xfrm>
          <a:off x="411480" y="4069080"/>
          <a:ext cx="6400800" cy="2103120"/>
        </p:xfrm>
        <a:graphic>
          <a:graphicData uri="http://schemas.openxmlformats.org/drawingml/2006/table">
            <a:tbl>
              <a:tblPr firstRow="0" bandRow="0">
                <a:tableStyleId>{5C22544A-7EE6-4342-B048-85BDC9FD1C3A}</a:tableStyleId>
              </a:tblPr>
              <a:tblGrid>
                <a:gridCol w="2651760"/>
                <a:gridCol w="1280160"/>
                <a:gridCol w="1280160"/>
                <a:gridCol w="1188720"/>
              </a:tblGrid>
              <a:tr h="420624">
                <a:tc>
                  <a:txBody>
                    <a:bodyPr wrap="square"/>
                    <a:lstStyle/>
                    <a:p>
                      <a:pPr algn="l"/>
                      <a:r>
                        <a:rPr sz="1200" b="1" i="0">
                          <a:solidFill>
                            <a:srgbClr val="FFFFFF"/>
                          </a:solidFill>
                          <a:latin typeface="Arial"/>
                        </a:rPr>
                        <a:t>does the finding travel?</a:t>
                      </a:r>
                    </a:p>
                  </a:txBody>
                  <a:tcPr marL="54864" marR="54864" marT="18288" marB="18288" anchor="ctr">
                    <a:solidFill>
                      <a:srgbClr val="1F2A44"/>
                    </a:solidFill>
                  </a:tcPr>
                </a:tc>
                <a:tc>
                  <a:txBody>
                    <a:bodyPr wrap="square"/>
                    <a:lstStyle/>
                    <a:p>
                      <a:pPr algn="r"/>
                      <a:r>
                        <a:rPr sz="1200" b="1" i="0">
                          <a:solidFill>
                            <a:srgbClr val="FFFFFF"/>
                          </a:solidFill>
                          <a:latin typeface="Arial"/>
                        </a:rPr>
                        <a:t>OpenShift</a:t>
                      </a:r>
                    </a:p>
                  </a:txBody>
                  <a:tcPr marL="54864" marR="54864" marT="18288" marB="18288" anchor="ctr">
                    <a:solidFill>
                      <a:srgbClr val="1F2A44"/>
                    </a:solidFill>
                  </a:tcPr>
                </a:tc>
                <a:tc>
                  <a:txBody>
                    <a:bodyPr wrap="square"/>
                    <a:lstStyle/>
                    <a:p>
                      <a:pPr algn="r"/>
                      <a:r>
                        <a:rPr sz="1200" b="1" i="0">
                          <a:solidFill>
                            <a:srgbClr val="FFFFFF"/>
                          </a:solidFill>
                          <a:latin typeface="Arial"/>
                        </a:rPr>
                        <a:t>KinD</a:t>
                      </a:r>
                    </a:p>
                  </a:txBody>
                  <a:tcPr marL="54864" marR="54864" marT="18288" marB="18288" anchor="ctr">
                    <a:solidFill>
                      <a:srgbClr val="1F2A44"/>
                    </a:solidFill>
                  </a:tcPr>
                </a:tc>
                <a:tc>
                  <a:txBody>
                    <a:bodyPr wrap="square"/>
                    <a:lstStyle/>
                    <a:p>
                      <a:pPr algn="r"/>
                      <a:r>
                        <a:rPr sz="1200" b="1" i="0">
                          <a:solidFill>
                            <a:srgbClr val="FFFFFF"/>
                          </a:solidFill>
                          <a:latin typeface="Arial"/>
                        </a:rPr>
                        <a:t>travels?</a:t>
                      </a:r>
                    </a:p>
                  </a:txBody>
                  <a:tcPr marL="54864" marR="54864" marT="18288" marB="18288" anchor="ctr">
                    <a:solidFill>
                      <a:srgbClr val="1F2A44"/>
                    </a:solidFill>
                  </a:tcPr>
                </a:tc>
              </a:tr>
              <a:tr h="420624">
                <a:tc>
                  <a:txBody>
                    <a:bodyPr wrap="square"/>
                    <a:lstStyle/>
                    <a:p>
                      <a:pPr algn="l"/>
                      <a:r>
                        <a:rPr sz="1200" b="0" i="0">
                          <a:solidFill>
                            <a:srgbClr val="1F2A44"/>
                          </a:solidFill>
                          <a:latin typeface="Arial"/>
                        </a:rPr>
                        <a:t>which layer costs anything</a:t>
                      </a:r>
                    </a:p>
                  </a:txBody>
                  <a:tcPr marL="54864" marR="54864" marT="18288" marB="18288" anchor="ctr">
                    <a:solidFill>
                      <a:srgbClr val="FFFFFF"/>
                    </a:solidFill>
                  </a:tcPr>
                </a:tc>
                <a:tc>
                  <a:txBody>
                    <a:bodyPr wrap="square"/>
                    <a:lstStyle/>
                    <a:p>
                      <a:pPr algn="r"/>
                      <a:r>
                        <a:rPr sz="1200" b="0" i="0">
                          <a:solidFill>
                            <a:srgbClr val="1F2A44"/>
                          </a:solidFill>
                          <a:latin typeface="Arial"/>
                        </a:rPr>
                        <a:t>the judge</a:t>
                      </a:r>
                    </a:p>
                  </a:txBody>
                  <a:tcPr marL="54864" marR="54864" marT="18288" marB="18288" anchor="ctr">
                    <a:solidFill>
                      <a:srgbClr val="FFFFFF"/>
                    </a:solidFill>
                  </a:tcPr>
                </a:tc>
                <a:tc>
                  <a:txBody>
                    <a:bodyPr wrap="square"/>
                    <a:lstStyle/>
                    <a:p>
                      <a:pPr algn="r"/>
                      <a:r>
                        <a:rPr sz="1200" b="0" i="0">
                          <a:solidFill>
                            <a:srgbClr val="1F2A44"/>
                          </a:solidFill>
                          <a:latin typeface="Arial"/>
                        </a:rPr>
                        <a:t>the judge</a:t>
                      </a:r>
                    </a:p>
                  </a:txBody>
                  <a:tcPr marL="54864" marR="54864" marT="18288" marB="18288" anchor="ctr">
                    <a:solidFill>
                      <a:srgbClr val="FFFFFF"/>
                    </a:solidFill>
                  </a:tcPr>
                </a:tc>
                <a:tc>
                  <a:txBody>
                    <a:bodyPr wrap="square"/>
                    <a:lstStyle/>
                    <a:p>
                      <a:pPr algn="r"/>
                      <a:r>
                        <a:rPr sz="1200" b="0" i="0">
                          <a:solidFill>
                            <a:srgbClr val="1F2A44"/>
                          </a:solidFill>
                          <a:latin typeface="Arial"/>
                        </a:rPr>
                        <a:t>yes</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serial tool calls judged (p=1)</a:t>
                      </a:r>
                    </a:p>
                  </a:txBody>
                  <a:tcPr marL="54864" marR="54864" marT="18288" marB="18288" anchor="ctr">
                    <a:solidFill>
                      <a:srgbClr val="F3F5F9"/>
                    </a:solidFill>
                  </a:tcPr>
                </a:tc>
                <a:tc>
                  <a:txBody>
                    <a:bodyPr wrap="square"/>
                    <a:lstStyle/>
                    <a:p>
                      <a:pPr algn="r"/>
                      <a:r>
                        <a:rPr sz="1200" b="0" i="0">
                          <a:solidFill>
                            <a:srgbClr val="1F2A44"/>
                          </a:solidFill>
                          <a:latin typeface="Arial"/>
                        </a:rPr>
                        <a:t>10 / 10</a:t>
                      </a:r>
                    </a:p>
                  </a:txBody>
                  <a:tcPr marL="54864" marR="54864" marT="18288" marB="18288" anchor="ctr">
                    <a:solidFill>
                      <a:srgbClr val="F3F5F9"/>
                    </a:solidFill>
                  </a:tcPr>
                </a:tc>
                <a:tc>
                  <a:txBody>
                    <a:bodyPr wrap="square"/>
                    <a:lstStyle/>
                    <a:p>
                      <a:pPr algn="r"/>
                      <a:r>
                        <a:rPr sz="1200" b="0" i="0">
                          <a:solidFill>
                            <a:srgbClr val="1F2A44"/>
                          </a:solidFill>
                          <a:latin typeface="Arial"/>
                        </a:rPr>
                        <a:t>10 / 10</a:t>
                      </a:r>
                    </a:p>
                  </a:txBody>
                  <a:tcPr marL="54864" marR="54864" marT="18288" marB="18288" anchor="ctr">
                    <a:solidFill>
                      <a:srgbClr val="F3F5F9"/>
                    </a:solidFill>
                  </a:tcPr>
                </a:tc>
                <a:tc>
                  <a:txBody>
                    <a:bodyPr wrap="square"/>
                    <a:lstStyle/>
                    <a:p>
                      <a:pPr algn="r"/>
                      <a:r>
                        <a:rPr sz="1200" b="0" i="0">
                          <a:solidFill>
                            <a:srgbClr val="1F2A44"/>
                          </a:solidFill>
                          <a:latin typeface="Arial"/>
                        </a:rPr>
                        <a:t>yes</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judged / tool-call ratio, n=50</a:t>
                      </a:r>
                    </a:p>
                  </a:txBody>
                  <a:tcPr marL="54864" marR="54864" marT="18288" marB="18288" anchor="ctr">
                    <a:solidFill>
                      <a:srgbClr val="FFFFFF"/>
                    </a:solidFill>
                  </a:tcPr>
                </a:tc>
                <a:tc>
                  <a:txBody>
                    <a:bodyPr wrap="square"/>
                    <a:lstStyle/>
                    <a:p>
                      <a:pPr algn="r"/>
                      <a:r>
                        <a:rPr sz="1200" b="0" i="0">
                          <a:solidFill>
                            <a:srgbClr val="1F2A44"/>
                          </a:solidFill>
                          <a:latin typeface="Arial"/>
                        </a:rPr>
                        <a:t>0.94–1.00</a:t>
                      </a:r>
                    </a:p>
                  </a:txBody>
                  <a:tcPr marL="54864" marR="54864" marT="18288" marB="18288" anchor="ctr">
                    <a:solidFill>
                      <a:srgbClr val="FFFFFF"/>
                    </a:solidFill>
                  </a:tcPr>
                </a:tc>
                <a:tc>
                  <a:txBody>
                    <a:bodyPr wrap="square"/>
                    <a:lstStyle/>
                    <a:p>
                      <a:pPr algn="r"/>
                      <a:r>
                        <a:rPr sz="1200" b="0" i="0">
                          <a:solidFill>
                            <a:srgbClr val="1F2A44"/>
                          </a:solidFill>
                          <a:latin typeface="Arial"/>
                        </a:rPr>
                        <a:t>0.96–1.02</a:t>
                      </a:r>
                    </a:p>
                  </a:txBody>
                  <a:tcPr marL="54864" marR="54864" marT="18288" marB="18288" anchor="ctr">
                    <a:solidFill>
                      <a:srgbClr val="FFFFFF"/>
                    </a:solidFill>
                  </a:tcPr>
                </a:tc>
                <a:tc>
                  <a:txBody>
                    <a:bodyPr wrap="square"/>
                    <a:lstStyle/>
                    <a:p>
                      <a:pPr algn="r"/>
                      <a:r>
                        <a:rPr sz="1200" b="0" i="0">
                          <a:solidFill>
                            <a:srgbClr val="1F2A44"/>
                          </a:solidFill>
                          <a:latin typeface="Arial"/>
                        </a:rPr>
                        <a:t>yes</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tau2 measured / projected</a:t>
                      </a:r>
                    </a:p>
                  </a:txBody>
                  <a:tcPr marL="54864" marR="54864" marT="18288" marB="18288" anchor="ctr">
                    <a:solidFill>
                      <a:srgbClr val="F3F5F9"/>
                    </a:solidFill>
                  </a:tcPr>
                </a:tc>
                <a:tc>
                  <a:txBody>
                    <a:bodyPr wrap="square"/>
                    <a:lstStyle/>
                    <a:p>
                      <a:pPr algn="r"/>
                      <a:r>
                        <a:rPr sz="1200" b="0" i="0">
                          <a:solidFill>
                            <a:srgbClr val="1F2A44"/>
                          </a:solidFill>
                          <a:latin typeface="Arial"/>
                        </a:rPr>
                        <a:t>1.66×</a:t>
                      </a:r>
                    </a:p>
                  </a:txBody>
                  <a:tcPr marL="54864" marR="54864" marT="18288" marB="18288" anchor="ctr">
                    <a:solidFill>
                      <a:srgbClr val="F3F5F9"/>
                    </a:solidFill>
                  </a:tcPr>
                </a:tc>
                <a:tc>
                  <a:txBody>
                    <a:bodyPr wrap="square"/>
                    <a:lstStyle/>
                    <a:p>
                      <a:pPr algn="r"/>
                      <a:r>
                        <a:rPr sz="1200" b="0" i="0">
                          <a:solidFill>
                            <a:srgbClr val="1F2A44"/>
                          </a:solidFill>
                          <a:latin typeface="Arial"/>
                        </a:rPr>
                        <a:t>2.01×</a:t>
                      </a:r>
                    </a:p>
                  </a:txBody>
                  <a:tcPr marL="54864" marR="54864" marT="18288" marB="18288" anchor="ctr">
                    <a:solidFill>
                      <a:srgbClr val="F3F5F9"/>
                    </a:solidFill>
                  </a:tcPr>
                </a:tc>
                <a:tc>
                  <a:txBody>
                    <a:bodyPr wrap="square"/>
                    <a:lstStyle/>
                    <a:p>
                      <a:pPr algn="r"/>
                      <a:r>
                        <a:rPr sz="1200" b="0" i="0">
                          <a:solidFill>
                            <a:srgbClr val="1F2A44"/>
                          </a:solidFill>
                          <a:latin typeface="Arial"/>
                        </a:rPr>
                        <a:t>partly</a:t>
                      </a:r>
                    </a:p>
                  </a:txBody>
                  <a:tcPr marL="54864" marR="54864" marT="18288" marB="18288" anchor="ctr">
                    <a:solidFill>
                      <a:srgbClr val="F3F5F9"/>
                    </a:solidFill>
                  </a:tcPr>
                </a:tc>
              </a:tr>
            </a:tbl>
          </a:graphicData>
        </a:graphic>
      </p:graphicFrame>
      <p:sp>
        <p:nvSpPr>
          <p:cNvPr id="10" name="Rounded Rectangle 9"/>
          <p:cNvSpPr/>
          <p:nvPr/>
        </p:nvSpPr>
        <p:spPr>
          <a:xfrm>
            <a:off x="7040880" y="1325880"/>
            <a:ext cx="4736592" cy="1417320"/>
          </a:xfrm>
          <a:prstGeom prst="roundRect">
            <a:avLst>
              <a:gd name="adj" fmla="val 1032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judge is the cost, on both clusters</a:t>
            </a:r>
          </a:p>
          <a:p>
            <a:pPr algn="l">
              <a:spcAft>
                <a:spcPts val="300"/>
              </a:spcAft>
            </a:pPr>
            <a:r>
              <a:rPr sz="1200" b="0" i="0">
                <a:solidFill>
                  <a:srgbClr val="1F2A44"/>
                </a:solidFill>
                <a:latin typeface="Arial"/>
              </a:rPr>
              <a:t>+1.36 s/task on OpenShift, +1.48 s on KinD. The sidecar's presence costs 0.03–0.05 s, every other layer is noise, and with the judge on the two land within 3%.</a:t>
            </a:r>
          </a:p>
        </p:txBody>
      </p:sp>
      <p:sp>
        <p:nvSpPr>
          <p:cNvPr id="11" name="Rounded Rectangle 10"/>
          <p:cNvSpPr/>
          <p:nvPr/>
        </p:nvSpPr>
        <p:spPr>
          <a:xfrm>
            <a:off x="7040880" y="2926080"/>
            <a:ext cx="4736592" cy="118872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Still name the cluster</a:t>
            </a:r>
          </a:p>
          <a:p>
            <a:pPr algn="l">
              <a:spcAft>
                <a:spcPts val="200"/>
              </a:spcAft>
            </a:pPr>
            <a:r>
              <a:rPr sz="1200" b="0" i="0">
                <a:solidFill>
                  <a:srgbClr val="1F2A44"/>
                </a:solidFill>
                <a:latin typeface="Arial"/>
              </a:rPr>
              <a:t>The between-deploy noise floor is 0.02 s on OpenShift and 0.12 s on KinD, and ~0.26 s of each judged call on KinD is the node's DNS being retried.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Why the plugin result can be trusted</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checks behind the numbers on the previous slide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(v1.35)</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36</a:t>
            </a:r>
          </a:p>
        </p:txBody>
      </p:sp>
      <p:sp>
        <p:nvSpPr>
          <p:cNvPr id="8" name="Rounded Rectangle 7"/>
          <p:cNvSpPr/>
          <p:nvPr/>
        </p:nvSpPr>
        <p:spPr>
          <a:xfrm>
            <a:off x="411480" y="132588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Not a timeout: we checked</a:t>
            </a:r>
          </a:p>
          <a:p>
            <a:pPr algn="l">
              <a:spcAft>
                <a:spcPts val="300"/>
              </a:spcAft>
            </a:pPr>
            <a:r>
              <a:rPr sz="1400" b="0" i="0">
                <a:solidFill>
                  <a:srgbClr val="1F2A44"/>
                </a:solidFill>
                <a:latin typeface="Arial"/>
              </a:rPr>
              <a:t>A timeout piles values on a round number. Judged tasks run 0.21–9.63 s (OpenShift) and 0.12–7.75 s (KinD) around a ~1.6 s median, no 0.1 s bin above 12%: variable latency, inherited from the judge's own LLM call.</a:t>
            </a:r>
          </a:p>
        </p:txBody>
      </p:sp>
      <p:sp>
        <p:nvSpPr>
          <p:cNvPr id="9" name="Rounded Rectangle 8"/>
          <p:cNvSpPr/>
          <p:nvPr/>
        </p:nvSpPr>
        <p:spPr>
          <a:xfrm>
            <a:off x="6199632" y="132588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One flag decides whether it measures anything</a:t>
            </a:r>
          </a:p>
          <a:p>
            <a:pPr algn="l">
              <a:spcAft>
                <a:spcPts val="300"/>
              </a:spcAft>
            </a:pPr>
            <a:r>
              <a:rPr sz="1400" b="0" i="0">
                <a:solidFill>
                  <a:srgbClr val="1F2A44"/>
                </a:solidFill>
                <a:latin typeface="Arial"/>
              </a:rPr>
              <a:t>Every gsm8k leg sends the same 50 prompts, and the gateway replays completions for ~10 min. </a:t>
            </a:r>
            <a:r>
              <a:rPr sz="1400" b="0" i="0">
                <a:solidFill>
                  <a:srgbClr val="1F2A44"/>
                </a:solidFill>
                <a:latin typeface="Consolas"/>
              </a:rPr>
              <a:t>BM_CACHE_GAP=900</a:t>
            </a:r>
            <a:r>
              <a:rPr sz="1400" b="0" i="0">
                <a:solidFill>
                  <a:srgbClr val="1F2A44"/>
                </a:solidFill>
                <a:latin typeface="Arial"/>
              </a:rPr>
              <a:t> spaces the legs; the nesting check (no sidecar leg can beat a sidecar-free one) clears by 1.3× on both.</a:t>
            </a:r>
          </a:p>
        </p:txBody>
      </p:sp>
      <p:sp>
        <p:nvSpPr>
          <p:cNvPr id="10" name="Rounded Rectangle 9"/>
          <p:cNvSpPr/>
          <p:nvPr/>
        </p:nvSpPr>
        <p:spPr>
          <a:xfrm>
            <a:off x="411480" y="333756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The deploy is the unit of replication</a:t>
            </a:r>
          </a:p>
          <a:p>
            <a:pPr algn="l">
              <a:spcAft>
                <a:spcPts val="300"/>
              </a:spcAft>
            </a:pPr>
            <a:r>
              <a:rPr sz="1400" b="0" i="0">
                <a:solidFill>
                  <a:srgbClr val="1F2A44"/>
                </a:solidFill>
                <a:latin typeface="Arial"/>
              </a:rPr>
              <a:t>A per-task interval measures variance within one deploy. The honest floor is between two deploys, and only the judge's step clears it: add deploys to rank presets, not tasks.</a:t>
            </a:r>
          </a:p>
        </p:txBody>
      </p:sp>
      <p:sp>
        <p:nvSpPr>
          <p:cNvPr id="11" name="Rounded Rectangle 10"/>
          <p:cNvSpPr/>
          <p:nvPr/>
        </p:nvSpPr>
        <p:spPr>
          <a:xfrm>
            <a:off x="6199632" y="333756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Two deploys already resolve a 1 s effect</a:t>
            </a:r>
          </a:p>
          <a:p>
            <a:pPr algn="l">
              <a:spcAft>
                <a:spcPts val="300"/>
              </a:spcAft>
            </a:pPr>
            <a:r>
              <a:rPr sz="1400" b="0" i="0">
                <a:solidFill>
                  <a:srgbClr val="1F2A44"/>
                </a:solidFill>
                <a:latin typeface="Arial"/>
              </a:rPr>
              <a:t>At σ ≈ 0.02 s (OpenShift) and 0.13 s (KinD), so the small steps are genuinely small rather than unresolved.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Outline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6 sections; the numbers are slide numbers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outline</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a:t>
            </a:r>
          </a:p>
        </p:txBody>
      </p:sp>
      <p:sp>
        <p:nvSpPr>
          <p:cNvPr id="8" name="Rounded Rectangle 7"/>
          <p:cNvSpPr/>
          <p:nvPr/>
        </p:nvSpPr>
        <p:spPr>
          <a:xfrm>
            <a:off x="411480"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TextBox 8"/>
          <p:cNvSpPr txBox="1"/>
          <p:nvPr/>
        </p:nvSpPr>
        <p:spPr>
          <a:xfrm>
            <a:off x="548640"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1  The design</a:t>
            </a:r>
          </a:p>
        </p:txBody>
      </p:sp>
      <p:sp>
        <p:nvSpPr>
          <p:cNvPr id="10" name="TextBox 9"/>
          <p:cNvSpPr txBox="1"/>
          <p:nvPr/>
        </p:nvSpPr>
        <p:spPr>
          <a:xfrm>
            <a:off x="548640"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what it is, its decisions, auth, its boundary</a:t>
            </a:r>
          </a:p>
        </p:txBody>
      </p:sp>
      <p:sp>
        <p:nvSpPr>
          <p:cNvPr id="11" name="TextBox 10"/>
          <p:cNvSpPr txBox="1"/>
          <p:nvPr/>
        </p:nvSpPr>
        <p:spPr>
          <a:xfrm>
            <a:off x="548640"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3   What it is, seven decisions</a:t>
            </a:r>
          </a:p>
          <a:p>
            <a:pPr algn="l">
              <a:spcAft>
                <a:spcPts val="0"/>
              </a:spcAft>
            </a:pPr>
            <a:r>
              <a:rPr sz="1100" b="0" i="0">
                <a:solidFill>
                  <a:srgbClr val="1F2A44"/>
                </a:solidFill>
                <a:latin typeface="Arial"/>
              </a:rPr>
              <a:t>4   The design motif</a:t>
            </a:r>
          </a:p>
          <a:p>
            <a:pPr algn="l">
              <a:spcAft>
                <a:spcPts val="0"/>
              </a:spcAft>
            </a:pPr>
            <a:r>
              <a:rPr sz="1100" b="0" i="0">
                <a:solidFill>
                  <a:srgbClr val="1F2A44"/>
                </a:solidFill>
                <a:latin typeface="Arial"/>
              </a:rPr>
              <a:t>5   The two-token auth model</a:t>
            </a:r>
          </a:p>
          <a:p>
            <a:pPr algn="l">
              <a:spcAft>
                <a:spcPts val="0"/>
              </a:spcAft>
            </a:pPr>
            <a:r>
              <a:rPr sz="1100" b="0" i="0">
                <a:solidFill>
                  <a:srgbClr val="1F2A44"/>
                </a:solidFill>
                <a:latin typeface="Arial"/>
              </a:rPr>
              <a:t>6   What the Service can enact</a:t>
            </a:r>
          </a:p>
        </p:txBody>
      </p:sp>
      <p:sp>
        <p:nvSpPr>
          <p:cNvPr id="12" name="Rounded Rectangle 11"/>
          <p:cNvSpPr/>
          <p:nvPr/>
        </p:nvSpPr>
        <p:spPr>
          <a:xfrm>
            <a:off x="4265676"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TextBox 12"/>
          <p:cNvSpPr txBox="1"/>
          <p:nvPr/>
        </p:nvSpPr>
        <p:spPr>
          <a:xfrm>
            <a:off x="4402836"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2  Architecture &amp; deployment</a:t>
            </a:r>
          </a:p>
        </p:txBody>
      </p:sp>
      <p:sp>
        <p:nvSpPr>
          <p:cNvPr id="14" name="TextBox 13"/>
          <p:cNvSpPr txBox="1"/>
          <p:nvPr/>
        </p:nvSpPr>
        <p:spPr>
          <a:xfrm>
            <a:off x="4402836"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system, the workload, interception, installing</a:t>
            </a:r>
          </a:p>
        </p:txBody>
      </p:sp>
      <p:sp>
        <p:nvSpPr>
          <p:cNvPr id="15" name="TextBox 14"/>
          <p:cNvSpPr txBox="1"/>
          <p:nvPr/>
        </p:nvSpPr>
        <p:spPr>
          <a:xfrm>
            <a:off x="4402836"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7   The architecture</a:t>
            </a:r>
          </a:p>
          <a:p>
            <a:pPr algn="l">
              <a:spcAft>
                <a:spcPts val="0"/>
              </a:spcAft>
            </a:pPr>
            <a:r>
              <a:rPr sz="1100" b="0" i="0">
                <a:solidFill>
                  <a:srgbClr val="1F2A44"/>
                </a:solidFill>
                <a:latin typeface="Arial"/>
              </a:rPr>
              <a:t>8   Inside the workload</a:t>
            </a:r>
          </a:p>
          <a:p>
            <a:pPr algn="l">
              <a:spcAft>
                <a:spcPts val="0"/>
              </a:spcAft>
            </a:pPr>
            <a:r>
              <a:rPr sz="1100" b="0" i="0">
                <a:solidFill>
                  <a:srgbClr val="1F2A44"/>
                </a:solidFill>
                <a:latin typeface="Arial"/>
              </a:rPr>
              <a:t>9   How interception is wired</a:t>
            </a:r>
          </a:p>
          <a:p>
            <a:pPr algn="l">
              <a:spcAft>
                <a:spcPts val="0"/>
              </a:spcAft>
            </a:pPr>
            <a:r>
              <a:rPr sz="1100" b="0" i="0">
                <a:solidFill>
                  <a:srgbClr val="1F2A44"/>
                </a:solidFill>
                <a:latin typeface="Arial"/>
              </a:rPr>
              <a:t>10   The double bypass</a:t>
            </a:r>
          </a:p>
          <a:p>
            <a:pPr algn="l">
              <a:spcAft>
                <a:spcPts val="0"/>
              </a:spcAft>
            </a:pPr>
            <a:r>
              <a:rPr sz="1100" b="0" i="0">
                <a:solidFill>
                  <a:srgbClr val="1F2A44"/>
                </a:solidFill>
                <a:latin typeface="Arial"/>
              </a:rPr>
              <a:t>11   Installing &amp; uninstalling</a:t>
            </a:r>
          </a:p>
        </p:txBody>
      </p:sp>
      <p:sp>
        <p:nvSpPr>
          <p:cNvPr id="16" name="Rounded Rectangle 15"/>
          <p:cNvSpPr/>
          <p:nvPr/>
        </p:nvSpPr>
        <p:spPr>
          <a:xfrm>
            <a:off x="8119871"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TextBox 16"/>
          <p:cNvSpPr txBox="1"/>
          <p:nvPr/>
        </p:nvSpPr>
        <p:spPr>
          <a:xfrm>
            <a:off x="8257031"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3  Running a benchmark</a:t>
            </a:r>
          </a:p>
        </p:txBody>
      </p:sp>
      <p:sp>
        <p:nvSpPr>
          <p:cNvPr id="18" name="TextBox 17"/>
          <p:cNvSpPr txBox="1"/>
          <p:nvPr/>
        </p:nvSpPr>
        <p:spPr>
          <a:xfrm>
            <a:off x="8257031"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REST lifecycle, the images, one task in time</a:t>
            </a:r>
          </a:p>
        </p:txBody>
      </p:sp>
      <p:sp>
        <p:nvSpPr>
          <p:cNvPr id="19" name="TextBox 18"/>
          <p:cNvSpPr txBox="1"/>
          <p:nvPr/>
        </p:nvSpPr>
        <p:spPr>
          <a:xfrm>
            <a:off x="8257031"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12   Catalog &amp; run lifecycle</a:t>
            </a:r>
          </a:p>
          <a:p>
            <a:pPr algn="l">
              <a:spcAft>
                <a:spcPts val="0"/>
              </a:spcAft>
            </a:pPr>
            <a:r>
              <a:rPr sz="1100" b="0" i="0">
                <a:solidFill>
                  <a:srgbClr val="1F2A44"/>
                </a:solidFill>
                <a:latin typeface="Arial"/>
              </a:rPr>
              <a:t>13   What each image bakes in</a:t>
            </a:r>
          </a:p>
          <a:p>
            <a:pPr algn="l">
              <a:spcAft>
                <a:spcPts val="0"/>
              </a:spcAft>
            </a:pPr>
            <a:r>
              <a:rPr sz="1100" b="0" i="0">
                <a:solidFill>
                  <a:srgbClr val="1F2A44"/>
                </a:solidFill>
                <a:latin typeface="Arial"/>
              </a:rPr>
              <a:t>14   One task, end to end</a:t>
            </a:r>
          </a:p>
          <a:p>
            <a:pPr algn="l">
              <a:spcAft>
                <a:spcPts val="0"/>
              </a:spcAft>
            </a:pPr>
            <a:r>
              <a:rPr sz="1100" b="0" i="0">
                <a:solidFill>
                  <a:srgbClr val="1F2A44"/>
                </a:solidFill>
                <a:latin typeface="Arial"/>
              </a:rPr>
              <a:t>15   Who decides inside a task</a:t>
            </a:r>
          </a:p>
        </p:txBody>
      </p:sp>
      <p:sp>
        <p:nvSpPr>
          <p:cNvPr id="20" name="Rounded Rectangle 19"/>
          <p:cNvSpPr/>
          <p:nvPr/>
        </p:nvSpPr>
        <p:spPr>
          <a:xfrm>
            <a:off x="411480"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TextBox 20"/>
          <p:cNvSpPr txBox="1"/>
          <p:nvPr/>
        </p:nvSpPr>
        <p:spPr>
          <a:xfrm>
            <a:off x="548640"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4  The three benchmarks</a:t>
            </a:r>
          </a:p>
        </p:txBody>
      </p:sp>
      <p:sp>
        <p:nvSpPr>
          <p:cNvPr id="22" name="TextBox 21"/>
          <p:cNvSpPr txBox="1"/>
          <p:nvPr/>
        </p:nvSpPr>
        <p:spPr>
          <a:xfrm>
            <a:off x="548640"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what each measures, the traps, what a leg costs</a:t>
            </a:r>
          </a:p>
        </p:txBody>
      </p:sp>
      <p:sp>
        <p:nvSpPr>
          <p:cNvPr id="23" name="TextBox 22"/>
          <p:cNvSpPr txBox="1"/>
          <p:nvPr/>
        </p:nvSpPr>
        <p:spPr>
          <a:xfrm>
            <a:off x="548640"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16   The difficulty ladder</a:t>
            </a:r>
          </a:p>
          <a:p>
            <a:pPr algn="l">
              <a:spcAft>
                <a:spcPts val="0"/>
              </a:spcAft>
            </a:pPr>
            <a:r>
              <a:rPr sz="1100" b="0" i="0">
                <a:solidFill>
                  <a:srgbClr val="1F2A44"/>
                </a:solidFill>
                <a:latin typeface="Arial"/>
              </a:rPr>
              <a:t>17   What each stresses</a:t>
            </a:r>
          </a:p>
          <a:p>
            <a:pPr algn="l">
              <a:spcAft>
                <a:spcPts val="0"/>
              </a:spcAft>
            </a:pPr>
            <a:r>
              <a:rPr sz="1100" b="0" i="0">
                <a:solidFill>
                  <a:srgbClr val="1F2A44"/>
                </a:solidFill>
                <a:latin typeface="Arial"/>
              </a:rPr>
              <a:t>18   The three compared</a:t>
            </a:r>
          </a:p>
          <a:p>
            <a:pPr algn="l">
              <a:spcAft>
                <a:spcPts val="0"/>
              </a:spcAft>
            </a:pPr>
            <a:r>
              <a:rPr sz="1100" b="0" i="0">
                <a:solidFill>
                  <a:srgbClr val="1F2A44"/>
                </a:solidFill>
                <a:latin typeface="Arial"/>
              </a:rPr>
              <a:t>19   Five traps</a:t>
            </a:r>
          </a:p>
          <a:p>
            <a:pPr algn="l">
              <a:spcAft>
                <a:spcPts val="0"/>
              </a:spcAft>
            </a:pPr>
            <a:r>
              <a:rPr sz="1100" b="0" i="0">
                <a:solidFill>
                  <a:srgbClr val="1F2A44"/>
                </a:solidFill>
                <a:latin typeface="Arial"/>
              </a:rPr>
              <a:t>20   Picking a benchmark</a:t>
            </a:r>
          </a:p>
          <a:p>
            <a:pPr algn="l">
              <a:spcAft>
                <a:spcPts val="0"/>
              </a:spcAft>
            </a:pPr>
            <a:r>
              <a:rPr sz="1100" b="0" i="0">
                <a:solidFill>
                  <a:srgbClr val="1F2A44"/>
                </a:solidFill>
                <a:latin typeface="Arial"/>
              </a:rPr>
              <a:t>21   What each leg costs</a:t>
            </a:r>
          </a:p>
        </p:txBody>
      </p:sp>
      <p:sp>
        <p:nvSpPr>
          <p:cNvPr id="24" name="Rounded Rectangle 23"/>
          <p:cNvSpPr/>
          <p:nvPr/>
        </p:nvSpPr>
        <p:spPr>
          <a:xfrm>
            <a:off x="4265676"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5" name="TextBox 24"/>
          <p:cNvSpPr txBox="1"/>
          <p:nvPr/>
        </p:nvSpPr>
        <p:spPr>
          <a:xfrm>
            <a:off x="4402836"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5  Cost</a:t>
            </a:r>
          </a:p>
        </p:txBody>
      </p:sp>
      <p:sp>
        <p:nvSpPr>
          <p:cNvPr id="26" name="TextBox 25"/>
          <p:cNvSpPr txBox="1"/>
          <p:nvPr/>
        </p:nvSpPr>
        <p:spPr>
          <a:xfrm>
            <a:off x="4402836"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model, the rate card, six efficiency charts</a:t>
            </a:r>
          </a:p>
        </p:txBody>
      </p:sp>
      <p:sp>
        <p:nvSpPr>
          <p:cNvPr id="27" name="TextBox 26"/>
          <p:cNvSpPr txBox="1"/>
          <p:nvPr/>
        </p:nvSpPr>
        <p:spPr>
          <a:xfrm>
            <a:off x="4402836"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22   The cost model</a:t>
            </a:r>
          </a:p>
          <a:p>
            <a:pPr algn="l">
              <a:spcAft>
                <a:spcPts val="0"/>
              </a:spcAft>
            </a:pPr>
            <a:r>
              <a:rPr sz="1100" b="0" i="0">
                <a:solidFill>
                  <a:srgbClr val="1F2A44"/>
                </a:solidFill>
                <a:latin typeface="Arial"/>
              </a:rPr>
              <a:t>23   The rate card</a:t>
            </a:r>
          </a:p>
          <a:p>
            <a:pPr algn="l">
              <a:spcAft>
                <a:spcPts val="0"/>
              </a:spcAft>
            </a:pPr>
            <a:r>
              <a:rPr sz="1100" b="0" i="0">
                <a:solidFill>
                  <a:srgbClr val="1F2A44"/>
                </a:solidFill>
                <a:latin typeface="Arial"/>
              </a:rPr>
              <a:t>24   Which way the dollars are wrong</a:t>
            </a:r>
          </a:p>
          <a:p>
            <a:pPr algn="l">
              <a:spcAft>
                <a:spcPts val="0"/>
              </a:spcAft>
            </a:pPr>
            <a:r>
              <a:rPr sz="1100" b="0" i="0">
                <a:solidFill>
                  <a:srgbClr val="1F2A44"/>
                </a:solidFill>
                <a:latin typeface="Arial"/>
              </a:rPr>
              <a:t>25   Chart: money vs tokens</a:t>
            </a:r>
          </a:p>
          <a:p>
            <a:pPr algn="l">
              <a:spcAft>
                <a:spcPts val="0"/>
              </a:spcAft>
            </a:pPr>
            <a:r>
              <a:rPr sz="1100" b="0" i="0">
                <a:solidFill>
                  <a:srgbClr val="1F2A44"/>
                </a:solidFill>
                <a:latin typeface="Arial"/>
              </a:rPr>
              <a:t>26   Chart: share of the bill</a:t>
            </a:r>
          </a:p>
          <a:p>
            <a:pPr algn="l">
              <a:spcAft>
                <a:spcPts val="0"/>
              </a:spcAft>
            </a:pPr>
            <a:r>
              <a:rPr sz="1100" b="0" i="0">
                <a:solidFill>
                  <a:srgbClr val="1F2A44"/>
                </a:solidFill>
                <a:latin typeface="Arial"/>
              </a:rPr>
              <a:t>27   Chart: model choice</a:t>
            </a:r>
          </a:p>
          <a:p>
            <a:pPr algn="l">
              <a:spcAft>
                <a:spcPts val="0"/>
              </a:spcAft>
            </a:pPr>
            <a:r>
              <a:rPr sz="1100" b="0" i="0">
                <a:solidFill>
                  <a:srgbClr val="1F2A44"/>
                </a:solidFill>
                <a:latin typeface="Arial"/>
              </a:rPr>
              <a:t>28   Chart: where the bill goes</a:t>
            </a:r>
          </a:p>
          <a:p>
            <a:pPr algn="l">
              <a:spcAft>
                <a:spcPts val="0"/>
              </a:spcAft>
            </a:pPr>
            <a:r>
              <a:rPr sz="1100" b="0" i="0">
                <a:solidFill>
                  <a:srgbClr val="1F2A44"/>
                </a:solidFill>
                <a:latin typeface="Arial"/>
              </a:rPr>
              <a:t>29   Table: cost per success</a:t>
            </a:r>
          </a:p>
          <a:p>
            <a:pPr algn="l">
              <a:spcAft>
                <a:spcPts val="0"/>
              </a:spcAft>
            </a:pPr>
            <a:r>
              <a:rPr sz="1100" b="0" i="0">
                <a:solidFill>
                  <a:srgbClr val="1F2A44"/>
                </a:solidFill>
                <a:latin typeface="Arial"/>
              </a:rPr>
              <a:t>30   Chart: the judge's bill</a:t>
            </a:r>
          </a:p>
        </p:txBody>
      </p:sp>
      <p:sp>
        <p:nvSpPr>
          <p:cNvPr id="28" name="Rounded Rectangle 27"/>
          <p:cNvSpPr/>
          <p:nvPr/>
        </p:nvSpPr>
        <p:spPr>
          <a:xfrm>
            <a:off x="8119871"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9" name="TextBox 28"/>
          <p:cNvSpPr txBox="1"/>
          <p:nvPr/>
        </p:nvSpPr>
        <p:spPr>
          <a:xfrm>
            <a:off x="8257031"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6  Results (v1.35)</a:t>
            </a:r>
          </a:p>
        </p:txBody>
      </p:sp>
      <p:sp>
        <p:nvSpPr>
          <p:cNvPr id="30" name="TextBox 29"/>
          <p:cNvSpPr txBox="1"/>
          <p:nvPr/>
        </p:nvSpPr>
        <p:spPr>
          <a:xfrm>
            <a:off x="8257031"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12-run matrix, OpenShift vs KinD, plugins</a:t>
            </a:r>
          </a:p>
        </p:txBody>
      </p:sp>
      <p:sp>
        <p:nvSpPr>
          <p:cNvPr id="31" name="TextBox 30"/>
          <p:cNvSpPr txBox="1"/>
          <p:nvPr/>
        </p:nvSpPr>
        <p:spPr>
          <a:xfrm>
            <a:off x="8257031"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31   The 12-run matrix</a:t>
            </a:r>
          </a:p>
          <a:p>
            <a:pPr algn="l">
              <a:spcAft>
                <a:spcPts val="0"/>
              </a:spcAft>
            </a:pPr>
            <a:r>
              <a:rPr sz="1100" b="0" i="0">
                <a:solidFill>
                  <a:srgbClr val="1F2A44"/>
                </a:solidFill>
                <a:latin typeface="Arial"/>
              </a:rPr>
              <a:t>32   What each band established</a:t>
            </a:r>
          </a:p>
          <a:p>
            <a:pPr algn="l">
              <a:spcAft>
                <a:spcPts val="0"/>
              </a:spcAft>
            </a:pPr>
            <a:r>
              <a:rPr sz="1100" b="0" i="0">
                <a:solidFill>
                  <a:srgbClr val="1F2A44"/>
                </a:solidFill>
                <a:latin typeface="Arial"/>
              </a:rPr>
              <a:t>33   What the 12 runs measured</a:t>
            </a:r>
          </a:p>
          <a:p>
            <a:pPr algn="l">
              <a:spcAft>
                <a:spcPts val="0"/>
              </a:spcAft>
            </a:pPr>
            <a:r>
              <a:rPr sz="1100" b="0" i="0">
                <a:solidFill>
                  <a:srgbClr val="1F2A44"/>
                </a:solidFill>
                <a:latin typeface="Arial"/>
              </a:rPr>
              <a:t>34   OpenShift vs KinD</a:t>
            </a:r>
          </a:p>
          <a:p>
            <a:pPr algn="l">
              <a:spcAft>
                <a:spcPts val="0"/>
              </a:spcAft>
            </a:pPr>
            <a:r>
              <a:rPr sz="1100" b="0" i="0">
                <a:solidFill>
                  <a:srgbClr val="1F2A44"/>
                </a:solidFill>
                <a:latin typeface="Arial"/>
              </a:rPr>
              <a:t>35   What AuthBridge costs</a:t>
            </a:r>
          </a:p>
          <a:p>
            <a:pPr algn="l">
              <a:spcAft>
                <a:spcPts val="0"/>
              </a:spcAft>
            </a:pPr>
            <a:r>
              <a:rPr sz="1100" b="0" i="0">
                <a:solidFill>
                  <a:srgbClr val="1F2A44"/>
                </a:solidFill>
                <a:latin typeface="Arial"/>
              </a:rPr>
              <a:t>36   Why the plugin result holds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